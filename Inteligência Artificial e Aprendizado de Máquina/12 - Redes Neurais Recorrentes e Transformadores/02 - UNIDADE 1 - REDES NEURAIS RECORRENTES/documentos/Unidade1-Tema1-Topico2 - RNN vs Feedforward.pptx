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notesMasters/notesMaster1.xml" ContentType="application/vnd.openxmlformats-officedocument.presentationml.notesMaster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88" r:id="rId6"/>
    <p:sldMasterId id="2147483698" r:id="rId7"/>
    <p:sldMasterId id="2147483690" r:id="rId8"/>
  </p:sldMasterIdLst>
  <p:notesMasterIdLst>
    <p:notesMasterId r:id="rId28"/>
  </p:notesMasterIdLst>
  <p:handoutMasterIdLst>
    <p:handoutMasterId r:id="rId29"/>
  </p:handoutMasterIdLst>
  <p:sldIdLst>
    <p:sldId id="266" r:id="rId9"/>
    <p:sldId id="260" r:id="rId10"/>
    <p:sldId id="267" r:id="rId11"/>
    <p:sldId id="268" r:id="rId12"/>
    <p:sldId id="269" r:id="rId13"/>
    <p:sldId id="270" r:id="rId14"/>
    <p:sldId id="271" r:id="rId15"/>
    <p:sldId id="272" r:id="rId16"/>
    <p:sldId id="286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59" r:id="rId25"/>
    <p:sldId id="283" r:id="rId26"/>
    <p:sldId id="261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-3488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customXml" Target="../customXml/item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3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Master" Target="slideMasters/slideMaster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458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010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Diferenças entre RNN e FNN</a:t>
            </a:r>
            <a:endParaRPr lang="pt-BR" sz="6000" b="1" i="1" dirty="0">
              <a:solidFill>
                <a:srgbClr val="4A6B9E"/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neurais </a:t>
            </a:r>
            <a:r>
              <a:rPr lang="pt-BR" sz="2800" i="1" dirty="0" err="1"/>
              <a:t>feedforward</a:t>
            </a:r>
            <a:r>
              <a:rPr lang="pt-BR" sz="2800" dirty="0"/>
              <a:t> (</a:t>
            </a:r>
            <a:r>
              <a:rPr lang="pt-BR" sz="2800" dirty="0" err="1"/>
              <a:t>FNNs</a:t>
            </a:r>
            <a:r>
              <a:rPr lang="pt-BR" sz="2800" dirty="0"/>
              <a:t>) processam dados de forma direta, ignorando a ordem e o histórico das entradas, sendo adequadas para tarefas onde cada dado pode ser tratado isoladamente.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lidam com sequências, mantendo uma memória que evolui com o tempo e influencia cada etapa, permitindo capturar dependências temporais entre os elementos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diferença torna as </a:t>
            </a:r>
            <a:r>
              <a:rPr lang="pt-BR" sz="2800" dirty="0" err="1"/>
              <a:t>RNNs</a:t>
            </a:r>
            <a:r>
              <a:rPr lang="pt-BR" sz="2800" dirty="0"/>
              <a:t> mais adequadas para tarefas como tradução, processamento de fala e de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Comparar essas arquiteturas ajuda a entender quando usar cada uma.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6C032-B246-D931-3C33-1606E9CF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BF3180E-D46A-B345-F5D8-5DB59B8DC6B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Estrutura das </a:t>
            </a:r>
            <a:r>
              <a:rPr lang="pt-BR" sz="4500" b="1" dirty="0" err="1">
                <a:solidFill>
                  <a:schemeClr val="bg1"/>
                </a:solidFill>
              </a:rPr>
              <a:t>FNNs</a:t>
            </a:r>
            <a:endParaRPr lang="pt-BR" sz="45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FE5DC5-93B1-973D-6236-396266FB3782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</a:t>
            </a:r>
            <a:r>
              <a:rPr lang="pt-BR" sz="2800" i="1" dirty="0" err="1"/>
              <a:t>feedforward</a:t>
            </a:r>
            <a:r>
              <a:rPr lang="pt-BR" sz="2800" dirty="0"/>
              <a:t> (</a:t>
            </a:r>
            <a:r>
              <a:rPr lang="pt-BR" sz="2800" dirty="0" err="1"/>
              <a:t>FNNs</a:t>
            </a:r>
            <a:r>
              <a:rPr lang="pt-BR" sz="2800" dirty="0"/>
              <a:t>) possuem uma arquitetura simples e direta, onde os dados percorrem as camadas sem retornar ou formar ciclos.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camadas são organizadas de forma sequencial, e cada uma é composta por neurônios artificiais que processam os dados recebidos.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informação flui sempre em uma única direção — da entrada até a saída — sem influência de estados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é ideal para tarefas onde cada entrada pode ser tratada de forma independente, como classificação de imagens ou reconhecimento de padrões estáticos.</a:t>
            </a:r>
          </a:p>
        </p:txBody>
      </p:sp>
    </p:spTree>
    <p:extLst>
      <p:ext uri="{BB962C8B-B14F-4D97-AF65-F5344CB8AC3E}">
        <p14:creationId xmlns:p14="http://schemas.microsoft.com/office/powerpoint/2010/main" val="2864034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3696E-37DE-3C59-F8AE-10A18CE06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9A85C1F-BF70-ECCF-464A-7D6FB9C0777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Estrutura das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5370AE5-966D-25AE-1562-4214B5E9049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possuem conexões que se retroalimentam, permitindo que informações anteriores influenciem o processamento atual.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cria uma memória interna que evolui com o tempo, essencial para lidar com dados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etapa do processamento considera não apenas a entrada atual, mas também o estado anterior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capacidade torna as </a:t>
            </a:r>
            <a:r>
              <a:rPr lang="pt-BR" sz="2800" dirty="0" err="1"/>
              <a:t>RNNs</a:t>
            </a:r>
            <a:r>
              <a:rPr lang="pt-BR" sz="2800" dirty="0"/>
              <a:t> ideais para tarefas como texto, fala e séries temporais, onde o contexto é fundamental.</a:t>
            </a:r>
          </a:p>
        </p:txBody>
      </p:sp>
    </p:spTree>
    <p:extLst>
      <p:ext uri="{BB962C8B-B14F-4D97-AF65-F5344CB8AC3E}">
        <p14:creationId xmlns:p14="http://schemas.microsoft.com/office/powerpoint/2010/main" val="1686490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63B1-F71B-962C-1DF7-83B96A1BE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606C226-505F-379D-EF0D-122A8D9CD47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Fluxo de Dados – FNN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7CA159-F58A-41B0-B893-166C7EC0963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</a:t>
            </a:r>
            <a:r>
              <a:rPr lang="pt-BR" sz="2800" i="1" dirty="0" err="1"/>
              <a:t>feedforward</a:t>
            </a:r>
            <a:r>
              <a:rPr lang="pt-BR" sz="2800" dirty="0"/>
              <a:t> processam os dados em uma única direção, indo da entrada até a saída, sem qualquer tipo de retorno ou ciclo.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camada recebe os dados da anterior e os transmite para a próxima, mantendo uma estrutura sequencial e direta.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Não há memória de estados anteriores, o que torna essas redes adequadas para tarefas com dados independentes.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simplicidade estrutural facilita o treinamento e a aplicação em problemas como classificação de imagens e reconhecimento de padrões.</a:t>
            </a:r>
          </a:p>
        </p:txBody>
      </p:sp>
    </p:spTree>
    <p:extLst>
      <p:ext uri="{BB962C8B-B14F-4D97-AF65-F5344CB8AC3E}">
        <p14:creationId xmlns:p14="http://schemas.microsoft.com/office/powerpoint/2010/main" val="4247113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74AEE-7906-7385-385F-CDCC54DEB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9F1BF95-F312-07D9-3481-D6A63BB7B2C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Fluxo de Dados – RNN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E5E4E79-2B20-353F-D2FB-68A0600F1F9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processam os dados em sequência, permitindo que cada entrada seja influenciada por informações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cada passo, o estado interno da rede é atualizado, criando uma memória que acompanha o fluxo dos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comportamento recorrente possibilita capturar dependências temporais entre os elementos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isso, </a:t>
            </a:r>
            <a:r>
              <a:rPr lang="pt-BR" sz="2800" dirty="0" err="1"/>
              <a:t>RNNs</a:t>
            </a:r>
            <a:r>
              <a:rPr lang="pt-BR" sz="2800" dirty="0"/>
              <a:t> são especialmente úteis em tarefas como processamento de linguagem natural, fala e séries temporais.</a:t>
            </a:r>
          </a:p>
        </p:txBody>
      </p:sp>
    </p:spTree>
    <p:extLst>
      <p:ext uri="{BB962C8B-B14F-4D97-AF65-F5344CB8AC3E}">
        <p14:creationId xmlns:p14="http://schemas.microsoft.com/office/powerpoint/2010/main" val="366464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C3D70-D5E2-B9DA-2A16-75FB6C756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708B2C-DDDD-74D6-667D-AFA12FB7F62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Memória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35B4702-B8BA-F125-319F-6CB9DF1665B2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</a:t>
            </a:r>
            <a:r>
              <a:rPr lang="pt-BR" sz="2800" i="1" dirty="0" err="1"/>
              <a:t>feedforward</a:t>
            </a:r>
            <a:r>
              <a:rPr lang="pt-BR" sz="2800" dirty="0"/>
              <a:t> não possuem memória interna, processando cada entrada de forma independente, sem considerar dados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mantêm estados ocultos que se atualizam a cada passo, permitindo que informações passadas influenciem o processamento atual.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diferença estrutural torna as </a:t>
            </a:r>
            <a:r>
              <a:rPr lang="pt-BR" sz="2800" dirty="0" err="1"/>
              <a:t>FNNs</a:t>
            </a:r>
            <a:r>
              <a:rPr lang="pt-BR" sz="2800" dirty="0"/>
              <a:t> adequadas para tarefas com dados estáticos, enquanto as </a:t>
            </a:r>
            <a:r>
              <a:rPr lang="pt-BR" sz="2800" dirty="0" err="1"/>
              <a:t>RNNs</a:t>
            </a:r>
            <a:r>
              <a:rPr lang="pt-BR" sz="2800" dirty="0"/>
              <a:t> lidam bem com sequências e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presença de memória nas </a:t>
            </a:r>
            <a:r>
              <a:rPr lang="pt-BR" sz="2800" dirty="0" err="1"/>
              <a:t>RNNs</a:t>
            </a:r>
            <a:r>
              <a:rPr lang="pt-BR" sz="2800" dirty="0"/>
              <a:t> é essencial para aplicações como tradução automática, reconhecimento de fala e séries temporais.</a:t>
            </a:r>
          </a:p>
        </p:txBody>
      </p:sp>
    </p:spTree>
    <p:extLst>
      <p:ext uri="{BB962C8B-B14F-4D97-AF65-F5344CB8AC3E}">
        <p14:creationId xmlns:p14="http://schemas.microsoft.com/office/powerpoint/2010/main" val="1429617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3A2E-CFCA-5405-49F6-CD630F2F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B82374D-0FD8-02DA-66E9-D89D71B0DF3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de </a:t>
            </a:r>
            <a:r>
              <a:rPr lang="pt-BR" sz="4500" b="1" dirty="0" err="1">
                <a:solidFill>
                  <a:schemeClr val="bg1"/>
                </a:solidFill>
              </a:rPr>
              <a:t>FNNs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4E54AE-9BBA-5895-7CA6-3CFF59B6AF4C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</a:t>
            </a:r>
            <a:r>
              <a:rPr lang="pt-BR" sz="2800" i="1" dirty="0" err="1"/>
              <a:t>feedforward</a:t>
            </a:r>
            <a:r>
              <a:rPr lang="pt-BR" sz="2800" dirty="0"/>
              <a:t> são amplamente utilizadas em tarefas de classificação de imagens, onde cada entrada pode ser processada de forma independente.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são eficazes em problemas de regressão, permitindo prever valores contínuos com base em dados de entrada estáticos.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estrutura simples e direta as torna ideais para reconhecimento de padrões que não dependem de contexto ou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serem rápidas e fáceis de treinar, </a:t>
            </a:r>
            <a:r>
              <a:rPr lang="pt-BR" sz="2800" dirty="0" err="1"/>
              <a:t>FNNs</a:t>
            </a:r>
            <a:r>
              <a:rPr lang="pt-BR" sz="2800" dirty="0"/>
              <a:t> são uma escolha comum em aplicações industriais e comerciais com dados fixos.</a:t>
            </a:r>
          </a:p>
        </p:txBody>
      </p:sp>
    </p:spTree>
    <p:extLst>
      <p:ext uri="{BB962C8B-B14F-4D97-AF65-F5344CB8AC3E}">
        <p14:creationId xmlns:p14="http://schemas.microsoft.com/office/powerpoint/2010/main" val="7248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A0FB6-003F-C99D-E3BA-11612704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67BF62F-9E4C-D393-A53F-639CA1ECC3D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de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175FC4-05B0-2C2C-6BB4-C98D58D37B7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são especialmente eficazes em tarefas que envolvem dados sequenciais, como texto, fala e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capacidade de manter memória interna permite capturar o contexto entre elementos ao longo de uma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amplamente utilizadas em aplicações como tradução automática, geração de texto e reconhecimento de voz.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recorrente torna as </a:t>
            </a:r>
            <a:r>
              <a:rPr lang="pt-BR" sz="2800" dirty="0" err="1"/>
              <a:t>RNNs</a:t>
            </a:r>
            <a:r>
              <a:rPr lang="pt-BR" sz="2800" dirty="0"/>
              <a:t> ideais para problemas onde a ordem e a dependência entre os dados são essenciais.</a:t>
            </a:r>
          </a:p>
        </p:txBody>
      </p:sp>
    </p:spTree>
    <p:extLst>
      <p:ext uri="{BB962C8B-B14F-4D97-AF65-F5344CB8AC3E}">
        <p14:creationId xmlns:p14="http://schemas.microsoft.com/office/powerpoint/2010/main" val="552799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7B113-3CE8-52D0-50D5-28890841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DD971A-388C-DCD7-CBD8-440E5DB737A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</a:t>
            </a:r>
            <a:r>
              <a:rPr lang="pt-BR" sz="4500" b="1" dirty="0" err="1">
                <a:solidFill>
                  <a:schemeClr val="bg1"/>
                </a:solidFill>
              </a:rPr>
              <a:t>FNNs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0D97B1A-958C-BA60-D75D-1EF67ECCD2B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das redes </a:t>
            </a:r>
            <a:r>
              <a:rPr lang="pt-BR" sz="2800" i="1" dirty="0" err="1"/>
              <a:t>feedforward</a:t>
            </a:r>
            <a:r>
              <a:rPr lang="pt-BR" sz="2800" dirty="0"/>
              <a:t> é realizado por meio do método de </a:t>
            </a:r>
            <a:r>
              <a:rPr lang="pt-BR" sz="2800" i="1" dirty="0" err="1"/>
              <a:t>Backpropagation</a:t>
            </a:r>
            <a:r>
              <a:rPr lang="pt-BR" sz="2800" dirty="0"/>
              <a:t>, que ajusta os pesos com base no erro da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envolve a propagação do erro da saída para trás, passando por todas as camadas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atualização dos pesos é feita utilizando gradientes, geralmente com métodos como descida do gradiente.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Por sua estrutura simples e direta, as </a:t>
            </a:r>
            <a:r>
              <a:rPr lang="pt-BR" sz="2800" dirty="0" err="1"/>
              <a:t>FNNs</a:t>
            </a:r>
            <a:r>
              <a:rPr lang="pt-BR" sz="2800" dirty="0"/>
              <a:t> permitem um treinamento eficiente em tarefas com dados estáticos e bem definidos.</a:t>
            </a:r>
          </a:p>
        </p:txBody>
      </p:sp>
    </p:spTree>
    <p:extLst>
      <p:ext uri="{BB962C8B-B14F-4D97-AF65-F5344CB8AC3E}">
        <p14:creationId xmlns:p14="http://schemas.microsoft.com/office/powerpoint/2010/main" val="817321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C8613-1179-177B-0B0E-15B2B4D19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D5863D2-1CCA-9A8F-29C1-6C9A3063B20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6253A6-62D2-FC7D-9E59-FA27CB913EF6}"/>
              </a:ext>
            </a:extLst>
          </p:cNvPr>
          <p:cNvSpPr txBox="1"/>
          <p:nvPr/>
        </p:nvSpPr>
        <p:spPr>
          <a:xfrm>
            <a:off x="512063" y="1304405"/>
            <a:ext cx="11308229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das </a:t>
            </a:r>
            <a:r>
              <a:rPr lang="pt-BR" sz="2800" dirty="0" err="1"/>
              <a:t>RNNs</a:t>
            </a:r>
            <a:r>
              <a:rPr lang="pt-BR" sz="2800" dirty="0"/>
              <a:t> é feito por meio do método chamado </a:t>
            </a:r>
            <a:r>
              <a:rPr lang="pt-BR" sz="2800" i="1" dirty="0" err="1"/>
              <a:t>Backpropagation</a:t>
            </a:r>
            <a:r>
              <a:rPr lang="pt-BR" sz="2800" i="1" dirty="0"/>
              <a:t> </a:t>
            </a:r>
            <a:r>
              <a:rPr lang="pt-BR" sz="2800" i="1" dirty="0" err="1"/>
              <a:t>Through</a:t>
            </a:r>
            <a:r>
              <a:rPr lang="pt-BR" sz="2800" i="1" dirty="0"/>
              <a:t> Time</a:t>
            </a:r>
            <a:r>
              <a:rPr lang="pt-BR" sz="2800" dirty="0"/>
              <a:t> (BPTT), uma extensão do método de </a:t>
            </a:r>
            <a:r>
              <a:rPr lang="pt-BR" sz="2800" i="1" dirty="0" err="1"/>
              <a:t>Backpropagation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método considera a sequência completa de entradas, propagando o erro ao longo do tempo para ajustar os pesos recorrentes.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presença de dependências temporais torna o treinamento mais complexo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Exige cuidados com problemas como desaparecimento ou explosão de gradientes.</a:t>
            </a:r>
          </a:p>
        </p:txBody>
      </p:sp>
    </p:spTree>
    <p:extLst>
      <p:ext uri="{BB962C8B-B14F-4D97-AF65-F5344CB8AC3E}">
        <p14:creationId xmlns:p14="http://schemas.microsoft.com/office/powerpoint/2010/main" val="1941943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5000-9FBA-A3C8-9B12-0996A17FF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D28455F-61B5-4C71-614B-23211566AAB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Desempenho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65937F-4053-61A6-1D17-BC385675F680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FNNs</a:t>
            </a:r>
            <a:r>
              <a:rPr lang="pt-BR" sz="2800" dirty="0"/>
              <a:t> apresentam ótimo desempenho em tarefas com dados independentes, como classificação de imagens e regressão.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estrutura simples permite treinamentos rápidos e eficientes, especialmente quando não há necessidade de considerar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as </a:t>
            </a:r>
            <a:r>
              <a:rPr lang="pt-BR" sz="2800" dirty="0" err="1"/>
              <a:t>RNNs</a:t>
            </a:r>
            <a:r>
              <a:rPr lang="pt-BR" sz="2800" dirty="0"/>
              <a:t> se destacam em tarefas com dependências temporais, como séries temporais, texto e fala, em que o histórico influencia o resultado.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de mais complexas, as </a:t>
            </a:r>
            <a:r>
              <a:rPr lang="pt-BR" sz="2800" dirty="0" err="1"/>
              <a:t>RNNs</a:t>
            </a:r>
            <a:r>
              <a:rPr lang="pt-BR" sz="2800" dirty="0"/>
              <a:t> são capazes de capturar padrões sequenciais, oferecendo desempenho superior em problemas com contexto.</a:t>
            </a:r>
          </a:p>
        </p:txBody>
      </p:sp>
    </p:spTree>
    <p:extLst>
      <p:ext uri="{BB962C8B-B14F-4D97-AF65-F5344CB8AC3E}">
        <p14:creationId xmlns:p14="http://schemas.microsoft.com/office/powerpoint/2010/main" val="3072502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FC47A-8422-ADA5-9CEE-EBD5E3728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0B1C73F-FF9E-B331-C63C-9B022047C2AC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Complexidade Computacional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CB5AD8-3154-2412-F146-ED15A7C5407C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FNNs</a:t>
            </a:r>
            <a:r>
              <a:rPr lang="pt-BR" sz="2800" dirty="0"/>
              <a:t> possuem estrutura simples e processamento direto, o que resulta em menor complexidade computacional.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treinamento é mais rápido e eficiente, especialmente em tarefas com dados independentes e bem definidos.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as </a:t>
            </a:r>
            <a:r>
              <a:rPr lang="pt-BR" sz="2800" dirty="0" err="1"/>
              <a:t>RNNs</a:t>
            </a:r>
            <a:r>
              <a:rPr lang="pt-BR" sz="2800" dirty="0"/>
              <a:t> exigem processamento sequencial, o que aumenta a carga computacional e o tempo de treinamento.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complexidade das </a:t>
            </a:r>
            <a:r>
              <a:rPr lang="pt-BR" sz="2800" dirty="0" err="1"/>
              <a:t>RNNs</a:t>
            </a:r>
            <a:r>
              <a:rPr lang="pt-BR" sz="2800" dirty="0"/>
              <a:t> é compensada pela capacidade de lidar com dependências temporais, essencial em tarefas com dados sequenciais.</a:t>
            </a:r>
          </a:p>
        </p:txBody>
      </p:sp>
    </p:spTree>
    <p:extLst>
      <p:ext uri="{BB962C8B-B14F-4D97-AF65-F5344CB8AC3E}">
        <p14:creationId xmlns:p14="http://schemas.microsoft.com/office/powerpoint/2010/main" val="1970798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9A823-C8B4-1B61-C87F-E72DB1D8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FF221A2-5594-035F-822E-B933356F700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Paralelização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314B6C-2417-B833-082B-1146F2E6766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FNNs</a:t>
            </a:r>
            <a:r>
              <a:rPr lang="pt-BR" sz="2800" dirty="0"/>
              <a:t> permitem alto grau de paralelização, pois cada camada pode ser processada simultaneamente sem depender de estados anteriores.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característica torna o treinamento mais rápido e eficiente, especialmente em ambientes com recursos computacionais paralelos.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as </a:t>
            </a:r>
            <a:r>
              <a:rPr lang="pt-BR" sz="2800" dirty="0" err="1"/>
              <a:t>RNNs</a:t>
            </a:r>
            <a:r>
              <a:rPr lang="pt-BR" sz="2800" dirty="0"/>
              <a:t> processam dados sequencialmente, o que limita a paralelização e aumenta o tempo de treinamento.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dependência temporal nas </a:t>
            </a:r>
            <a:r>
              <a:rPr lang="pt-BR" sz="2800" dirty="0" err="1"/>
              <a:t>RNNs</a:t>
            </a:r>
            <a:r>
              <a:rPr lang="pt-BR" sz="2800" dirty="0"/>
              <a:t> exige que cada etapa aguarde o resultado da anterior, dificultando o uso pleno de paralelismo.</a:t>
            </a:r>
          </a:p>
        </p:txBody>
      </p:sp>
    </p:spTree>
    <p:extLst>
      <p:ext uri="{BB962C8B-B14F-4D97-AF65-F5344CB8AC3E}">
        <p14:creationId xmlns:p14="http://schemas.microsoft.com/office/powerpoint/2010/main" val="1673924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CEB51-C5D6-4871-A6B5-8C70DC58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661E6BB-DE72-0B82-84A8-33E519BE628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Problemas de Gradiente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E1F4DC-17F7-7088-7B70-D99CA99AFA33}"/>
              </a:ext>
            </a:extLst>
          </p:cNvPr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</a:t>
            </a:r>
            <a:r>
              <a:rPr lang="pt-BR" sz="2800" dirty="0" err="1"/>
              <a:t>RNNs</a:t>
            </a:r>
            <a:r>
              <a:rPr lang="pt-BR" sz="2800" dirty="0"/>
              <a:t> são suscetíveis a problemas de gradiente, como o desaparecimento e a explosão, devido ao processamento sequencial e à propagação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problemas dificultam o aprendizado de dependências de longo prazo, afetando a estabilidade e a eficiência do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as </a:t>
            </a:r>
            <a:r>
              <a:rPr lang="pt-BR" sz="2800" dirty="0" err="1"/>
              <a:t>FNNs</a:t>
            </a:r>
            <a:r>
              <a:rPr lang="pt-BR" sz="2800" dirty="0"/>
              <a:t>, por não dependerem de estados anteriores, enfrentam esses problemas com menor intensidade.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estrutura mais simples das </a:t>
            </a:r>
            <a:r>
              <a:rPr lang="pt-BR" sz="2800" dirty="0" err="1"/>
              <a:t>FNNs</a:t>
            </a:r>
            <a:r>
              <a:rPr lang="pt-BR" sz="2800" dirty="0"/>
              <a:t> contribui para um treinamento mais estável, especialmente em tarefas com dados independentes.</a:t>
            </a:r>
          </a:p>
        </p:txBody>
      </p:sp>
    </p:spTree>
    <p:extLst>
      <p:ext uri="{BB962C8B-B14F-4D97-AF65-F5344CB8AC3E}">
        <p14:creationId xmlns:p14="http://schemas.microsoft.com/office/powerpoint/2010/main" val="3970441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4F5A6-AD7F-6AC1-6C9F-F30127E0C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E74B82B-CE8A-1A51-C87A-391FBEC1655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Capacidade de Modelagem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2040844-BD37-5367-39EF-659016B0ED3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FNNs</a:t>
            </a:r>
            <a:r>
              <a:rPr lang="pt-BR" sz="2800" dirty="0"/>
              <a:t> são eficazes na modelagem de padrões fixos, onde cada entrada é tratada de forma independente.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funciona bem em tarefas como classificação de imagens, em que o contexto não influencia o resultado.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as </a:t>
            </a:r>
            <a:r>
              <a:rPr lang="pt-BR" sz="2800" dirty="0" err="1"/>
              <a:t>RNNs</a:t>
            </a:r>
            <a:r>
              <a:rPr lang="pt-BR" sz="2800" dirty="0"/>
              <a:t> são projetadas para modelar sequências, capturando relações temporais e contextuais entre os dados.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capacidade torna as </a:t>
            </a:r>
            <a:r>
              <a:rPr lang="pt-BR" sz="2800" dirty="0" err="1"/>
              <a:t>RNNs</a:t>
            </a:r>
            <a:r>
              <a:rPr lang="pt-BR" sz="2800" dirty="0"/>
              <a:t> ideais para problemas como tradução, fala e séries temporais, em que o histórico é relevante.</a:t>
            </a:r>
          </a:p>
        </p:txBody>
      </p:sp>
    </p:spTree>
    <p:extLst>
      <p:ext uri="{BB962C8B-B14F-4D97-AF65-F5344CB8AC3E}">
        <p14:creationId xmlns:p14="http://schemas.microsoft.com/office/powerpoint/2010/main" val="162192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308817"/>
              </p:ext>
            </p:extLst>
          </p:nvPr>
        </p:nvGraphicFramePr>
        <p:xfrm>
          <a:off x="1390186" y="1036631"/>
          <a:ext cx="9411627" cy="4977028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3137209">
                  <a:extLst>
                    <a:ext uri="{9D8B030D-6E8A-4147-A177-3AD203B41FA5}">
                      <a16:colId xmlns:a16="http://schemas.microsoft.com/office/drawing/2014/main" val="3059415648"/>
                    </a:ext>
                  </a:extLst>
                </a:gridCol>
                <a:gridCol w="3137209">
                  <a:extLst>
                    <a:ext uri="{9D8B030D-6E8A-4147-A177-3AD203B41FA5}">
                      <a16:colId xmlns:a16="http://schemas.microsoft.com/office/drawing/2014/main" val="3849346587"/>
                    </a:ext>
                  </a:extLst>
                </a:gridCol>
                <a:gridCol w="3137209">
                  <a:extLst>
                    <a:ext uri="{9D8B030D-6E8A-4147-A177-3AD203B41FA5}">
                      <a16:colId xmlns:a16="http://schemas.microsoft.com/office/drawing/2014/main" val="2901214388"/>
                    </a:ext>
                  </a:extLst>
                </a:gridCol>
              </a:tblGrid>
              <a:tr h="609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Aspecto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FNN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3EBF3"/>
                          </a:solidFill>
                          <a:effectLst/>
                          <a:uLnTx/>
                          <a:uFillTx/>
                        </a:rPr>
                        <a:t>RNN</a:t>
                      </a:r>
                      <a:endParaRPr kumimoji="0" lang="pt-B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3EBF3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02" marR="94402" marT="47202" marB="47202" anchor="ctr"/>
                </a:tc>
                <a:extLst>
                  <a:ext uri="{0D108BD9-81ED-4DB2-BD59-A6C34878D82A}">
                    <a16:rowId xmlns:a16="http://schemas.microsoft.com/office/drawing/2014/main" val="324262726"/>
                  </a:ext>
                </a:extLst>
              </a:tr>
              <a:tr h="1080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  Estrutura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dirty="0"/>
                        <a:t>Camadas conectadas de forma sequencial, sem ciclos ou retroalimentação de informação.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dirty="0"/>
                        <a:t>Possui conexões recorrentes que permitem que a saída de uma etapa influencie a próxima.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5424814"/>
                  </a:ext>
                </a:extLst>
              </a:tr>
              <a:tr h="1080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  Funcionamento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dirty="0"/>
                        <a:t>Processa dados em uma única direção, da entrada à saída, sem considerar histórico ou contexto.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dirty="0"/>
                        <a:t>Processa dados sequencialmente, atualizando estados internos com base em entradas anteriores.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422495"/>
                  </a:ext>
                </a:extLst>
              </a:tr>
              <a:tr h="1080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  Memória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Não possui memória; cada entrada é tratada de forma independente.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dirty="0"/>
                        <a:t>Mantém estados ocultos que evoluem com o tempo, permitindo capturar dependências temporais.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734414"/>
                  </a:ext>
                </a:extLst>
              </a:tr>
              <a:tr h="10800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dirty="0"/>
                        <a:t>  Aplicações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/>
                        <a:t>Classificação de imagens, regressão, reconhecimento de padrões estáticos.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700" dirty="0"/>
                        <a:t>Tradução automática, reconhecimento de fala, séries temporais, geração de texto.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784606"/>
                  </a:ext>
                </a:extLst>
              </a:tr>
            </a:tbl>
          </a:graphicData>
        </a:graphic>
      </p:graphicFrame>
      <p:sp>
        <p:nvSpPr>
          <p:cNvPr id="3" name="CaixaDeTexto 2"/>
          <p:cNvSpPr txBox="1"/>
          <p:nvPr/>
        </p:nvSpPr>
        <p:spPr>
          <a:xfrm>
            <a:off x="656664" y="251800"/>
            <a:ext cx="108786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rgbClr val="01BDC4"/>
                </a:solidFill>
              </a:rPr>
              <a:t>QUADRO COMPARATIVO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656664" y="6030718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00" dirty="0">
                <a:solidFill>
                  <a:schemeClr val="bg1">
                    <a:lumMod val="50000"/>
                  </a:schemeClr>
                </a:solidFill>
              </a:rPr>
              <a:t>Fonte: Elaborado pelo autor</a:t>
            </a:r>
          </a:p>
        </p:txBody>
      </p:sp>
    </p:spTree>
    <p:extLst>
      <p:ext uri="{BB962C8B-B14F-4D97-AF65-F5344CB8AC3E}">
        <p14:creationId xmlns:p14="http://schemas.microsoft.com/office/powerpoint/2010/main" val="258817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63CF-66E2-C8BF-5A92-B4DB15E22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D4C8324-7A3C-2886-A0A7-D6BE1706A1A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69066D9-988C-5AB0-D4C6-CAAD11A4A56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</a:t>
            </a:r>
            <a:r>
              <a:rPr lang="pt-BR" sz="2800" i="1" dirty="0" err="1"/>
              <a:t>feedforward</a:t>
            </a:r>
            <a:r>
              <a:rPr lang="pt-BR" sz="2800" dirty="0"/>
              <a:t> (</a:t>
            </a:r>
            <a:r>
              <a:rPr lang="pt-BR" sz="2800" dirty="0" err="1"/>
              <a:t>FNNs</a:t>
            </a:r>
            <a:r>
              <a:rPr lang="pt-BR" sz="2800" dirty="0"/>
              <a:t>) são ideais para tarefas com dados independentes, como classificação de imagens e regressão.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Já as redes recorrentes (</a:t>
            </a:r>
            <a:r>
              <a:rPr lang="pt-BR" sz="2800" dirty="0" err="1"/>
              <a:t>RNNs</a:t>
            </a:r>
            <a:r>
              <a:rPr lang="pt-BR" sz="2800" dirty="0"/>
              <a:t>) se destacam em problemas sequenciais, como texto, fala e séries temporais, onde o contexto importa.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FNNs</a:t>
            </a:r>
            <a:r>
              <a:rPr lang="pt-BR" sz="2800" dirty="0"/>
              <a:t> possuem estrutura simples e processamento direto, enquanto </a:t>
            </a:r>
            <a:r>
              <a:rPr lang="pt-BR" sz="2800" dirty="0" err="1"/>
              <a:t>RNNs</a:t>
            </a:r>
            <a:r>
              <a:rPr lang="pt-BR" sz="2800" dirty="0"/>
              <a:t> mantêm memória interna e atualizam estados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entre FNN e RNN depende da natureza dos dados e da necessidade de capturar dependências temporais.</a:t>
            </a:r>
          </a:p>
        </p:txBody>
      </p:sp>
    </p:spTree>
    <p:extLst>
      <p:ext uri="{BB962C8B-B14F-4D97-AF65-F5344CB8AC3E}">
        <p14:creationId xmlns:p14="http://schemas.microsoft.com/office/powerpoint/2010/main" val="403315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DC6064-D758-4CCB-AF61-A9E06291C37C}"/>
</file>

<file path=customXml/itemProps2.xml><?xml version="1.0" encoding="utf-8"?>
<ds:datastoreItem xmlns:ds="http://schemas.openxmlformats.org/officeDocument/2006/customXml" ds:itemID="{1FE81BAA-AAF7-473C-BC15-9727247F6DD6}"/>
</file>

<file path=customXml/itemProps3.xml><?xml version="1.0" encoding="utf-8"?>
<ds:datastoreItem xmlns:ds="http://schemas.openxmlformats.org/officeDocument/2006/customXml" ds:itemID="{C01E260B-9532-4F4A-A4CD-EBD6B894E80B}"/>
</file>

<file path=docProps/app.xml><?xml version="1.0" encoding="utf-8"?>
<Properties xmlns="http://schemas.openxmlformats.org/officeDocument/2006/extended-properties" xmlns:vt="http://schemas.openxmlformats.org/officeDocument/2006/docPropsVTypes">
  <TotalTime>11410</TotalTime>
  <Words>1475</Words>
  <Application>Microsoft Office PowerPoint</Application>
  <PresentationFormat>Widescreen</PresentationFormat>
  <Paragraphs>99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19</vt:i4>
      </vt:variant>
    </vt:vector>
  </HeadingPairs>
  <TitlesOfParts>
    <vt:vector size="31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5 - Slide de Tabela ou imagem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105</cp:revision>
  <dcterms:created xsi:type="dcterms:W3CDTF">2020-01-14T17:16:45Z</dcterms:created>
  <dcterms:modified xsi:type="dcterms:W3CDTF">2025-12-09T21:04:50Z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