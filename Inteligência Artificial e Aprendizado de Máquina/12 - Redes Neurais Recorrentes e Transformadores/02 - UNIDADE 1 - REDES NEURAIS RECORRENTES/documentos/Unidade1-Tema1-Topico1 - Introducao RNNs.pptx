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5.xml" ContentType="application/vnd.openxmlformats-officedocument.theme+xml"/>
  <Override PartName="/ppt/notesMasters/notesMaster1.xml" ContentType="application/vnd.openxmlformats-officedocument.presentationml.notesMaster+xml"/>
  <Override PartName="/ppt/theme/theme8.xml" ContentType="application/vnd.openxmlformats-officedocument.theme+xml"/>
  <Override PartName="/ppt/theme/theme6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handoutMasters/handoutMaster1.xml" ContentType="application/vnd.openxmlformats-officedocument.presentationml.handoutMaster+xml"/>
  <Override PartName="/ppt/theme/theme7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2"/>
  </p:notesMasterIdLst>
  <p:handoutMasterIdLst>
    <p:handoutMasterId r:id="rId33"/>
  </p:handoutMasterIdLst>
  <p:sldIdLst>
    <p:sldId id="266" r:id="rId9"/>
    <p:sldId id="260" r:id="rId10"/>
    <p:sldId id="267" r:id="rId11"/>
    <p:sldId id="268" r:id="rId12"/>
    <p:sldId id="286" r:id="rId13"/>
    <p:sldId id="262" r:id="rId14"/>
    <p:sldId id="285" r:id="rId15"/>
    <p:sldId id="287" r:id="rId16"/>
    <p:sldId id="274" r:id="rId17"/>
    <p:sldId id="278" r:id="rId18"/>
    <p:sldId id="269" r:id="rId19"/>
    <p:sldId id="270" r:id="rId20"/>
    <p:sldId id="271" r:id="rId21"/>
    <p:sldId id="272" r:id="rId22"/>
    <p:sldId id="273" r:id="rId23"/>
    <p:sldId id="284" r:id="rId24"/>
    <p:sldId id="275" r:id="rId25"/>
    <p:sldId id="276" r:id="rId26"/>
    <p:sldId id="277" r:id="rId27"/>
    <p:sldId id="281" r:id="rId28"/>
    <p:sldId id="282" r:id="rId29"/>
    <p:sldId id="283" r:id="rId30"/>
    <p:sldId id="261" r:id="rId3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67" d="100"/>
          <a:sy n="67" d="100"/>
        </p:scale>
        <p:origin x="81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324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customXml" Target="../customXml/item2.xml"/><Relationship Id="rId21" Type="http://schemas.openxmlformats.org/officeDocument/2006/relationships/slide" Target="slides/slide13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handoutMaster" Target="handoutMasters/handoutMaster1.xml"/><Relationship Id="rId38" Type="http://schemas.openxmlformats.org/officeDocument/2006/relationships/customXml" Target="../customXml/item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09/12/2025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22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35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Redes Neurais Recorrentes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Jr.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Que são Redes Neurais Recorrentes (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r>
              <a:rPr lang="pt-BR" sz="4500" b="1" dirty="0">
                <a:solidFill>
                  <a:schemeClr val="bg1"/>
                </a:solidFill>
              </a:rPr>
              <a:t>)?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463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Neurais Recorrentes são modelos projetados para processar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Elas usam uma memória de estado  para contextualizar as informações, tornando-as ideais para sequências de texto ou áudio.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 principal desafio é o problema de dependências de longo prazo, em que a rede tem dificuldade em lembrar informações distantes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problema é resolvido com arquiteturas avançadas como </a:t>
            </a:r>
            <a:r>
              <a:rPr lang="pt-BR" sz="2800" dirty="0" err="1"/>
              <a:t>LSTMs</a:t>
            </a:r>
            <a:r>
              <a:rPr lang="pt-BR" sz="2800" dirty="0"/>
              <a:t> e </a:t>
            </a:r>
            <a:r>
              <a:rPr lang="pt-BR" sz="2800" dirty="0" err="1"/>
              <a:t>GRUs</a:t>
            </a:r>
            <a:r>
              <a:rPr lang="pt-BR" sz="2800" dirty="0"/>
              <a:t>, que utilizam “portas” para controlar o fluxo de informação.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53FEE-F8ED-E1D1-6849-311924E4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56CB165-0F62-0923-6628-C2AEDEEFB33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Motivação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44F34E-A08C-83CE-6037-E8071AFC9BB6}"/>
              </a:ext>
            </a:extLst>
          </p:cNvPr>
          <p:cNvSpPr txBox="1"/>
          <p:nvPr/>
        </p:nvSpPr>
        <p:spPr>
          <a:xfrm>
            <a:off x="512064" y="1304405"/>
            <a:ext cx="11137392" cy="4479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Dados sequenciais estão em todo lugar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Texto, áudio, vídeo, séries temporais — entender sequências é essencial.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Limitações das redes tradicionais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Redes </a:t>
            </a:r>
            <a:r>
              <a:rPr lang="pt-BR" sz="2800" i="1" dirty="0" err="1"/>
              <a:t>feedforward</a:t>
            </a:r>
            <a:r>
              <a:rPr lang="pt-BR" sz="2800" dirty="0"/>
              <a:t> não capturam dependências temporais.</a:t>
            </a:r>
          </a:p>
          <a:p>
            <a:pPr marL="342900" indent="-342900"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Necessidade de memória contextual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Compreender o que veio antes é crucial para prever o que vem depois.</a:t>
            </a:r>
          </a:p>
        </p:txBody>
      </p:sp>
    </p:spTree>
    <p:extLst>
      <p:ext uri="{BB962C8B-B14F-4D97-AF65-F5344CB8AC3E}">
        <p14:creationId xmlns:p14="http://schemas.microsoft.com/office/powerpoint/2010/main" val="1935313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45732-5A8F-A826-9C0F-1323E3883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5758D3E-BD60-A1B2-84C0-1F654A2452B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Memória Temporal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9768A8-9B28-7713-9DC9-B973274C98D9}"/>
              </a:ext>
            </a:extLst>
          </p:cNvPr>
          <p:cNvSpPr txBox="1"/>
          <p:nvPr/>
        </p:nvSpPr>
        <p:spPr>
          <a:xfrm>
            <a:off x="512064" y="1304405"/>
            <a:ext cx="11137392" cy="4489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Estados ocultos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armazenam informações em estados internos que evoluem com a sequência.</a:t>
            </a:r>
          </a:p>
          <a:p>
            <a:pPr marL="342900" indent="-342900">
              <a:lnSpc>
                <a:spcPts val="34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Contexto sequencial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novo dado é processado considerando o histórico anterior.</a:t>
            </a:r>
          </a:p>
          <a:p>
            <a:pPr marL="342900" indent="-342900">
              <a:lnSpc>
                <a:spcPts val="3400"/>
              </a:lnSpc>
              <a:spcBef>
                <a:spcPts val="600"/>
              </a:spcBef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Persistência da informação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memória permite que padrões temporais sejam reconhecidos ao longo do tempo.</a:t>
            </a:r>
          </a:p>
        </p:txBody>
      </p:sp>
    </p:spTree>
    <p:extLst>
      <p:ext uri="{BB962C8B-B14F-4D97-AF65-F5344CB8AC3E}">
        <p14:creationId xmlns:p14="http://schemas.microsoft.com/office/powerpoint/2010/main" val="3736335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D1661E-48E4-D187-C060-769DB682D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CD57203-C607-CE53-DF2F-A2A1456CA4D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de uma RNN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8901E7-B11F-D85B-B518-153AC053DA8C}"/>
              </a:ext>
            </a:extLst>
          </p:cNvPr>
          <p:cNvSpPr txBox="1"/>
          <p:nvPr/>
        </p:nvSpPr>
        <p:spPr>
          <a:xfrm>
            <a:off x="645459" y="582520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7741F91-46CD-40ED-F06D-D910DA2CB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495416"/>
            <a:ext cx="9061209" cy="393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044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de uma RNN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645459" y="582520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495416"/>
            <a:ext cx="9061209" cy="39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39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DD8CCD-8060-04B7-0054-C2E62008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26BC5387-B41F-E525-5FD0-336DCF5FB090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de uma RNN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AC6C44F-FE97-9631-3A28-A2828AED02B3}"/>
              </a:ext>
            </a:extLst>
          </p:cNvPr>
          <p:cNvSpPr txBox="1"/>
          <p:nvPr/>
        </p:nvSpPr>
        <p:spPr>
          <a:xfrm>
            <a:off x="645459" y="582520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58E4571-FD57-E853-355B-08386FE20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495416"/>
            <a:ext cx="9061209" cy="39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225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C4632-8177-07E4-9C7E-4BC79880E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E041E73C-714C-E497-598B-F44515DD8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519792"/>
            <a:ext cx="9061209" cy="3930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BBE9995-9445-5531-0EFA-9C3A1886176F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de uma RNN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C60CD4D-9E10-4CD6-E2B7-9F4C32C96ECE}"/>
              </a:ext>
            </a:extLst>
          </p:cNvPr>
          <p:cNvSpPr txBox="1"/>
          <p:nvPr/>
        </p:nvSpPr>
        <p:spPr>
          <a:xfrm>
            <a:off x="645459" y="582520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89496D9-78BD-8765-6725-D0FCFD26C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519791"/>
            <a:ext cx="9061209" cy="39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BB608188-1494-205F-F2C5-CCA2BD577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5395" y="1519790"/>
            <a:ext cx="9061209" cy="39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5062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3E92A-BD73-2AAF-2169-22591C242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5E531D7-8DBF-F7D4-582F-C461579CFE2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Estado Oculto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9F4EBB-D8D6-AE6E-5485-661654C723D9}"/>
              </a:ext>
            </a:extLst>
          </p:cNvPr>
          <p:cNvSpPr txBox="1"/>
          <p:nvPr/>
        </p:nvSpPr>
        <p:spPr>
          <a:xfrm>
            <a:off x="512064" y="1304405"/>
            <a:ext cx="11137392" cy="4771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Memória dinâmica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estado oculto armazena informações anteriores e relevantes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Atualização contínua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cada novo elemento, o vetor de estado é ajustado para refletir o novo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Resumo do histórico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Representa de forma compacta o que a rede “lembra” até o momento.</a:t>
            </a:r>
          </a:p>
        </p:txBody>
      </p:sp>
    </p:spTree>
    <p:extLst>
      <p:ext uri="{BB962C8B-B14F-4D97-AF65-F5344CB8AC3E}">
        <p14:creationId xmlns:p14="http://schemas.microsoft.com/office/powerpoint/2010/main" val="3135559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BD57A-DF98-1309-414F-04EE8980A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9612465-2C74-BB22-BF6D-4F5492CA7EE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Compartilhamento de Pesos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07EBE67-FD5D-18B0-D349-842F4ADAE0E6}"/>
              </a:ext>
            </a:extLst>
          </p:cNvPr>
          <p:cNvSpPr txBox="1"/>
          <p:nvPr/>
        </p:nvSpPr>
        <p:spPr>
          <a:xfrm>
            <a:off x="512064" y="1304405"/>
            <a:ext cx="11137392" cy="4925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Parâmetros reutilizados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mesmos pesos são aplicados em todas as etapas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Eficiência computacional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 o número de parâmetros, tornando o modelo mais leve.</a:t>
            </a:r>
          </a:p>
          <a:p>
            <a:pPr marL="342900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Generalização melhorada e consistência na aprendizagem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compartilhamento ajuda a aprender padrões comuns em diferentes posições.</a:t>
            </a:r>
          </a:p>
          <a:p>
            <a:pPr marL="800100" lvl="1" indent="-342900">
              <a:lnSpc>
                <a:spcPts val="3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Garante que o modelo trate elementos semelhantes de forma uniforme.</a:t>
            </a:r>
          </a:p>
        </p:txBody>
      </p:sp>
    </p:spTree>
    <p:extLst>
      <p:ext uri="{BB962C8B-B14F-4D97-AF65-F5344CB8AC3E}">
        <p14:creationId xmlns:p14="http://schemas.microsoft.com/office/powerpoint/2010/main" val="2966465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C190-C4A4-B1A3-1BFA-154F68DD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F7DDFEF-39D3-CBCC-C13E-2AE8493C99D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PLN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EF5C10-882D-DB9C-F368-05DFDF16AAED}"/>
              </a:ext>
            </a:extLst>
          </p:cNvPr>
          <p:cNvSpPr txBox="1"/>
          <p:nvPr/>
        </p:nvSpPr>
        <p:spPr>
          <a:xfrm>
            <a:off x="512064" y="1304405"/>
            <a:ext cx="11137392" cy="433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Tradução automática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RNNs</a:t>
            </a:r>
            <a:r>
              <a:rPr lang="pt-BR" sz="2800" dirty="0"/>
              <a:t> ajudam a converter textos entre idiomas com contexto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Análise de sentimentos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Identificam emoções e opiniões em textos, como avaliações de clientes e postagens em redes sociais.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Geração de texto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Criam frases coerentes com base em padrões aprendidos.</a:t>
            </a:r>
          </a:p>
        </p:txBody>
      </p:sp>
    </p:spTree>
    <p:extLst>
      <p:ext uri="{BB962C8B-B14F-4D97-AF65-F5344CB8AC3E}">
        <p14:creationId xmlns:p14="http://schemas.microsoft.com/office/powerpoint/2010/main" val="413664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9B90-4621-B086-93BD-14F3A2EE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1281CA-B6BC-3FD7-881C-71CACFB2746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Séries Temporais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46931B-E876-C836-99C6-CD9956D8A3C2}"/>
              </a:ext>
            </a:extLst>
          </p:cNvPr>
          <p:cNvSpPr txBox="1"/>
          <p:nvPr/>
        </p:nvSpPr>
        <p:spPr>
          <a:xfrm>
            <a:off x="512064" y="1304405"/>
            <a:ext cx="11137392" cy="4643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Previsão de demanda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Antecipação de consumo ou uso de recursos ao longo do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Análise de preços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Modelagem e previsão de variações em mercados financeiros.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Sinais biomédicos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Interpretação de dados como ECG e EEG para diagnósticos.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Detecção de padrões temporais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Identificação de tendências e anomalias em dados sequenciais.</a:t>
            </a:r>
          </a:p>
        </p:txBody>
      </p:sp>
    </p:spTree>
    <p:extLst>
      <p:ext uri="{BB962C8B-B14F-4D97-AF65-F5344CB8AC3E}">
        <p14:creationId xmlns:p14="http://schemas.microsoft.com/office/powerpoint/2010/main" val="450469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1B199-7B3A-488C-BA02-DD4E9209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3C1604A-F2BD-A1B0-2FED-7D3A8764B12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Reconhecimento de Fala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6390E9-7729-B5FB-032C-936CF4F04616}"/>
              </a:ext>
            </a:extLst>
          </p:cNvPr>
          <p:cNvSpPr txBox="1"/>
          <p:nvPr/>
        </p:nvSpPr>
        <p:spPr>
          <a:xfrm>
            <a:off x="512064" y="1304405"/>
            <a:ext cx="11137392" cy="4643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Transcrição automática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Conversão de fala em texto com precisão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Assistentes virtuais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Compreensão de comandos de voz em tempo real.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Legendas automáticas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Geração de legendas para vídeos e transmissões ao vivo.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Aprimoramento da acessibilidade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Ferramentas para pessoas com deficiência auditiva ou motora.</a:t>
            </a:r>
          </a:p>
        </p:txBody>
      </p:sp>
    </p:spTree>
    <p:extLst>
      <p:ext uri="{BB962C8B-B14F-4D97-AF65-F5344CB8AC3E}">
        <p14:creationId xmlns:p14="http://schemas.microsoft.com/office/powerpoint/2010/main" val="3703664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3E32F-B71E-C575-0BBE-FCB7D290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4C99E61-5998-618D-39C8-A0FCE714386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Processamento de Vídeo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FF1FD0-A994-A594-F674-922EBB8DF68B}"/>
              </a:ext>
            </a:extLst>
          </p:cNvPr>
          <p:cNvSpPr txBox="1"/>
          <p:nvPr/>
        </p:nvSpPr>
        <p:spPr>
          <a:xfrm>
            <a:off x="512064" y="1304405"/>
            <a:ext cx="11137392" cy="4643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Reconhecimento de ações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Identificação de movimentos e comportamentos em vídeos.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Análise de sequência de quadros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Interpretação temporal de imagens para entender o contexto visual.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Monitoramento inteligente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Aplicações em segurança e vigilância com detecção automática.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Interação homem-máquina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Reconhecimento de gestos para controle por movimento.</a:t>
            </a:r>
          </a:p>
        </p:txBody>
      </p:sp>
    </p:spTree>
    <p:extLst>
      <p:ext uri="{BB962C8B-B14F-4D97-AF65-F5344CB8AC3E}">
        <p14:creationId xmlns:p14="http://schemas.microsoft.com/office/powerpoint/2010/main" val="2280308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0322D-DB0A-7C69-3CAF-C204222CE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B3A3DDF-2331-0D80-BBEF-AD883C714A2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em Modelagem de Sequências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13955B-2502-148E-2082-219FE61726D3}"/>
              </a:ext>
            </a:extLst>
          </p:cNvPr>
          <p:cNvSpPr txBox="1"/>
          <p:nvPr/>
        </p:nvSpPr>
        <p:spPr>
          <a:xfrm>
            <a:off x="512064" y="1304405"/>
            <a:ext cx="11137392" cy="4643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Aprendizado de padrões temporais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Identificação de regularidades ao longo de dados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Captura de dependências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Relações entre elementos da sequência são modeladas com precisão.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Previsão de próximos elementos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Utilizadas para sugerir palavras, notas musicais ou eventos futuros.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Geração de texto automático</a:t>
            </a:r>
          </a:p>
          <a:p>
            <a:pPr marL="800100" lvl="1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Produção de conteúdo coerente com base em sequências anteriores.</a:t>
            </a:r>
          </a:p>
        </p:txBody>
      </p:sp>
    </p:spTree>
    <p:extLst>
      <p:ext uri="{BB962C8B-B14F-4D97-AF65-F5344CB8AC3E}">
        <p14:creationId xmlns:p14="http://schemas.microsoft.com/office/powerpoint/2010/main" val="747568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D9055-6EA0-EA71-6D96-52E53AD3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28A985E-E110-D2D5-1018-035178DBD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609060" y="1495416"/>
            <a:ext cx="8973878" cy="3930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D9DADD0-12B9-DCD2-A00C-4DF281F785E9}"/>
              </a:ext>
            </a:extLst>
          </p:cNvPr>
          <p:cNvSpPr/>
          <p:nvPr/>
        </p:nvSpPr>
        <p:spPr>
          <a:xfrm>
            <a:off x="5309191" y="1557005"/>
            <a:ext cx="5284380" cy="3856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D933593-4E55-95AC-66A4-CE773D610219}"/>
              </a:ext>
            </a:extLst>
          </p:cNvPr>
          <p:cNvSpPr/>
          <p:nvPr/>
        </p:nvSpPr>
        <p:spPr>
          <a:xfrm>
            <a:off x="3987208" y="1488558"/>
            <a:ext cx="6602819" cy="3934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9802F70-8E5D-7CE0-295B-1CA127AB69EA}"/>
              </a:ext>
            </a:extLst>
          </p:cNvPr>
          <p:cNvSpPr txBox="1"/>
          <p:nvPr/>
        </p:nvSpPr>
        <p:spPr>
          <a:xfrm>
            <a:off x="645459" y="514404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Exemplo: Modelo de Linguagem de Nível de Caractere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BF3905D-2AE8-E1DD-8133-EEDFD89E3B9A}"/>
              </a:ext>
            </a:extLst>
          </p:cNvPr>
          <p:cNvSpPr txBox="1"/>
          <p:nvPr/>
        </p:nvSpPr>
        <p:spPr>
          <a:xfrm>
            <a:off x="645459" y="5825203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</a:t>
            </a:r>
            <a:r>
              <a:rPr kumimoji="0" lang="en-US" sz="1300" b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ZHANG et al. Dive into deep learning. Cambridge University Press, 2023.</a:t>
            </a:r>
            <a:endParaRPr kumimoji="0" lang="pt-BR" sz="1300" b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DDDC01-058F-D602-D6FE-3CFF429E4BDC}"/>
              </a:ext>
            </a:extLst>
          </p:cNvPr>
          <p:cNvSpPr/>
          <p:nvPr/>
        </p:nvSpPr>
        <p:spPr>
          <a:xfrm>
            <a:off x="6634716" y="1484781"/>
            <a:ext cx="4029742" cy="38565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75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714C9-1461-E014-15B3-ED31FB1F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179BB3D-C9FA-4FCD-5564-E8DDC0045FD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com BPTT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C2BA6D-8F62-9879-A3ED-6553413E772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algoritmo </a:t>
            </a:r>
            <a:r>
              <a:rPr lang="pt-BR" sz="2800" dirty="0" err="1"/>
              <a:t>Backpropagation</a:t>
            </a:r>
            <a:r>
              <a:rPr lang="pt-BR" sz="2800" dirty="0"/>
              <a:t> </a:t>
            </a:r>
            <a:r>
              <a:rPr lang="pt-BR" sz="2800" dirty="0" err="1"/>
              <a:t>Through</a:t>
            </a:r>
            <a:r>
              <a:rPr lang="pt-BR" sz="2800" dirty="0"/>
              <a:t> Time (BPTT) adapta o método de retropropagação para lidar com sequências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treinamento, os erros são propagados para trás ao longo das etapas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pesos da rede são ajustados com base nos gradientes acumulados em cada passo.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sequências longas, o modelo pode enfrentar dificuldades como desaparecimento ou explosão de gradientes.</a:t>
            </a:r>
          </a:p>
        </p:txBody>
      </p:sp>
    </p:spTree>
    <p:extLst>
      <p:ext uri="{BB962C8B-B14F-4D97-AF65-F5344CB8AC3E}">
        <p14:creationId xmlns:p14="http://schemas.microsoft.com/office/powerpoint/2010/main" val="596799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803BC-51A6-F482-2E2C-463A0CFC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89DA5CB-0917-E72B-10C0-BD7EC92395D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no Treinamento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176171-0AFF-A8DE-05B2-733AC44572D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 de </a:t>
            </a:r>
            <a:r>
              <a:rPr lang="pt-BR" sz="2800" dirty="0" err="1"/>
              <a:t>RNNs</a:t>
            </a:r>
            <a:r>
              <a:rPr lang="pt-BR" sz="2800" dirty="0"/>
              <a:t>, os gradientes podem desaparecer ou explodir ao longo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problemas dificultam o ajuste dos pesos e comprometem o aprendizado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Sequências muito longas tornam o treinamento instável e menos eficiente.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como LSTM e GRU foram desenvolvidas para contornar essas limitações.</a:t>
            </a:r>
          </a:p>
        </p:txBody>
      </p:sp>
    </p:spTree>
    <p:extLst>
      <p:ext uri="{BB962C8B-B14F-4D97-AF65-F5344CB8AC3E}">
        <p14:creationId xmlns:p14="http://schemas.microsoft.com/office/powerpoint/2010/main" val="1617983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7461B-62EC-2310-25F3-B0FD9C3BF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D629AC-BD68-6E90-D31C-8BFC1700024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Soluções Avançadas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8C3E13-6654-341D-EB31-9C9DDEF9F35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Arquiteturas como LSTM e GRU foram criadas para lidar com limitações das </a:t>
            </a:r>
            <a:r>
              <a:rPr lang="pt-BR" sz="2800" dirty="0" err="1"/>
              <a:t>RNNs</a:t>
            </a:r>
            <a:r>
              <a:rPr lang="pt-BR" sz="2800" dirty="0"/>
              <a:t> tradicionais.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modelos usam mecanismos de controle (ou portas) que ajudam a preservar informações importantes.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portas internas da LSTM e GRU regulam o que deve ser armazenado, esquecido ou transmitido.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isso, é possível aprender dependências de longo prazo com mais estabilidade e precisão.</a:t>
            </a:r>
          </a:p>
        </p:txBody>
      </p:sp>
    </p:spTree>
    <p:extLst>
      <p:ext uri="{BB962C8B-B14F-4D97-AF65-F5344CB8AC3E}">
        <p14:creationId xmlns:p14="http://schemas.microsoft.com/office/powerpoint/2010/main" val="14555986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527B-F533-C2D9-4F27-12B83EF5F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6EBA5AA-D5D9-723F-89B7-A5CFD1817E2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Importância da Ordem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02DA71-67D6-208D-C379-6F4DEACA782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Em </a:t>
            </a:r>
            <a:r>
              <a:rPr lang="pt-BR" sz="2800" dirty="0" err="1"/>
              <a:t>RNNs</a:t>
            </a:r>
            <a:r>
              <a:rPr lang="pt-BR" sz="2800" dirty="0"/>
              <a:t>, a ordem dos dados é essencial para que o modelo compreenda o contexto corretamente.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elemento da sequência depende do que veio antes, influenciando diretamente a saída.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Alterar a sequência pode mudar completamente o significado ou a previsão da rede.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comportamento torna as </a:t>
            </a:r>
            <a:r>
              <a:rPr lang="pt-BR" sz="2800" dirty="0" err="1"/>
              <a:t>RNNs</a:t>
            </a:r>
            <a:r>
              <a:rPr lang="pt-BR" sz="2800" dirty="0"/>
              <a:t> ideais para tarefas em que o tempo e a posição importam.</a:t>
            </a:r>
          </a:p>
        </p:txBody>
      </p:sp>
    </p:spTree>
    <p:extLst>
      <p:ext uri="{BB962C8B-B14F-4D97-AF65-F5344CB8AC3E}">
        <p14:creationId xmlns:p14="http://schemas.microsoft.com/office/powerpoint/2010/main" val="1856668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606DB-885D-B93E-D300-26B24B986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504DBD1-8485-A58C-BA7C-E788CD99B0F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Transformers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180F604-388E-5AF4-EC43-C0A05ACE7BB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Transformers foram desenvolvidos para superar limitações das </a:t>
            </a:r>
            <a:r>
              <a:rPr lang="pt-BR" sz="2800" dirty="0" err="1"/>
              <a:t>RNNs</a:t>
            </a:r>
            <a:r>
              <a:rPr lang="pt-BR" sz="2800" dirty="0"/>
              <a:t> em tarefas sequenciais.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Eles processam todos os elementos simultaneamente, sem depender da ordem temporal.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mais eficientes em muitos casos, exigem maior poder computacional.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hoje a base de modelos avançados como BERT, GPT e outros modelos de linguagem.</a:t>
            </a:r>
          </a:p>
        </p:txBody>
      </p:sp>
    </p:spTree>
    <p:extLst>
      <p:ext uri="{BB962C8B-B14F-4D97-AF65-F5344CB8AC3E}">
        <p14:creationId xmlns:p14="http://schemas.microsoft.com/office/powerpoint/2010/main" val="2925542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E078-E946-64A0-ADC4-088A7C355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D42D41-8D4C-7474-CFE0-D80B241A3FF5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AA07258-08A1-FF2B-7578-E7EFFA8D2D95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</a:t>
            </a:r>
            <a:r>
              <a:rPr lang="pt-BR" sz="2800" dirty="0" err="1"/>
              <a:t>RNNs</a:t>
            </a:r>
            <a:r>
              <a:rPr lang="pt-BR" sz="2800" dirty="0"/>
              <a:t> foram projetadas para lidar com dados sequenciais, como texto, áudio e séries temporais.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Elas mantêm uma memória interna que permite capturar dependências entre elementos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Apesar de suas limitações, como dificuldade com sequências longas, são essenciais em muitas aplicações.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mais avançados, como LSTM, GRU e Transformers, evoluíram a partir dos princípios das </a:t>
            </a:r>
            <a:r>
              <a:rPr lang="pt-BR" sz="2800" dirty="0" err="1"/>
              <a:t>RNNs</a:t>
            </a:r>
            <a:r>
              <a:rPr lang="pt-BR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541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3326DF3-C481-40D5-B1B8-145D1B74B5DC}"/>
</file>

<file path=customXml/itemProps2.xml><?xml version="1.0" encoding="utf-8"?>
<ds:datastoreItem xmlns:ds="http://schemas.openxmlformats.org/officeDocument/2006/customXml" ds:itemID="{92BAAD10-DC18-4EB7-84B0-B144EE1D1E9A}"/>
</file>

<file path=customXml/itemProps3.xml><?xml version="1.0" encoding="utf-8"?>
<ds:datastoreItem xmlns:ds="http://schemas.openxmlformats.org/officeDocument/2006/customXml" ds:itemID="{00A9BFB1-43D0-40E8-88FC-2A84504954D8}"/>
</file>

<file path=docProps/app.xml><?xml version="1.0" encoding="utf-8"?>
<Properties xmlns="http://schemas.openxmlformats.org/officeDocument/2006/extended-properties" xmlns:vt="http://schemas.openxmlformats.org/officeDocument/2006/docPropsVTypes">
  <TotalTime>11426</TotalTime>
  <Words>1066</Words>
  <Application>Microsoft Office PowerPoint</Application>
  <PresentationFormat>Widescreen</PresentationFormat>
  <Paragraphs>119</Paragraphs>
  <Slides>23</Slides>
  <Notes>0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23</vt:i4>
      </vt:variant>
    </vt:vector>
  </HeadingPairs>
  <TitlesOfParts>
    <vt:vector size="35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Marilane de Almeida Silva Casorla</cp:lastModifiedBy>
  <cp:revision>104</cp:revision>
  <dcterms:created xsi:type="dcterms:W3CDTF">2020-01-14T17:16:45Z</dcterms:created>
  <dcterms:modified xsi:type="dcterms:W3CDTF">2025-12-09T21:01:57Z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