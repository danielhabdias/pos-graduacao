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17"/>
  </p:notesMasterIdLst>
  <p:handoutMasterIdLst>
    <p:handoutMasterId r:id="rId18"/>
  </p:handoutMasterIdLst>
  <p:sldIdLst>
    <p:sldId id="266" r:id="rId8"/>
    <p:sldId id="260" r:id="rId9"/>
    <p:sldId id="285" r:id="rId10"/>
    <p:sldId id="286" r:id="rId11"/>
    <p:sldId id="287" r:id="rId12"/>
    <p:sldId id="288" r:id="rId13"/>
    <p:sldId id="289" r:id="rId14"/>
    <p:sldId id="290" r:id="rId15"/>
    <p:sldId id="26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77620" autoAdjust="0"/>
  </p:normalViewPr>
  <p:slideViewPr>
    <p:cSldViewPr snapToGrid="0">
      <p:cViewPr varScale="1">
        <p:scale>
          <a:sx n="71" d="100"/>
          <a:sy n="71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customXml" Target="../customXml/item1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Avaliação de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Importância da Avaliação em RNN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Avaliar o desempenho garante verificar se o modelo aprendeu padrões reais, evitando o </a:t>
            </a:r>
            <a:r>
              <a:rPr lang="pt-BR" sz="2800" dirty="0" err="1"/>
              <a:t>overfitting</a:t>
            </a:r>
            <a:r>
              <a:rPr lang="pt-BR" sz="2800" dirty="0"/>
              <a:t> e melhorando a generalização.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dos resultados ajuda a escolher a arquitetura mais eficaz para o problema, considerando o tipo de sequência e os objetivos da tarefa.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permite detectar instabilidades nos gradientes e outros problemas que podem comprometer o aprendizado e a performance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de avaliação orienta ajustes finos nos </a:t>
            </a:r>
            <a:r>
              <a:rPr lang="pt-BR" sz="2800" dirty="0" err="1"/>
              <a:t>hiperparâmetros</a:t>
            </a:r>
            <a:r>
              <a:rPr lang="pt-BR" sz="2800" dirty="0"/>
              <a:t>, contribuindo para um modelo mais eficiente e com melhor desempenho.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E3EE4-C913-38EB-BA34-0AB4CA54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81426D-88F7-0AB4-4BB2-10338AF4327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Objetivo da Avaliação em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1AAE98-2FDE-A8CC-B062-08E4F6D2D4D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ajuda a garantir que o modelo aprenda padrões reais e não apenas memorize os dados de treino.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escolher a melhor arquitetura para cada tarefa, considerando o tipo de sequência e os objetivos.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Identifica falhas no aprendizado, como instabilidades nos gradientes, que afetam o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Orienta ajustes nos parâmetros para melhorar a eficiência e a robustez do modelo.</a:t>
            </a:r>
          </a:p>
        </p:txBody>
      </p:sp>
    </p:spTree>
    <p:extLst>
      <p:ext uri="{BB962C8B-B14F-4D97-AF65-F5344CB8AC3E}">
        <p14:creationId xmlns:p14="http://schemas.microsoft.com/office/powerpoint/2010/main" val="110140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93DCD-1921-8952-8E90-083D0DBE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CEDBF3-CDF3-E159-990F-19BA492304A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Métricas para Tarefas de Classificação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15B054-FBDD-3AAE-3380-22B069F7638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tarefas como análise de sentimentos ou detecção de spam, é essencial avaliar a qualidade das previsões feitas pelo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acurácia mostra o percentual de acertos, mas pode ser enganosa quando há desequilíbrio entre as classes.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precisão indica quantos dos positivos previstos são realmente corretos, enquanto o recall mostra quantos positivos reais foram identificados.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F1-Score combina precisão e recall, sendo especialmente útil quando os dados estão desbalanceados.</a:t>
            </a:r>
          </a:p>
        </p:txBody>
      </p:sp>
    </p:spTree>
    <p:extLst>
      <p:ext uri="{BB962C8B-B14F-4D97-AF65-F5344CB8AC3E}">
        <p14:creationId xmlns:p14="http://schemas.microsoft.com/office/powerpoint/2010/main" val="392318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3F58-DF2C-F55C-E721-062ABB366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C3ECF74-EEFA-C4D0-CFC5-856D4510CC7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Métricas para Tarefas de Regressão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E43E3A-F7EA-DA00-6C28-1542F13F4280}"/>
              </a:ext>
            </a:extLst>
          </p:cNvPr>
          <p:cNvSpPr txBox="1"/>
          <p:nvPr/>
        </p:nvSpPr>
        <p:spPr>
          <a:xfrm>
            <a:off x="512064" y="1209815"/>
            <a:ext cx="11137392" cy="4899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previsões de preços ou clima, é essencial medir a proximidade entre os valores reais e os previstos pelo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Erro Quadrático Médio (MSE) penaliza grandes erros, enquanto o RMSE (Raiz do MSE) facilita a interpretação por estar na mesma unidade da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Erro Absoluto Médio (MAE) é menos sensível a valores extremos, sendo útil para avaliar erros médios de forma mais equilibrada.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Índice de Determinação (R</a:t>
            </a:r>
            <a:r>
              <a:rPr lang="pt-BR" sz="2800" baseline="30000" dirty="0"/>
              <a:t>2</a:t>
            </a:r>
            <a:r>
              <a:rPr lang="pt-BR" sz="2800" dirty="0"/>
              <a:t>) indica a proporção da variabilidade dos dados explicada pelo modelo, entre 0 e 1 – sendo que quanto mais próximo de 1 melhor o ajuste do modelo aos dados.</a:t>
            </a:r>
          </a:p>
        </p:txBody>
      </p:sp>
    </p:spTree>
    <p:extLst>
      <p:ext uri="{BB962C8B-B14F-4D97-AF65-F5344CB8AC3E}">
        <p14:creationId xmlns:p14="http://schemas.microsoft.com/office/powerpoint/2010/main" val="305977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F325-4F83-3A78-F134-E3426E4A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AEB93B-A904-5622-8F69-3D2BA320C97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Métricas para Modelos de Linguagem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8C7E92-D21E-B102-C7B2-E3AA85856B4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tarefas como tradução ou geração de texto, é essencial avaliar a qualidade das sequências produzidas pelo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perplexidade mede a confiança do modelo ao prever palavras; valores menores indicam melhor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BLEU, ROUGE e METEOR comparam o texto gerado com referências humanas, avaliando precisão, cobertura e semelhança semântica.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CIDEr</a:t>
            </a:r>
            <a:r>
              <a:rPr lang="pt-BR" sz="2800" dirty="0"/>
              <a:t> foca na relevância do conteúdo gerado, sendo útil para tarefas como descrição de imagens e geração de legendas.</a:t>
            </a:r>
          </a:p>
        </p:txBody>
      </p:sp>
    </p:spTree>
    <p:extLst>
      <p:ext uri="{BB962C8B-B14F-4D97-AF65-F5344CB8AC3E}">
        <p14:creationId xmlns:p14="http://schemas.microsoft.com/office/powerpoint/2010/main" val="119191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34EC-A801-C2D4-D8D1-40234AF8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D85AAD-8465-844A-C7BB-5C4A3BDA97E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Técnicas para Evitar </a:t>
            </a:r>
            <a:r>
              <a:rPr lang="pt-BR" sz="4500" b="1" dirty="0" err="1">
                <a:solidFill>
                  <a:schemeClr val="bg1"/>
                </a:solidFill>
              </a:rPr>
              <a:t>Overfitting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D176E5-D42B-A256-D3A4-E18E2421F9E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contínua permite identificar quando o modelo começa a memorizar os dados de treino, sinalizando risco de </a:t>
            </a:r>
            <a:r>
              <a:rPr lang="pt-BR" sz="2800" dirty="0" err="1"/>
              <a:t>overfitting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validação cruzada ajudam a verificar se o modelo generaliza bem para dados não vistos, evitando ajustes excessivos.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de métricas em diferentes conjuntos (treino, validação e teste) revela discrepâncias que indicam </a:t>
            </a:r>
            <a:r>
              <a:rPr lang="pt-BR" sz="2800" dirty="0" err="1"/>
              <a:t>sobreajuste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Avaliar o desempenho ao longo do treinamento orienta o uso de estratégias como regularização e parada antecipada.</a:t>
            </a:r>
          </a:p>
        </p:txBody>
      </p:sp>
    </p:spTree>
    <p:extLst>
      <p:ext uri="{BB962C8B-B14F-4D97-AF65-F5344CB8AC3E}">
        <p14:creationId xmlns:p14="http://schemas.microsoft.com/office/powerpoint/2010/main" val="8070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8D35-F0CF-0914-5EA0-55FE88EDC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0D9EA9B-6C5D-1EF3-F3AB-A83BBBC4BA9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2C9104-FE2E-78F0-7A67-6D4F108610E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em </a:t>
            </a:r>
            <a:r>
              <a:rPr lang="pt-BR" sz="2800" dirty="0" err="1"/>
              <a:t>RNNs</a:t>
            </a:r>
            <a:r>
              <a:rPr lang="pt-BR" sz="2800" dirty="0"/>
              <a:t> garante que o modelo aprenda padrões relevantes e generalize bem para novos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da métrica depende da tarefa: classificação, regressão ou linguagem, cada uma com critérios específicos.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validação cruzada e regularização ajudam a evitar o </a:t>
            </a:r>
            <a:r>
              <a:rPr lang="pt-BR" sz="2800" dirty="0" err="1"/>
              <a:t>overfitting</a:t>
            </a:r>
            <a:r>
              <a:rPr lang="pt-BR" sz="2800" dirty="0"/>
              <a:t> e melhorar a robustez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Comparar o desempenho entre diferentes arquiteturas permite identificar a mais adequada para cada tipo de sequência.</a:t>
            </a:r>
          </a:p>
        </p:txBody>
      </p:sp>
    </p:spTree>
    <p:extLst>
      <p:ext uri="{BB962C8B-B14F-4D97-AF65-F5344CB8AC3E}">
        <p14:creationId xmlns:p14="http://schemas.microsoft.com/office/powerpoint/2010/main" val="625541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A50D189-2427-4C2A-B7B0-56F65DC89704}"/>
</file>

<file path=customXml/itemProps2.xml><?xml version="1.0" encoding="utf-8"?>
<ds:datastoreItem xmlns:ds="http://schemas.openxmlformats.org/officeDocument/2006/customXml" ds:itemID="{C1CCBE4F-37B8-4A1C-A601-1B7808D45A40}"/>
</file>

<file path=customXml/itemProps3.xml><?xml version="1.0" encoding="utf-8"?>
<ds:datastoreItem xmlns:ds="http://schemas.openxmlformats.org/officeDocument/2006/customXml" ds:itemID="{5264AD63-95C0-4A31-97E0-D3D1761953F1}"/>
</file>

<file path=docProps/app.xml><?xml version="1.0" encoding="utf-8"?>
<Properties xmlns="http://schemas.openxmlformats.org/officeDocument/2006/extended-properties" xmlns:vt="http://schemas.openxmlformats.org/officeDocument/2006/docPropsVTypes">
  <TotalTime>11397</TotalTime>
  <Words>617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9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101</cp:revision>
  <dcterms:created xsi:type="dcterms:W3CDTF">2020-01-14T17:16:45Z</dcterms:created>
  <dcterms:modified xsi:type="dcterms:W3CDTF">2025-12-10T13:22:20Z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