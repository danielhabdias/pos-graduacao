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4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5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  <p:sldMasterId id="2147483709" r:id="rId8"/>
  </p:sldMasterIdLst>
  <p:notesMasterIdLst>
    <p:notesMasterId r:id="rId32"/>
  </p:notesMasterIdLst>
  <p:handoutMasterIdLst>
    <p:handoutMasterId r:id="rId33"/>
  </p:handoutMasterIdLst>
  <p:sldIdLst>
    <p:sldId id="266" r:id="rId9"/>
    <p:sldId id="260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86" r:id="rId20"/>
    <p:sldId id="288" r:id="rId21"/>
    <p:sldId id="298" r:id="rId22"/>
    <p:sldId id="277" r:id="rId23"/>
    <p:sldId id="278" r:id="rId24"/>
    <p:sldId id="279" r:id="rId25"/>
    <p:sldId id="280" r:id="rId26"/>
    <p:sldId id="281" r:id="rId27"/>
    <p:sldId id="287" r:id="rId28"/>
    <p:sldId id="283" r:id="rId29"/>
    <p:sldId id="285" r:id="rId30"/>
    <p:sldId id="261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67" d="100"/>
          <a:sy n="67" d="100"/>
        </p:scale>
        <p:origin x="81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customXml" Target="../customXml/item2.xml"/><Relationship Id="rId21" Type="http://schemas.openxmlformats.org/officeDocument/2006/relationships/slide" Target="slides/slide13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handoutMaster" Target="handoutMasters/handoutMaster1.xml"/><Relationship Id="rId38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645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6955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Processamento Sequencial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Jr.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 ao Processamento Sequencial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neurais recorrentes (</a:t>
            </a:r>
            <a:r>
              <a:rPr lang="pt-BR" sz="2800" dirty="0" err="1"/>
              <a:t>RNNs</a:t>
            </a:r>
            <a:r>
              <a:rPr lang="pt-BR" sz="2800" dirty="0"/>
              <a:t>) são especialmente projetadas para lidar com dados sequenciais, onde a ordem dos elementos é relevante.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Ao processar cada entrada, a RNN considera não apenas o dado atual, mas também o histórico armazenado em seu estado interno.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permite capturar dependências temporais, fundamentais em tarefas como tradução, reconhecimento de fala e séries temporais.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processamento sequencial torna as </a:t>
            </a:r>
            <a:r>
              <a:rPr lang="pt-BR" sz="2800" dirty="0" err="1"/>
              <a:t>RNNs</a:t>
            </a:r>
            <a:r>
              <a:rPr lang="pt-BR" sz="2800" dirty="0"/>
              <a:t> capazes de aprender padrões que evoluem ao longo do tempo, oferecendo maior contextualização.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44111-23DA-64C0-8558-B5877678E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1CD465E-F00C-FF6D-7240-BCB979BB14B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Importância da Sequência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2E34F38-7403-5EA7-BF09-B5A3C37D7C6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redes recorrentes, a ordem dos dados é fundamental para que a rede compreenda o contexto e as relações temporais entre os elementos.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entrada é processada considerando o histórico anterior, o que permite capturar padrões que evoluem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é essencial em tarefas como tradução, onde o significado de uma palavra depende das anteriores.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Ignorar a sequência comprometeria a capacidade da rede de entender o fluxo e a lógica dos dados, reduzindo a precisão dos resultados.</a:t>
            </a:r>
          </a:p>
        </p:txBody>
      </p:sp>
    </p:spTree>
    <p:extLst>
      <p:ext uri="{BB962C8B-B14F-4D97-AF65-F5344CB8AC3E}">
        <p14:creationId xmlns:p14="http://schemas.microsoft.com/office/powerpoint/2010/main" val="383669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3C585-8E0C-9BD4-F529-D14C4C11B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9E37A23-682C-1E3C-30CD-A150B171736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Exemplos de Dados Sequenciais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D6132BC-4229-64FA-478A-2D33CE07782C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Dados sequenciais são aqueles em que a ordem dos elementos influencia diretamente o significado ou o comportamento do conjunto.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Exemplos comuns incluem texto, cujo sentido depende da sequência das palavras, e fala, que varia conforme o ritmo e entonação.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Música e vídeo também são sequenciais, pois envolvem variações temporais que precisam ser interpretadas em ordem.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Outros exemplos seriam sensores em dispositivos ou ambientes que gerem leituras contínuas, formando séries temporais que exigem análise sequencial.</a:t>
            </a:r>
          </a:p>
        </p:txBody>
      </p:sp>
    </p:spTree>
    <p:extLst>
      <p:ext uri="{BB962C8B-B14F-4D97-AF65-F5344CB8AC3E}">
        <p14:creationId xmlns:p14="http://schemas.microsoft.com/office/powerpoint/2010/main" val="3447954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DBB70-0B44-DF55-3038-C5A5C45D3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0B11A51-DE5D-0E6C-21D2-FBD83647A1F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Funcionamento Básico das </a:t>
            </a:r>
            <a:r>
              <a:rPr lang="pt-BR" sz="4500" b="1" dirty="0" err="1">
                <a:solidFill>
                  <a:schemeClr val="bg1"/>
                </a:solidFill>
              </a:rPr>
              <a:t>RNNs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DA7514C-649C-8CFE-5FA0-2ACC76A5C66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</a:t>
            </a:r>
            <a:r>
              <a:rPr lang="pt-BR" sz="2800" dirty="0" err="1"/>
              <a:t>RNNs</a:t>
            </a:r>
            <a:r>
              <a:rPr lang="pt-BR" sz="2800" dirty="0"/>
              <a:t> processam uma entrada por vez e atualizam seu estado oculto, permitindo lidar com dados sequenciais de forma contextual.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eficazes em tarefas que envolvem ordem temporal, como séries temporais e processamento de linguagem natural.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treinamento pode ser difícil devido ao desaparecimento de gradiente, que prejudica o aprendizado de relações distantes.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Arquiteturas como LSTM e GRU foram criadas para contornar essas limitações e melhorar o desempenho em sequências longas.</a:t>
            </a:r>
          </a:p>
        </p:txBody>
      </p:sp>
    </p:spTree>
    <p:extLst>
      <p:ext uri="{BB962C8B-B14F-4D97-AF65-F5344CB8AC3E}">
        <p14:creationId xmlns:p14="http://schemas.microsoft.com/office/powerpoint/2010/main" val="137519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EBB8C-2C33-71AC-86D1-F3C51D0B2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B393EFE-971B-6565-CBBF-57BB3E1874D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Estado Oculto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1CCFA9-5AD2-61CE-4147-03F15F1A14F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estado oculto funciona como uma memória interna, armazenando informações relevantes sobre entradas anteriores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representação é atualizada a cada novo passo, permitindo que a rede capture dependências temporais entre os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capacidade de manter esse histórico é essencial para tarefas como tradução, previsão e análise de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No entanto, o desaparecimento de gradiente pode comprometer a retenção de informações distantes, exigindo arquiteturas mais robustas.</a:t>
            </a:r>
          </a:p>
        </p:txBody>
      </p:sp>
    </p:spTree>
    <p:extLst>
      <p:ext uri="{BB962C8B-B14F-4D97-AF65-F5344CB8AC3E}">
        <p14:creationId xmlns:p14="http://schemas.microsoft.com/office/powerpoint/2010/main" val="523251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F250B-C111-FCD5-7FF4-E7B2D59CC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CCFF587-5CFF-80E8-D07E-ABB841FC9C0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Atualização do Estado Oculto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1761F38-6828-6EF4-9ED3-CACBA0FEE9A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cada nova entrada, o estado oculto é ajustado com base na informação atual e na memória do passo anterior.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mecanismo permite que a rede capture relações temporais entre os dados ao longo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atualização contínua do estado oculto é essencial para manter o contexto em tarefas sequenciais.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Mesmo com essa dinâmica, o desaparecimento de gradiente pode limitar o aprendizado de dependências mais distantes.</a:t>
            </a:r>
          </a:p>
        </p:txBody>
      </p:sp>
    </p:spTree>
    <p:extLst>
      <p:ext uri="{BB962C8B-B14F-4D97-AF65-F5344CB8AC3E}">
        <p14:creationId xmlns:p14="http://schemas.microsoft.com/office/powerpoint/2010/main" val="173922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2BB00-D097-27DF-711E-697C65A62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0DC2A0A-A05B-80FD-B01C-EF2EF3612AF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Fórmula de Atualização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C779843D-F63C-C0BC-7693-3405D247FE17}"/>
                  </a:ext>
                </a:extLst>
              </p:cNvPr>
              <p:cNvSpPr txBox="1"/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O estado oculto no tempo atual é calculado com base na entrada do instante atual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) e no estado anterior da rede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pt-BR" sz="2800" dirty="0"/>
                  <a:t>).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Equação de atualização: </a:t>
                </a:r>
              </a:p>
              <a:p>
                <a:pPr algn="ctr">
                  <a:lnSpc>
                    <a:spcPts val="34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8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 </a:t>
                </a:r>
              </a:p>
              <a:p>
                <a:pPr>
                  <a:lnSpc>
                    <a:spcPts val="3400"/>
                  </a:lnSpc>
                  <a:spcAft>
                    <a:spcPts val="1200"/>
                  </a:spcAft>
                </a:pPr>
                <a:r>
                  <a:rPr lang="pt-BR" sz="2800" dirty="0"/>
                  <a:t>    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 é o estado oculto no instante </a:t>
                </a:r>
                <a:r>
                  <a:rPr lang="pt-BR" sz="2800" i="1" dirty="0"/>
                  <a:t>t</a:t>
                </a:r>
                <a:r>
                  <a:rPr lang="pt-BR" sz="2800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𝑥h</m:t>
                        </m:r>
                      </m:sub>
                    </m:sSub>
                  </m:oMath>
                </a14:m>
                <a:r>
                  <a:rPr lang="pt-BR" sz="2800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hh</m:t>
                        </m:r>
                      </m:sub>
                    </m:sSub>
                  </m:oMath>
                </a14:m>
                <a:r>
                  <a:rPr lang="pt-BR" sz="2800" dirty="0"/>
                  <a:t> são parâmetros.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Essa fórmula permite que a rede combine informações novas com o que já foi memorizado anteriormente.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O uso da função de ativação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pt-BR" sz="2800" dirty="0"/>
                  <a:t> garante que o resultado seja não linear, favorecendo o aprendizado de padrões complexos.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C779843D-F63C-C0BC-7693-3405D247F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1304405"/>
                <a:ext cx="11137392" cy="4771691"/>
              </a:xfrm>
              <a:prstGeom prst="rect">
                <a:avLst/>
              </a:prstGeom>
              <a:blipFill>
                <a:blip r:embed="rId2"/>
                <a:stretch>
                  <a:fillRect l="-930" t="-1533" b="-26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501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0068E-567C-3316-BFCE-66CF4019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16720D0-48FF-DBF4-3628-189577DC5E9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Função de Ativação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0980C67-484B-3CE4-FF05-CF46FAA28C8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Funções como </a:t>
            </a:r>
            <a:r>
              <a:rPr lang="pt-BR" sz="2800" b="1" i="1" dirty="0" err="1"/>
              <a:t>tanh</a:t>
            </a:r>
            <a:r>
              <a:rPr lang="pt-BR" sz="2800" dirty="0"/>
              <a:t>, </a:t>
            </a:r>
            <a:r>
              <a:rPr lang="pt-BR" sz="2800" b="1" i="1" dirty="0" err="1"/>
              <a:t>sigmoid</a:t>
            </a:r>
            <a:r>
              <a:rPr lang="pt-BR" sz="2800" dirty="0"/>
              <a:t> ou </a:t>
            </a:r>
            <a:r>
              <a:rPr lang="pt-BR" sz="2800" b="1" i="1" dirty="0" err="1"/>
              <a:t>ReLU</a:t>
            </a:r>
            <a:r>
              <a:rPr lang="pt-BR" sz="2800" dirty="0"/>
              <a:t> são aplicadas ao estado oculto para manter seus valores dentro de limites úteis ao aprendizado.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limitação ajuda a controlar a propagação dos sinais e evita que os valores explodam ou desapareçam.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da função de ativação influencia diretamente a capacidade da rede de aprender padrões complexos.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Mesmo com essas funções, o desaparecimento de gradiente ainda pode afetar o desempenho em sequências longas.</a:t>
            </a:r>
          </a:p>
        </p:txBody>
      </p:sp>
    </p:spTree>
    <p:extLst>
      <p:ext uri="{BB962C8B-B14F-4D97-AF65-F5344CB8AC3E}">
        <p14:creationId xmlns:p14="http://schemas.microsoft.com/office/powerpoint/2010/main" val="3497452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13580-1EC9-6E1F-6092-A68BFA337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A606D27-10F3-126C-C385-5065C29FD8D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Fluxo de Dados na RNN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0661A72-E5DF-6D95-275C-D469CC95B97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dados são processados em sequência, permitindo que a rede acompanhe a evolução temporal das informações.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estado oculto é propagado ao longo do tempo, carregando a memória dos passos anteriores.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fluxo contínuo é essencial para capturar padrões que dependem da ordem dos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Mesmo com essa estrutura, o desaparecimento de gradiente pode limitar o aprendizado em sequências longas.</a:t>
            </a:r>
          </a:p>
        </p:txBody>
      </p:sp>
    </p:spTree>
    <p:extLst>
      <p:ext uri="{BB962C8B-B14F-4D97-AF65-F5344CB8AC3E}">
        <p14:creationId xmlns:p14="http://schemas.microsoft.com/office/powerpoint/2010/main" val="134306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5D7EC-BCC0-CC91-46A1-2123FFE49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19AD4FF-C845-CF13-20B4-079743D3853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Memória de Curto Prazo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475F61-34E6-5BA7-A64D-9B60BFE3399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</a:t>
            </a:r>
            <a:r>
              <a:rPr lang="pt-BR" sz="2800" dirty="0" err="1"/>
              <a:t>RNNs</a:t>
            </a:r>
            <a:r>
              <a:rPr lang="pt-BR" sz="2800" dirty="0"/>
              <a:t> tradicionais conseguem manter informações por pouco tempo, o que limita seu desempenho em sequências longas.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limitação ocorre porque a memória de curto prazo não é suficiente para capturar dependências distantes.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desaparecimento de gradiente durante o treinamento contribui para essa perda de informação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Arquiteturas como LSTM e GRU foram desenvolvidas para superar essa limitação e melhorar a retenção de memória.</a:t>
            </a:r>
          </a:p>
        </p:txBody>
      </p:sp>
    </p:spTree>
    <p:extLst>
      <p:ext uri="{BB962C8B-B14F-4D97-AF65-F5344CB8AC3E}">
        <p14:creationId xmlns:p14="http://schemas.microsoft.com/office/powerpoint/2010/main" val="1206929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C3745-8B62-9E52-06DB-6E7BCB4B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C23002-06A6-3185-CE4B-AD16CD512D1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Saída a partir do Estado Oculto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8E877EDF-A4F4-93AC-8757-C691C3A4B330}"/>
                  </a:ext>
                </a:extLst>
              </p:cNvPr>
              <p:cNvSpPr txBox="1"/>
              <p:nvPr/>
            </p:nvSpPr>
            <p:spPr>
              <a:xfrm>
                <a:off x="512064" y="1304405"/>
                <a:ext cx="11137392" cy="4925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As </a:t>
                </a:r>
                <a:r>
                  <a:rPr lang="pt-BR" sz="2800" dirty="0" err="1"/>
                  <a:t>RNNs</a:t>
                </a:r>
                <a:r>
                  <a:rPr lang="pt-BR" sz="2800" dirty="0"/>
                  <a:t> geralmente produzem saídas a partir do conteúdo do estado oculto.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Dessa forma, a saída da RNN em um dado instante leva em conta tanto a entrada do instante atual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) como o estado anterior da rede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pt-BR" sz="2800" dirty="0"/>
                  <a:t>).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Equação de saída: </a:t>
                </a:r>
              </a:p>
              <a:p>
                <a:pPr algn="ctr">
                  <a:lnSpc>
                    <a:spcPts val="34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pt-BR" sz="28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 </a:t>
                </a:r>
              </a:p>
              <a:p>
                <a:pPr>
                  <a:lnSpc>
                    <a:spcPts val="3400"/>
                  </a:lnSpc>
                  <a:spcAft>
                    <a:spcPts val="1200"/>
                  </a:spcAft>
                </a:pPr>
                <a:r>
                  <a:rPr lang="pt-BR" sz="2800" dirty="0"/>
                  <a:t>    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800" dirty="0"/>
                  <a:t> é a saída no instante </a:t>
                </a:r>
                <a:r>
                  <a:rPr lang="pt-BR" sz="2800" i="1" dirty="0"/>
                  <a:t>t</a:t>
                </a:r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pt-BR" sz="2800" dirty="0"/>
                  <a:t> são parâmetros.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800" dirty="0"/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8E877EDF-A4F4-93AC-8757-C691C3A4B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1304405"/>
                <a:ext cx="11137392" cy="4925579"/>
              </a:xfrm>
              <a:prstGeom prst="rect">
                <a:avLst/>
              </a:prstGeom>
              <a:blipFill>
                <a:blip r:embed="rId2"/>
                <a:stretch>
                  <a:fillRect l="-930" t="-1485" r="-60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321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2DB7-E504-CC2E-FE15-0E94FA062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78C30DD-8ED8-7BF4-4795-CB502786530C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Diagrama d</a:t>
            </a:r>
            <a:r>
              <a:rPr lang="pt-BR" sz="3500" b="1" dirty="0">
                <a:solidFill>
                  <a:srgbClr val="01BDC4"/>
                </a:solidFill>
                <a:latin typeface="Calibri" panose="020F0502020204030204"/>
              </a:rPr>
              <a:t>a Recorrência do Estado Oculto</a:t>
            </a:r>
            <a:endParaRPr kumimoji="0" lang="pt-BR" sz="3500" b="1" i="0" u="none" strike="noStrike" kern="1200" cap="none" spc="0" normalizeH="0" baseline="0" noProof="0" dirty="0">
              <a:ln>
                <a:noFill/>
              </a:ln>
              <a:solidFill>
                <a:srgbClr val="01BD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3B130A-10EF-CA41-56A0-516EAB92A194}"/>
              </a:ext>
            </a:extLst>
          </p:cNvPr>
          <p:cNvSpPr txBox="1"/>
          <p:nvPr/>
        </p:nvSpPr>
        <p:spPr>
          <a:xfrm>
            <a:off x="645459" y="6003621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Elaborado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pelo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300" b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autor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177">
            <a:extLst>
              <a:ext uri="{FF2B5EF4-FFF2-40B4-BE49-F238E27FC236}">
                <a16:creationId xmlns:a16="http://schemas.microsoft.com/office/drawing/2014/main" id="{618C0AD1-FF42-B75E-EDD8-5A40CB15AFB1}"/>
              </a:ext>
            </a:extLst>
          </p:cNvPr>
          <p:cNvSpPr/>
          <p:nvPr/>
        </p:nvSpPr>
        <p:spPr>
          <a:xfrm>
            <a:off x="3138730" y="4489048"/>
            <a:ext cx="419875" cy="1220921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/>
            <a:r>
              <a:rPr lang="en"/>
              <a:t>x</a:t>
            </a:r>
          </a:p>
        </p:txBody>
      </p:sp>
      <p:sp>
        <p:nvSpPr>
          <p:cNvPr id="6" name="Shape 178">
            <a:extLst>
              <a:ext uri="{FF2B5EF4-FFF2-40B4-BE49-F238E27FC236}">
                <a16:creationId xmlns:a16="http://schemas.microsoft.com/office/drawing/2014/main" id="{2AE9D3B5-E44B-F8B6-0331-0C59DDA7338E}"/>
              </a:ext>
            </a:extLst>
          </p:cNvPr>
          <p:cNvSpPr/>
          <p:nvPr/>
        </p:nvSpPr>
        <p:spPr>
          <a:xfrm>
            <a:off x="2831970" y="3124759"/>
            <a:ext cx="1033394" cy="876243"/>
          </a:xfrm>
          <a:prstGeom prst="rect">
            <a:avLst/>
          </a:prstGeom>
          <a:solidFill>
            <a:srgbClr val="38761D"/>
          </a:solidFill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/>
            <a:r>
              <a:rPr lang="en">
                <a:solidFill>
                  <a:srgbClr val="FFFFFF"/>
                </a:solidFill>
              </a:rPr>
              <a:t>RNN</a:t>
            </a:r>
          </a:p>
        </p:txBody>
      </p:sp>
      <p:sp>
        <p:nvSpPr>
          <p:cNvPr id="8" name="Shape 179">
            <a:extLst>
              <a:ext uri="{FF2B5EF4-FFF2-40B4-BE49-F238E27FC236}">
                <a16:creationId xmlns:a16="http://schemas.microsoft.com/office/drawing/2014/main" id="{C4FEFA88-A40A-932F-E487-93BAB82CD33D}"/>
              </a:ext>
            </a:extLst>
          </p:cNvPr>
          <p:cNvSpPr/>
          <p:nvPr/>
        </p:nvSpPr>
        <p:spPr>
          <a:xfrm>
            <a:off x="3138730" y="1438997"/>
            <a:ext cx="419875" cy="1220921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algn="ctr"/>
            <a:r>
              <a:rPr lang="en"/>
              <a:t>y</a:t>
            </a:r>
          </a:p>
        </p:txBody>
      </p:sp>
      <p:cxnSp>
        <p:nvCxnSpPr>
          <p:cNvPr id="9" name="Shape 180">
            <a:extLst>
              <a:ext uri="{FF2B5EF4-FFF2-40B4-BE49-F238E27FC236}">
                <a16:creationId xmlns:a16="http://schemas.microsoft.com/office/drawing/2014/main" id="{44270AFA-7772-F1E8-F8A4-61F29ADF57C7}"/>
              </a:ext>
            </a:extLst>
          </p:cNvPr>
          <p:cNvCxnSpPr>
            <a:stCxn id="6" idx="0"/>
            <a:endCxn id="8" idx="2"/>
          </p:cNvCxnSpPr>
          <p:nvPr/>
        </p:nvCxnSpPr>
        <p:spPr>
          <a:xfrm rot="10800000">
            <a:off x="3348667" y="2659847"/>
            <a:ext cx="0" cy="464912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" name="Shape 181">
            <a:extLst>
              <a:ext uri="{FF2B5EF4-FFF2-40B4-BE49-F238E27FC236}">
                <a16:creationId xmlns:a16="http://schemas.microsoft.com/office/drawing/2014/main" id="{BFFA57C9-303F-C2B7-9AE8-6A5F7F1F2CCA}"/>
              </a:ext>
            </a:extLst>
          </p:cNvPr>
          <p:cNvCxnSpPr>
            <a:stCxn id="5" idx="0"/>
            <a:endCxn id="6" idx="2"/>
          </p:cNvCxnSpPr>
          <p:nvPr/>
        </p:nvCxnSpPr>
        <p:spPr>
          <a:xfrm rot="10800000">
            <a:off x="3348667" y="4000933"/>
            <a:ext cx="0" cy="48811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" name="Shape 182">
            <a:extLst>
              <a:ext uri="{FF2B5EF4-FFF2-40B4-BE49-F238E27FC236}">
                <a16:creationId xmlns:a16="http://schemas.microsoft.com/office/drawing/2014/main" id="{88ABDE5E-9058-F33F-F82C-BD238D0DC61B}"/>
              </a:ext>
            </a:extLst>
          </p:cNvPr>
          <p:cNvSpPr/>
          <p:nvPr/>
        </p:nvSpPr>
        <p:spPr>
          <a:xfrm>
            <a:off x="3844401" y="3346492"/>
            <a:ext cx="546085" cy="392021"/>
          </a:xfrm>
          <a:custGeom>
            <a:avLst/>
            <a:gdLst/>
            <a:ahLst/>
            <a:cxnLst/>
            <a:rect l="0" t="0" r="0" b="0"/>
            <a:pathLst>
              <a:path w="14987" h="14019" extrusionOk="0">
                <a:moveTo>
                  <a:pt x="637" y="0"/>
                </a:moveTo>
                <a:cubicBezTo>
                  <a:pt x="3026" y="1327"/>
                  <a:pt x="15080" y="5629"/>
                  <a:pt x="14974" y="7966"/>
                </a:cubicBezTo>
                <a:cubicBezTo>
                  <a:pt x="14867" y="10302"/>
                  <a:pt x="2495" y="13010"/>
                  <a:pt x="0" y="14019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5F7B26-4212-64E1-7D12-59FA37EFA447}"/>
              </a:ext>
            </a:extLst>
          </p:cNvPr>
          <p:cNvSpPr txBox="1"/>
          <p:nvPr/>
        </p:nvSpPr>
        <p:spPr>
          <a:xfrm>
            <a:off x="4496013" y="332344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</a:t>
            </a:r>
          </a:p>
        </p:txBody>
      </p:sp>
      <p:pic>
        <p:nvPicPr>
          <p:cNvPr id="13" name="Shape 238">
            <a:extLst>
              <a:ext uri="{FF2B5EF4-FFF2-40B4-BE49-F238E27FC236}">
                <a16:creationId xmlns:a16="http://schemas.microsoft.com/office/drawing/2014/main" id="{869D7896-002F-BE8F-A327-AE8B952A322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00819" y="3669477"/>
            <a:ext cx="4910192" cy="569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Shape 239">
            <a:extLst>
              <a:ext uri="{FF2B5EF4-FFF2-40B4-BE49-F238E27FC236}">
                <a16:creationId xmlns:a16="http://schemas.microsoft.com/office/drawing/2014/main" id="{C79E2A9F-321B-19A7-9E04-CB634159B6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0819" y="4716293"/>
            <a:ext cx="2086310" cy="518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Shape 241">
            <a:extLst>
              <a:ext uri="{FF2B5EF4-FFF2-40B4-BE49-F238E27FC236}">
                <a16:creationId xmlns:a16="http://schemas.microsoft.com/office/drawing/2014/main" id="{333AEFD3-2002-708C-8E9D-17169892874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0656" y="1914530"/>
            <a:ext cx="3241884" cy="64842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Seta para baixo 2">
            <a:extLst>
              <a:ext uri="{FF2B5EF4-FFF2-40B4-BE49-F238E27FC236}">
                <a16:creationId xmlns:a16="http://schemas.microsoft.com/office/drawing/2014/main" id="{B7E4560B-A37D-869E-D31E-AFBC44CF5A98}"/>
              </a:ext>
            </a:extLst>
          </p:cNvPr>
          <p:cNvSpPr/>
          <p:nvPr/>
        </p:nvSpPr>
        <p:spPr>
          <a:xfrm>
            <a:off x="7667703" y="2803477"/>
            <a:ext cx="367553" cy="627530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579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3685A-87E4-6AA2-F72E-666EB80CD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6D377DD-E720-EE37-4699-C99F32E3C22A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pt-BR" sz="3500" b="1" dirty="0">
                <a:solidFill>
                  <a:srgbClr val="01BDC4"/>
                </a:solidFill>
              </a:rPr>
              <a:t>RNN – </a:t>
            </a:r>
            <a:r>
              <a:rPr lang="pt-BR" sz="3500" b="1" dirty="0" err="1">
                <a:solidFill>
                  <a:srgbClr val="01BDC4"/>
                </a:solidFill>
              </a:rPr>
              <a:t>Forward</a:t>
            </a:r>
            <a:r>
              <a:rPr lang="pt-BR" sz="3500" b="1" dirty="0">
                <a:solidFill>
                  <a:srgbClr val="01BDC4"/>
                </a:solidFill>
              </a:rPr>
              <a:t> </a:t>
            </a:r>
            <a:r>
              <a:rPr lang="pt-BR" sz="3500" b="1" dirty="0" err="1">
                <a:solidFill>
                  <a:srgbClr val="01BDC4"/>
                </a:solidFill>
              </a:rPr>
              <a:t>Pass</a:t>
            </a:r>
            <a:endParaRPr kumimoji="0" lang="pt-BR" sz="3500" b="1" i="0" u="none" strike="noStrike" kern="1200" cap="none" spc="0" normalizeH="0" baseline="0" noProof="0" dirty="0">
              <a:ln>
                <a:noFill/>
              </a:ln>
              <a:solidFill>
                <a:srgbClr val="01BD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0DF5B8-C06A-E6AE-6E5A-9FE4413552C1}"/>
              </a:ext>
            </a:extLst>
          </p:cNvPr>
          <p:cNvSpPr txBox="1"/>
          <p:nvPr/>
        </p:nvSpPr>
        <p:spPr>
          <a:xfrm>
            <a:off x="645459" y="5836351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Elaborado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pelo autor.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CB945B66-313A-AAE4-FC67-8EE13AEC350A}"/>
                  </a:ext>
                </a:extLst>
              </p:cNvPr>
              <p:cNvSpPr/>
              <p:nvPr/>
            </p:nvSpPr>
            <p:spPr>
              <a:xfrm>
                <a:off x="2885210" y="4828635"/>
                <a:ext cx="1449659" cy="7021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𝑥h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hh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Retângulo 3">
                <a:extLst>
                  <a:ext uri="{FF2B5EF4-FFF2-40B4-BE49-F238E27FC236}">
                    <a16:creationId xmlns:a16="http://schemas.microsoft.com/office/drawing/2014/main" id="{CB945B66-313A-AAE4-FC67-8EE13AEC35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210" y="4828635"/>
                <a:ext cx="1449659" cy="702100"/>
              </a:xfrm>
              <a:prstGeom prst="rect">
                <a:avLst/>
              </a:prstGeom>
              <a:blipFill>
                <a:blip r:embed="rId2"/>
                <a:stretch>
                  <a:fillRect l="-4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0EC7F34B-6D92-8931-FD98-034701EA130E}"/>
                  </a:ext>
                </a:extLst>
              </p:cNvPr>
              <p:cNvSpPr/>
              <p:nvPr/>
            </p:nvSpPr>
            <p:spPr>
              <a:xfrm>
                <a:off x="8123333" y="4850511"/>
                <a:ext cx="843773" cy="68022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h𝑦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0EC7F34B-6D92-8931-FD98-034701EA13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333" y="4850511"/>
                <a:ext cx="843773" cy="6802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BA82DA7D-5572-35C6-51CC-B40186B861FC}"/>
                  </a:ext>
                </a:extLst>
              </p:cNvPr>
              <p:cNvSpPr/>
              <p:nvPr/>
            </p:nvSpPr>
            <p:spPr>
              <a:xfrm>
                <a:off x="3071663" y="3529306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BA82DA7D-5572-35C6-51CC-B40186B861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663" y="3529306"/>
                <a:ext cx="658253" cy="6913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09D5E696-D400-A081-C1FC-10CB88986B64}"/>
                  </a:ext>
                </a:extLst>
              </p:cNvPr>
              <p:cNvSpPr/>
              <p:nvPr/>
            </p:nvSpPr>
            <p:spPr>
              <a:xfrm>
                <a:off x="5861492" y="3529306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09D5E696-D400-A081-C1FC-10CB88986B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1492" y="3529306"/>
                <a:ext cx="658253" cy="6913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lipse 10">
            <a:extLst>
              <a:ext uri="{FF2B5EF4-FFF2-40B4-BE49-F238E27FC236}">
                <a16:creationId xmlns:a16="http://schemas.microsoft.com/office/drawing/2014/main" id="{53EFCFB3-6783-4B79-5BA6-10B78D9A6066}"/>
              </a:ext>
            </a:extLst>
          </p:cNvPr>
          <p:cNvSpPr/>
          <p:nvPr/>
        </p:nvSpPr>
        <p:spPr>
          <a:xfrm>
            <a:off x="4521488" y="3529306"/>
            <a:ext cx="658253" cy="6913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0815749-A2F5-1248-1226-05B2D4753A13}"/>
              </a:ext>
            </a:extLst>
          </p:cNvPr>
          <p:cNvSpPr/>
          <p:nvPr/>
        </p:nvSpPr>
        <p:spPr>
          <a:xfrm>
            <a:off x="7311317" y="3529306"/>
            <a:ext cx="658253" cy="6913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DBF9C719-8128-4F96-66DD-801FB2E74DA9}"/>
                  </a:ext>
                </a:extLst>
              </p:cNvPr>
              <p:cNvSpPr/>
              <p:nvPr/>
            </p:nvSpPr>
            <p:spPr>
              <a:xfrm>
                <a:off x="8545220" y="3529306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DBF9C719-8128-4F96-66DD-801FB2E74D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5220" y="3529306"/>
                <a:ext cx="658253" cy="6913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6A2E5ECB-9515-833F-4115-C25986DCA89C}"/>
              </a:ext>
            </a:extLst>
          </p:cNvPr>
          <p:cNvCxnSpPr>
            <a:stCxn id="9" idx="3"/>
            <a:endCxn id="11" idx="2"/>
          </p:cNvCxnSpPr>
          <p:nvPr/>
        </p:nvCxnSpPr>
        <p:spPr>
          <a:xfrm>
            <a:off x="3729916" y="3874994"/>
            <a:ext cx="7915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78A10644-2D48-B5A0-69E5-0621F7E38EF7}"/>
              </a:ext>
            </a:extLst>
          </p:cNvPr>
          <p:cNvCxnSpPr>
            <a:cxnSpLocks/>
            <a:stCxn id="11" idx="6"/>
            <a:endCxn id="10" idx="1"/>
          </p:cNvCxnSpPr>
          <p:nvPr/>
        </p:nvCxnSpPr>
        <p:spPr>
          <a:xfrm>
            <a:off x="5179741" y="3874994"/>
            <a:ext cx="6817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D80DC989-E215-A636-56B6-CB254095076D}"/>
              </a:ext>
            </a:extLst>
          </p:cNvPr>
          <p:cNvCxnSpPr>
            <a:cxnSpLocks/>
            <a:stCxn id="4" idx="0"/>
            <a:endCxn id="11" idx="3"/>
          </p:cNvCxnSpPr>
          <p:nvPr/>
        </p:nvCxnSpPr>
        <p:spPr>
          <a:xfrm flipV="1">
            <a:off x="3610040" y="4119431"/>
            <a:ext cx="1007847" cy="7092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>
                <a:extLst>
                  <a:ext uri="{FF2B5EF4-FFF2-40B4-BE49-F238E27FC236}">
                    <a16:creationId xmlns:a16="http://schemas.microsoft.com/office/drawing/2014/main" id="{71828EF1-7F0C-AA56-5300-C04EEB974E36}"/>
                  </a:ext>
                </a:extLst>
              </p:cNvPr>
              <p:cNvSpPr/>
              <p:nvPr/>
            </p:nvSpPr>
            <p:spPr>
              <a:xfrm>
                <a:off x="5861492" y="4549430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4" name="Retângulo 23">
                <a:extLst>
                  <a:ext uri="{FF2B5EF4-FFF2-40B4-BE49-F238E27FC236}">
                    <a16:creationId xmlns:a16="http://schemas.microsoft.com/office/drawing/2014/main" id="{71828EF1-7F0C-AA56-5300-C04EEB974E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1492" y="4549430"/>
                <a:ext cx="658253" cy="6913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CA2C1C12-BD3D-BC83-41EF-49E1B8639A7C}"/>
              </a:ext>
            </a:extLst>
          </p:cNvPr>
          <p:cNvCxnSpPr>
            <a:cxnSpLocks/>
            <a:endCxn id="11" idx="5"/>
          </p:cNvCxnSpPr>
          <p:nvPr/>
        </p:nvCxnSpPr>
        <p:spPr>
          <a:xfrm flipH="1" flipV="1">
            <a:off x="5083342" y="4119431"/>
            <a:ext cx="773112" cy="5185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36307CBA-BDC1-8AF6-CDE4-137E93AE0392}"/>
              </a:ext>
            </a:extLst>
          </p:cNvPr>
          <p:cNvCxnSpPr>
            <a:cxnSpLocks/>
            <a:stCxn id="10" idx="3"/>
            <a:endCxn id="12" idx="2"/>
          </p:cNvCxnSpPr>
          <p:nvPr/>
        </p:nvCxnSpPr>
        <p:spPr>
          <a:xfrm>
            <a:off x="6519745" y="3874994"/>
            <a:ext cx="7915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92C17C03-ABA4-73C3-02F9-49BCFD8EA2BF}"/>
              </a:ext>
            </a:extLst>
          </p:cNvPr>
          <p:cNvCxnSpPr>
            <a:cxnSpLocks/>
            <a:stCxn id="12" idx="6"/>
            <a:endCxn id="13" idx="1"/>
          </p:cNvCxnSpPr>
          <p:nvPr/>
        </p:nvCxnSpPr>
        <p:spPr>
          <a:xfrm>
            <a:off x="7969570" y="3874994"/>
            <a:ext cx="575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66F34B0C-4369-A7E4-C9ED-D394EFD3BABB}"/>
              </a:ext>
            </a:extLst>
          </p:cNvPr>
          <p:cNvCxnSpPr>
            <a:cxnSpLocks/>
            <a:stCxn id="8" idx="0"/>
            <a:endCxn id="12" idx="5"/>
          </p:cNvCxnSpPr>
          <p:nvPr/>
        </p:nvCxnSpPr>
        <p:spPr>
          <a:xfrm flipH="1" flipV="1">
            <a:off x="7873171" y="4119431"/>
            <a:ext cx="672049" cy="7310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tângulo 65">
                <a:extLst>
                  <a:ext uri="{FF2B5EF4-FFF2-40B4-BE49-F238E27FC236}">
                    <a16:creationId xmlns:a16="http://schemas.microsoft.com/office/drawing/2014/main" id="{37A1A782-6496-704F-BE78-0199CB040DC5}"/>
                  </a:ext>
                </a:extLst>
              </p:cNvPr>
              <p:cNvSpPr/>
              <p:nvPr/>
            </p:nvSpPr>
            <p:spPr>
              <a:xfrm>
                <a:off x="3071663" y="2492243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6" name="Retângulo 65">
                <a:extLst>
                  <a:ext uri="{FF2B5EF4-FFF2-40B4-BE49-F238E27FC236}">
                    <a16:creationId xmlns:a16="http://schemas.microsoft.com/office/drawing/2014/main" id="{37A1A782-6496-704F-BE78-0199CB040D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663" y="2492243"/>
                <a:ext cx="658253" cy="6913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tângulo 66">
                <a:extLst>
                  <a:ext uri="{FF2B5EF4-FFF2-40B4-BE49-F238E27FC236}">
                    <a16:creationId xmlns:a16="http://schemas.microsoft.com/office/drawing/2014/main" id="{08A1B1FD-E08E-DA55-B05F-E50EBCBA3B36}"/>
                  </a:ext>
                </a:extLst>
              </p:cNvPr>
              <p:cNvSpPr/>
              <p:nvPr/>
            </p:nvSpPr>
            <p:spPr>
              <a:xfrm>
                <a:off x="5861492" y="2492243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7" name="Retângulo 66">
                <a:extLst>
                  <a:ext uri="{FF2B5EF4-FFF2-40B4-BE49-F238E27FC236}">
                    <a16:creationId xmlns:a16="http://schemas.microsoft.com/office/drawing/2014/main" id="{08A1B1FD-E08E-DA55-B05F-E50EBCBA3B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1492" y="2492243"/>
                <a:ext cx="658253" cy="6913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Elipse 67">
            <a:extLst>
              <a:ext uri="{FF2B5EF4-FFF2-40B4-BE49-F238E27FC236}">
                <a16:creationId xmlns:a16="http://schemas.microsoft.com/office/drawing/2014/main" id="{1049E7DE-8E77-69E6-6639-EA1AAEB1E29F}"/>
              </a:ext>
            </a:extLst>
          </p:cNvPr>
          <p:cNvSpPr/>
          <p:nvPr/>
        </p:nvSpPr>
        <p:spPr>
          <a:xfrm>
            <a:off x="4521488" y="2492243"/>
            <a:ext cx="658253" cy="6913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46499F35-2172-F9AE-0A80-D29D2400298F}"/>
              </a:ext>
            </a:extLst>
          </p:cNvPr>
          <p:cNvSpPr/>
          <p:nvPr/>
        </p:nvSpPr>
        <p:spPr>
          <a:xfrm>
            <a:off x="7311317" y="2492243"/>
            <a:ext cx="658253" cy="6913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tângulo 69">
                <a:extLst>
                  <a:ext uri="{FF2B5EF4-FFF2-40B4-BE49-F238E27FC236}">
                    <a16:creationId xmlns:a16="http://schemas.microsoft.com/office/drawing/2014/main" id="{79045C60-59B2-AFE2-26F3-132E2F181A80}"/>
                  </a:ext>
                </a:extLst>
              </p:cNvPr>
              <p:cNvSpPr/>
              <p:nvPr/>
            </p:nvSpPr>
            <p:spPr>
              <a:xfrm>
                <a:off x="8545220" y="2492243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0" name="Retângulo 69">
                <a:extLst>
                  <a:ext uri="{FF2B5EF4-FFF2-40B4-BE49-F238E27FC236}">
                    <a16:creationId xmlns:a16="http://schemas.microsoft.com/office/drawing/2014/main" id="{79045C60-59B2-AFE2-26F3-132E2F181A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5220" y="2492243"/>
                <a:ext cx="658253" cy="6913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Conector de Seta Reta 71">
            <a:extLst>
              <a:ext uri="{FF2B5EF4-FFF2-40B4-BE49-F238E27FC236}">
                <a16:creationId xmlns:a16="http://schemas.microsoft.com/office/drawing/2014/main" id="{0C8C9A43-1503-6319-F056-4B2684E21ED8}"/>
              </a:ext>
            </a:extLst>
          </p:cNvPr>
          <p:cNvCxnSpPr>
            <a:stCxn id="66" idx="3"/>
            <a:endCxn id="68" idx="2"/>
          </p:cNvCxnSpPr>
          <p:nvPr/>
        </p:nvCxnSpPr>
        <p:spPr>
          <a:xfrm>
            <a:off x="3729916" y="2837931"/>
            <a:ext cx="7915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72">
            <a:extLst>
              <a:ext uri="{FF2B5EF4-FFF2-40B4-BE49-F238E27FC236}">
                <a16:creationId xmlns:a16="http://schemas.microsoft.com/office/drawing/2014/main" id="{A44E0810-C5F8-D66A-28DF-79B1BCA28A11}"/>
              </a:ext>
            </a:extLst>
          </p:cNvPr>
          <p:cNvCxnSpPr>
            <a:cxnSpLocks/>
            <a:stCxn id="68" idx="6"/>
            <a:endCxn id="67" idx="1"/>
          </p:cNvCxnSpPr>
          <p:nvPr/>
        </p:nvCxnSpPr>
        <p:spPr>
          <a:xfrm>
            <a:off x="5179741" y="2837931"/>
            <a:ext cx="6817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id="{9F29DDA3-50D0-6626-9730-12E0062EF598}"/>
              </a:ext>
            </a:extLst>
          </p:cNvPr>
          <p:cNvCxnSpPr>
            <a:cxnSpLocks/>
            <a:stCxn id="67" idx="3"/>
            <a:endCxn id="69" idx="2"/>
          </p:cNvCxnSpPr>
          <p:nvPr/>
        </p:nvCxnSpPr>
        <p:spPr>
          <a:xfrm>
            <a:off x="6519745" y="2837931"/>
            <a:ext cx="7915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D27785D9-7886-E411-9925-5431277083DE}"/>
              </a:ext>
            </a:extLst>
          </p:cNvPr>
          <p:cNvCxnSpPr>
            <a:cxnSpLocks/>
            <a:stCxn id="69" idx="6"/>
            <a:endCxn id="70" idx="1"/>
          </p:cNvCxnSpPr>
          <p:nvPr/>
        </p:nvCxnSpPr>
        <p:spPr>
          <a:xfrm>
            <a:off x="7969570" y="2837931"/>
            <a:ext cx="575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tângulo 75">
                <a:extLst>
                  <a:ext uri="{FF2B5EF4-FFF2-40B4-BE49-F238E27FC236}">
                    <a16:creationId xmlns:a16="http://schemas.microsoft.com/office/drawing/2014/main" id="{0EB3F4A2-9C79-C04D-A1FE-219A478648BE}"/>
                  </a:ext>
                </a:extLst>
              </p:cNvPr>
              <p:cNvSpPr/>
              <p:nvPr/>
            </p:nvSpPr>
            <p:spPr>
              <a:xfrm>
                <a:off x="3071663" y="1450961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6" name="Retângulo 75">
                <a:extLst>
                  <a:ext uri="{FF2B5EF4-FFF2-40B4-BE49-F238E27FC236}">
                    <a16:creationId xmlns:a16="http://schemas.microsoft.com/office/drawing/2014/main" id="{0EB3F4A2-9C79-C04D-A1FE-219A478648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663" y="1450961"/>
                <a:ext cx="658253" cy="6913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tângulo 76">
                <a:extLst>
                  <a:ext uri="{FF2B5EF4-FFF2-40B4-BE49-F238E27FC236}">
                    <a16:creationId xmlns:a16="http://schemas.microsoft.com/office/drawing/2014/main" id="{3E0E660B-5533-B0AC-F7A4-8515B7A0E8F9}"/>
                  </a:ext>
                </a:extLst>
              </p:cNvPr>
              <p:cNvSpPr/>
              <p:nvPr/>
            </p:nvSpPr>
            <p:spPr>
              <a:xfrm>
                <a:off x="5861492" y="1450961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7" name="Retângulo 76">
                <a:extLst>
                  <a:ext uri="{FF2B5EF4-FFF2-40B4-BE49-F238E27FC236}">
                    <a16:creationId xmlns:a16="http://schemas.microsoft.com/office/drawing/2014/main" id="{3E0E660B-5533-B0AC-F7A4-8515B7A0E8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1492" y="1450961"/>
                <a:ext cx="658253" cy="6913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Elipse 77">
            <a:extLst>
              <a:ext uri="{FF2B5EF4-FFF2-40B4-BE49-F238E27FC236}">
                <a16:creationId xmlns:a16="http://schemas.microsoft.com/office/drawing/2014/main" id="{74D0E459-DB5B-B050-D9D1-1C498713CAE6}"/>
              </a:ext>
            </a:extLst>
          </p:cNvPr>
          <p:cNvSpPr/>
          <p:nvPr/>
        </p:nvSpPr>
        <p:spPr>
          <a:xfrm>
            <a:off x="4521488" y="1450961"/>
            <a:ext cx="658253" cy="6913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B259E922-603A-AACE-8B57-2CB147BBCBD4}"/>
              </a:ext>
            </a:extLst>
          </p:cNvPr>
          <p:cNvSpPr/>
          <p:nvPr/>
        </p:nvSpPr>
        <p:spPr>
          <a:xfrm>
            <a:off x="7311317" y="1450961"/>
            <a:ext cx="658253" cy="6913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id="{B9A1E55C-F529-B368-9A73-F19BB0E01C7A}"/>
                  </a:ext>
                </a:extLst>
              </p:cNvPr>
              <p:cNvSpPr/>
              <p:nvPr/>
            </p:nvSpPr>
            <p:spPr>
              <a:xfrm>
                <a:off x="8545220" y="1450961"/>
                <a:ext cx="658253" cy="691375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id="{B9A1E55C-F529-B368-9A73-F19BB0E01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5220" y="1450961"/>
                <a:ext cx="658253" cy="6913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ector de Seta Reta 81">
            <a:extLst>
              <a:ext uri="{FF2B5EF4-FFF2-40B4-BE49-F238E27FC236}">
                <a16:creationId xmlns:a16="http://schemas.microsoft.com/office/drawing/2014/main" id="{A869BDC9-F60F-C594-4D72-0C6BEAA3A885}"/>
              </a:ext>
            </a:extLst>
          </p:cNvPr>
          <p:cNvCxnSpPr>
            <a:stCxn id="76" idx="3"/>
            <a:endCxn id="78" idx="2"/>
          </p:cNvCxnSpPr>
          <p:nvPr/>
        </p:nvCxnSpPr>
        <p:spPr>
          <a:xfrm>
            <a:off x="3729916" y="1796649"/>
            <a:ext cx="7915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3D7A4354-01A0-6591-C965-2DF72A244BFE}"/>
              </a:ext>
            </a:extLst>
          </p:cNvPr>
          <p:cNvCxnSpPr>
            <a:cxnSpLocks/>
            <a:stCxn id="78" idx="6"/>
            <a:endCxn id="77" idx="1"/>
          </p:cNvCxnSpPr>
          <p:nvPr/>
        </p:nvCxnSpPr>
        <p:spPr>
          <a:xfrm>
            <a:off x="5179741" y="1796649"/>
            <a:ext cx="6817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de Seta Reta 83">
            <a:extLst>
              <a:ext uri="{FF2B5EF4-FFF2-40B4-BE49-F238E27FC236}">
                <a16:creationId xmlns:a16="http://schemas.microsoft.com/office/drawing/2014/main" id="{FC3D9E4F-758B-6E3E-7076-946C9DA34A96}"/>
              </a:ext>
            </a:extLst>
          </p:cNvPr>
          <p:cNvCxnSpPr>
            <a:cxnSpLocks/>
            <a:stCxn id="77" idx="3"/>
            <a:endCxn id="79" idx="2"/>
          </p:cNvCxnSpPr>
          <p:nvPr/>
        </p:nvCxnSpPr>
        <p:spPr>
          <a:xfrm>
            <a:off x="6519745" y="1796649"/>
            <a:ext cx="7915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de Seta Reta 84">
            <a:extLst>
              <a:ext uri="{FF2B5EF4-FFF2-40B4-BE49-F238E27FC236}">
                <a16:creationId xmlns:a16="http://schemas.microsoft.com/office/drawing/2014/main" id="{A7A62E85-1AD8-C5AE-9F1E-0AD9F23EDD61}"/>
              </a:ext>
            </a:extLst>
          </p:cNvPr>
          <p:cNvCxnSpPr>
            <a:cxnSpLocks/>
            <a:stCxn id="79" idx="6"/>
            <a:endCxn id="80" idx="1"/>
          </p:cNvCxnSpPr>
          <p:nvPr/>
        </p:nvCxnSpPr>
        <p:spPr>
          <a:xfrm>
            <a:off x="7969570" y="1796649"/>
            <a:ext cx="575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de Seta Reta 104">
            <a:extLst>
              <a:ext uri="{FF2B5EF4-FFF2-40B4-BE49-F238E27FC236}">
                <a16:creationId xmlns:a16="http://schemas.microsoft.com/office/drawing/2014/main" id="{2AE6F757-A38C-14B2-D07B-2393E15E4FEA}"/>
              </a:ext>
            </a:extLst>
          </p:cNvPr>
          <p:cNvCxnSpPr>
            <a:cxnSpLocks/>
            <a:stCxn id="4" idx="0"/>
            <a:endCxn id="68" idx="3"/>
          </p:cNvCxnSpPr>
          <p:nvPr/>
        </p:nvCxnSpPr>
        <p:spPr>
          <a:xfrm flipV="1">
            <a:off x="3610040" y="3082368"/>
            <a:ext cx="1007847" cy="17462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de Seta Reta 107">
            <a:extLst>
              <a:ext uri="{FF2B5EF4-FFF2-40B4-BE49-F238E27FC236}">
                <a16:creationId xmlns:a16="http://schemas.microsoft.com/office/drawing/2014/main" id="{CE2E77D5-5B6F-FDA5-7DFB-538243C213AC}"/>
              </a:ext>
            </a:extLst>
          </p:cNvPr>
          <p:cNvCxnSpPr>
            <a:cxnSpLocks/>
            <a:stCxn id="4" idx="0"/>
            <a:endCxn id="78" idx="3"/>
          </p:cNvCxnSpPr>
          <p:nvPr/>
        </p:nvCxnSpPr>
        <p:spPr>
          <a:xfrm flipV="1">
            <a:off x="3610040" y="2041086"/>
            <a:ext cx="1007847" cy="27875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de Seta Reta 120">
            <a:extLst>
              <a:ext uri="{FF2B5EF4-FFF2-40B4-BE49-F238E27FC236}">
                <a16:creationId xmlns:a16="http://schemas.microsoft.com/office/drawing/2014/main" id="{F7B2BA77-17D0-F2D5-9527-C439964712B1}"/>
              </a:ext>
            </a:extLst>
          </p:cNvPr>
          <p:cNvCxnSpPr>
            <a:cxnSpLocks/>
            <a:stCxn id="8" idx="0"/>
            <a:endCxn id="69" idx="5"/>
          </p:cNvCxnSpPr>
          <p:nvPr/>
        </p:nvCxnSpPr>
        <p:spPr>
          <a:xfrm flipH="1" flipV="1">
            <a:off x="7873171" y="3082368"/>
            <a:ext cx="672049" cy="17681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de Seta Reta 123">
            <a:extLst>
              <a:ext uri="{FF2B5EF4-FFF2-40B4-BE49-F238E27FC236}">
                <a16:creationId xmlns:a16="http://schemas.microsoft.com/office/drawing/2014/main" id="{96091E00-20CA-4925-6FB9-658843FD80EC}"/>
              </a:ext>
            </a:extLst>
          </p:cNvPr>
          <p:cNvCxnSpPr>
            <a:cxnSpLocks/>
            <a:stCxn id="8" idx="0"/>
            <a:endCxn id="79" idx="5"/>
          </p:cNvCxnSpPr>
          <p:nvPr/>
        </p:nvCxnSpPr>
        <p:spPr>
          <a:xfrm flipH="1" flipV="1">
            <a:off x="7873171" y="2041086"/>
            <a:ext cx="672049" cy="28094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de Seta Reta 136">
            <a:extLst>
              <a:ext uri="{FF2B5EF4-FFF2-40B4-BE49-F238E27FC236}">
                <a16:creationId xmlns:a16="http://schemas.microsoft.com/office/drawing/2014/main" id="{0ED1D189-C19A-29C8-9E8E-C5F65A34A5DD}"/>
              </a:ext>
            </a:extLst>
          </p:cNvPr>
          <p:cNvCxnSpPr>
            <a:cxnSpLocks/>
            <a:endCxn id="68" idx="5"/>
          </p:cNvCxnSpPr>
          <p:nvPr/>
        </p:nvCxnSpPr>
        <p:spPr>
          <a:xfrm flipH="1" flipV="1">
            <a:off x="5083342" y="3082368"/>
            <a:ext cx="773112" cy="5185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de Seta Reta 139">
            <a:extLst>
              <a:ext uri="{FF2B5EF4-FFF2-40B4-BE49-F238E27FC236}">
                <a16:creationId xmlns:a16="http://schemas.microsoft.com/office/drawing/2014/main" id="{CEF1CD79-AAFF-6C96-4A0C-5F81C9441BD4}"/>
              </a:ext>
            </a:extLst>
          </p:cNvPr>
          <p:cNvCxnSpPr>
            <a:cxnSpLocks/>
            <a:endCxn id="78" idx="5"/>
          </p:cNvCxnSpPr>
          <p:nvPr/>
        </p:nvCxnSpPr>
        <p:spPr>
          <a:xfrm flipH="1" flipV="1">
            <a:off x="5083342" y="2041086"/>
            <a:ext cx="778150" cy="5588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58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4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6" grpId="0" animBg="1"/>
      <p:bldP spid="77" grpId="0" animBg="1"/>
      <p:bldP spid="78" grpId="0" animBg="1"/>
      <p:bldP spid="79" grpId="0" animBg="1"/>
      <p:bldP spid="8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7F243-6DAD-8006-EB4B-F09CF064E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F77AEEB-042C-3314-2ECF-7A0DB757EA4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do Estado Oculto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314927-021E-2FAC-7368-D87FB8E65F3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estado oculto é essencial para prever a próxima palavra em uma sequência, mantendo o contexto do que já foi dito.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Também é usado para classificar sequências, como identificar sentimentos em textos ou padrões em séries temporais.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tarefas de geração de texto, ele ajuda a produzir conteúdo coerente com base nas entradas anteriores.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Mesmo nessas aplicações, o desaparecimento de gradiente pode limitar a retenção de informações relevantes ao longo do tempo.</a:t>
            </a:r>
          </a:p>
        </p:txBody>
      </p:sp>
    </p:spTree>
    <p:extLst>
      <p:ext uri="{BB962C8B-B14F-4D97-AF65-F5344CB8AC3E}">
        <p14:creationId xmlns:p14="http://schemas.microsoft.com/office/powerpoint/2010/main" val="2568120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F7055-F562-6B43-2E1E-4AB56E829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AB10DF2-A7D5-449A-EAF4-F40BC1B011A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Inicialização do Estado Oculto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464E5A-F4CB-0169-C371-ACB2A074E36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estado oculto é geralmente iniciado como um vetor de zeros, marcando o começo do processamento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inicialização neutra permite que a rede comece sem viés, acumulando informações conforme os dados são processados.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partir daí, o estado oculto é atualizado a cada passo, refletindo o histórico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Mesmo com essa abordagem, o desaparecimento de gradiente pode afetar a retenção de informações ao longo do tempo.</a:t>
            </a:r>
          </a:p>
        </p:txBody>
      </p:sp>
    </p:spTree>
    <p:extLst>
      <p:ext uri="{BB962C8B-B14F-4D97-AF65-F5344CB8AC3E}">
        <p14:creationId xmlns:p14="http://schemas.microsoft.com/office/powerpoint/2010/main" val="1841819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1B752-781D-D827-1019-D33FDB19A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FA56415-DBC4-C4AE-00F1-7F108068A39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Treinamento com BPTT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E9123A0-B2E1-0600-D3BC-785DEFEEE21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treinamento das </a:t>
            </a:r>
            <a:r>
              <a:rPr lang="pt-BR" sz="2800" dirty="0" err="1"/>
              <a:t>RNNs</a:t>
            </a:r>
            <a:r>
              <a:rPr lang="pt-BR" sz="2800" dirty="0"/>
              <a:t> é feito com o método </a:t>
            </a:r>
            <a:r>
              <a:rPr lang="pt-BR" sz="2800" i="1" dirty="0" err="1"/>
              <a:t>Backpropagation</a:t>
            </a:r>
            <a:r>
              <a:rPr lang="pt-BR" sz="2800" i="1" dirty="0"/>
              <a:t> </a:t>
            </a:r>
            <a:r>
              <a:rPr lang="pt-BR" sz="2800" i="1" dirty="0" err="1"/>
              <a:t>Through</a:t>
            </a:r>
            <a:r>
              <a:rPr lang="pt-BR" sz="2800" i="1" dirty="0"/>
              <a:t> Time</a:t>
            </a:r>
            <a:r>
              <a:rPr lang="pt-BR" sz="2800" dirty="0"/>
              <a:t> (BPTT), que propaga o erro ao longo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processo ajusta os pesos da rede com base nas diferenças entre a saída esperada e a real.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propagação do erro por muitos passos pode causar o desaparecimento de gradiente, dificultando o aprendizado.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Por isso, variantes como LSTM e GRU são preferidas em tarefas que exigem memória de longo prazo.</a:t>
            </a:r>
          </a:p>
        </p:txBody>
      </p:sp>
    </p:spTree>
    <p:extLst>
      <p:ext uri="{BB962C8B-B14F-4D97-AF65-F5344CB8AC3E}">
        <p14:creationId xmlns:p14="http://schemas.microsoft.com/office/powerpoint/2010/main" val="431430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8A5A0-34CA-4DA4-1C70-972D8F8C8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3FA4C35-A4CE-33CF-9BA7-34C733BFC6E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Compartilhamento de Pesos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A581B5-CB67-24BE-78F9-0BAFE87E266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</a:t>
            </a:r>
            <a:r>
              <a:rPr lang="pt-BR" sz="2800" dirty="0" err="1"/>
              <a:t>RNNs</a:t>
            </a:r>
            <a:r>
              <a:rPr lang="pt-BR" sz="2800" dirty="0"/>
              <a:t>, os mesmos pesos são reutilizados em cada passo da sequência, o que simplifica 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compartilhamento permite que a rede aprenda padrões recorrentes com menos parâmetros.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redução na complexidade facilita o treinamento, mas não resolve o problema do desaparecimento de gradiente.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Arquiteturas mais avançadas foram propostas para lidar com essas limitações em sequências longas.</a:t>
            </a:r>
          </a:p>
        </p:txBody>
      </p:sp>
    </p:spTree>
    <p:extLst>
      <p:ext uri="{BB962C8B-B14F-4D97-AF65-F5344CB8AC3E}">
        <p14:creationId xmlns:p14="http://schemas.microsoft.com/office/powerpoint/2010/main" val="2602061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F08F8-1E30-6988-93DA-932F7B5A8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AE95757-BE6B-F3CF-9FA9-C99766129F0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Limitações das </a:t>
            </a:r>
            <a:r>
              <a:rPr lang="pt-BR" sz="4500" b="1" dirty="0" err="1">
                <a:solidFill>
                  <a:schemeClr val="bg1"/>
                </a:solidFill>
              </a:rPr>
              <a:t>RNNs</a:t>
            </a:r>
            <a:r>
              <a:rPr lang="pt-BR" sz="4500" b="1" dirty="0">
                <a:solidFill>
                  <a:schemeClr val="bg1"/>
                </a:solidFill>
              </a:rPr>
              <a:t> Simples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B4E989A-5BC5-C984-08F4-9AB99D32B96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RNNs</a:t>
            </a:r>
            <a:r>
              <a:rPr lang="pt-BR" sz="2800" dirty="0"/>
              <a:t> simples enfrentam dificuldades para aprender dependências longas em sequências extensas.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desaparecimento de gradiente é um dos principais problemas que afetam o treinamento dessas redes.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fenômeno limita a capacidade da rede de ajustar os pesos corretamente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Por isso, arquiteturas como LSTM e GRU foram propostas para superar essas limitações.</a:t>
            </a:r>
          </a:p>
        </p:txBody>
      </p:sp>
    </p:spTree>
    <p:extLst>
      <p:ext uri="{BB962C8B-B14F-4D97-AF65-F5344CB8AC3E}">
        <p14:creationId xmlns:p14="http://schemas.microsoft.com/office/powerpoint/2010/main" val="813598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C4632-8177-07E4-9C7E-4BC79880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BBE9995-9445-5531-0EFA-9C3A1886176F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Exemplo – Modelo Baseado em Caracteres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C60CD4D-9E10-4CD6-E2B7-9F4C32C96ECE}"/>
              </a:ext>
            </a:extLst>
          </p:cNvPr>
          <p:cNvSpPr txBox="1"/>
          <p:nvPr/>
        </p:nvSpPr>
        <p:spPr>
          <a:xfrm>
            <a:off x="645459" y="6003621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ZHANG et al. Dive into deep learning. Cambridge University Press, 2023.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Shape 262">
            <a:extLst>
              <a:ext uri="{FF2B5EF4-FFF2-40B4-BE49-F238E27FC236}">
                <a16:creationId xmlns:a16="http://schemas.microsoft.com/office/drawing/2014/main" id="{F7528496-003C-31E7-FA60-2688F6EFC94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16742" y="1184294"/>
            <a:ext cx="5903874" cy="47871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5062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ED7F3-8340-BE46-DB0C-9931AD28A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08A9975-B216-98CD-E170-5637C8D566C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Estado Oculto Final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2915E8-FFC7-3425-A8D8-BA31342B923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estado oculto final resume toda a sequência processada, funcionando como uma representação compacta.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pode ser usado diretamente em tarefas de classificação, como identificar o sentimento de um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é útil quando o objetivo é obter uma resposta única para toda 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Mesmo assim, o desaparecimento de gradiente pode afetar a qualidade dessa representação em sequências longas.</a:t>
            </a:r>
          </a:p>
        </p:txBody>
      </p:sp>
    </p:spTree>
    <p:extLst>
      <p:ext uri="{BB962C8B-B14F-4D97-AF65-F5344CB8AC3E}">
        <p14:creationId xmlns:p14="http://schemas.microsoft.com/office/powerpoint/2010/main" val="2959384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358C0-9372-4959-3359-4F8829205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57B96A0-7D95-772C-657D-25AFD1AA30A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0466321-0812-E270-862D-9811171CE395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</a:t>
            </a:r>
            <a:r>
              <a:rPr lang="pt-BR" sz="2800" dirty="0" err="1"/>
              <a:t>RNNs</a:t>
            </a:r>
            <a:r>
              <a:rPr lang="pt-BR" sz="2800" dirty="0"/>
              <a:t> lidam com dados sequenciais atualizando seus estados ocultos a cada passo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estados armazenam o contexto temporal, permitindo que a rede aprenda padrões ao longo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Apesar de úteis, </a:t>
            </a:r>
            <a:r>
              <a:rPr lang="pt-BR" sz="2800" dirty="0" err="1"/>
              <a:t>RNNs</a:t>
            </a:r>
            <a:r>
              <a:rPr lang="pt-BR" sz="2800" dirty="0"/>
              <a:t> simples enfrentam limitações como o desaparecimento de gradiente em sequências longas.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Arquiteturas como LSTM e GRU foram desenvolvidas para superar essas dificuldades e melhorar o desempenho.</a:t>
            </a:r>
          </a:p>
        </p:txBody>
      </p:sp>
    </p:spTree>
    <p:extLst>
      <p:ext uri="{BB962C8B-B14F-4D97-AF65-F5344CB8AC3E}">
        <p14:creationId xmlns:p14="http://schemas.microsoft.com/office/powerpoint/2010/main" val="502337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C976C51-D39B-45E2-A4DD-3114A6DF0612}"/>
</file>

<file path=customXml/itemProps2.xml><?xml version="1.0" encoding="utf-8"?>
<ds:datastoreItem xmlns:ds="http://schemas.openxmlformats.org/officeDocument/2006/customXml" ds:itemID="{18413CAD-83B4-4A75-8EF2-36330ADC0F36}"/>
</file>

<file path=customXml/itemProps3.xml><?xml version="1.0" encoding="utf-8"?>
<ds:datastoreItem xmlns:ds="http://schemas.openxmlformats.org/officeDocument/2006/customXml" ds:itemID="{08F58865-6007-4C00-BAA2-1FBB2A960D79}"/>
</file>

<file path=docProps/app.xml><?xml version="1.0" encoding="utf-8"?>
<Properties xmlns="http://schemas.openxmlformats.org/officeDocument/2006/extended-properties" xmlns:vt="http://schemas.openxmlformats.org/officeDocument/2006/docPropsVTypes">
  <TotalTime>11506</TotalTime>
  <Words>1506</Words>
  <Application>Microsoft Office PowerPoint</Application>
  <PresentationFormat>Widescreen</PresentationFormat>
  <Paragraphs>117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23</vt:i4>
      </vt:variant>
    </vt:vector>
  </HeadingPairs>
  <TitlesOfParts>
    <vt:vector size="36" baseType="lpstr">
      <vt:lpstr>Arial</vt:lpstr>
      <vt:lpstr>Calibri</vt:lpstr>
      <vt:lpstr>Cambria Math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5 - Slide de Tabela ou imagem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Marilane de Almeida Silva Casorla</cp:lastModifiedBy>
  <cp:revision>109</cp:revision>
  <dcterms:created xsi:type="dcterms:W3CDTF">2020-01-14T17:16:45Z</dcterms:created>
  <dcterms:modified xsi:type="dcterms:W3CDTF">2025-12-09T21:11:19Z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