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29"/>
  </p:notesMasterIdLst>
  <p:handoutMasterIdLst>
    <p:handoutMasterId r:id="rId30"/>
  </p:handoutMasterIdLst>
  <p:sldIdLst>
    <p:sldId id="266" r:id="rId9"/>
    <p:sldId id="260" r:id="rId10"/>
    <p:sldId id="268" r:id="rId11"/>
    <p:sldId id="269" r:id="rId12"/>
    <p:sldId id="267" r:id="rId13"/>
    <p:sldId id="287" r:id="rId14"/>
    <p:sldId id="289" r:id="rId15"/>
    <p:sldId id="288" r:id="rId16"/>
    <p:sldId id="273" r:id="rId17"/>
    <p:sldId id="290" r:id="rId18"/>
    <p:sldId id="274" r:id="rId19"/>
    <p:sldId id="291" r:id="rId20"/>
    <p:sldId id="275" r:id="rId21"/>
    <p:sldId id="278" r:id="rId22"/>
    <p:sldId id="279" r:id="rId23"/>
    <p:sldId id="280" r:id="rId24"/>
    <p:sldId id="281" r:id="rId25"/>
    <p:sldId id="284" r:id="rId26"/>
    <p:sldId id="285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2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customXml" Target="../customXml/item2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Relationship Id="rId35" Type="http://schemas.openxmlformats.org/officeDocument/2006/relationships/customXml" Target="../customXml/item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55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285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46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à LSTM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</a:t>
            </a:r>
            <a:r>
              <a:rPr lang="pt-BR" sz="2800" dirty="0" err="1"/>
              <a:t>arquitetuta</a:t>
            </a:r>
            <a:r>
              <a:rPr lang="pt-BR" sz="2800" dirty="0"/>
              <a:t> LSTM (</a:t>
            </a:r>
            <a:r>
              <a:rPr lang="pt-BR" sz="2800" i="1" dirty="0" err="1"/>
              <a:t>Long</a:t>
            </a:r>
            <a:r>
              <a:rPr lang="pt-BR" sz="2800" i="1" dirty="0"/>
              <a:t> Short-</a:t>
            </a:r>
            <a:r>
              <a:rPr lang="pt-BR" sz="2800" i="1" dirty="0" err="1"/>
              <a:t>Term</a:t>
            </a:r>
            <a:r>
              <a:rPr lang="pt-BR" sz="2800" i="1" dirty="0"/>
              <a:t> </a:t>
            </a:r>
            <a:r>
              <a:rPr lang="pt-BR" sz="2800" i="1" dirty="0" err="1"/>
              <a:t>Memory</a:t>
            </a:r>
            <a:r>
              <a:rPr lang="pt-BR" sz="2800" dirty="0"/>
              <a:t>) foi projetada para superar limitações das redes recorrentes, pois preserva informações relevantes por mais tempo em sequências.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mecanismos internos que regulam o fluxo de dados, ela melhora o controle sobre o que é armazenado, esquecido ou transmitido.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estrutura favorece tarefas que exigem compreensão de relações distantes, como linguagem natural 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Ao evitar o desaparecimento do gradiente, contribui para um treinamento mais estável e eficaz em modelagem sequencial.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A597-D541-21BA-0F57-8A24C2E7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E02767-9C3B-CFBA-C8F5-570AFEF2FD6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 para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9BC51C-EF1D-7C6D-4DE6-4F4B1646D15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redes recorrentes enfrentam dificuldades para aprender relações distantes devido à instabilidade dos gradientes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compromete a retenção de informações importantes, especialmente em sequências mais longas e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mais avançadas foram desenvolvidas para contornar esses problemas e melhorar a eficiência do aprendizado temporal.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isso, tornou-se possível capturar dependências de longo prazo de forma mais robusta e estável em diversas aplicações.</a:t>
            </a:r>
          </a:p>
        </p:txBody>
      </p:sp>
    </p:spTree>
    <p:extLst>
      <p:ext uri="{BB962C8B-B14F-4D97-AF65-F5344CB8AC3E}">
        <p14:creationId xmlns:p14="http://schemas.microsoft.com/office/powerpoint/2010/main" val="174735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E4E6-0A6F-EBB5-A28B-4959D20C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10E8D6-0487-7795-C6B3-B5CB1440CD0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LSTM – </a:t>
            </a:r>
            <a:r>
              <a:rPr lang="pt-BR" sz="4500" b="1" i="1" dirty="0" err="1">
                <a:solidFill>
                  <a:schemeClr val="bg1"/>
                </a:solidFill>
              </a:rPr>
              <a:t>Long</a:t>
            </a:r>
            <a:r>
              <a:rPr lang="pt-BR" sz="4500" b="1" i="1" dirty="0">
                <a:solidFill>
                  <a:schemeClr val="bg1"/>
                </a:solidFill>
              </a:rPr>
              <a:t> Short-</a:t>
            </a:r>
            <a:r>
              <a:rPr lang="pt-BR" sz="4500" b="1" i="1" dirty="0" err="1">
                <a:solidFill>
                  <a:schemeClr val="bg1"/>
                </a:solidFill>
              </a:rPr>
              <a:t>Term</a:t>
            </a:r>
            <a:r>
              <a:rPr lang="pt-BR" sz="4500" b="1" i="1" dirty="0">
                <a:solidFill>
                  <a:schemeClr val="bg1"/>
                </a:solidFill>
              </a:rPr>
              <a:t> </a:t>
            </a:r>
            <a:r>
              <a:rPr lang="pt-BR" sz="4500" b="1" i="1" dirty="0" err="1">
                <a:solidFill>
                  <a:schemeClr val="bg1"/>
                </a:solidFill>
              </a:rPr>
              <a:t>Memory</a:t>
            </a:r>
            <a:endParaRPr lang="pt-BR" sz="45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FFC7A40-0835-2EBF-DD07-38535C66C1F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estrutura interna da LSTM permite armazenar e manipular informações de forma eficiente ao longo de sequências.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Elementos como portas de entrada, saída e esquecimento regulam o fluxo de dados e preservam o que é relevante.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organização (chamada de célula) favorece o aprendizado de padrões temporais complexos, mesmo em contextos com ruído ou variações.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controle refinado da memória, a célula contribui para decisões mais precisas em tarefas sequenciais.</a:t>
            </a:r>
          </a:p>
        </p:txBody>
      </p:sp>
    </p:spTree>
    <p:extLst>
      <p:ext uri="{BB962C8B-B14F-4D97-AF65-F5344CB8AC3E}">
        <p14:creationId xmlns:p14="http://schemas.microsoft.com/office/powerpoint/2010/main" val="132285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2B670-64DE-1BD9-5EE4-FD605851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4CD69FB-D90A-E35D-3667-9259EC239E0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Portas da LSTM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DAB6946-D63B-B20D-61D3-C8BEF55CB059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181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Essa arquitetura é formada por componentes que regulam o fluxo de informações ao longo da sequência.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porta de entrada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define o que será armazenado.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porta de esquecimento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decide o que deve ser descartado.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porta de saída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latin typeface="Cambria Math" panose="02040503050406030204" pitchFamily="18" charset="0"/>
                          </a:rPr>
                          <m:t>𝐎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controla o que será transmitido para os próximos passos do processamento.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Elas garantem que apenas dados relevantes sejam mantidos e utilizados no momento certo.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DAB6946-D63B-B20D-61D3-C8BEF55CB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181786"/>
              </a:xfrm>
              <a:prstGeom prst="rect">
                <a:avLst/>
              </a:prstGeom>
              <a:blipFill>
                <a:blip r:embed="rId2"/>
                <a:stretch>
                  <a:fillRect l="-930" t="-1749" b="-32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827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4632-8177-07E4-9C7E-4BC79880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BE9995-9445-5531-0EFA-9C3A1886176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Portas de Entrada, Esquecimento e Saída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0CD4D-9E10-4CD6-E2B7-9F4C32C96ECE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F6B09E6-3785-6043-605A-8D9411868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2683" y="1368464"/>
            <a:ext cx="7024221" cy="44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62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979F-A8AB-17CF-D2CA-0B22641B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4DB3E31-38A5-B181-CE42-B549682EFEF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Nó de Entrada (ou Estado Candidato)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CABA42-CC13-360E-BB32-AF6883B8DA08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nó de entrada (ou estado candidato)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representa os novos dados podem ser úteis em um determinado momento.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Ele serve como o conjunto de valores que a LSTM pode adicionar ao seu estado da célula (memória interna).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Equação de atualização da porta de entrada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: (similar a RNN)</a:t>
                </a:r>
              </a:p>
              <a:p>
                <a:pPr algn="ctr">
                  <a:lnSpc>
                    <a:spcPts val="34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tanh</m:t>
                    </m:r>
                    <m:r>
                      <a:rPr lang="pt-BR" sz="2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pPr>
                  <a:lnSpc>
                    <a:spcPts val="3400"/>
                  </a:lnSpc>
                  <a:spcAft>
                    <a:spcPts val="1200"/>
                  </a:spcAft>
                </a:pPr>
                <a:r>
                  <a:rPr lang="pt-BR" sz="2800" dirty="0"/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/>
                  <a:t> são parâmetros</a:t>
                </a:r>
                <a:r>
                  <a:rPr lang="pt-BR" sz="2800" dirty="0">
                    <a:solidFill>
                      <a:prstClr val="black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sz="2800" dirty="0">
                    <a:solidFill>
                      <a:prstClr val="black"/>
                    </a:solidFill>
                  </a:rPr>
                  <a:t> é termo independente</a:t>
                </a:r>
                <a:r>
                  <a:rPr lang="pt-BR" sz="2800" dirty="0"/>
                  <a:t>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Ele é filtrado pela porta de entrada antes de atualizar a memória da célula, garantindo que apenas os dados mais relevantes sejam retidos.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CABA42-CC13-360E-BB32-AF6883B8D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149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93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DAA5-81CC-8D64-34F0-E1E180C4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11A990A-5A53-BA38-4801-875561E39E68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Nó de Entrada (ou Estado Candidato)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7143E06-B112-5369-873F-20B8B3241216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4F33E65-C5F8-B308-348D-06EF750D2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2503" y="1368464"/>
            <a:ext cx="6944581" cy="4412039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8710553-0900-7CBD-B845-4485CB8ED729}"/>
              </a:ext>
            </a:extLst>
          </p:cNvPr>
          <p:cNvSpPr/>
          <p:nvPr/>
        </p:nvSpPr>
        <p:spPr>
          <a:xfrm>
            <a:off x="6891454" y="1817649"/>
            <a:ext cx="1182029" cy="236405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4283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4AC90-29B7-D526-35F4-24BDD6AE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4FDFB6-C3BA-993A-5D86-CCCE7DF4021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da Célula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E1E6E2A-5DF1-D7DF-59A8-2211071853D3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408590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estado da célula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funciona como uma memória interna de longo prazo, armazenando informações relevantes ao longo da sequência.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Ele é continuamente ajustado pelas portas, que decidem o que entra, sai ou é esquecido.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Equação de atualização do estado da célula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: </a:t>
                </a:r>
              </a:p>
              <a:p>
                <a:pPr algn="ctr">
                  <a:lnSpc>
                    <a:spcPts val="34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>
                                  <a:latin typeface="Cambria Math" panose="02040503050406030204" pitchFamily="18" charset="0"/>
                                </a:rPr>
                                <m:t>𝐅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>
                              <a:latin typeface="Cambria Math" panose="02040503050406030204" pitchFamily="18" charset="0"/>
                            </a:rPr>
                            <m:t>𝐈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̃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b="1"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</m:acc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  <a:p>
                <a:pPr>
                  <a:lnSpc>
                    <a:spcPts val="3400"/>
                  </a:lnSpc>
                  <a:spcAft>
                    <a:spcPts val="1200"/>
                  </a:spcAft>
                </a:pPr>
                <a:r>
                  <a:rPr lang="pt-BR" sz="2800" dirty="0"/>
                  <a:t>    sendo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as portas de esquecimento e entrada,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1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</m:acc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, o estado candidato.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Essa memória interna permite que o modelo mantenha contexto após várias etapas, lidando melhor com dependências distantes.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6E1E6E2A-5DF1-D7DF-59A8-221107185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408590" cy="4771691"/>
              </a:xfrm>
              <a:prstGeom prst="rect">
                <a:avLst/>
              </a:prstGeom>
              <a:blipFill>
                <a:blip r:embed="rId2"/>
                <a:stretch>
                  <a:fillRect l="-909" t="-1533" r="-1283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75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3159-6070-217C-C5E5-BD0A45A0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08E20C8-322C-F405-50D8-7AD56811337B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Estado da Célula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3DC891-9D04-EB23-C79C-DBB3291F7404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4E709F7-D1C5-797A-83DA-F8F05BB48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1511" y="1315916"/>
            <a:ext cx="8748977" cy="451713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24754EB-BC37-AECB-47B2-6F57843929B0}"/>
              </a:ext>
            </a:extLst>
          </p:cNvPr>
          <p:cNvSpPr/>
          <p:nvPr/>
        </p:nvSpPr>
        <p:spPr>
          <a:xfrm>
            <a:off x="4013201" y="1555750"/>
            <a:ext cx="1149350" cy="263710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5641A05-D24E-CFB8-C9A8-04DE19322CA5}"/>
              </a:ext>
            </a:extLst>
          </p:cNvPr>
          <p:cNvSpPr/>
          <p:nvPr/>
        </p:nvSpPr>
        <p:spPr>
          <a:xfrm>
            <a:off x="5232400" y="1555750"/>
            <a:ext cx="2400301" cy="263710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B063148-1C3D-3619-C35B-A01FF9DCAB3B}"/>
              </a:ext>
            </a:extLst>
          </p:cNvPr>
          <p:cNvSpPr/>
          <p:nvPr/>
        </p:nvSpPr>
        <p:spPr>
          <a:xfrm>
            <a:off x="2362201" y="1315916"/>
            <a:ext cx="7766050" cy="93198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90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5A92-77E8-39DB-D261-88E2EAFE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EE5E21F-3173-8F82-4BA5-AC7A7B3173C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Oculto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EEB4C88-43EC-4C79-3566-605E55155F99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corresponde à saída gerada pela célula em cada etapa do processamento sequencial.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Ele carrega informações relevantes que foram filtradas e processadas ao longo do tempo.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Equação de atualização do estado oculto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: </a:t>
                </a:r>
              </a:p>
              <a:p>
                <a:pPr algn="ctr">
                  <a:lnSpc>
                    <a:spcPts val="34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1" i="0" smtClean="0">
                                  <a:latin typeface="Cambria Math" panose="02040503050406030204" pitchFamily="18" charset="0"/>
                                </a:rPr>
                                <m:t>𝐎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⨀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  <m:r>
                            <a:rPr lang="pt-BR" sz="2800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ts val="3400"/>
                  </a:lnSpc>
                  <a:spcAft>
                    <a:spcPts val="1200"/>
                  </a:spcAft>
                </a:pPr>
                <a:r>
                  <a:rPr lang="pt-BR" sz="2800" dirty="0"/>
                  <a:t> 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0" smtClean="0">
                            <a:latin typeface="Cambria Math" panose="02040503050406030204" pitchFamily="18" charset="0"/>
                          </a:rPr>
                          <m:t>𝐎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é a porta de saída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>
                            <a:latin typeface="Cambria Math" panose="02040503050406030204" pitchFamily="18" charset="0"/>
                          </a:rPr>
                          <m:t>𝐂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é o estado da célula.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Essa saída é usada como entrada para o próximo passo, mantendo continuidade e coerência entre os elementos da sequência.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EEB4C88-43EC-4C79-3566-605E5515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32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2DF02-3A04-5057-7871-66D1E5D4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1FE696A-50AE-C2E6-C3E4-35B1878F25AA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LSTM – Estado Oculto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29E3D3-69EB-AD20-9EEB-499CFABC391C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7F09682-21DE-4916-C61A-9689C7C78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1512" y="1315916"/>
            <a:ext cx="8748975" cy="4517134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B244EA2-F5D6-3B8C-CCDF-5269DDCF04B2}"/>
              </a:ext>
            </a:extLst>
          </p:cNvPr>
          <p:cNvSpPr/>
          <p:nvPr/>
        </p:nvSpPr>
        <p:spPr>
          <a:xfrm>
            <a:off x="7543800" y="1600200"/>
            <a:ext cx="2451100" cy="296545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41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BB0A-8B8B-2C74-EA97-FADEFEF2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C97C702-E914-B5BC-4BA4-5A91AF986F9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Fluxo de Dados na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5ED1DE-5BF5-1D5A-FD80-EF5DC751E72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entrada percorre os componentes internos, sendo filtrada e processada conforme a lógica das portas.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informações relevantes atualizam a memória da célula, garantindo continuidade no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é ajustado com base nessa nova entrada, refletindo o que será transmitido adiante.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fluxo coordenado permite que a rede aprenda padrões temporais de forma eficiente e estável.</a:t>
            </a:r>
          </a:p>
        </p:txBody>
      </p:sp>
    </p:spTree>
    <p:extLst>
      <p:ext uri="{BB962C8B-B14F-4D97-AF65-F5344CB8AC3E}">
        <p14:creationId xmlns:p14="http://schemas.microsoft.com/office/powerpoint/2010/main" val="701595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385E-CF79-43AA-7ED5-A8909E31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B29582C-F0D2-EEC8-9DA6-5A8D5868033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24486A-03CC-B4C3-06D6-4410ACAC265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ocorre por meio da retropropagação no tempo (BPTT), permitindo ajustes precisos nos parâmetros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portas são refinadas gradualmente, aprendendo a selecionar e descartar informações de forma eficaz.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garante que a memória da célula evolua conforme os padrões observados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o tempo, o modelo se torna capaz de capturar dependências complexas e melhorar sua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5763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574E-D412-D382-2A1C-472A1B78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35C9D7-39CA-33A9-97C8-4F95FBE8CB2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11A2AD-9B48-29CE-0E62-AAFE6A43E88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é capaz de capturar relações distantes entre elementos, mesmo em sequências extensas.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design evita problemas comuns de treinamento, como o desaparecimento ou explosão de gradientes.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controle refinado da memória, ela melhora a precisão em tarefas que exigem contexto prolongado.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 torna especialmente eficaz em aplicações que envolvem dados temporais ou linguísticos complexos.</a:t>
            </a:r>
          </a:p>
        </p:txBody>
      </p:sp>
    </p:spTree>
    <p:extLst>
      <p:ext uri="{BB962C8B-B14F-4D97-AF65-F5344CB8AC3E}">
        <p14:creationId xmlns:p14="http://schemas.microsoft.com/office/powerpoint/2010/main" val="1465274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37B9-C228-4109-B21C-DAD94EDD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FCEAA1-17F2-1457-286F-8B6DC8C04B9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0DD167-D5C5-7F6E-0589-439E2611B62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é amplamente utilizada em tarefas que envolvem dados sequenciais e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Tem papel importante em sistemas de tradução automática, onde o contexto precisa ser mantido ao longo da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é aplicada no reconhecimento de fala, lidando com variações e padrões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séries temporais, ajuda a prever eventos futuros com base em padrões históricos complexos.</a:t>
            </a:r>
          </a:p>
        </p:txBody>
      </p:sp>
    </p:spTree>
    <p:extLst>
      <p:ext uri="{BB962C8B-B14F-4D97-AF65-F5344CB8AC3E}">
        <p14:creationId xmlns:p14="http://schemas.microsoft.com/office/powerpoint/2010/main" val="2844327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B56D-3DF0-F5CD-9949-6552A425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DDA929-38C0-5E26-AA60-5B9F063A928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r>
              <a:rPr lang="pt-BR" sz="4500" b="1" dirty="0">
                <a:solidFill>
                  <a:schemeClr val="bg1"/>
                </a:solidFill>
              </a:rPr>
              <a:t> Simples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580AF6-FD40-2161-DB03-0C438EF5436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se destaca em tarefas que exigem retenção de informações ao longo de sequências extensas.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Enquanto </a:t>
            </a:r>
            <a:r>
              <a:rPr lang="pt-BR" sz="2800" dirty="0" err="1"/>
              <a:t>RNNs</a:t>
            </a:r>
            <a:r>
              <a:rPr lang="pt-BR" sz="2800" dirty="0"/>
              <a:t> simples perdem contexto com facilidade, ela mantém dados relevantes por mais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controle refinado da memória permite lidar com padrões temporais mais complexos e variados.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isso, apresenta desempenho superior em aplicações que envolvem dependências de longo prazo.</a:t>
            </a:r>
          </a:p>
        </p:txBody>
      </p:sp>
    </p:spTree>
    <p:extLst>
      <p:ext uri="{BB962C8B-B14F-4D97-AF65-F5344CB8AC3E}">
        <p14:creationId xmlns:p14="http://schemas.microsoft.com/office/powerpoint/2010/main" val="4112959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8D90-1EB2-C3EC-7656-36326611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D782D4A-3A43-2D00-16AF-5B555701945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Desempenho da LSTM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F2C1AB-7FCC-26DD-6825-36D541DE384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se destaca em tarefas que exigem análise detalhada de sequências com múltiplas variáveis.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capacidade de manter contexto ao longo do tempo contribui para resultados mais precisos e consistentes.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desempenho superior é evidente em aplicações que envolvem linguagem, séries temporais e reconhecimento de padrões.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controle refinado da memória, ela lida melhor com variações e dependências de longo prazo.</a:t>
            </a:r>
          </a:p>
        </p:txBody>
      </p:sp>
    </p:spTree>
    <p:extLst>
      <p:ext uri="{BB962C8B-B14F-4D97-AF65-F5344CB8AC3E}">
        <p14:creationId xmlns:p14="http://schemas.microsoft.com/office/powerpoint/2010/main" val="321484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3F43-3134-B9DB-2434-15953821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787356-8F71-D82B-652A-5A4A2A37D5A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D3E235-6856-F1D4-43DE-EC2FC6FAF97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arquitetura regula o fluxo de dados por meio de componentes internos que filtram e armazenam informações.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</a:t>
            </a:r>
            <a:r>
              <a:rPr lang="pt-BR" sz="2800"/>
              <a:t>memória interna é </a:t>
            </a:r>
            <a:r>
              <a:rPr lang="pt-BR" sz="2800" dirty="0"/>
              <a:t>mantida ao longo da sequência, permitindo que o modelo preserve contexto relevante.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portas garante que apenas dados úteis sejam processados, descartando o que não contribui.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isso, o modelo se torna capaz de lidar com tarefas sequenciais complexas de forma eficiente.</a:t>
            </a:r>
          </a:p>
        </p:txBody>
      </p:sp>
    </p:spTree>
    <p:extLst>
      <p:ext uri="{BB962C8B-B14F-4D97-AF65-F5344CB8AC3E}">
        <p14:creationId xmlns:p14="http://schemas.microsoft.com/office/powerpoint/2010/main" val="1227531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98DD6C1-C660-4394-AA71-C5D45A172AA7}"/>
</file>

<file path=customXml/itemProps2.xml><?xml version="1.0" encoding="utf-8"?>
<ds:datastoreItem xmlns:ds="http://schemas.openxmlformats.org/officeDocument/2006/customXml" ds:itemID="{D46AB01F-7B7F-4DBF-836F-F79ADBB36A63}"/>
</file>

<file path=customXml/itemProps3.xml><?xml version="1.0" encoding="utf-8"?>
<ds:datastoreItem xmlns:ds="http://schemas.openxmlformats.org/officeDocument/2006/customXml" ds:itemID="{7C8AE186-FCD3-4CE6-8448-585E1817B902}"/>
</file>

<file path=docProps/app.xml><?xml version="1.0" encoding="utf-8"?>
<Properties xmlns="http://schemas.openxmlformats.org/officeDocument/2006/extended-properties" xmlns:vt="http://schemas.openxmlformats.org/officeDocument/2006/docPropsVTypes">
  <TotalTime>11575</TotalTime>
  <Words>1214</Words>
  <Application>Microsoft Office PowerPoint</Application>
  <PresentationFormat>Widescreen</PresentationFormat>
  <Paragraphs>88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20</vt:i4>
      </vt:variant>
    </vt:vector>
  </HeadingPairs>
  <TitlesOfParts>
    <vt:vector size="33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109</cp:revision>
  <dcterms:created xsi:type="dcterms:W3CDTF">2020-01-14T17:16:45Z</dcterms:created>
  <dcterms:modified xsi:type="dcterms:W3CDTF">2025-12-09T21:17:00Z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