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8.xml" ContentType="application/vnd.openxmlformats-officedocument.theme+xml"/>
  <Override PartName="/ppt/theme/theme6.xml" ContentType="application/vnd.openxmlformats-officedocument.theme+xml"/>
  <Override PartName="/ppt/notesMasters/notesMaster1.xml" ContentType="application/vnd.openxmlformats-officedocument.presentationml.notesMaster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7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88" r:id="rId6"/>
    <p:sldMasterId id="2147483698" r:id="rId7"/>
    <p:sldMasterId id="2147483690" r:id="rId8"/>
  </p:sldMasterIdLst>
  <p:notesMasterIdLst>
    <p:notesMasterId r:id="rId29"/>
  </p:notesMasterIdLst>
  <p:handoutMasterIdLst>
    <p:handoutMasterId r:id="rId30"/>
  </p:handoutMasterIdLst>
  <p:sldIdLst>
    <p:sldId id="266" r:id="rId9"/>
    <p:sldId id="260" r:id="rId10"/>
    <p:sldId id="285" r:id="rId11"/>
    <p:sldId id="288" r:id="rId12"/>
    <p:sldId id="290" r:id="rId13"/>
    <p:sldId id="292" r:id="rId14"/>
    <p:sldId id="291" r:id="rId15"/>
    <p:sldId id="294" r:id="rId16"/>
    <p:sldId id="289" r:id="rId17"/>
    <p:sldId id="296" r:id="rId18"/>
    <p:sldId id="295" r:id="rId19"/>
    <p:sldId id="297" r:id="rId20"/>
    <p:sldId id="302" r:id="rId21"/>
    <p:sldId id="303" r:id="rId22"/>
    <p:sldId id="304" r:id="rId23"/>
    <p:sldId id="298" r:id="rId24"/>
    <p:sldId id="299" r:id="rId25"/>
    <p:sldId id="300" r:id="rId26"/>
    <p:sldId id="301" r:id="rId27"/>
    <p:sldId id="261" r:id="rId2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C4"/>
    <a:srgbClr val="0CA4AC"/>
    <a:srgbClr val="0FCAD3"/>
    <a:srgbClr val="53EBF3"/>
    <a:srgbClr val="10DCE6"/>
    <a:srgbClr val="19E5EF"/>
    <a:srgbClr val="7FC25E"/>
    <a:srgbClr val="99CE7E"/>
    <a:srgbClr val="4A6B9E"/>
    <a:srgbClr val="E1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6433" autoAdjust="0"/>
  </p:normalViewPr>
  <p:slideViewPr>
    <p:cSldViewPr snapToGrid="0">
      <p:cViewPr varScale="1">
        <p:scale>
          <a:sx n="67" d="100"/>
          <a:sy n="67" d="100"/>
        </p:scale>
        <p:origin x="816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viewProps" Target="viewProps.xml"/><Relationship Id="rId37" Type="http://schemas.openxmlformats.org/officeDocument/2006/relationships/customXml" Target="../customXml/item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customXml" Target="../customXml/item2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handoutMaster" Target="handoutMasters/handoutMaster1.xml"/><Relationship Id="rId35" Type="http://schemas.openxmlformats.org/officeDocument/2006/relationships/customXml" Target="../customXml/item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4458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E99B992-82EF-49B9-958D-103864F509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218"/>
            <a:ext cx="12192000" cy="6878022"/>
          </a:xfrm>
          <a:prstGeom prst="rect">
            <a:avLst/>
          </a:prstGeom>
        </p:spPr>
      </p:pic>
      <p:sp>
        <p:nvSpPr>
          <p:cNvPr id="6" name="Retângulo 5"/>
          <p:cNvSpPr/>
          <p:nvPr userDrawn="1"/>
        </p:nvSpPr>
        <p:spPr>
          <a:xfrm>
            <a:off x="628769" y="-63188"/>
            <a:ext cx="10911016" cy="6942005"/>
          </a:xfrm>
          <a:prstGeom prst="rect">
            <a:avLst/>
          </a:prstGeom>
          <a:solidFill>
            <a:srgbClr val="4A6B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884" y="6394749"/>
            <a:ext cx="1606086" cy="144879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30BD0E4-DA32-42AA-832D-7CA703EA8D73}"/>
              </a:ext>
            </a:extLst>
          </p:cNvPr>
          <p:cNvSpPr/>
          <p:nvPr userDrawn="1"/>
        </p:nvSpPr>
        <p:spPr>
          <a:xfrm>
            <a:off x="628769" y="-68695"/>
            <a:ext cx="10911016" cy="6942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1010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Regularização e Otimização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Jr.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Introdução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RNNs</a:t>
            </a:r>
            <a:r>
              <a:rPr lang="pt-BR" sz="2800" dirty="0"/>
              <a:t> podem sofrer com </a:t>
            </a:r>
            <a:r>
              <a:rPr lang="pt-BR" sz="2800" dirty="0" err="1"/>
              <a:t>overfitting</a:t>
            </a:r>
            <a:r>
              <a:rPr lang="pt-BR" sz="2800" dirty="0"/>
              <a:t>, especialmente em dados limitados ou ruidosos, prejudicando a capacidade de generalização.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regularização atua na complexidade da rede, evitando que ela memorize os dados e favorecendo um desempenho mais estável.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Técnicas como penalização de pesos e </a:t>
            </a:r>
            <a:r>
              <a:rPr lang="pt-BR" sz="2800" dirty="0" err="1"/>
              <a:t>dropout</a:t>
            </a:r>
            <a:r>
              <a:rPr lang="pt-BR" sz="2800" dirty="0"/>
              <a:t> ajudam a controlar os parâmetros e reduzir a variância.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Otimizadores adaptativos e ajustes na taxa de aprendizado são essenciais para garantir um treinamento eficiente e estável.</a:t>
            </a:r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099F2-E251-61B0-E9CD-7156BB9BF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0744ACE-F45C-1621-9C67-5FFAD9B3AFC5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 err="1">
                <a:solidFill>
                  <a:schemeClr val="bg1"/>
                </a:solidFill>
              </a:rPr>
              <a:t>Dropout</a:t>
            </a:r>
            <a:r>
              <a:rPr lang="pt-BR" sz="4500" b="1" dirty="0">
                <a:solidFill>
                  <a:schemeClr val="bg1"/>
                </a:solidFill>
              </a:rPr>
              <a:t> em </a:t>
            </a:r>
            <a:r>
              <a:rPr lang="pt-BR" sz="4500" b="1" dirty="0" err="1">
                <a:solidFill>
                  <a:schemeClr val="bg1"/>
                </a:solidFill>
              </a:rPr>
              <a:t>RNNs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39BB873-0C1F-5E01-5976-6DB783CD61EE}"/>
              </a:ext>
            </a:extLst>
          </p:cNvPr>
          <p:cNvSpPr txBox="1"/>
          <p:nvPr/>
        </p:nvSpPr>
        <p:spPr>
          <a:xfrm>
            <a:off x="512064" y="1304405"/>
            <a:ext cx="11137392" cy="4617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Dropout</a:t>
            </a:r>
            <a:r>
              <a:rPr lang="pt-BR" sz="2800" dirty="0"/>
              <a:t> é uma técnica de regularização que desativa aleatoriamente unidades da rede durante o treinamento, reduzindo a </a:t>
            </a:r>
            <a:r>
              <a:rPr lang="pt-BR" sz="2800" dirty="0" err="1"/>
              <a:t>coadaptação</a:t>
            </a:r>
            <a:r>
              <a:rPr lang="pt-BR" sz="2800" dirty="0"/>
              <a:t> e prevenindo o </a:t>
            </a:r>
            <a:r>
              <a:rPr lang="pt-BR" sz="2800" dirty="0" err="1"/>
              <a:t>overfitting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Dropout</a:t>
            </a:r>
            <a:r>
              <a:rPr lang="pt-BR" sz="2800" dirty="0"/>
              <a:t> Variacional 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Uso de </a:t>
            </a:r>
            <a:r>
              <a:rPr lang="pt-BR" sz="2800" dirty="0" err="1"/>
              <a:t>dropout</a:t>
            </a:r>
            <a:r>
              <a:rPr lang="pt-BR" sz="2800" dirty="0"/>
              <a:t> com a mesma máscara em todas as etapas temporais para maior estabilidade.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Zoneout</a:t>
            </a:r>
            <a:endParaRPr lang="pt-BR" sz="2800" dirty="0"/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Técnica alternativa ao </a:t>
            </a:r>
            <a:r>
              <a:rPr lang="pt-BR" sz="2800" dirty="0" err="1"/>
              <a:t>dropout</a:t>
            </a:r>
            <a:r>
              <a:rPr lang="pt-BR" sz="2800" dirty="0"/>
              <a:t> que mantém parte do estado anterior da célula, promovendo regularização sem perder continuidade.</a:t>
            </a:r>
          </a:p>
        </p:txBody>
      </p:sp>
    </p:spTree>
    <p:extLst>
      <p:ext uri="{BB962C8B-B14F-4D97-AF65-F5344CB8AC3E}">
        <p14:creationId xmlns:p14="http://schemas.microsoft.com/office/powerpoint/2010/main" val="946555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77E19-67C3-6633-8FB7-6968FEEAC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CDC2944-1DEA-9D46-D13A-002D981958AA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Otimizador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9B518A3-85E9-3B31-1463-BAE9990FA325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Otimizadores ajustam os pesos da rede para minimizar a função de perda, guiando o aprendizado da rede neural.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 </a:t>
            </a:r>
            <a:r>
              <a:rPr lang="pt-BR" sz="2800" dirty="0" err="1"/>
              <a:t>RNNs</a:t>
            </a:r>
            <a:r>
              <a:rPr lang="pt-BR" sz="2800" dirty="0"/>
              <a:t>, a otimização é desafiadora por conta dos gradientes que podem explodir ou desaparecer ao longo do tempo.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escolha do algoritmo influencia diretamente na velocidade de convergência e na qualidade do modelo final.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Métodos como SGD, </a:t>
            </a:r>
            <a:r>
              <a:rPr lang="pt-BR" sz="2800" dirty="0" err="1"/>
              <a:t>RMSProp</a:t>
            </a:r>
            <a:r>
              <a:rPr lang="pt-BR" sz="2800" dirty="0"/>
              <a:t> e Adam oferecem diferentes estratégias para lidar com os desafios do treinamento em </a:t>
            </a:r>
            <a:r>
              <a:rPr lang="pt-BR" sz="2800" dirty="0" err="1"/>
              <a:t>RNNs</a:t>
            </a:r>
            <a:r>
              <a:rPr 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4425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0BA6B-607B-874E-63F7-8D45DDBF9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DBC7641-E036-F96D-7CB6-A86535A045C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 err="1">
                <a:solidFill>
                  <a:schemeClr val="bg1"/>
                </a:solidFill>
              </a:rPr>
              <a:t>Stochastic</a:t>
            </a:r>
            <a:r>
              <a:rPr lang="pt-BR" sz="4500" b="1" dirty="0">
                <a:solidFill>
                  <a:schemeClr val="bg1"/>
                </a:solidFill>
              </a:rPr>
              <a:t> </a:t>
            </a:r>
            <a:r>
              <a:rPr lang="pt-BR" sz="4500" b="1" dirty="0" err="1">
                <a:solidFill>
                  <a:schemeClr val="bg1"/>
                </a:solidFill>
              </a:rPr>
              <a:t>Gradient</a:t>
            </a:r>
            <a:r>
              <a:rPr lang="pt-BR" sz="4500" b="1" dirty="0">
                <a:solidFill>
                  <a:schemeClr val="bg1"/>
                </a:solidFill>
              </a:rPr>
              <a:t> </a:t>
            </a:r>
            <a:r>
              <a:rPr lang="pt-BR" sz="4500" b="1" dirty="0" err="1">
                <a:solidFill>
                  <a:schemeClr val="bg1"/>
                </a:solidFill>
              </a:rPr>
              <a:t>Descent</a:t>
            </a:r>
            <a:r>
              <a:rPr lang="pt-BR" sz="4500" b="1" dirty="0">
                <a:solidFill>
                  <a:schemeClr val="bg1"/>
                </a:solidFill>
              </a:rPr>
              <a:t> (SGD)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7BC0BE5-6BA0-3061-6A1D-1B2E67A8BED0}"/>
              </a:ext>
            </a:extLst>
          </p:cNvPr>
          <p:cNvSpPr txBox="1"/>
          <p:nvPr/>
        </p:nvSpPr>
        <p:spPr>
          <a:xfrm>
            <a:off x="512064" y="1304405"/>
            <a:ext cx="11137392" cy="4617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SGD atualiza os pesos usando o gradiente de um pequeno subconjunto de dados (</a:t>
            </a:r>
            <a:r>
              <a:rPr lang="pt-BR" sz="2800" dirty="0" err="1"/>
              <a:t>mini-batch</a:t>
            </a:r>
            <a:r>
              <a:rPr lang="pt-BR" sz="2800" dirty="0"/>
              <a:t> ou lote).</a:t>
            </a:r>
          </a:p>
          <a:p>
            <a:pPr marL="342900" indent="-342900">
              <a:lnSpc>
                <a:spcPts val="3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Vantagens:</a:t>
            </a:r>
          </a:p>
          <a:p>
            <a:pPr marL="800100" lvl="1" indent="-342900">
              <a:lnSpc>
                <a:spcPts val="3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Simples de implementar e baixo custo computacional.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Pode ser a melhor opção se </a:t>
            </a:r>
            <a:r>
              <a:rPr lang="pt-BR" sz="2800" dirty="0" err="1"/>
              <a:t>hiperparâmetros</a:t>
            </a:r>
            <a:r>
              <a:rPr lang="pt-BR" sz="2800" dirty="0"/>
              <a:t> forem bem ajustados.</a:t>
            </a:r>
          </a:p>
          <a:p>
            <a:pPr marL="342900" indent="-342900">
              <a:lnSpc>
                <a:spcPts val="3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Desvantagens:</a:t>
            </a:r>
          </a:p>
          <a:p>
            <a:pPr marL="800100" lvl="1" indent="-342900">
              <a:lnSpc>
                <a:spcPts val="3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Convergência lenta e com ruído.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Sensível à taxa de aprendizado e pode não lidar bem com gradientes variáveis.</a:t>
            </a:r>
          </a:p>
        </p:txBody>
      </p:sp>
    </p:spTree>
    <p:extLst>
      <p:ext uri="{BB962C8B-B14F-4D97-AF65-F5344CB8AC3E}">
        <p14:creationId xmlns:p14="http://schemas.microsoft.com/office/powerpoint/2010/main" val="3258772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92FD4-9D6F-C56F-8E54-78151B36F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9720B89-DDC4-E6C7-A7E9-3BAE9B6EAAC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Root </a:t>
            </a:r>
            <a:r>
              <a:rPr lang="pt-BR" sz="4500" b="1" dirty="0" err="1">
                <a:solidFill>
                  <a:schemeClr val="bg1"/>
                </a:solidFill>
              </a:rPr>
              <a:t>Mean</a:t>
            </a:r>
            <a:r>
              <a:rPr lang="pt-BR" sz="4500" b="1" dirty="0">
                <a:solidFill>
                  <a:schemeClr val="bg1"/>
                </a:solidFill>
              </a:rPr>
              <a:t> Square </a:t>
            </a:r>
            <a:r>
              <a:rPr lang="pt-BR" sz="4500" b="1" dirty="0" err="1">
                <a:solidFill>
                  <a:schemeClr val="bg1"/>
                </a:solidFill>
              </a:rPr>
              <a:t>Propagation</a:t>
            </a:r>
            <a:r>
              <a:rPr lang="pt-BR" sz="4500" b="1" dirty="0">
                <a:solidFill>
                  <a:schemeClr val="bg1"/>
                </a:solidFill>
              </a:rPr>
              <a:t> (</a:t>
            </a:r>
            <a:r>
              <a:rPr lang="pt-BR" sz="4500" b="1" dirty="0" err="1">
                <a:solidFill>
                  <a:schemeClr val="bg1"/>
                </a:solidFill>
              </a:rPr>
              <a:t>RMSProp</a:t>
            </a:r>
            <a:r>
              <a:rPr lang="pt-BR" sz="45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73E87B5-88D4-4495-ADF1-AE8AEFA6F51F}"/>
              </a:ext>
            </a:extLst>
          </p:cNvPr>
          <p:cNvSpPr txBox="1"/>
          <p:nvPr/>
        </p:nvSpPr>
        <p:spPr>
          <a:xfrm>
            <a:off x="512064" y="1304405"/>
            <a:ext cx="11137392" cy="4784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RMSProp</a:t>
            </a:r>
            <a:r>
              <a:rPr lang="pt-BR" sz="2800" dirty="0"/>
              <a:t> mantém uma média móvel ponderada dos quadrados dos gradientes passados.</a:t>
            </a:r>
          </a:p>
          <a:p>
            <a:pPr marL="342900" indent="-342900">
              <a:lnSpc>
                <a:spcPts val="29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Vantagens:</a:t>
            </a:r>
          </a:p>
          <a:p>
            <a:pPr marL="800100" lvl="1" indent="-342900">
              <a:lnSpc>
                <a:spcPts val="29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Adapta a taxa de aprendizado para cada parâmetro, acelerando a convergência.</a:t>
            </a:r>
          </a:p>
          <a:p>
            <a:pPr marL="800100" lvl="1" indent="-342900">
              <a:lnSpc>
                <a:spcPts val="3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bom para dados não estacionários, onde os gradientes variam muito ao longo do tempo (comum em </a:t>
            </a:r>
            <a:r>
              <a:rPr lang="pt-BR" sz="2800" dirty="0" err="1"/>
              <a:t>RNNs</a:t>
            </a:r>
            <a:r>
              <a:rPr lang="pt-BR" sz="2800" dirty="0"/>
              <a:t>).</a:t>
            </a:r>
          </a:p>
          <a:p>
            <a:pPr marL="342900" indent="-342900">
              <a:lnSpc>
                <a:spcPts val="3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Desvantagens:</a:t>
            </a:r>
          </a:p>
          <a:p>
            <a:pPr marL="800100" lvl="1" indent="-342900">
              <a:lnSpc>
                <a:spcPts val="3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Pode ser menos estável se </a:t>
            </a:r>
            <a:r>
              <a:rPr lang="pt-BR" sz="2800" dirty="0" err="1"/>
              <a:t>hiperparâmetros</a:t>
            </a:r>
            <a:r>
              <a:rPr lang="pt-BR" sz="2800" dirty="0"/>
              <a:t> não forem bem ajustados.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Não incorpora o conceito de </a:t>
            </a:r>
            <a:r>
              <a:rPr lang="pt-BR" sz="2800" i="1" dirty="0"/>
              <a:t>momentum</a:t>
            </a:r>
            <a:r>
              <a:rPr lang="pt-BR" sz="2800" dirty="0"/>
              <a:t> (inércia do gradiente).</a:t>
            </a:r>
          </a:p>
        </p:txBody>
      </p:sp>
    </p:spTree>
    <p:extLst>
      <p:ext uri="{BB962C8B-B14F-4D97-AF65-F5344CB8AC3E}">
        <p14:creationId xmlns:p14="http://schemas.microsoft.com/office/powerpoint/2010/main" val="3337353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86D59-27E5-DC61-C26B-F34076404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1654A73-EEE8-FDAF-E95D-9883466315A4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 err="1">
                <a:solidFill>
                  <a:schemeClr val="bg1"/>
                </a:solidFill>
              </a:rPr>
              <a:t>Adaptive</a:t>
            </a:r>
            <a:r>
              <a:rPr lang="pt-BR" sz="4500" b="1" dirty="0">
                <a:solidFill>
                  <a:schemeClr val="bg1"/>
                </a:solidFill>
              </a:rPr>
              <a:t> </a:t>
            </a:r>
            <a:r>
              <a:rPr lang="pt-BR" sz="4500" b="1" dirty="0" err="1">
                <a:solidFill>
                  <a:schemeClr val="bg1"/>
                </a:solidFill>
              </a:rPr>
              <a:t>Moment</a:t>
            </a:r>
            <a:r>
              <a:rPr lang="pt-BR" sz="4500" b="1" dirty="0">
                <a:solidFill>
                  <a:schemeClr val="bg1"/>
                </a:solidFill>
              </a:rPr>
              <a:t> </a:t>
            </a:r>
            <a:r>
              <a:rPr lang="pt-BR" sz="4500" b="1" dirty="0" err="1">
                <a:solidFill>
                  <a:schemeClr val="bg1"/>
                </a:solidFill>
              </a:rPr>
              <a:t>Estimation</a:t>
            </a:r>
            <a:r>
              <a:rPr lang="pt-BR" sz="4500" b="1" dirty="0">
                <a:solidFill>
                  <a:schemeClr val="bg1"/>
                </a:solidFill>
              </a:rPr>
              <a:t> (Adam)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9C65E31-6335-AAF8-0692-47D1BF6F43E7}"/>
              </a:ext>
            </a:extLst>
          </p:cNvPr>
          <p:cNvSpPr txBox="1"/>
          <p:nvPr/>
        </p:nvSpPr>
        <p:spPr>
          <a:xfrm>
            <a:off x="512064" y="1304405"/>
            <a:ext cx="11137392" cy="4617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Adam combina os pontos fortes do </a:t>
            </a:r>
            <a:r>
              <a:rPr lang="pt-BR" sz="2800" dirty="0" err="1"/>
              <a:t>RMSprop</a:t>
            </a:r>
            <a:r>
              <a:rPr lang="pt-BR" sz="2800" dirty="0"/>
              <a:t> (taxas de aprendizado adaptativas) com o conceito de momentum (média móvel de gradientes).</a:t>
            </a:r>
          </a:p>
          <a:p>
            <a:pPr marL="342900" indent="-342900">
              <a:lnSpc>
                <a:spcPts val="3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Vantagens:</a:t>
            </a:r>
          </a:p>
          <a:p>
            <a:pPr marL="800100" lvl="1" indent="-342900">
              <a:lnSpc>
                <a:spcPts val="3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Convergência rápida e robusta na maioria dos cenários.</a:t>
            </a:r>
          </a:p>
          <a:p>
            <a:pPr marL="800100" lvl="1" indent="-342900">
              <a:lnSpc>
                <a:spcPts val="3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Calcula taxas de aprendizado individuais para cada parâmetro.</a:t>
            </a:r>
          </a:p>
          <a:p>
            <a:pPr marL="800100" lvl="1" indent="-342900">
              <a:lnSpc>
                <a:spcPts val="3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Eficaz com gradientes ruidosos e esparsos.</a:t>
            </a:r>
          </a:p>
          <a:p>
            <a:pPr marL="342900" indent="-342900">
              <a:lnSpc>
                <a:spcPts val="3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Desvantagens:</a:t>
            </a:r>
          </a:p>
          <a:p>
            <a:pPr marL="800100" lvl="1" indent="-342900">
              <a:lnSpc>
                <a:spcPts val="3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Custo computacional ligeiramente maior que SGD.</a:t>
            </a:r>
          </a:p>
          <a:p>
            <a:pPr marL="800100" lvl="1" indent="-342900">
              <a:lnSpc>
                <a:spcPts val="3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Pode obter soluções subótimas comparado a um SGD bem ajustado.</a:t>
            </a:r>
          </a:p>
        </p:txBody>
      </p:sp>
    </p:spTree>
    <p:extLst>
      <p:ext uri="{BB962C8B-B14F-4D97-AF65-F5344CB8AC3E}">
        <p14:creationId xmlns:p14="http://schemas.microsoft.com/office/powerpoint/2010/main" val="383261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9B524-873E-06BC-EB52-17446D2BA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DC3F048A-F8C5-B486-C482-0D3FD0E5FF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49772"/>
              </p:ext>
            </p:extLst>
          </p:nvPr>
        </p:nvGraphicFramePr>
        <p:xfrm>
          <a:off x="1574126" y="1239156"/>
          <a:ext cx="9021336" cy="46656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27728">
                  <a:extLst>
                    <a:ext uri="{9D8B030D-6E8A-4147-A177-3AD203B41FA5}">
                      <a16:colId xmlns:a16="http://schemas.microsoft.com/office/drawing/2014/main" val="1423493322"/>
                    </a:ext>
                  </a:extLst>
                </a:gridCol>
                <a:gridCol w="2260902">
                  <a:extLst>
                    <a:ext uri="{9D8B030D-6E8A-4147-A177-3AD203B41FA5}">
                      <a16:colId xmlns:a16="http://schemas.microsoft.com/office/drawing/2014/main" val="666745429"/>
                    </a:ext>
                  </a:extLst>
                </a:gridCol>
                <a:gridCol w="2138391">
                  <a:extLst>
                    <a:ext uri="{9D8B030D-6E8A-4147-A177-3AD203B41FA5}">
                      <a16:colId xmlns:a16="http://schemas.microsoft.com/office/drawing/2014/main" val="2038729880"/>
                    </a:ext>
                  </a:extLst>
                </a:gridCol>
                <a:gridCol w="2294315">
                  <a:extLst>
                    <a:ext uri="{9D8B030D-6E8A-4147-A177-3AD203B41FA5}">
                      <a16:colId xmlns:a16="http://schemas.microsoft.com/office/drawing/2014/main" val="3906736845"/>
                    </a:ext>
                  </a:extLst>
                </a:gridCol>
              </a:tblGrid>
              <a:tr h="3481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u="none" strike="noStrike" dirty="0">
                          <a:effectLst/>
                        </a:rPr>
                        <a:t>Aspecto</a:t>
                      </a:r>
                      <a:endParaRPr lang="pt-BR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u="none" strike="noStrike" dirty="0">
                          <a:effectLst/>
                        </a:rPr>
                        <a:t>SGD</a:t>
                      </a:r>
                      <a:endParaRPr lang="pt-BR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u="none" strike="noStrike" dirty="0" err="1">
                          <a:effectLst/>
                        </a:rPr>
                        <a:t>RMSprop</a:t>
                      </a:r>
                      <a:endParaRPr lang="pt-BR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2000" u="none" strike="noStrike" dirty="0">
                          <a:effectLst/>
                        </a:rPr>
                        <a:t>Adam</a:t>
                      </a:r>
                      <a:endParaRPr lang="pt-BR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extLst>
                  <a:ext uri="{0D108BD9-81ED-4DB2-BD59-A6C34878D82A}">
                    <a16:rowId xmlns:a16="http://schemas.microsoft.com/office/drawing/2014/main" val="829979881"/>
                  </a:ext>
                </a:extLst>
              </a:tr>
              <a:tr h="5276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  Simplicidade</a:t>
                      </a:r>
                      <a:endParaRPr lang="pt-BR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 Alta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 Média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 Média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extLst>
                  <a:ext uri="{0D108BD9-81ED-4DB2-BD59-A6C34878D82A}">
                    <a16:rowId xmlns:a16="http://schemas.microsoft.com/office/drawing/2014/main" val="1201563115"/>
                  </a:ext>
                </a:extLst>
              </a:tr>
              <a:tr h="5221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  Custo Computacional</a:t>
                      </a:r>
                      <a:endParaRPr lang="pt-BR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 Baixo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 Médio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 Médio/Alto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extLst>
                  <a:ext uri="{0D108BD9-81ED-4DB2-BD59-A6C34878D82A}">
                    <a16:rowId xmlns:a16="http://schemas.microsoft.com/office/drawing/2014/main" val="3638868599"/>
                  </a:ext>
                </a:extLst>
              </a:tr>
              <a:tr h="13924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  Taxa de Aprendizado</a:t>
                      </a:r>
                      <a:endParaRPr lang="pt-BR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 Fixa (geralmente)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 Adaptativa (gradientes passados)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 Adaptativa (gradientes e quadrados dos gradientes)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extLst>
                  <a:ext uri="{0D108BD9-81ED-4DB2-BD59-A6C34878D82A}">
                    <a16:rowId xmlns:a16="http://schemas.microsoft.com/office/drawing/2014/main" val="1418576793"/>
                  </a:ext>
                </a:extLst>
              </a:tr>
              <a:tr h="4829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  Momentum</a:t>
                      </a:r>
                      <a:endParaRPr lang="pt-BR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 Opcional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 Não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 Sim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extLst>
                  <a:ext uri="{0D108BD9-81ED-4DB2-BD59-A6C34878D82A}">
                    <a16:rowId xmlns:a16="http://schemas.microsoft.com/office/drawing/2014/main" val="2557886927"/>
                  </a:ext>
                </a:extLst>
              </a:tr>
              <a:tr h="5221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  Estabilidade</a:t>
                      </a:r>
                      <a:endParaRPr lang="pt-BR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 Ruidosa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 Mais estável que SGD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 Robusto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extLst>
                  <a:ext uri="{0D108BD9-81ED-4DB2-BD59-A6C34878D82A}">
                    <a16:rowId xmlns:a16="http://schemas.microsoft.com/office/drawing/2014/main" val="1303710407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  Ideal para </a:t>
                      </a:r>
                      <a:r>
                        <a:rPr lang="pt-BR" sz="1800" u="none" strike="noStrike" dirty="0" err="1">
                          <a:effectLst/>
                        </a:rPr>
                        <a:t>RNNs</a:t>
                      </a:r>
                      <a:endParaRPr lang="pt-BR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 Depende do  problema e do ajuste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 Cenários com gradientes variáveis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 Maioria dos casos, rápido e robusto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02" marR="6002" marT="6002" marB="0" anchor="ctr"/>
                </a:tc>
                <a:extLst>
                  <a:ext uri="{0D108BD9-81ED-4DB2-BD59-A6C34878D82A}">
                    <a16:rowId xmlns:a16="http://schemas.microsoft.com/office/drawing/2014/main" val="454384769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5B72559C-DD11-918E-A278-6B667166D2E4}"/>
              </a:ext>
            </a:extLst>
          </p:cNvPr>
          <p:cNvSpPr txBox="1"/>
          <p:nvPr/>
        </p:nvSpPr>
        <p:spPr>
          <a:xfrm>
            <a:off x="645459" y="436914"/>
            <a:ext cx="1087867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500" b="1" dirty="0">
                <a:solidFill>
                  <a:srgbClr val="01BDC4"/>
                </a:solidFill>
              </a:rPr>
              <a:t>QUADRO COMPARATIVO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329A501-55A1-034D-8D29-32A56BE75D09}"/>
              </a:ext>
            </a:extLst>
          </p:cNvPr>
          <p:cNvSpPr txBox="1"/>
          <p:nvPr/>
        </p:nvSpPr>
        <p:spPr>
          <a:xfrm>
            <a:off x="656665" y="5919273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00" dirty="0">
                <a:solidFill>
                  <a:schemeClr val="bg1">
                    <a:lumMod val="50000"/>
                  </a:schemeClr>
                </a:solidFill>
              </a:rPr>
              <a:t>Fonte: Elaborada pelo autor.</a:t>
            </a:r>
          </a:p>
        </p:txBody>
      </p:sp>
    </p:spTree>
    <p:extLst>
      <p:ext uri="{BB962C8B-B14F-4D97-AF65-F5344CB8AC3E}">
        <p14:creationId xmlns:p14="http://schemas.microsoft.com/office/powerpoint/2010/main" val="2277252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6DDB5-B74B-7340-B6C4-659BB6766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235C9DE-C160-B3F8-9F22-AAE2D51F100C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Recomendações sobre Otimizador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C1FEA74-E262-8457-A98E-D5104690559C}"/>
              </a:ext>
            </a:extLst>
          </p:cNvPr>
          <p:cNvSpPr txBox="1"/>
          <p:nvPr/>
        </p:nvSpPr>
        <p:spPr>
          <a:xfrm>
            <a:off x="512064" y="1304405"/>
            <a:ext cx="1113739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2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Adam é geralmente a melhor escolha inicial por sua eficiência e por exigir menos ajustes de </a:t>
            </a:r>
            <a:r>
              <a:rPr lang="pt-BR" sz="2800" dirty="0" err="1"/>
              <a:t>hiperparâmetros</a:t>
            </a:r>
            <a:r>
              <a:rPr lang="pt-BR" sz="2800" dirty="0"/>
              <a:t> em </a:t>
            </a:r>
            <a:r>
              <a:rPr lang="pt-BR" sz="2800" dirty="0" err="1"/>
              <a:t>RNNs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2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RMSprop</a:t>
            </a:r>
            <a:r>
              <a:rPr lang="pt-BR" sz="2800" dirty="0"/>
              <a:t> pode ser útil quando os gradientes apresentam magnitudes muito diferentes, oferecendo maior controle na atualização dos pesos.</a:t>
            </a:r>
          </a:p>
          <a:p>
            <a:pPr marL="342900" indent="-342900">
              <a:lnSpc>
                <a:spcPts val="32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SGD com momentum pode superar os métodos adaptativos em alguns casos, desde que haja tempo para ajustes finos.</a:t>
            </a:r>
          </a:p>
          <a:p>
            <a:pPr marL="342900" indent="-342900">
              <a:lnSpc>
                <a:spcPts val="32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escolha do otimizador depende do problema, dos recursos disponíveis e da necessidade de precisão; Adam costuma equilibrar bem esses fatores. </a:t>
            </a:r>
          </a:p>
        </p:txBody>
      </p:sp>
    </p:spTree>
    <p:extLst>
      <p:ext uri="{BB962C8B-B14F-4D97-AF65-F5344CB8AC3E}">
        <p14:creationId xmlns:p14="http://schemas.microsoft.com/office/powerpoint/2010/main" val="2678141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FAE90-B84B-CBE4-64BF-5087E9B2F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4A4F4DE-7F57-7982-E2B0-E8F91B3764F4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Outros Detalhes sobre Otimizador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ADF6D96-0713-A6A9-FA15-05A4D88B2696}"/>
              </a:ext>
            </a:extLst>
          </p:cNvPr>
          <p:cNvSpPr txBox="1"/>
          <p:nvPr/>
        </p:nvSpPr>
        <p:spPr>
          <a:xfrm>
            <a:off x="512064" y="1304405"/>
            <a:ext cx="11137392" cy="4925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Importância da escolha da taxa de aprendizado (</a:t>
            </a:r>
            <a:r>
              <a:rPr lang="pt-BR" sz="2800" i="1" dirty="0"/>
              <a:t>learning rate</a:t>
            </a:r>
            <a:r>
              <a:rPr lang="pt-BR" sz="2800" dirty="0"/>
              <a:t>)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Estratégias de ajuste dinâmico.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Uso de métodos para reduzir a taxa de aprendizado durante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Parada antecipada (</a:t>
            </a:r>
            <a:r>
              <a:rPr lang="pt-BR" sz="2800" i="1" dirty="0" err="1"/>
              <a:t>early</a:t>
            </a:r>
            <a:r>
              <a:rPr lang="pt-BR" sz="2800" i="1" dirty="0"/>
              <a:t> </a:t>
            </a:r>
            <a:r>
              <a:rPr lang="pt-BR" sz="2800" i="1" dirty="0" err="1"/>
              <a:t>stopping</a:t>
            </a:r>
            <a:r>
              <a:rPr lang="pt-BR" sz="2800" dirty="0"/>
              <a:t>)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Interrupção do treinamento quando o desempenho de validação para de melhorar.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Técnica de regularização usada para prevenir o </a:t>
            </a:r>
            <a:r>
              <a:rPr lang="pt-BR" sz="2800" i="1" dirty="0" err="1"/>
              <a:t>overfitting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957489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E77A4-6421-B0C6-490D-F8F178C6A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67F040C-8EE5-FD6D-0BC3-0670EE31C1D8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Regularização L1 e L2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4397448-2DEB-F850-1813-962558A8EA15}"/>
              </a:ext>
            </a:extLst>
          </p:cNvPr>
          <p:cNvSpPr txBox="1"/>
          <p:nvPr/>
        </p:nvSpPr>
        <p:spPr>
          <a:xfrm>
            <a:off x="512064" y="1304405"/>
            <a:ext cx="11137392" cy="4617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regularização aplica penalidades aos pesos para evitar valores excessivos e melhorar a generalização do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técnica L1 (ou Lasso) promove </a:t>
            </a:r>
            <a:r>
              <a:rPr lang="pt-BR" sz="2800" dirty="0" err="1"/>
              <a:t>esparsidade</a:t>
            </a:r>
            <a:r>
              <a:rPr lang="pt-BR" sz="2800" dirty="0"/>
              <a:t> ao penalizar os valores absolutos dos pesos, podendo zerar alguns deles.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técnica L2 (ou Ridge) reduz a magnitude dos pesos ao penalizar seus quadrados, tornando o modelo mais estável.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Ambas ajudam a controlar a complexidade e prevenir o </a:t>
            </a:r>
            <a:r>
              <a:rPr lang="pt-BR" sz="2800" dirty="0" err="1"/>
              <a:t>overfitting</a:t>
            </a:r>
            <a:r>
              <a:rPr lang="pt-BR" sz="2800" dirty="0"/>
              <a:t> em redes recorrentes.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232095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8ECF6-ED6F-F29F-FAAE-6A76C476F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066541-1091-EE92-34C7-AEFE1033F2A1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Inicialização de Pesos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8A48671-2BD1-A4A0-23FA-E0BB0531D41B}"/>
              </a:ext>
            </a:extLst>
          </p:cNvPr>
          <p:cNvSpPr txBox="1"/>
          <p:nvPr/>
        </p:nvSpPr>
        <p:spPr>
          <a:xfrm>
            <a:off x="512064" y="1304405"/>
            <a:ext cx="11137392" cy="4617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inicialização define os valores iniciais dos pesos da rede antes do treinamento, influenciando diretamente seu desempenho.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Escolher bem esses valores ajuda a evitar problemas como gradientes que desaparecem ou explodem durante o aprendizado.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Uma boa inicialização acelera a convergência e torna o treinamento mais estável e eficiente.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Métodos como </a:t>
            </a:r>
            <a:r>
              <a:rPr lang="pt-BR" sz="2800" b="1" i="1" dirty="0"/>
              <a:t>Xavier</a:t>
            </a:r>
            <a:r>
              <a:rPr lang="pt-BR" sz="2800" dirty="0"/>
              <a:t> e </a:t>
            </a:r>
            <a:r>
              <a:rPr lang="pt-BR" sz="2800" b="1" i="1" dirty="0"/>
              <a:t>He</a:t>
            </a:r>
            <a:r>
              <a:rPr lang="pt-BR" sz="2800" dirty="0"/>
              <a:t> são usados para manter o fluxo de gradientes equilibrado nas redes neurais.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011341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0585F-05C2-6418-2696-69C49BDFA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1D4FDCC-B69A-8E37-FB71-F2C6E243189C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Validação Cruzada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A7A42D6-3897-A1BF-EB0D-0AD8E6E84C9D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Validação cruzada é uma técnica estatística usada para avaliar o desempenho de modelos de aprendizado de máquina.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Ela estima o quão bem o modelo generaliza para dados novos, evitando avaliações dependentes de uma única divisão.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mais robusta que a separação simples entre treino e teste, reduzindo o risco de estimativas enviesadas.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contribui para escolhas mais seguras de modelos e configurações durante o desenvolvimento.</a:t>
            </a:r>
          </a:p>
        </p:txBody>
      </p:sp>
    </p:spTree>
    <p:extLst>
      <p:ext uri="{BB962C8B-B14F-4D97-AF65-F5344CB8AC3E}">
        <p14:creationId xmlns:p14="http://schemas.microsoft.com/office/powerpoint/2010/main" val="2472553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3271D-4C99-BF7B-9A8C-5E98C4383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FC384A1-EB67-05C7-7DDD-03B2B861B197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Validação Cruzada: Como Funciona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2ED6103-AEDD-008F-ED82-ABBF0290D313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conjunto de dados é dividido em K partes de tamanho semelhante, chamadas de dobras (ou </a:t>
            </a:r>
            <a:r>
              <a:rPr lang="pt-BR" sz="2800" i="1" dirty="0" err="1"/>
              <a:t>folds</a:t>
            </a:r>
            <a:r>
              <a:rPr lang="pt-BR" sz="2800" dirty="0"/>
              <a:t>), para avaliação mais confiável.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 cada rodada, um </a:t>
            </a:r>
            <a:r>
              <a:rPr lang="pt-BR" sz="2800" i="1" dirty="0" err="1"/>
              <a:t>fold</a:t>
            </a:r>
            <a:r>
              <a:rPr lang="pt-BR" sz="2800" dirty="0"/>
              <a:t> é usado como teste e os demais como treino, repetindo o processo K vezes.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é treinado e avaliado em diferentes combinações, garantindo uma análise mais completa do desempenho.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média das métricas obtidas em todas as iterações representa a estimativa final da performance do modelo.</a:t>
            </a:r>
          </a:p>
        </p:txBody>
      </p:sp>
    </p:spTree>
    <p:extLst>
      <p:ext uri="{BB962C8B-B14F-4D97-AF65-F5344CB8AC3E}">
        <p14:creationId xmlns:p14="http://schemas.microsoft.com/office/powerpoint/2010/main" val="39608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5203F-DFC2-99E7-45ED-2E840437A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2E0D4D5-3435-345E-AC07-408DEA48DD5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Validação Cruzada: Benefícios e </a:t>
            </a:r>
            <a:r>
              <a:rPr lang="pt-BR" sz="4500" b="1" dirty="0" err="1">
                <a:solidFill>
                  <a:schemeClr val="bg1"/>
                </a:solidFill>
              </a:rPr>
              <a:t>Pontos-chave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D919158-7F6D-8F89-D41C-CA5D59BCA984}"/>
              </a:ext>
            </a:extLst>
          </p:cNvPr>
          <p:cNvSpPr txBox="1"/>
          <p:nvPr/>
        </p:nvSpPr>
        <p:spPr>
          <a:xfrm>
            <a:off x="512064" y="1304405"/>
            <a:ext cx="11137392" cy="3797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Proporciona estimativas de desempenho mais confiáveis e aproveita melhor os dados disponíveis para treino e validação.</a:t>
            </a:r>
          </a:p>
          <a:p>
            <a:pPr marL="342900" indent="-342900">
              <a:lnSpc>
                <a:spcPts val="3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útil na escolha de </a:t>
            </a:r>
            <a:r>
              <a:rPr lang="pt-BR" sz="2800" dirty="0" err="1"/>
              <a:t>hiperparâmetros</a:t>
            </a:r>
            <a:r>
              <a:rPr lang="pt-BR" sz="2800" dirty="0"/>
              <a:t>, especialmente quando combinada com estratégias como busca em grade ou aleatória.</a:t>
            </a:r>
          </a:p>
          <a:p>
            <a:pPr marL="342900" indent="-342900">
              <a:lnSpc>
                <a:spcPts val="3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custo computacional pode ser elevado, já que o modelo é treinado várias vezes, uma para cada divisão dos dados.</a:t>
            </a:r>
          </a:p>
          <a:p>
            <a:pPr marL="342900" indent="-342900">
              <a:lnSpc>
                <a:spcPts val="3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escolha do número de </a:t>
            </a:r>
            <a:r>
              <a:rPr lang="pt-BR" sz="2800" i="1" dirty="0" err="1"/>
              <a:t>folds</a:t>
            </a:r>
            <a:r>
              <a:rPr lang="pt-BR" sz="2800" dirty="0"/>
              <a:t> e a estratificação são importantes para garantir representatividade e evitar viés em conjuntos desbalanceados.</a:t>
            </a:r>
          </a:p>
        </p:txBody>
      </p:sp>
    </p:spTree>
    <p:extLst>
      <p:ext uri="{BB962C8B-B14F-4D97-AF65-F5344CB8AC3E}">
        <p14:creationId xmlns:p14="http://schemas.microsoft.com/office/powerpoint/2010/main" val="3262604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0E852-922D-DF7E-93FF-C83036141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4451644-2817-7E14-F099-F7473FACA0B7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Otimização de </a:t>
            </a:r>
            <a:r>
              <a:rPr lang="pt-BR" sz="4500" b="1" dirty="0" err="1">
                <a:solidFill>
                  <a:schemeClr val="bg1"/>
                </a:solidFill>
              </a:rPr>
              <a:t>Hiperparâmetros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43C7801-9854-3E5A-23B3-0BB37EA26313}"/>
              </a:ext>
            </a:extLst>
          </p:cNvPr>
          <p:cNvSpPr txBox="1"/>
          <p:nvPr/>
        </p:nvSpPr>
        <p:spPr>
          <a:xfrm>
            <a:off x="512064" y="1304405"/>
            <a:ext cx="11137392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Hiperparâmetros</a:t>
            </a:r>
            <a:r>
              <a:rPr lang="pt-BR" sz="2800" dirty="0"/>
              <a:t> são definidos antes do treinamento e influenciam diretamente o comportamento do modelo (ex.: taxa de aprendizado, regularização etc.).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Eles controlam tanto a estrutura quanto o processo de aprendizado, sem serem ajustados pelos dados.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Escolher bem esses valores é essencial para garantir bom desempenho e generalização.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Mesmo com bons dados e arquitetura, </a:t>
            </a:r>
            <a:r>
              <a:rPr lang="pt-BR" sz="2800" dirty="0" err="1"/>
              <a:t>hiperparâmetros</a:t>
            </a:r>
            <a:r>
              <a:rPr lang="pt-BR" sz="2800" dirty="0"/>
              <a:t> </a:t>
            </a:r>
            <a:r>
              <a:rPr lang="pt-BR" sz="2800" dirty="0" err="1"/>
              <a:t>mal-definidos</a:t>
            </a:r>
            <a:r>
              <a:rPr lang="pt-BR" sz="2800" dirty="0"/>
              <a:t> podem comprometer os resultados.</a:t>
            </a:r>
          </a:p>
        </p:txBody>
      </p:sp>
    </p:spTree>
    <p:extLst>
      <p:ext uri="{BB962C8B-B14F-4D97-AF65-F5344CB8AC3E}">
        <p14:creationId xmlns:p14="http://schemas.microsoft.com/office/powerpoint/2010/main" val="1882001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9D97C-C040-F357-A341-7BB6608F8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953571E-1CAC-4BDD-160C-FFD0BBA69AA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Estratégia Exaustiva: Grid Search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44BCB8E-F860-6DB5-C143-A38529C5806A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i="1" dirty="0"/>
              <a:t>Grid Search</a:t>
            </a:r>
            <a:r>
              <a:rPr lang="pt-BR" sz="2800" dirty="0"/>
              <a:t> testa exaustivamente combinações de valores definidos para cada </a:t>
            </a:r>
            <a:r>
              <a:rPr lang="pt-BR" sz="2800" dirty="0" err="1"/>
              <a:t>hiperparâmetro</a:t>
            </a:r>
            <a:r>
              <a:rPr lang="pt-BR" sz="2800" dirty="0"/>
              <a:t> do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As combinações são avaliadas, geralmente com validação cruzada, para identificar o melhor desempenho.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principal vantagem é garantir que a melhor configuração seja encontrada dentro do espaço definido.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custo computacional pode ser alto, especialmente com muitos </a:t>
            </a:r>
            <a:r>
              <a:rPr lang="pt-BR" sz="2800" dirty="0" err="1"/>
              <a:t>hiperparâmetros</a:t>
            </a:r>
            <a:r>
              <a:rPr lang="pt-BR" sz="2800" dirty="0"/>
              <a:t> ou valores possíveis.</a:t>
            </a:r>
          </a:p>
        </p:txBody>
      </p:sp>
    </p:spTree>
    <p:extLst>
      <p:ext uri="{BB962C8B-B14F-4D97-AF65-F5344CB8AC3E}">
        <p14:creationId xmlns:p14="http://schemas.microsoft.com/office/powerpoint/2010/main" val="335728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A698B-1388-A1C2-3B9A-4938E4D0B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0C9D935-0691-8F58-CC46-64AFFC2DA966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Estratégia Eficiente: Random Search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E3FAFB5-8C48-EE39-084C-B5EA3BACC5D5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i="1" dirty="0"/>
              <a:t>Random Search</a:t>
            </a:r>
            <a:r>
              <a:rPr lang="pt-BR" sz="2800" dirty="0"/>
              <a:t> define intervalos para os </a:t>
            </a:r>
            <a:r>
              <a:rPr lang="pt-BR" sz="2800" dirty="0" err="1"/>
              <a:t>hiperparâmetros</a:t>
            </a:r>
            <a:r>
              <a:rPr lang="pt-BR" sz="2800" dirty="0"/>
              <a:t> e amostra combinações aleatórias dentro desses limites.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combinação é avaliada com validação cruzada para identificar a que oferece melhor desempenho.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mais eficiente que o </a:t>
            </a:r>
            <a:r>
              <a:rPr lang="pt-BR" sz="2800" i="1" dirty="0"/>
              <a:t>Grid Search</a:t>
            </a:r>
            <a:r>
              <a:rPr lang="pt-BR" sz="2800" dirty="0"/>
              <a:t> em espaços grandes, testando menos combinações com bons resultados.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Como depende da aleatoriedade, não garante encontrar a melhor configuração possível no espaço de busca.</a:t>
            </a:r>
          </a:p>
        </p:txBody>
      </p:sp>
    </p:spTree>
    <p:extLst>
      <p:ext uri="{BB962C8B-B14F-4D97-AF65-F5344CB8AC3E}">
        <p14:creationId xmlns:p14="http://schemas.microsoft.com/office/powerpoint/2010/main" val="23137653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88123-DBC9-F73C-16E1-3B1507645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45B65AF-23F2-F670-A1FD-B3240D5FF928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D0D4BA9-6C34-39D5-1A00-37C277D401CC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Técnicas como regularização, normalização e </a:t>
            </a:r>
            <a:r>
              <a:rPr lang="pt-BR" sz="2800" i="1" dirty="0"/>
              <a:t>clipping</a:t>
            </a:r>
            <a:r>
              <a:rPr lang="pt-BR" sz="2800" dirty="0"/>
              <a:t> ajudam a estabilizar o treinamento e evitar </a:t>
            </a:r>
            <a:r>
              <a:rPr lang="pt-BR" sz="2800" dirty="0" err="1"/>
              <a:t>overfitting</a:t>
            </a:r>
            <a:r>
              <a:rPr lang="pt-BR" sz="2800" dirty="0"/>
              <a:t> em </a:t>
            </a:r>
            <a:r>
              <a:rPr lang="pt-BR" sz="2800" dirty="0" err="1"/>
              <a:t>RNNs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escolha adequada de otimizadores e inicialização de pesos influencia diretamente na eficiência e na convergência do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Validação cruzada e otimização de </a:t>
            </a:r>
            <a:r>
              <a:rPr lang="pt-BR" sz="2800" dirty="0" err="1"/>
              <a:t>hiperparâmetros</a:t>
            </a:r>
            <a:r>
              <a:rPr lang="pt-BR" sz="2800" dirty="0"/>
              <a:t> são essenciais para garantir desempenho consistente e generalização.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uso combinado dessas estratégias contribui para o desenvolvimento de redes recorrentes mais robustas e eficazes.</a:t>
            </a:r>
          </a:p>
        </p:txBody>
      </p:sp>
    </p:spTree>
    <p:extLst>
      <p:ext uri="{BB962C8B-B14F-4D97-AF65-F5344CB8AC3E}">
        <p14:creationId xmlns:p14="http://schemas.microsoft.com/office/powerpoint/2010/main" val="805787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1042ECD13DF54ABFD3312BD93AC736" ma:contentTypeVersion="14" ma:contentTypeDescription="Crie um novo documento." ma:contentTypeScope="" ma:versionID="c3379b84d20a6d06fcaca77f4d02b37a">
  <xsd:schema xmlns:xsd="http://www.w3.org/2001/XMLSchema" xmlns:xs="http://www.w3.org/2001/XMLSchema" xmlns:p="http://schemas.microsoft.com/office/2006/metadata/properties" xmlns:ns2="942d5ec7-aacc-4a5b-a58b-71e198b95712" xmlns:ns3="dd515b78-c394-4c68-913b-64702d1b471e" targetNamespace="http://schemas.microsoft.com/office/2006/metadata/properties" ma:root="true" ma:fieldsID="5590a7ea86eaf6b97fecbb3d40b5a4d0" ns2:_="" ns3:_="">
    <xsd:import namespace="942d5ec7-aacc-4a5b-a58b-71e198b95712"/>
    <xsd:import namespace="dd515b78-c394-4c68-913b-64702d1b47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5ec7-aacc-4a5b-a58b-71e198b95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53fe116-42e8-49a4-86e5-3f68d57c9f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15b78-c394-4c68-913b-64702d1b471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e72ad8-281c-4dff-88d1-843eaf0c4a59}" ma:internalName="TaxCatchAll" ma:showField="CatchAllData" ma:web="dd515b78-c394-4c68-913b-64702d1b47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515b78-c394-4c68-913b-64702d1b471e" xsi:nil="true"/>
    <lcf76f155ced4ddcb4097134ff3c332f xmlns="942d5ec7-aacc-4a5b-a58b-71e198b9571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EB7C89C-995A-4A94-AABA-6F3946971752}"/>
</file>

<file path=customXml/itemProps2.xml><?xml version="1.0" encoding="utf-8"?>
<ds:datastoreItem xmlns:ds="http://schemas.openxmlformats.org/officeDocument/2006/customXml" ds:itemID="{6EFBC2D8-B901-4F9E-B63E-F40925AE47E6}"/>
</file>

<file path=customXml/itemProps3.xml><?xml version="1.0" encoding="utf-8"?>
<ds:datastoreItem xmlns:ds="http://schemas.openxmlformats.org/officeDocument/2006/customXml" ds:itemID="{DC07A961-6617-4DD0-83A8-CF19EB1B1A85}"/>
</file>

<file path=docProps/app.xml><?xml version="1.0" encoding="utf-8"?>
<Properties xmlns="http://schemas.openxmlformats.org/officeDocument/2006/extended-properties" xmlns:vt="http://schemas.openxmlformats.org/officeDocument/2006/docPropsVTypes">
  <TotalTime>11657</TotalTime>
  <Words>1372</Words>
  <Application>Microsoft Office PowerPoint</Application>
  <PresentationFormat>Widescreen</PresentationFormat>
  <Paragraphs>130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20</vt:i4>
      </vt:variant>
    </vt:vector>
  </HeadingPairs>
  <TitlesOfParts>
    <vt:vector size="33" baseType="lpstr">
      <vt:lpstr>Aptos Narrow</vt:lpstr>
      <vt:lpstr>Arial</vt:lpstr>
      <vt:lpstr>Calibri</vt:lpstr>
      <vt:lpstr>Trebuchet MS</vt:lpstr>
      <vt:lpstr>Wingdings</vt:lpstr>
      <vt:lpstr>3_1 - Capa</vt:lpstr>
      <vt:lpstr>2 - Subdivisão do assunto principal</vt:lpstr>
      <vt:lpstr>3 - Título e texto</vt:lpstr>
      <vt:lpstr>2_3 - Título e texto</vt:lpstr>
      <vt:lpstr>1_3 - Título e texto</vt:lpstr>
      <vt:lpstr>5 - Slide de Tabela ou imagem</vt:lpstr>
      <vt:lpstr>1_5 - Slide de Tabela ou imagem</vt:lpstr>
      <vt:lpstr>6 - Final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Marilane de Almeida Silva Casorla</cp:lastModifiedBy>
  <cp:revision>106</cp:revision>
  <dcterms:created xsi:type="dcterms:W3CDTF">2020-01-14T17:16:45Z</dcterms:created>
  <dcterms:modified xsi:type="dcterms:W3CDTF">2025-12-10T13:15:27Z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0x0101007D1042ECD13DF54ABFD3312BD93AC736</vt:lpwstr>
  </property>
</Properties>
</file>