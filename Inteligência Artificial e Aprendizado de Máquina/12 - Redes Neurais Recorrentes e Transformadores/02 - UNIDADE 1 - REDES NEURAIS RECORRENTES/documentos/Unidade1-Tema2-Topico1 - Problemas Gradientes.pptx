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5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27"/>
  </p:notesMasterIdLst>
  <p:handoutMasterIdLst>
    <p:handoutMasterId r:id="rId28"/>
  </p:handoutMasterIdLst>
  <p:sldIdLst>
    <p:sldId id="266" r:id="rId8"/>
    <p:sldId id="260" r:id="rId9"/>
    <p:sldId id="267" r:id="rId10"/>
    <p:sldId id="268" r:id="rId11"/>
    <p:sldId id="269" r:id="rId12"/>
    <p:sldId id="271" r:id="rId13"/>
    <p:sldId id="273" r:id="rId14"/>
    <p:sldId id="274" r:id="rId15"/>
    <p:sldId id="277" r:id="rId16"/>
    <p:sldId id="287" r:id="rId17"/>
    <p:sldId id="270" r:id="rId18"/>
    <p:sldId id="272" r:id="rId19"/>
    <p:sldId id="275" r:id="rId20"/>
    <p:sldId id="278" r:id="rId21"/>
    <p:sldId id="286" r:id="rId22"/>
    <p:sldId id="279" r:id="rId23"/>
    <p:sldId id="283" r:id="rId24"/>
    <p:sldId id="284" r:id="rId25"/>
    <p:sldId id="261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customXml" Target="../customXml/item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Problemas de Gradientes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Durante o treinamento de </a:t>
            </a:r>
            <a:r>
              <a:rPr lang="pt-BR" sz="2800" dirty="0" err="1"/>
              <a:t>RNNs</a:t>
            </a:r>
            <a:r>
              <a:rPr lang="pt-BR" sz="2800" dirty="0"/>
              <a:t>, os gradientes podem desaparecer ou crescer demais, prejudicando o aprendizado de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normalização de gradientes ajudam a evitar instabilidades e mantêm o treinamento sob controle.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LSTMs</a:t>
            </a:r>
            <a:r>
              <a:rPr lang="pt-BR" sz="2800" dirty="0"/>
              <a:t> e </a:t>
            </a:r>
            <a:r>
              <a:rPr lang="pt-BR" sz="2800" dirty="0" err="1"/>
              <a:t>GRUs</a:t>
            </a:r>
            <a:r>
              <a:rPr lang="pt-BR" sz="2800" dirty="0"/>
              <a:t> foram criadas para lidar melhor com essas dificuldades, regulando o fluxo de informação.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Ajustar </a:t>
            </a:r>
            <a:r>
              <a:rPr lang="pt-BR" sz="2800" dirty="0" err="1"/>
              <a:t>hiperparâmetros</a:t>
            </a:r>
            <a:r>
              <a:rPr lang="pt-BR" sz="2800" dirty="0"/>
              <a:t> como taxa de aprendizado é essencial para melhorar o desempenho da rede.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96BE8-18F0-60CA-FC49-6600D0F1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34061C-843C-17F6-FBC1-F88EAE10676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São Gradientes?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980528-9F9B-0FE2-58C7-74D99B6EB48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gradientes são essenciais para ajustar os pesos da rede, guiando o aprendizado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redes recorrentes, esses valores podem se tornar muito pequenos ou muito grandes, prejudicando o processo de aprendizagem.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normalização ajudam a manter os gradientes em níveis adequados e evitam instabilidades.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cuidadosa de </a:t>
            </a:r>
            <a:r>
              <a:rPr lang="pt-BR" sz="2800" dirty="0" err="1"/>
              <a:t>hiperparâmetros</a:t>
            </a:r>
            <a:r>
              <a:rPr lang="pt-BR" sz="2800" dirty="0"/>
              <a:t> influencia diretamente a capacidade da rede de aprender padrões complexos</a:t>
            </a:r>
          </a:p>
        </p:txBody>
      </p:sp>
    </p:spTree>
    <p:extLst>
      <p:ext uri="{BB962C8B-B14F-4D97-AF65-F5344CB8AC3E}">
        <p14:creationId xmlns:p14="http://schemas.microsoft.com/office/powerpoint/2010/main" val="350019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8013-1308-0890-4C01-1C13B377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8653A52-3B46-4904-AC7C-21F9EA026B1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i="1" dirty="0" err="1">
                <a:solidFill>
                  <a:schemeClr val="bg1"/>
                </a:solidFill>
              </a:rPr>
              <a:t>Backpropagation</a:t>
            </a:r>
            <a:r>
              <a:rPr lang="pt-BR" sz="4500" b="1" i="1" dirty="0">
                <a:solidFill>
                  <a:schemeClr val="bg1"/>
                </a:solidFill>
              </a:rPr>
              <a:t> </a:t>
            </a:r>
            <a:r>
              <a:rPr lang="pt-BR" sz="4500" b="1" i="1" dirty="0" err="1">
                <a:solidFill>
                  <a:schemeClr val="bg1"/>
                </a:solidFill>
              </a:rPr>
              <a:t>Through</a:t>
            </a:r>
            <a:r>
              <a:rPr lang="pt-BR" sz="4500" b="1" i="1" dirty="0">
                <a:solidFill>
                  <a:schemeClr val="bg1"/>
                </a:solidFill>
              </a:rPr>
              <a:t> Time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3DA39A-EB64-F48D-6ABF-DB7291B3C79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usam BPTT, que propaga erros ao longo de muitas etapas, permitindo o ajuste dos pesos com base em toda 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pode gerar gradientes instáveis, dificultando o aprendizado de dependências temporais mais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Quando os gradientes se tornam muito pequenos ou muito grandes, o treinamento perde eficiência e pode falhar.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de controle e ajustes nos parâmetros ajudam a manter o processo de retropropagação mais estável.</a:t>
            </a:r>
          </a:p>
        </p:txBody>
      </p:sp>
    </p:spTree>
    <p:extLst>
      <p:ext uri="{BB962C8B-B14F-4D97-AF65-F5344CB8AC3E}">
        <p14:creationId xmlns:p14="http://schemas.microsoft.com/office/powerpoint/2010/main" val="80463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587BB-D922-5BAB-01BC-3D6A9AE7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2899506-C0FE-2DE0-F98D-59AF073206C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Desaparecimento de Gradientes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811DA1-185E-03F9-FF0C-F01CE8C4B13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Gradientes muito pequenos tornam o aprendizado lento ou impossível, pois os ajustes nos pesos deixam de ser significativos.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problema é comum em redes profundas ou recorrentes, especialmente ao lidar com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rede pode deixar de aprender padrões importantes, mesmo com muitos exemplos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de controle e ajustes adequados ajudam a manter os gradientes em níveis úteis para o aprendizado.</a:t>
            </a:r>
          </a:p>
        </p:txBody>
      </p:sp>
    </p:spTree>
    <p:extLst>
      <p:ext uri="{BB962C8B-B14F-4D97-AF65-F5344CB8AC3E}">
        <p14:creationId xmlns:p14="http://schemas.microsoft.com/office/powerpoint/2010/main" val="254502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C46A-3FA0-B0F4-7034-13E54F78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B7F59F-FE7F-C102-E153-03BBBFE6844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Causas do Desaparecimento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CE3AEA-FD44-8C47-14E4-4741856C019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Funções de ativação como </a:t>
            </a:r>
            <a:r>
              <a:rPr lang="pt-BR" sz="2800" b="1" i="1" dirty="0" err="1"/>
              <a:t>tanh</a:t>
            </a:r>
            <a:r>
              <a:rPr lang="pt-BR" sz="2800" b="1" i="1" dirty="0"/>
              <a:t> </a:t>
            </a:r>
            <a:r>
              <a:rPr lang="pt-BR" sz="2800" dirty="0"/>
              <a:t>e </a:t>
            </a:r>
            <a:r>
              <a:rPr lang="pt-BR" sz="2800" b="1" i="1" dirty="0" err="1"/>
              <a:t>sigmoid</a:t>
            </a:r>
            <a:r>
              <a:rPr lang="pt-BR" sz="2800" i="1" dirty="0"/>
              <a:t> </a:t>
            </a:r>
            <a:r>
              <a:rPr lang="pt-BR" sz="2800" dirty="0"/>
              <a:t>podem reduzir os gradientes, especialmente em redes profundas ou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Quando os valores se aproximam de zero, os ajustes nos pesos se tornam insignificantes, dificultando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efeito é mais evidente em sequências longas, onde os gradientes precisam atravessar muitas etapas.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de funções e parâmetros adequados ajuda a minimizar esse problema e manter o treinamento eficaz.</a:t>
            </a:r>
          </a:p>
        </p:txBody>
      </p:sp>
    </p:spTree>
    <p:extLst>
      <p:ext uri="{BB962C8B-B14F-4D97-AF65-F5344CB8AC3E}">
        <p14:creationId xmlns:p14="http://schemas.microsoft.com/office/powerpoint/2010/main" val="630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11FE-98A3-BC91-A8CA-8242E4E2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EBA6F7C-ECB1-95F8-FCAA-6EDD4FFE88B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Impacto nas Dependências Temporais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F6A367-1392-B94F-C8D7-1DDAE6B18B00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Desaparecimento de gradientes impede o aprendizado de dependências de longo prazo, pois os gradientes se tornam insignificantes ao atravessar muitas etapas.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rede passa a ignorar informações importantes do início da sequência, comprometendo a compreensão completa.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afeta tarefas como tradução automática ou análise de sentimentos, que exigem memória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de controle ajudam a preservar a influência de elementos distantes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179918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A94064-5A09-137F-AD04-ED01EC41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2090DA2-6C1B-5D67-8F23-38C463A9217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Desaparecimento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DB6169-DD3F-5409-63B9-14B470701E7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uma sequência longa, o gradiente pode se tornar insignificante, dificultando o aprendizado de padrões distantes.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rede deixa de ajustar os pesos de forma eficaz, ignorando informações importantes do início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compromete tarefas que exigem memória de longo prazo, como tradução ou previsão de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de controle ajudam a preservar a influência de elementos antigos durante o treinamento.</a:t>
            </a:r>
          </a:p>
        </p:txBody>
      </p:sp>
    </p:spTree>
    <p:extLst>
      <p:ext uri="{BB962C8B-B14F-4D97-AF65-F5344CB8AC3E}">
        <p14:creationId xmlns:p14="http://schemas.microsoft.com/office/powerpoint/2010/main" val="124040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1CBE-5B0B-8564-F0E0-C8FECEDC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8D15BB-0052-5477-BCB8-DC36D115E9F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Soluções para Desaparecimento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0BD7A0-29AB-1F9B-F583-92771753680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Uso de LSTM e GRU para preservar gradientes ao longo do tempo, evitando que se tornem insignificantes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arquiteturas mantêm a informação relevante por mais etapas, facilitando o aprendizado de dependências distantes.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Além disso, técnicas como normalização e escolha adequada de funções de ativação ajudam a reduzir o problema.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Ajustes nos </a:t>
            </a:r>
            <a:r>
              <a:rPr lang="pt-BR" sz="2800" dirty="0" err="1"/>
              <a:t>hiperparâmetros</a:t>
            </a:r>
            <a:r>
              <a:rPr lang="pt-BR" sz="2800" dirty="0"/>
              <a:t> também contribuem para manter os gradientes em níveis úteis durante o treinamento.</a:t>
            </a:r>
          </a:p>
        </p:txBody>
      </p:sp>
    </p:spTree>
    <p:extLst>
      <p:ext uri="{BB962C8B-B14F-4D97-AF65-F5344CB8AC3E}">
        <p14:creationId xmlns:p14="http://schemas.microsoft.com/office/powerpoint/2010/main" val="310622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CC69-C5BE-CCEA-9425-32AD51C1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7B3B71A-1EBF-0170-F91A-1E19927D1B9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Normalização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79D568-3D1D-6A5D-7C63-7B3F009E1F08}"/>
              </a:ext>
            </a:extLst>
          </p:cNvPr>
          <p:cNvSpPr txBox="1"/>
          <p:nvPr/>
        </p:nvSpPr>
        <p:spPr>
          <a:xfrm>
            <a:off x="512064" y="1304405"/>
            <a:ext cx="11137392" cy="448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Normalização é uma técnica que ajusta a distribuição das ativações, acelerando o treinamento e melhorando a estabilidade dos modelos.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Normalização em lote (</a:t>
            </a:r>
            <a:r>
              <a:rPr lang="pt-BR" sz="2800" i="1" dirty="0"/>
              <a:t>Batch </a:t>
            </a:r>
            <a:r>
              <a:rPr lang="pt-BR" sz="2800" i="1" dirty="0" err="1"/>
              <a:t>normalization</a:t>
            </a:r>
            <a:r>
              <a:rPr lang="pt-BR" sz="2800" dirty="0"/>
              <a:t>)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PT" sz="2800" dirty="0"/>
              <a:t>Feita em cada característica de um lote de treinamento</a:t>
            </a:r>
            <a:r>
              <a:rPr lang="pt-BR" sz="2800" dirty="0"/>
              <a:t>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Mais adequada para cenários com lotes maiores – CNN.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Normalização em camadas (</a:t>
            </a:r>
            <a:r>
              <a:rPr lang="pt-BR" sz="2800" i="1" dirty="0" err="1"/>
              <a:t>Layer</a:t>
            </a:r>
            <a:r>
              <a:rPr lang="pt-BR" sz="2800" i="1" dirty="0"/>
              <a:t> </a:t>
            </a:r>
            <a:r>
              <a:rPr lang="pt-BR" sz="2800" i="1" dirty="0" err="1"/>
              <a:t>normalization</a:t>
            </a:r>
            <a:r>
              <a:rPr lang="pt-BR" sz="2800" dirty="0"/>
              <a:t>)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Feita em todas as características de cada amostra de treinamento.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Mais adequada quando o tamanho da entrada variar – RNN.</a:t>
            </a:r>
          </a:p>
        </p:txBody>
      </p:sp>
    </p:spTree>
    <p:extLst>
      <p:ext uri="{BB962C8B-B14F-4D97-AF65-F5344CB8AC3E}">
        <p14:creationId xmlns:p14="http://schemas.microsoft.com/office/powerpoint/2010/main" val="138770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950F0-FA33-8BD0-C1F8-80A456F9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E3152C-BECF-8705-6C2C-20B9EDADBF4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Explosão de Gradientes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DB3685-820B-101D-8061-5381AB24044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Gradientes muito grandes causam instabilidade no treinamento, levando a oscilações ou divergência na função de perda.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problema pode surgir quando os erros são propagados por muitas etapas, acumulando valores excessivos.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rede pode aprender de forma errada ou não convergir, mesmo com dados adequados e arquitetura correta.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de controle, como o recorte (</a:t>
            </a:r>
            <a:r>
              <a:rPr lang="pt-BR" sz="2800" i="1" dirty="0"/>
              <a:t>clipping</a:t>
            </a:r>
            <a:r>
              <a:rPr lang="pt-BR" sz="2800" dirty="0"/>
              <a:t>) dos gradientes, ajudam a manter o processo de aprendizado mais estável.</a:t>
            </a:r>
          </a:p>
        </p:txBody>
      </p:sp>
    </p:spTree>
    <p:extLst>
      <p:ext uri="{BB962C8B-B14F-4D97-AF65-F5344CB8AC3E}">
        <p14:creationId xmlns:p14="http://schemas.microsoft.com/office/powerpoint/2010/main" val="403120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A340-F40A-D185-48D1-9D0FA688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C5A48C2-D201-2677-C516-D860392F9AD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Causas da Explosão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C39013-9696-E5A4-BB03-A68F377DAC5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Pesos mal inicializados ou sequências longas podem amplificar os gradientes, tornando o treinamento instável.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crescimento excessivo pode levar a atualizações abruptas nos pesos e dificultar a convergência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apresentar oscilações na perda ou aprender padrões incorretos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como normalização e recorte (</a:t>
            </a:r>
            <a:r>
              <a:rPr lang="pt-BR" sz="2800" i="1" dirty="0"/>
              <a:t>clipping</a:t>
            </a:r>
            <a:r>
              <a:rPr lang="pt-BR" sz="2800" dirty="0"/>
              <a:t>) de gradientes ajudam a manter o processo de aprendizado sob controle.</a:t>
            </a:r>
          </a:p>
        </p:txBody>
      </p:sp>
    </p:spTree>
    <p:extLst>
      <p:ext uri="{BB962C8B-B14F-4D97-AF65-F5344CB8AC3E}">
        <p14:creationId xmlns:p14="http://schemas.microsoft.com/office/powerpoint/2010/main" val="136326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82F44C-E17E-AB62-A1CA-6A6FEA58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EBEB51-653A-57A5-B289-29C1F057A83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Explosão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570A7F-5BF9-4FF1-CCDE-C24C453D326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gradiente cresce exponencialmente, levando a pesos enormes e dificultando o controle do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explosão pode causar oscilações na função de perda e impedir que o modelo aprenda corretamente.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com dados adequados, a rede pode se tornar instável e apresentar resultados inconsistentes.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de recorte e ajustes cuidadosos ajudam a conter esse crescimento e estabilizar o aprendizado.</a:t>
            </a:r>
          </a:p>
        </p:txBody>
      </p:sp>
    </p:spTree>
    <p:extLst>
      <p:ext uri="{BB962C8B-B14F-4D97-AF65-F5344CB8AC3E}">
        <p14:creationId xmlns:p14="http://schemas.microsoft.com/office/powerpoint/2010/main" val="121562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BDE8B-5669-6F68-6CE5-FF41EBFF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BA90B0A-ED89-9954-82F7-9A5906926FB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Soluções para Explosão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583AB8-C43E-54F1-0C46-15A58DF5525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Recorte (</a:t>
            </a:r>
            <a:r>
              <a:rPr lang="pt-BR" sz="2800" i="1" dirty="0"/>
              <a:t>clipping</a:t>
            </a:r>
            <a:r>
              <a:rPr lang="pt-BR" sz="2800" dirty="0"/>
              <a:t>) de gradientes limita o valor máximo dos gradientes, evitando que cresçam excessivamente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ajuda a manter a estabilidade do modelo, mesmo em sequências longas ou com pesos mal ajustados.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os gradientes sob controle, o processo de aprendizado se torna mais previsível e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Ajustes nos </a:t>
            </a:r>
            <a:r>
              <a:rPr lang="pt-BR" sz="2800" dirty="0" err="1"/>
              <a:t>hiperparâmetros</a:t>
            </a:r>
            <a:r>
              <a:rPr lang="pt-BR" sz="2800" dirty="0"/>
              <a:t> complementam essa abordagem, contribuindo para um treinamento mais robusto.</a:t>
            </a:r>
          </a:p>
        </p:txBody>
      </p:sp>
    </p:spTree>
    <p:extLst>
      <p:ext uri="{BB962C8B-B14F-4D97-AF65-F5344CB8AC3E}">
        <p14:creationId xmlns:p14="http://schemas.microsoft.com/office/powerpoint/2010/main" val="309224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5042-FDC5-EC0A-74D2-A739E980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031B70-2E8B-1F0F-913F-304F262E342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Recorte (</a:t>
            </a:r>
            <a:r>
              <a:rPr lang="pt-BR" sz="4500" b="1" i="1" dirty="0">
                <a:solidFill>
                  <a:schemeClr val="bg1"/>
                </a:solidFill>
              </a:rPr>
              <a:t>Clipping</a:t>
            </a:r>
            <a:r>
              <a:rPr lang="pt-BR" sz="4500" b="1" dirty="0">
                <a:solidFill>
                  <a:schemeClr val="bg1"/>
                </a:solidFill>
              </a:rPr>
              <a:t>) de Gradientes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C963EB-4722-C7C8-AB7D-A96B21A24C8C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Usado para prevenir a explosão de gradientes limitando o valor máximo dos gradientes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i="1" dirty="0"/>
              <a:t>Clipping</a:t>
            </a:r>
            <a:r>
              <a:rPr lang="pt-BR" sz="2800" dirty="0"/>
              <a:t> por valor 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PT" sz="2800" dirty="0"/>
              <a:t>cada componente do vetor de gradiente é limitado individualmente para ficar dentro de um intervalo definido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i="1" dirty="0"/>
              <a:t>Clipping</a:t>
            </a:r>
            <a:r>
              <a:rPr lang="pt-BR" sz="2800" dirty="0"/>
              <a:t> por norma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PT" sz="2800" dirty="0"/>
              <a:t>todo o vetor de gradiente é reduzido se sua norma (como a norma L2) exceder o limite, preservando sua direção, mas reduzindo sua magnitude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6361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4D1E-8628-2024-0115-191B64EEB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4857FD1-72E7-2216-052E-C7D923806EF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Soluções Alternativas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EEAD6B-F3C9-53B7-1117-9316DF4F5BAE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Inicializações cuidadosas ajudam a evitar problemas de desaparecimento e explosão, garantindo um ponto de partida mais estável para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Normalização em camadas contribui para a estabilização dos gradientes, tornando o processo de aprendizado mais consistente.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Usar a função de ativação </a:t>
            </a:r>
            <a:r>
              <a:rPr lang="pt-BR" sz="2800" b="1" i="1" dirty="0" err="1"/>
              <a:t>ReLU</a:t>
            </a:r>
            <a:r>
              <a:rPr lang="pt-BR" sz="2800" dirty="0"/>
              <a:t> pode atenuar o desaparecimento, embora não o elimine por completo em redes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Ferramentas de visualização permitem monitorar os gradientes durante o treinamento e identificar instabilidades precocemente.</a:t>
            </a:r>
          </a:p>
        </p:txBody>
      </p:sp>
    </p:spTree>
    <p:extLst>
      <p:ext uri="{BB962C8B-B14F-4D97-AF65-F5344CB8AC3E}">
        <p14:creationId xmlns:p14="http://schemas.microsoft.com/office/powerpoint/2010/main" val="473598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12BD-774F-B8AF-D59B-9FD7CAC5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0AA3F3-83F2-817D-5DAF-8288198AB23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Importância do Diagnóstico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5052A8-C505-4B01-BCB6-F40878A5027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Identificar esses problemas é essencial para treinar </a:t>
            </a:r>
            <a:r>
              <a:rPr lang="pt-BR" sz="2800" dirty="0" err="1"/>
              <a:t>RNNs</a:t>
            </a:r>
            <a:r>
              <a:rPr lang="pt-BR" sz="2800" dirty="0"/>
              <a:t> eficazes, pois gradientes instáveis comprometem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diagnóstico precoce permite ajustar parâmetros e aplicar técnicas que estabilizam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Monitorar os gradientes ajuda a entender o comportamento da rede e evitar falhas na convergência.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Ferramentas de visualização e testes controlados são úteis para detectar e corrigir instabilidades.</a:t>
            </a:r>
          </a:p>
        </p:txBody>
      </p:sp>
    </p:spTree>
    <p:extLst>
      <p:ext uri="{BB962C8B-B14F-4D97-AF65-F5344CB8AC3E}">
        <p14:creationId xmlns:p14="http://schemas.microsoft.com/office/powerpoint/2010/main" val="4076054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A684-5102-EF38-6C92-6B78D8DE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3793F0-C21B-30CE-1CDB-7B526B54146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185EC7-1FBA-1C9C-AD46-7E7B28CED8C7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Tanto o desaparecimento tanto a explosão de gradientes são desafios importantes no treinamento de </a:t>
            </a:r>
            <a:r>
              <a:rPr lang="pt-BR" sz="2800" dirty="0" err="1"/>
              <a:t>RNNs</a:t>
            </a:r>
            <a:r>
              <a:rPr lang="pt-BR" sz="2800" dirty="0"/>
              <a:t>, afetando diretamente a estabilidade do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problemas dificultam a captura de dependências temporais e podem comprometer a convergência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como normalização, recorte (</a:t>
            </a:r>
            <a:r>
              <a:rPr lang="pt-BR" sz="2800" i="1" dirty="0"/>
              <a:t>clipping</a:t>
            </a:r>
            <a:r>
              <a:rPr lang="pt-BR" sz="2800" dirty="0"/>
              <a:t>) e boas práticas de inicialização ajudam a manter os gradientes sob controle.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Compreender e mitigar esses efeitos é essencial para melhorar o desempenho e a confiabilidade das redes recorrentes.</a:t>
            </a:r>
          </a:p>
        </p:txBody>
      </p:sp>
    </p:spTree>
    <p:extLst>
      <p:ext uri="{BB962C8B-B14F-4D97-AF65-F5344CB8AC3E}">
        <p14:creationId xmlns:p14="http://schemas.microsoft.com/office/powerpoint/2010/main" val="2088972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DB1D52-54CB-47C4-A93A-2BBB90BE5603}"/>
</file>

<file path=customXml/itemProps2.xml><?xml version="1.0" encoding="utf-8"?>
<ds:datastoreItem xmlns:ds="http://schemas.openxmlformats.org/officeDocument/2006/customXml" ds:itemID="{AB7C3328-1CD0-48A6-B7E8-3941E8C12506}"/>
</file>

<file path=customXml/itemProps3.xml><?xml version="1.0" encoding="utf-8"?>
<ds:datastoreItem xmlns:ds="http://schemas.openxmlformats.org/officeDocument/2006/customXml" ds:itemID="{ABFA83EF-9FB2-4E96-953C-B3AC3CBF2E19}"/>
</file>

<file path=docProps/app.xml><?xml version="1.0" encoding="utf-8"?>
<Properties xmlns="http://schemas.openxmlformats.org/officeDocument/2006/extended-properties" xmlns:vt="http://schemas.openxmlformats.org/officeDocument/2006/docPropsVTypes">
  <TotalTime>11384</TotalTime>
  <Words>1280</Words>
  <Application>Microsoft Office PowerPoint</Application>
  <PresentationFormat>Widescreen</PresentationFormat>
  <Paragraphs>91</Paragraphs>
  <Slides>19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19</vt:i4>
      </vt:variant>
    </vt:vector>
  </HeadingPairs>
  <TitlesOfParts>
    <vt:vector size="30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106</cp:revision>
  <dcterms:created xsi:type="dcterms:W3CDTF">2020-01-14T17:16:45Z</dcterms:created>
  <dcterms:modified xsi:type="dcterms:W3CDTF">2025-12-09T21:14:17Z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