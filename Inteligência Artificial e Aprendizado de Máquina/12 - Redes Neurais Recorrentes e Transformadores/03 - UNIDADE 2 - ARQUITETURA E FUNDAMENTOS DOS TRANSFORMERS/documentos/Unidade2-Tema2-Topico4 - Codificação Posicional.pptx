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88" r:id="rId6"/>
    <p:sldMasterId id="2147483698" r:id="rId7"/>
    <p:sldMasterId id="2147483690" r:id="rId8"/>
  </p:sldMasterIdLst>
  <p:notesMasterIdLst>
    <p:notesMasterId r:id="rId29"/>
  </p:notesMasterIdLst>
  <p:handoutMasterIdLst>
    <p:handoutMasterId r:id="rId30"/>
  </p:handoutMasterIdLst>
  <p:sldIdLst>
    <p:sldId id="266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88" r:id="rId17"/>
    <p:sldId id="274" r:id="rId18"/>
    <p:sldId id="259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6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01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Codificação Posicional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(</a:t>
            </a:r>
            <a:r>
              <a:rPr lang="pt-BR" sz="2800" dirty="0" err="1"/>
              <a:t>Positional</a:t>
            </a:r>
            <a:r>
              <a:rPr lang="pt-BR" sz="2800" dirty="0"/>
              <a:t> </a:t>
            </a:r>
            <a:r>
              <a:rPr lang="pt-BR" sz="2800" dirty="0" err="1"/>
              <a:t>Encoding</a:t>
            </a:r>
            <a:r>
              <a:rPr lang="pt-BR" sz="2800" dirty="0"/>
              <a:t> – PE) permite que o modelo reconheça a ordem dos tokens, essencial para lidar com dados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Sem PE, os Transformers tratariam os elementos da entrada como independentes, ignorando a estrutura temporal.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 insere padrões senoidais ou aprendidos que representam posições, enriquecendo o contexto de cada token.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garante que o modelo compreenda relações entre palavras, mesmo sem conexões recorrentes..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E0576-8EE0-A2DA-3033-C9CD5AAA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9D5329A-BEFE-EF02-EAAA-AFE40B22A19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Motivação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0CC021-96D7-918B-5F66-73131DC036F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Como Transformers não têm recorrência, a Codificação Posicional é essencial para representar a ordem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insere informações de posição diretamente nos </a:t>
            </a:r>
            <a:r>
              <a:rPr lang="pt-BR" sz="2800" dirty="0" err="1"/>
              <a:t>embeddings</a:t>
            </a:r>
            <a:r>
              <a:rPr lang="pt-BR" sz="2800" dirty="0"/>
              <a:t>, permitindo que o modelo compreenda 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Sem esse mecanismo, o modelo trataria os tokens como independentes, ignorando relações temporais importantes.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 garante que o modelo reconheça padrões sequenciais, mesmo operando com atenção paralela e não recorrente.</a:t>
            </a:r>
          </a:p>
        </p:txBody>
      </p:sp>
    </p:spTree>
    <p:extLst>
      <p:ext uri="{BB962C8B-B14F-4D97-AF65-F5344CB8AC3E}">
        <p14:creationId xmlns:p14="http://schemas.microsoft.com/office/powerpoint/2010/main" val="195080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7AC0D-F24A-E7A5-9E08-72B0E8F1A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A089BE7-FA0F-465B-C129-54D1E639BE4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Sequência Sem Ordem Explícita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1499C8-2673-2196-9F40-CFC9CEEDDBB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Sem Codificação Posicional, os modelos não conseguem distinguir a posição relativa dos tokens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ausência de PE faz com que palavras com significados similares em posições distintas sejam tratadas da mesma forma.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 insere informações que ajudam o modelo a entender a estrutura e o contexto da frase.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codificação é essencial para que o </a:t>
            </a:r>
            <a:r>
              <a:rPr lang="pt-BR" sz="2800" dirty="0" err="1"/>
              <a:t>Transformer</a:t>
            </a:r>
            <a:r>
              <a:rPr lang="pt-BR" sz="2800" dirty="0"/>
              <a:t> preserve a ordem e o sentido dos dados sequenciais.</a:t>
            </a:r>
          </a:p>
        </p:txBody>
      </p:sp>
    </p:spTree>
    <p:extLst>
      <p:ext uri="{BB962C8B-B14F-4D97-AF65-F5344CB8AC3E}">
        <p14:creationId xmlns:p14="http://schemas.microsoft.com/office/powerpoint/2010/main" val="2258617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C507-CF5E-A590-DDB3-67FA8A16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79ADAD-F582-BEDA-9F67-8BC0CF0C49C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Posicional: Conceito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8C04C8-9FD7-D991-2D72-AE5E266B76D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insere dados de posição nos </a:t>
            </a:r>
            <a:r>
              <a:rPr lang="pt-BR" sz="2800" dirty="0" err="1"/>
              <a:t>embeddings</a:t>
            </a:r>
            <a:r>
              <a:rPr lang="pt-BR" sz="2800" dirty="0"/>
              <a:t>, permitindo que o modelo reconheça a ordem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mecanismo complementa os </a:t>
            </a:r>
            <a:r>
              <a:rPr lang="pt-BR" sz="2800" dirty="0" err="1"/>
              <a:t>embeddings</a:t>
            </a:r>
            <a:r>
              <a:rPr lang="pt-BR" sz="2800" dirty="0"/>
              <a:t>, sem alterar sua dimensão, mantendo a estrutura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 pode ser baseada em funções senoidais fixas ou aprendida durante o treinamento, dependendo da arquitetura.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a PE, o </a:t>
            </a:r>
            <a:r>
              <a:rPr lang="pt-BR" sz="2800" dirty="0" err="1"/>
              <a:t>Transformer</a:t>
            </a:r>
            <a:r>
              <a:rPr lang="pt-BR" sz="2800" dirty="0"/>
              <a:t> consegue capturar relações sequenciais mesmo sem mecanismos recorrentes.</a:t>
            </a:r>
          </a:p>
        </p:txBody>
      </p:sp>
    </p:spTree>
    <p:extLst>
      <p:ext uri="{BB962C8B-B14F-4D97-AF65-F5344CB8AC3E}">
        <p14:creationId xmlns:p14="http://schemas.microsoft.com/office/powerpoint/2010/main" val="1672442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B611-DF89-1E4C-516C-B71A0EF3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F4A472C-2647-43E9-1367-57506CDEDA6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Tipos de Codificação Posicional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F941A31-10B9-7183-6CCF-DFA24237180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pode ser senoidal, com padrões fixos que representam posições por funções matemáticas.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pode ser aprendida, permitindo que o modelo ajuste os valores de posição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versão senoidal é determinística e independe dos dados, sendo usada em modelos como o </a:t>
            </a:r>
            <a:r>
              <a:rPr lang="pt-BR" sz="2800" dirty="0" err="1"/>
              <a:t>Transformer</a:t>
            </a:r>
            <a:r>
              <a:rPr lang="pt-BR" sz="2800" dirty="0"/>
              <a:t> original.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a codificação aprendida é flexível e pode capturar nuances específicas da tarefa ou do corpus utilizado.</a:t>
            </a:r>
          </a:p>
        </p:txBody>
      </p:sp>
    </p:spTree>
    <p:extLst>
      <p:ext uri="{BB962C8B-B14F-4D97-AF65-F5344CB8AC3E}">
        <p14:creationId xmlns:p14="http://schemas.microsoft.com/office/powerpoint/2010/main" val="1296145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280D-B83B-8F88-02D2-38FAE4FF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43D72D3-F7CB-A6D1-24D1-5EE2E0F7A01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</a:t>
            </a:r>
            <a:r>
              <a:rPr lang="pt-BR" sz="4500" b="1" dirty="0" err="1">
                <a:solidFill>
                  <a:schemeClr val="bg1"/>
                </a:solidFill>
              </a:rPr>
              <a:t>Seniodal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3C85B3-8856-E8D3-8496-6CE18A5E882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senoidal utiliza funções seno e cosseno para representar posições de forma contínua.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dimensão do </a:t>
            </a:r>
            <a:r>
              <a:rPr lang="pt-BR" sz="2800" dirty="0" err="1"/>
              <a:t>embedding</a:t>
            </a:r>
            <a:r>
              <a:rPr lang="pt-BR" sz="2800" dirty="0"/>
              <a:t> recebe uma frequência diferente, criando padrões únicos para cada posição.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é fixa e não depende dos dados, permitindo que o modelo generalize para sequências maiores.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senoidal facilita o aprendizado de relações posicionais sem exigir parâmetros treináveis.</a:t>
            </a:r>
          </a:p>
        </p:txBody>
      </p:sp>
    </p:spTree>
    <p:extLst>
      <p:ext uri="{BB962C8B-B14F-4D97-AF65-F5344CB8AC3E}">
        <p14:creationId xmlns:p14="http://schemas.microsoft.com/office/powerpoint/2010/main" val="337777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6D57-AC2B-6E45-5533-637D5E1AA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2B9CDC7-93CC-A346-6B39-14C1445D31A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Fórmulas da Codificação Senoidal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EBF2E0D-208E-C077-B82F-74194624772F}"/>
                  </a:ext>
                </a:extLst>
              </p:cNvPr>
              <p:cNvSpPr txBox="1"/>
              <p:nvPr/>
            </p:nvSpPr>
            <p:spPr>
              <a:xfrm>
                <a:off x="512064" y="1304405"/>
                <a:ext cx="11137392" cy="425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 Codificação Posicional senoidal usa funções seno e cosseno para representar posições de forma contínua e única.</a:t>
                </a:r>
              </a:p>
              <a:p>
                <a:pPr algn="ctr">
                  <a:spcBef>
                    <a:spcPts val="1200"/>
                  </a:spcBef>
                  <a:spcAft>
                    <a:spcPts val="2400"/>
                  </a:spcAft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𝑝𝑜𝑠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𝑝𝑜𝑠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10000</m:t>
                                    </m:r>
                                  </m:e>
                                  <m:sup>
                                    <m:f>
                                      <m:fPr>
                                        <m:type m:val="skw"/>
                                        <m:ctrlPr>
                                          <a:rPr lang="pt-BR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pt-BR" sz="2800" b="0" i="1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pt-BR" sz="2800" dirty="0"/>
                  <a:t>        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 panose="02040503050406030204" pitchFamily="18" charset="0"/>
                      </a:rPr>
                      <m:t>𝑃𝐸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𝑝𝑜𝑠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pt-BR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𝑝𝑜𝑠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2800" i="1">
                                        <a:latin typeface="Cambria Math" panose="02040503050406030204" pitchFamily="18" charset="0"/>
                                      </a:rPr>
                                      <m:t>10000</m:t>
                                    </m:r>
                                  </m:e>
                                  <m:sup>
                                    <m:f>
                                      <m:fPr>
                                        <m:type m:val="skw"/>
                                        <m:ctrlP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num>
                                      <m:den>
                                        <m:r>
                                          <a:rPr lang="pt-BR" sz="2800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den>
                                    </m:f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pt-BR" sz="2400" dirty="0"/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As fórmulas aplicam diferentes frequências para cada dimensão, garantindo diversidade nos padrões gerados.</a:t>
                </a:r>
              </a:p>
              <a:p>
                <a:pPr marL="342900" indent="-342900">
                  <a:lnSpc>
                    <a:spcPts val="34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800" dirty="0"/>
                  <a:t>Essa abordagem não requer treinamento e permite que o modelo generalize para sequências maiores.</a:t>
                </a: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EBF2E0D-208E-C077-B82F-741946247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" y="1304405"/>
                <a:ext cx="11137392" cy="4252254"/>
              </a:xfrm>
              <a:prstGeom prst="rect">
                <a:avLst/>
              </a:prstGeom>
              <a:blipFill>
                <a:blip r:embed="rId2"/>
                <a:stretch>
                  <a:fillRect l="-930" t="-1433" b="-30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094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da Codificação Senoidal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AL-HAMMURI, Khalid et al. Vision transformer architecture and applications in digital health: a tutorial and survey, 2023.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Gráfico, Diagrama&#10;&#10;O conteúdo gerado por IA pode estar incorreto.">
            <a:extLst>
              <a:ext uri="{FF2B5EF4-FFF2-40B4-BE49-F238E27FC236}">
                <a16:creationId xmlns:a16="http://schemas.microsoft.com/office/drawing/2014/main" id="{7989E6DA-1915-DE04-8BA5-A75C65D1E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7" r="15207" b="40724"/>
          <a:stretch>
            <a:fillRect/>
          </a:stretch>
        </p:blipFill>
        <p:spPr>
          <a:xfrm>
            <a:off x="1070383" y="1325894"/>
            <a:ext cx="4795158" cy="3095355"/>
          </a:xfrm>
          <a:prstGeom prst="rect">
            <a:avLst/>
          </a:prstGeom>
        </p:spPr>
      </p:pic>
      <p:pic>
        <p:nvPicPr>
          <p:cNvPr id="9" name="Imagem 8" descr="Gráfico, Diagrama&#10;&#10;O conteúdo gerado por IA pode estar incorreto.">
            <a:extLst>
              <a:ext uri="{FF2B5EF4-FFF2-40B4-BE49-F238E27FC236}">
                <a16:creationId xmlns:a16="http://schemas.microsoft.com/office/drawing/2014/main" id="{46F9DE04-D295-BEFA-A2B5-413E9A616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5" t="58230" r="13188"/>
          <a:stretch>
            <a:fillRect/>
          </a:stretch>
        </p:blipFill>
        <p:spPr>
          <a:xfrm>
            <a:off x="5723130" y="3267308"/>
            <a:ext cx="5595358" cy="2698594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86631971-7F4A-096C-0A12-A13DC91206DD}"/>
              </a:ext>
            </a:extLst>
          </p:cNvPr>
          <p:cNvCxnSpPr>
            <a:cxnSpLocks/>
          </p:cNvCxnSpPr>
          <p:nvPr/>
        </p:nvCxnSpPr>
        <p:spPr>
          <a:xfrm flipV="1">
            <a:off x="6690732" y="2754351"/>
            <a:ext cx="156117" cy="9367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3668BD33-2938-2E10-7281-BCF9144CD73C}"/>
              </a:ext>
            </a:extLst>
          </p:cNvPr>
          <p:cNvCxnSpPr>
            <a:cxnSpLocks/>
          </p:cNvCxnSpPr>
          <p:nvPr/>
        </p:nvCxnSpPr>
        <p:spPr>
          <a:xfrm flipH="1" flipV="1">
            <a:off x="7002966" y="2754351"/>
            <a:ext cx="189571" cy="9367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76CFF0-7A3F-0436-9DD2-D8CC7934E7C7}"/>
              </a:ext>
            </a:extLst>
          </p:cNvPr>
          <p:cNvSpPr txBox="1"/>
          <p:nvPr/>
        </p:nvSpPr>
        <p:spPr>
          <a:xfrm>
            <a:off x="6597222" y="2410665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0,56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48E6752D-F667-F621-B0E5-C714E46647D9}"/>
              </a:ext>
            </a:extLst>
          </p:cNvPr>
          <p:cNvCxnSpPr>
            <a:cxnSpLocks/>
          </p:cNvCxnSpPr>
          <p:nvPr/>
        </p:nvCxnSpPr>
        <p:spPr>
          <a:xfrm flipV="1">
            <a:off x="8140389" y="2754351"/>
            <a:ext cx="156117" cy="9367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08ECA3FB-30CE-33EA-AA8D-D9D51D76CBFF}"/>
              </a:ext>
            </a:extLst>
          </p:cNvPr>
          <p:cNvCxnSpPr>
            <a:cxnSpLocks/>
          </p:cNvCxnSpPr>
          <p:nvPr/>
        </p:nvCxnSpPr>
        <p:spPr>
          <a:xfrm flipH="1" flipV="1">
            <a:off x="8452623" y="2754351"/>
            <a:ext cx="189571" cy="9367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5001EE8-5DC2-AF93-78A6-9B8AC8B29E81}"/>
              </a:ext>
            </a:extLst>
          </p:cNvPr>
          <p:cNvSpPr txBox="1"/>
          <p:nvPr/>
        </p:nvSpPr>
        <p:spPr>
          <a:xfrm>
            <a:off x="8046879" y="2410665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0,89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CCE1E423-C4BF-1431-0E19-CEDB5581B8CE}"/>
              </a:ext>
            </a:extLst>
          </p:cNvPr>
          <p:cNvCxnSpPr>
            <a:cxnSpLocks/>
          </p:cNvCxnSpPr>
          <p:nvPr/>
        </p:nvCxnSpPr>
        <p:spPr>
          <a:xfrm flipV="1">
            <a:off x="9478535" y="2742534"/>
            <a:ext cx="156117" cy="9367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8548BEC4-E854-5E20-2659-05A5EBE583A8}"/>
              </a:ext>
            </a:extLst>
          </p:cNvPr>
          <p:cNvCxnSpPr>
            <a:cxnSpLocks/>
          </p:cNvCxnSpPr>
          <p:nvPr/>
        </p:nvCxnSpPr>
        <p:spPr>
          <a:xfrm flipH="1" flipV="1">
            <a:off x="9790769" y="2742534"/>
            <a:ext cx="189571" cy="9367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9588CB4-E585-DBD2-45D1-12F07A7ECA14}"/>
              </a:ext>
            </a:extLst>
          </p:cNvPr>
          <p:cNvSpPr txBox="1"/>
          <p:nvPr/>
        </p:nvSpPr>
        <p:spPr>
          <a:xfrm>
            <a:off x="9385025" y="2398848"/>
            <a:ext cx="639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/>
              <a:t>0,76</a:t>
            </a:r>
          </a:p>
        </p:txBody>
      </p:sp>
    </p:spTree>
    <p:extLst>
      <p:ext uri="{BB962C8B-B14F-4D97-AF65-F5344CB8AC3E}">
        <p14:creationId xmlns:p14="http://schemas.microsoft.com/office/powerpoint/2010/main" val="256579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13D09-E4D7-4F35-D485-CC4D0AADB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A8AE3AB-07F9-2575-3E2A-E216060AD2F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Aprendida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C26C66-5900-2E2F-C34D-0DBE22E2752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Na Codificação Posicional aprendida, os valores de posição são ajustados diretamente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permite que o modelo capture padrões posicionais específicos da tarefa ou do corpus.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Diferente da versão senoidal, a PE aprendida é parametrizada e pode se adaptar melhor a contextos variados.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Embora mais flexível, exige mais dados e cuidado para evitar </a:t>
            </a:r>
            <a:r>
              <a:rPr lang="pt-BR" sz="2800" dirty="0" err="1"/>
              <a:t>sobreajuste</a:t>
            </a:r>
            <a:r>
              <a:rPr lang="pt-BR" sz="2800" dirty="0"/>
              <a:t> em sequências curtas.</a:t>
            </a:r>
          </a:p>
        </p:txBody>
      </p:sp>
    </p:spTree>
    <p:extLst>
      <p:ext uri="{BB962C8B-B14F-4D97-AF65-F5344CB8AC3E}">
        <p14:creationId xmlns:p14="http://schemas.microsoft.com/office/powerpoint/2010/main" val="2773733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992421"/>
              </p:ext>
            </p:extLst>
          </p:nvPr>
        </p:nvGraphicFramePr>
        <p:xfrm>
          <a:off x="1429215" y="1250544"/>
          <a:ext cx="9333570" cy="4236189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408662">
                  <a:extLst>
                    <a:ext uri="{9D8B030D-6E8A-4147-A177-3AD203B41FA5}">
                      <a16:colId xmlns:a16="http://schemas.microsoft.com/office/drawing/2014/main" val="3059415648"/>
                    </a:ext>
                  </a:extLst>
                </a:gridCol>
                <a:gridCol w="3462454">
                  <a:extLst>
                    <a:ext uri="{9D8B030D-6E8A-4147-A177-3AD203B41FA5}">
                      <a16:colId xmlns:a16="http://schemas.microsoft.com/office/drawing/2014/main" val="3849346587"/>
                    </a:ext>
                  </a:extLst>
                </a:gridCol>
                <a:gridCol w="3462454">
                  <a:extLst>
                    <a:ext uri="{9D8B030D-6E8A-4147-A177-3AD203B41FA5}">
                      <a16:colId xmlns:a16="http://schemas.microsoft.com/office/drawing/2014/main" val="2901214388"/>
                    </a:ext>
                  </a:extLst>
                </a:gridCol>
              </a:tblGrid>
              <a:tr h="636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Aspecto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Codificação Senoidal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Codificação Aprendida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extLst>
                  <a:ext uri="{0D108BD9-81ED-4DB2-BD59-A6C34878D82A}">
                    <a16:rowId xmlns:a16="http://schemas.microsoft.com/office/drawing/2014/main" val="32426272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Origem dos valores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Baseada em funções seno e cosseno com frequências fixas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Valores ajustados durante o treinamento do modelo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42481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Generalização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Generaliza bem para sequências maiores, mesmo fora do treino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Pode ter dificuldade com posições não vistas durante o treino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42249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Flexibilidade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Fixa e independente dos dados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Adaptável à tarefa e ao corpus específico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73441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Parâmetros treináveis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Não possui parâmetros treináveis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Possui parâmetros que são aprendidos com os dados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784606"/>
                  </a:ext>
                </a:extLst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645459" y="436914"/>
            <a:ext cx="108786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rgbClr val="01BDC4"/>
                </a:solidFill>
              </a:rPr>
              <a:t>QUADRO COMPARATIVO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56665" y="5515533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i="1" dirty="0">
                <a:solidFill>
                  <a:schemeClr val="bg1">
                    <a:lumMod val="50000"/>
                  </a:schemeClr>
                </a:solidFill>
              </a:rPr>
              <a:t>FONTE: Elaborada pelo autor</a:t>
            </a:r>
          </a:p>
        </p:txBody>
      </p:sp>
    </p:spTree>
    <p:extLst>
      <p:ext uri="{BB962C8B-B14F-4D97-AF65-F5344CB8AC3E}">
        <p14:creationId xmlns:p14="http://schemas.microsoft.com/office/powerpoint/2010/main" val="258817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7C1FA-5880-2932-AE3D-3CCE904BA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67095AC-62C2-D959-F491-F6A04976789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Uso de Codificação Posicional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4F2B220-E2CC-D71F-6193-343A32E696E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é somada à codificação de entrada antes de serem processados pelo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soma preserva a dimensão das codificações e insere informações sobre a posição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passa a considerar tanto o conteúdo quanto a localização de cada palavra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aplicação direta torna a PE eficiente e compatível com o fluxo de dados do </a:t>
            </a:r>
            <a:r>
              <a:rPr lang="pt-BR" sz="2800" dirty="0" err="1"/>
              <a:t>Transformer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9494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EAA8-24F4-5889-CBC8-52C7C4202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E9FF26-D65C-977B-0807-AC2E6DBDCDE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Impacto na Atenção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3BCA15C-3B97-0819-8ACB-DD3668DB581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permite que o mecanismo de atenção considere a posição dos tokens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Sem PE, o modelo não teria como diferenciar tokens com base em sua localização relativa.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 insere contexto posicional nas codificações, influenciando diretamente os pesos de atenção.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garante que o modelo foque em partes relevantes da entrada com base na estrutura da frase.</a:t>
            </a:r>
          </a:p>
        </p:txBody>
      </p:sp>
    </p:spTree>
    <p:extLst>
      <p:ext uri="{BB962C8B-B14F-4D97-AF65-F5344CB8AC3E}">
        <p14:creationId xmlns:p14="http://schemas.microsoft.com/office/powerpoint/2010/main" val="1859454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E33E-50D7-2110-F257-B5D9F09FE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DF2BE5E-0B66-91ED-BFA3-693A20D4FF0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Posicional em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76157C-94F0-8E0A-A907-49AA80C2DBB8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BERT utiliza Codificação Posicional aprendida para representar a ordem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valores são ajustados durante o treinamento, permitindo adaptação ao contexto da tarefa.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 aprendida em BERT é incorporada aos </a:t>
            </a:r>
            <a:r>
              <a:rPr lang="pt-BR" sz="2800" dirty="0" err="1"/>
              <a:t>embeddings</a:t>
            </a:r>
            <a:r>
              <a:rPr lang="pt-BR" sz="2800" dirty="0"/>
              <a:t> antes do processamento pelo </a:t>
            </a:r>
            <a:r>
              <a:rPr lang="pt-BR" sz="2800" dirty="0" err="1"/>
              <a:t>encoder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oferece flexibilidade, mas depende da qualidade e diversidade dos dados de treino.</a:t>
            </a:r>
          </a:p>
        </p:txBody>
      </p:sp>
    </p:spTree>
    <p:extLst>
      <p:ext uri="{BB962C8B-B14F-4D97-AF65-F5344CB8AC3E}">
        <p14:creationId xmlns:p14="http://schemas.microsoft.com/office/powerpoint/2010/main" val="2826973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2797-EB23-1CB3-D87D-6ED9AA3C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1C176ED-DF08-FA16-0BC7-FD432071454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Posicional em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F449436-79D6-FFFF-F01D-F4DAEFB6515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Assim como o BERT, o GPT também utiliza Codificação Posicional aprendida para representar a ordem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valores de posição são somados aos </a:t>
            </a:r>
            <a:r>
              <a:rPr lang="pt-BR" sz="2800" dirty="0" err="1"/>
              <a:t>embeddings</a:t>
            </a:r>
            <a:r>
              <a:rPr lang="pt-BR" sz="2800" dirty="0"/>
              <a:t> antes de serem processados pelo decodificador.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permite que o modelo capture dependências sequenciais de forma flexível e contextualizada.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 aprendida no GPT é essencial para gerar texto coerente, respeitando a estrutura da entrada.</a:t>
            </a:r>
          </a:p>
        </p:txBody>
      </p:sp>
    </p:spTree>
    <p:extLst>
      <p:ext uri="{BB962C8B-B14F-4D97-AF65-F5344CB8AC3E}">
        <p14:creationId xmlns:p14="http://schemas.microsoft.com/office/powerpoint/2010/main" val="3063075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FD6D1-C767-20EA-A99A-448169CB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D792D3F-6E50-545C-11E3-ED25A316BD36}"/>
              </a:ext>
            </a:extLst>
          </p:cNvPr>
          <p:cNvSpPr txBox="1"/>
          <p:nvPr/>
        </p:nvSpPr>
        <p:spPr>
          <a:xfrm>
            <a:off x="443210" y="145344"/>
            <a:ext cx="114439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Posicional em Transformers Visuais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60B260-1FC6-42D4-4C7A-26B197A39ED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Transformers Visuais, a Codificação Posicional é usada para indicar a localização dos pedaços da imagem.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como o </a:t>
            </a:r>
            <a:r>
              <a:rPr lang="pt-BR" sz="2800" dirty="0" err="1"/>
              <a:t>ViT</a:t>
            </a:r>
            <a:r>
              <a:rPr lang="pt-BR" sz="2800" dirty="0"/>
              <a:t> somam a PE às codificações dos pedaços antes do processamento pelo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codificação permite que o modelo preserve a estrutura espacial da imagem, essencial para tarefas visuais.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PE garante que relações entre regiões da imagem sejam consideradas na atenção, mesmo sem convoluções.</a:t>
            </a:r>
          </a:p>
        </p:txBody>
      </p:sp>
    </p:spTree>
    <p:extLst>
      <p:ext uri="{BB962C8B-B14F-4D97-AF65-F5344CB8AC3E}">
        <p14:creationId xmlns:p14="http://schemas.microsoft.com/office/powerpoint/2010/main" val="938191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BDFFF-AD9B-D36F-ED7F-67130CAE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553781-0C91-E195-5961-955BA6608A4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Limitações da Codificação Posicional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EA2F2F-1863-D286-7920-82B4BA07E86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pode não representar adequadamente relações complexas entre posições distantes.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tarefas que exigem compreensão profunda da estrutura, a PE pode ser insuficiente sem apoio de outras técnicas.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podem ter dificuldade em capturar dependências não lineares apenas com codificação posicional.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Pesquisas recentes exploram alternativas ou complementos à PE para melhorar o desempenho em tais cenários.</a:t>
            </a:r>
          </a:p>
        </p:txBody>
      </p:sp>
    </p:spTree>
    <p:extLst>
      <p:ext uri="{BB962C8B-B14F-4D97-AF65-F5344CB8AC3E}">
        <p14:creationId xmlns:p14="http://schemas.microsoft.com/office/powerpoint/2010/main" val="4032883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53073-3B85-5C5A-AC2E-4EB46009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B30D8B6-A19B-3CA6-4FC9-7C1E4670FFF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Alternativas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045CAB-ECE1-0A23-49A4-75D14CE4CD04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Algumas arquiteturas substituem a Codificação Posicional por técnicas como Codificação Posicional Rotacional (</a:t>
            </a:r>
            <a:r>
              <a:rPr lang="pt-BR" sz="2800" dirty="0" err="1"/>
              <a:t>RoPE</a:t>
            </a:r>
            <a:r>
              <a:rPr lang="pt-BR" sz="2800" dirty="0"/>
              <a:t>) e Codificação Posicional Relativa.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Rotacional aplica rotação nas codificações, preservando relações angulares entre posições.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Relativa considera a distância entre tokens, oferecendo maior flexibilidade em tarefas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alternativas buscam superar limitações da PE tradicional, especialmente em contextos mais complexos.</a:t>
            </a:r>
          </a:p>
        </p:txBody>
      </p:sp>
    </p:spTree>
    <p:extLst>
      <p:ext uri="{BB962C8B-B14F-4D97-AF65-F5344CB8AC3E}">
        <p14:creationId xmlns:p14="http://schemas.microsoft.com/office/powerpoint/2010/main" val="3283401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5FC3C-60A0-037C-9908-D7E899C0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00F1CE-EB5F-D8F4-1B1C-AF13465E371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86F348-5A01-C139-5112-2AC28D1B6C6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insere informações de ordem nas codificações, permitindo que o modelo entenda sequências.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ser senoidal, com padrões fixos, ou aprendida, adaptando-se aos dados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aplicada antes do modelo e influencia diretamente o mecanismo de atenção.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Alternativas como Codificação Posicional Rotacional (</a:t>
            </a:r>
            <a:r>
              <a:rPr lang="pt-BR" sz="2800" dirty="0" err="1"/>
              <a:t>RoPE</a:t>
            </a:r>
            <a:r>
              <a:rPr lang="pt-BR" sz="2800" dirty="0"/>
              <a:t>) e Relativa buscam superar limitações da abordagem tradicional.</a:t>
            </a:r>
          </a:p>
        </p:txBody>
      </p:sp>
    </p:spTree>
    <p:extLst>
      <p:ext uri="{BB962C8B-B14F-4D97-AF65-F5344CB8AC3E}">
        <p14:creationId xmlns:p14="http://schemas.microsoft.com/office/powerpoint/2010/main" val="528800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11397</TotalTime>
  <Words>1242</Words>
  <Application>Microsoft Office PowerPoint</Application>
  <PresentationFormat>Widescreen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20</vt:i4>
      </vt:variant>
    </vt:vector>
  </HeadingPairs>
  <TitlesOfParts>
    <vt:vector size="33" baseType="lpstr">
      <vt:lpstr>Arial</vt:lpstr>
      <vt:lpstr>Calibri</vt:lpstr>
      <vt:lpstr>Cambria Math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5 - Slide de Tabela ou imagem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100</cp:revision>
  <dcterms:created xsi:type="dcterms:W3CDTF">2020-01-14T17:16:45Z</dcterms:created>
  <dcterms:modified xsi:type="dcterms:W3CDTF">2025-11-28T19:15:38Z</dcterms:modified>
</cp:coreProperties>
</file>