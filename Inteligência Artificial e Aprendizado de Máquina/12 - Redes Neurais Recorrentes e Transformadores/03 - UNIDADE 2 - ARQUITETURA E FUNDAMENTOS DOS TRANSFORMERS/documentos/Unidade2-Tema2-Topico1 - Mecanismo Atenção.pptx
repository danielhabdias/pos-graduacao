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  <p:sldMasterId id="2147483709" r:id="rId8"/>
  </p:sldMasterIdLst>
  <p:notesMasterIdLst>
    <p:notesMasterId r:id="rId22"/>
  </p:notesMasterIdLst>
  <p:handoutMasterIdLst>
    <p:handoutMasterId r:id="rId23"/>
  </p:handoutMasterIdLst>
  <p:sldIdLst>
    <p:sldId id="266" r:id="rId9"/>
    <p:sldId id="260" r:id="rId10"/>
    <p:sldId id="267" r:id="rId11"/>
    <p:sldId id="288" r:id="rId12"/>
    <p:sldId id="289" r:id="rId13"/>
    <p:sldId id="268" r:id="rId14"/>
    <p:sldId id="269" r:id="rId15"/>
    <p:sldId id="276" r:id="rId16"/>
    <p:sldId id="278" r:id="rId17"/>
    <p:sldId id="282" r:id="rId18"/>
    <p:sldId id="283" r:id="rId19"/>
    <p:sldId id="285" r:id="rId20"/>
    <p:sldId id="261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96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6151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Mecanismo de Atenção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 ao Mecanismo de Atenção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mecanismo de atenção ajuda os modelos a identificar partes mais relevantes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permite que o processamento seja mais eficiente ao priorizar informações úteis.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precisão aumenta quando o modelo foca em elementos cruciais dos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foco seletivo também facilita a interpretação dos resultados gerados.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437C4-ED56-43B2-EB6E-2DD3312BB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D8A5C95-11BC-F82A-1EBA-24BC3B87417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Motivação para Atenção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47A95B5-7F75-B56B-C91E-C0B65812D318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tarefas sequenciais, algumas partes da entrada têm mais relevância que outras.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aprende a focar seletivamente em informações úteis para a tarefa.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melhora a eficiência e a qualidade da representação.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permite lidar melhor com dependências de longo prazo nos dados.</a:t>
            </a:r>
          </a:p>
        </p:txBody>
      </p:sp>
    </p:spTree>
    <p:extLst>
      <p:ext uri="{BB962C8B-B14F-4D97-AF65-F5344CB8AC3E}">
        <p14:creationId xmlns:p14="http://schemas.microsoft.com/office/powerpoint/2010/main" val="1148547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2DB7-E504-CC2E-FE15-0E94FA062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78C30DD-8ED8-7BF4-4795-CB502786530C}"/>
              </a:ext>
            </a:extLst>
          </p:cNvPr>
          <p:cNvSpPr txBox="1"/>
          <p:nvPr/>
        </p:nvSpPr>
        <p:spPr>
          <a:xfrm>
            <a:off x="645459" y="603612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Importância de Atenção em Sequências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3B130A-10EF-CA41-56A0-516EAB92A194}"/>
              </a:ext>
            </a:extLst>
          </p:cNvPr>
          <p:cNvSpPr txBox="1"/>
          <p:nvPr/>
        </p:nvSpPr>
        <p:spPr>
          <a:xfrm>
            <a:off x="645459" y="5535268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Elaborada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pelo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autor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515BFB0-42B8-4411-D4AF-8926CEA2213F}"/>
              </a:ext>
            </a:extLst>
          </p:cNvPr>
          <p:cNvSpPr txBox="1"/>
          <p:nvPr/>
        </p:nvSpPr>
        <p:spPr>
          <a:xfrm>
            <a:off x="2071483" y="3451562"/>
            <a:ext cx="80266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A mulher atravessou a rua; ela estava atrasada.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128995F-6CB8-EB1B-8AAC-21DE3AE4EB79}"/>
              </a:ext>
            </a:extLst>
          </p:cNvPr>
          <p:cNvSpPr/>
          <p:nvPr/>
        </p:nvSpPr>
        <p:spPr>
          <a:xfrm>
            <a:off x="6617096" y="3451562"/>
            <a:ext cx="613317" cy="584775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1C211F0-F5D2-F702-4F01-311E967DF147}"/>
              </a:ext>
            </a:extLst>
          </p:cNvPr>
          <p:cNvSpPr/>
          <p:nvPr/>
        </p:nvSpPr>
        <p:spPr>
          <a:xfrm>
            <a:off x="7230413" y="2933916"/>
            <a:ext cx="44595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pt-BR" sz="4400" b="1" cap="none" spc="0" dirty="0">
                <a:ln/>
                <a:solidFill>
                  <a:srgbClr val="FF0000"/>
                </a:solidFill>
                <a:effectLst/>
              </a:rPr>
              <a:t>?</a:t>
            </a:r>
          </a:p>
        </p:txBody>
      </p:sp>
      <p:sp>
        <p:nvSpPr>
          <p:cNvPr id="19" name="Seta: Curva para Cima 18">
            <a:extLst>
              <a:ext uri="{FF2B5EF4-FFF2-40B4-BE49-F238E27FC236}">
                <a16:creationId xmlns:a16="http://schemas.microsoft.com/office/drawing/2014/main" id="{D15ADA2A-F6EB-773C-D981-7C7ECD0AC292}"/>
              </a:ext>
            </a:extLst>
          </p:cNvPr>
          <p:cNvSpPr/>
          <p:nvPr/>
        </p:nvSpPr>
        <p:spPr>
          <a:xfrm flipH="1">
            <a:off x="2803377" y="4117516"/>
            <a:ext cx="4237465" cy="1003610"/>
          </a:xfrm>
          <a:prstGeom prst="curvedUpArrow">
            <a:avLst>
              <a:gd name="adj1" fmla="val 25000"/>
              <a:gd name="adj2" fmla="val 45603"/>
              <a:gd name="adj3" fmla="val 25000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0" name="Seta: Curva para Cima 19">
            <a:extLst>
              <a:ext uri="{FF2B5EF4-FFF2-40B4-BE49-F238E27FC236}">
                <a16:creationId xmlns:a16="http://schemas.microsoft.com/office/drawing/2014/main" id="{4E12E37C-150C-CAEF-3828-68F5CFAB51A9}"/>
              </a:ext>
            </a:extLst>
          </p:cNvPr>
          <p:cNvSpPr/>
          <p:nvPr/>
        </p:nvSpPr>
        <p:spPr>
          <a:xfrm flipH="1" flipV="1">
            <a:off x="5992629" y="2534332"/>
            <a:ext cx="1037062" cy="851210"/>
          </a:xfrm>
          <a:prstGeom prst="curvedUpArrow">
            <a:avLst>
              <a:gd name="adj1" fmla="val 25000"/>
              <a:gd name="adj2" fmla="val 45603"/>
              <a:gd name="adj3" fmla="val 25000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2" name="Seta: Curva para Cima 21">
            <a:extLst>
              <a:ext uri="{FF2B5EF4-FFF2-40B4-BE49-F238E27FC236}">
                <a16:creationId xmlns:a16="http://schemas.microsoft.com/office/drawing/2014/main" id="{13BDF1F0-C6BC-A6F6-9291-673FF8090529}"/>
              </a:ext>
            </a:extLst>
          </p:cNvPr>
          <p:cNvSpPr/>
          <p:nvPr/>
        </p:nvSpPr>
        <p:spPr>
          <a:xfrm>
            <a:off x="6791798" y="4109206"/>
            <a:ext cx="2574413" cy="1003610"/>
          </a:xfrm>
          <a:prstGeom prst="curvedUpArrow">
            <a:avLst>
              <a:gd name="adj1" fmla="val 25000"/>
              <a:gd name="adj2" fmla="val 45603"/>
              <a:gd name="adj3" fmla="val 2500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3" name="Seta: Curva para Cima 22">
            <a:extLst>
              <a:ext uri="{FF2B5EF4-FFF2-40B4-BE49-F238E27FC236}">
                <a16:creationId xmlns:a16="http://schemas.microsoft.com/office/drawing/2014/main" id="{ED99967C-68AC-1A5D-298C-188260DBAA84}"/>
              </a:ext>
            </a:extLst>
          </p:cNvPr>
          <p:cNvSpPr/>
          <p:nvPr/>
        </p:nvSpPr>
        <p:spPr>
          <a:xfrm flipV="1">
            <a:off x="2921566" y="1736874"/>
            <a:ext cx="6444646" cy="1714688"/>
          </a:xfrm>
          <a:prstGeom prst="curvedUpArrow">
            <a:avLst>
              <a:gd name="adj1" fmla="val 13947"/>
              <a:gd name="adj2" fmla="val 23631"/>
              <a:gd name="adj3" fmla="val 13699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6" name="Seta: Curva para Cima 25">
            <a:extLst>
              <a:ext uri="{FF2B5EF4-FFF2-40B4-BE49-F238E27FC236}">
                <a16:creationId xmlns:a16="http://schemas.microsoft.com/office/drawing/2014/main" id="{522906A1-C4FD-1F91-ABD1-81DC37BE99BA}"/>
              </a:ext>
            </a:extLst>
          </p:cNvPr>
          <p:cNvSpPr/>
          <p:nvPr/>
        </p:nvSpPr>
        <p:spPr>
          <a:xfrm>
            <a:off x="6791797" y="4102195"/>
            <a:ext cx="1259383" cy="584775"/>
          </a:xfrm>
          <a:prstGeom prst="curvedUpArrow">
            <a:avLst>
              <a:gd name="adj1" fmla="val 43367"/>
              <a:gd name="adj2" fmla="val 74436"/>
              <a:gd name="adj3" fmla="val 38349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7" name="Cruz 26">
            <a:extLst>
              <a:ext uri="{FF2B5EF4-FFF2-40B4-BE49-F238E27FC236}">
                <a16:creationId xmlns:a16="http://schemas.microsoft.com/office/drawing/2014/main" id="{3E8C91C0-02A3-0228-A0E6-DC2DA7897420}"/>
              </a:ext>
            </a:extLst>
          </p:cNvPr>
          <p:cNvSpPr/>
          <p:nvPr/>
        </p:nvSpPr>
        <p:spPr>
          <a:xfrm rot="2700000">
            <a:off x="6036990" y="2425410"/>
            <a:ext cx="1048287" cy="1046420"/>
          </a:xfrm>
          <a:prstGeom prst="plus">
            <a:avLst>
              <a:gd name="adj" fmla="val 4238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79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/>
      <p:bldP spid="19" grpId="0" animBg="1"/>
      <p:bldP spid="20" grpId="0" animBg="1"/>
      <p:bldP spid="22" grpId="0" animBg="1"/>
      <p:bldP spid="23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E2599-399D-1D17-EEE8-05EF3AE6E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B86CE8E-5D57-437C-F4E1-1416B2C4F695}"/>
              </a:ext>
            </a:extLst>
          </p:cNvPr>
          <p:cNvSpPr txBox="1"/>
          <p:nvPr/>
        </p:nvSpPr>
        <p:spPr>
          <a:xfrm>
            <a:off x="645459" y="603612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pt-BR" sz="3500" b="1" dirty="0">
                <a:solidFill>
                  <a:srgbClr val="01BDC4"/>
                </a:solidFill>
              </a:rPr>
              <a:t>Importância de Atenção em Sequências</a:t>
            </a:r>
            <a:endParaRPr kumimoji="0" lang="pt-BR" sz="3500" b="1" i="0" u="none" strike="noStrike" kern="1200" cap="none" spc="0" normalizeH="0" baseline="0" noProof="0" dirty="0">
              <a:ln>
                <a:noFill/>
              </a:ln>
              <a:solidFill>
                <a:srgbClr val="01BD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ECB2E76-D6AD-4B53-40E3-2C25F4727C27}"/>
              </a:ext>
            </a:extLst>
          </p:cNvPr>
          <p:cNvSpPr txBox="1"/>
          <p:nvPr/>
        </p:nvSpPr>
        <p:spPr>
          <a:xfrm>
            <a:off x="645459" y="5535268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Elaborada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pelo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autor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8F50085-A8EB-3870-6C5C-0D9B90B909BB}"/>
              </a:ext>
            </a:extLst>
          </p:cNvPr>
          <p:cNvSpPr txBox="1"/>
          <p:nvPr/>
        </p:nvSpPr>
        <p:spPr>
          <a:xfrm>
            <a:off x="2071483" y="3451562"/>
            <a:ext cx="85958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A mulher atravessou a rua; ela estava engarrafada.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77DB497-976C-4217-D7D2-1E56FD94D687}"/>
              </a:ext>
            </a:extLst>
          </p:cNvPr>
          <p:cNvSpPr/>
          <p:nvPr/>
        </p:nvSpPr>
        <p:spPr>
          <a:xfrm>
            <a:off x="6617096" y="3451562"/>
            <a:ext cx="613317" cy="584775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1873104-A9B1-32E9-437F-10DC7E85C47A}"/>
              </a:ext>
            </a:extLst>
          </p:cNvPr>
          <p:cNvSpPr/>
          <p:nvPr/>
        </p:nvSpPr>
        <p:spPr>
          <a:xfrm>
            <a:off x="7230413" y="2933916"/>
            <a:ext cx="44595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pt-BR" sz="4400" b="1" cap="none" spc="0" dirty="0">
                <a:ln/>
                <a:solidFill>
                  <a:srgbClr val="FF0000"/>
                </a:solidFill>
                <a:effectLst/>
              </a:rPr>
              <a:t>?</a:t>
            </a:r>
          </a:p>
        </p:txBody>
      </p:sp>
      <p:sp>
        <p:nvSpPr>
          <p:cNvPr id="19" name="Seta: Curva para Cima 18">
            <a:extLst>
              <a:ext uri="{FF2B5EF4-FFF2-40B4-BE49-F238E27FC236}">
                <a16:creationId xmlns:a16="http://schemas.microsoft.com/office/drawing/2014/main" id="{C33B261B-A34B-F325-0587-44877743D30D}"/>
              </a:ext>
            </a:extLst>
          </p:cNvPr>
          <p:cNvSpPr/>
          <p:nvPr/>
        </p:nvSpPr>
        <p:spPr>
          <a:xfrm flipH="1" flipV="1">
            <a:off x="2815636" y="2375083"/>
            <a:ext cx="4237465" cy="1003610"/>
          </a:xfrm>
          <a:prstGeom prst="curvedUpArrow">
            <a:avLst>
              <a:gd name="adj1" fmla="val 25000"/>
              <a:gd name="adj2" fmla="val 45603"/>
              <a:gd name="adj3" fmla="val 25000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0" name="Seta: Curva para Cima 19">
            <a:extLst>
              <a:ext uri="{FF2B5EF4-FFF2-40B4-BE49-F238E27FC236}">
                <a16:creationId xmlns:a16="http://schemas.microsoft.com/office/drawing/2014/main" id="{2C177658-E1E7-4E07-66E4-297613726802}"/>
              </a:ext>
            </a:extLst>
          </p:cNvPr>
          <p:cNvSpPr/>
          <p:nvPr/>
        </p:nvSpPr>
        <p:spPr>
          <a:xfrm flipH="1">
            <a:off x="6016039" y="4120231"/>
            <a:ext cx="1037062" cy="851210"/>
          </a:xfrm>
          <a:prstGeom prst="curvedUpArrow">
            <a:avLst>
              <a:gd name="adj1" fmla="val 25000"/>
              <a:gd name="adj2" fmla="val 45603"/>
              <a:gd name="adj3" fmla="val 25000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2" name="Seta: Curva para Cima 21">
            <a:extLst>
              <a:ext uri="{FF2B5EF4-FFF2-40B4-BE49-F238E27FC236}">
                <a16:creationId xmlns:a16="http://schemas.microsoft.com/office/drawing/2014/main" id="{1C8D3C06-B2B4-01DE-AB0B-719A86B5083C}"/>
              </a:ext>
            </a:extLst>
          </p:cNvPr>
          <p:cNvSpPr/>
          <p:nvPr/>
        </p:nvSpPr>
        <p:spPr>
          <a:xfrm>
            <a:off x="6791798" y="4109206"/>
            <a:ext cx="2865158" cy="1003610"/>
          </a:xfrm>
          <a:prstGeom prst="curvedUpArrow">
            <a:avLst>
              <a:gd name="adj1" fmla="val 25000"/>
              <a:gd name="adj2" fmla="val 45603"/>
              <a:gd name="adj3" fmla="val 2500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3" name="Seta: Curva para Cima 22">
            <a:extLst>
              <a:ext uri="{FF2B5EF4-FFF2-40B4-BE49-F238E27FC236}">
                <a16:creationId xmlns:a16="http://schemas.microsoft.com/office/drawing/2014/main" id="{0D305E7E-0BAA-3BF2-63B6-F7CBC4E34E94}"/>
              </a:ext>
            </a:extLst>
          </p:cNvPr>
          <p:cNvSpPr/>
          <p:nvPr/>
        </p:nvSpPr>
        <p:spPr>
          <a:xfrm flipV="1">
            <a:off x="6084794" y="2228236"/>
            <a:ext cx="3572162" cy="1279644"/>
          </a:xfrm>
          <a:prstGeom prst="curvedUpArrow">
            <a:avLst>
              <a:gd name="adj1" fmla="val 22597"/>
              <a:gd name="adj2" fmla="val 37619"/>
              <a:gd name="adj3" fmla="val 17185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6" name="Seta: Curva para Cima 25">
            <a:extLst>
              <a:ext uri="{FF2B5EF4-FFF2-40B4-BE49-F238E27FC236}">
                <a16:creationId xmlns:a16="http://schemas.microsoft.com/office/drawing/2014/main" id="{D66A712B-6A06-C0AA-91D0-8572254D2620}"/>
              </a:ext>
            </a:extLst>
          </p:cNvPr>
          <p:cNvSpPr/>
          <p:nvPr/>
        </p:nvSpPr>
        <p:spPr>
          <a:xfrm>
            <a:off x="6791797" y="4102195"/>
            <a:ext cx="1259383" cy="584775"/>
          </a:xfrm>
          <a:prstGeom prst="curvedUpArrow">
            <a:avLst>
              <a:gd name="adj1" fmla="val 43367"/>
              <a:gd name="adj2" fmla="val 74436"/>
              <a:gd name="adj3" fmla="val 38349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7" name="Cruz 26">
            <a:extLst>
              <a:ext uri="{FF2B5EF4-FFF2-40B4-BE49-F238E27FC236}">
                <a16:creationId xmlns:a16="http://schemas.microsoft.com/office/drawing/2014/main" id="{1B6693F3-6104-FC92-A0AF-EF61A87221A3}"/>
              </a:ext>
            </a:extLst>
          </p:cNvPr>
          <p:cNvSpPr/>
          <p:nvPr/>
        </p:nvSpPr>
        <p:spPr>
          <a:xfrm rot="2700000">
            <a:off x="4550309" y="1905848"/>
            <a:ext cx="1048287" cy="1046420"/>
          </a:xfrm>
          <a:prstGeom prst="plus">
            <a:avLst>
              <a:gd name="adj" fmla="val 4238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05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/>
      <p:bldP spid="19" grpId="0" animBg="1"/>
      <p:bldP spid="20" grpId="0" animBg="1"/>
      <p:bldP spid="22" grpId="0" animBg="1"/>
      <p:bldP spid="23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967A8-55FA-1D00-33E3-E4B489A19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AFE3E35-F26C-758A-E0C5-85299CBA16C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Atenção em Redes Neurais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9943219-7A1F-3DE1-C88A-D7B987A74B15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permite que o modelo atribua pesos diferentes aos elementos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ponderação ajuda a destacar informações mais relevantes para a tarefa.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foco seletivo melhora a representação contextual dos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atenção, o modelo lida melhor com sequências complexas e longas.</a:t>
            </a:r>
          </a:p>
        </p:txBody>
      </p:sp>
    </p:spTree>
    <p:extLst>
      <p:ext uri="{BB962C8B-B14F-4D97-AF65-F5344CB8AC3E}">
        <p14:creationId xmlns:p14="http://schemas.microsoft.com/office/powerpoint/2010/main" val="459807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F72CD-F940-D525-2C9A-1B34127B8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3F9E2E5-389F-CBD9-1430-F41730B7E2F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Atenção em Tradução Automática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DA6578-CAFB-AC7C-BD7B-F7DE83D1B101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permite que o modelo identifique palavras-chave ao traduzir frases.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foco melhora a correspondência entre termos da entrada e da saída.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mecanismo ajusta dinamicamente o peso dado a cada palavra.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resulta em traduções mais precisas e contextualmente adequadas.</a:t>
            </a:r>
          </a:p>
        </p:txBody>
      </p:sp>
    </p:spTree>
    <p:extLst>
      <p:ext uri="{BB962C8B-B14F-4D97-AF65-F5344CB8AC3E}">
        <p14:creationId xmlns:p14="http://schemas.microsoft.com/office/powerpoint/2010/main" val="558411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18CD6-B6DF-3A6F-C175-11D54A3A1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5578494-2DB5-C02D-84FD-F2665C257F8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Atenção em Transformers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AC205BE-3D03-FEFE-A1C4-C58E752EC644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mecanismo de atenção é o componente central da arquitetura </a:t>
            </a:r>
            <a:r>
              <a:rPr lang="pt-BR" sz="2800" dirty="0" err="1"/>
              <a:t>Transformer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permite que o modelo processe toda a sequência simultaneamente.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facilita a captura de relações entre palavras distantes.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melhora a eficiência e a qualidade da representação.</a:t>
            </a:r>
          </a:p>
        </p:txBody>
      </p:sp>
    </p:spTree>
    <p:extLst>
      <p:ext uri="{BB962C8B-B14F-4D97-AF65-F5344CB8AC3E}">
        <p14:creationId xmlns:p14="http://schemas.microsoft.com/office/powerpoint/2010/main" val="2630433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684F5-590F-1EDA-7544-AB250815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2D9A2E2-1342-1F72-14CA-569372A53BE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Visualização de Pesos de Atenção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14ECE8-C89D-D197-B8EA-6D3A9024F601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pesos de atenção indicam o grau de importância atribuído a cada palavra.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visualização revela como o modelo distribui seu foco ao processar 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Palavras com maior peso influenciam mais na geração ou interpretação.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dos pesos ajuda a entender o comportamento do modelo.</a:t>
            </a:r>
          </a:p>
        </p:txBody>
      </p:sp>
    </p:spTree>
    <p:extLst>
      <p:ext uri="{BB962C8B-B14F-4D97-AF65-F5344CB8AC3E}">
        <p14:creationId xmlns:p14="http://schemas.microsoft.com/office/powerpoint/2010/main" val="3314255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1C213-3365-F3D8-15D6-A92877F53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6575840-EE57-E325-16C3-FE79477FB9B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Benefícios da Atenção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17416E4-8FF4-52A4-7812-15D4DD55C30D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aprimora a capacidade do modelo de entender diferentes contextos.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Ela permite generalizar melhor para novas entradas e tarefas variadas.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foco seletivo contribui para interpretações mais precisas e relevantes.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resulta em modelos mais eficientes e com desempenho superior.</a:t>
            </a:r>
          </a:p>
        </p:txBody>
      </p:sp>
    </p:spTree>
    <p:extLst>
      <p:ext uri="{BB962C8B-B14F-4D97-AF65-F5344CB8AC3E}">
        <p14:creationId xmlns:p14="http://schemas.microsoft.com/office/powerpoint/2010/main" val="4100230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5CEC7-F696-9A74-1D1F-1EFB962F4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7EC2223-F459-4361-1C15-AA472CD9005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Limitações da Atenção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ABEED62-3A0F-AE65-36BC-3DDA615E9400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mecanismo de atenção pode exigir alto custo computacional em sequências extensas.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número de operações cresce com o quadrado do tamanho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pode afetar a escalabilidade em aplicações com grandes volumes de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Estratégias como atenção esparsa buscam reduzir esse impacto.</a:t>
            </a:r>
          </a:p>
        </p:txBody>
      </p:sp>
    </p:spTree>
    <p:extLst>
      <p:ext uri="{BB962C8B-B14F-4D97-AF65-F5344CB8AC3E}">
        <p14:creationId xmlns:p14="http://schemas.microsoft.com/office/powerpoint/2010/main" val="3402740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6D177-1F4F-8242-6C0A-3479B8119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47FC89F-9BA4-6361-7476-1165D68140A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5D9B6B0-D567-F9FA-D992-20C02DC29B7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mecanismo de atenção é fundamental para entender relações contextuais em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permite que modelos processem informações com foco seletivo e eficiente.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aplicação se estende a tarefas de linguagem natural e visão computacional.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tornou-se base para arquiteturas modernas e escaláveis, em particular, para Transformers.</a:t>
            </a:r>
          </a:p>
        </p:txBody>
      </p:sp>
    </p:spTree>
    <p:extLst>
      <p:ext uri="{BB962C8B-B14F-4D97-AF65-F5344CB8AC3E}">
        <p14:creationId xmlns:p14="http://schemas.microsoft.com/office/powerpoint/2010/main" val="3705435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11402</TotalTime>
  <Words>522</Words>
  <Application>Microsoft Office PowerPoint</Application>
  <PresentationFormat>Widescreen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13</vt:i4>
      </vt:variant>
    </vt:vector>
  </HeadingPairs>
  <TitlesOfParts>
    <vt:vector size="25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5 - Slide de Tabela ou imagem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102</cp:revision>
  <dcterms:created xsi:type="dcterms:W3CDTF">2020-01-14T17:16:45Z</dcterms:created>
  <dcterms:modified xsi:type="dcterms:W3CDTF">2025-11-28T19:12:24Z</dcterms:modified>
</cp:coreProperties>
</file>