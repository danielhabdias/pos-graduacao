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88" r:id="rId6"/>
    <p:sldMasterId id="2147483698" r:id="rId7"/>
    <p:sldMasterId id="2147483690" r:id="rId8"/>
  </p:sldMasterIdLst>
  <p:notesMasterIdLst>
    <p:notesMasterId r:id="rId29"/>
  </p:notesMasterIdLst>
  <p:handoutMasterIdLst>
    <p:handoutMasterId r:id="rId30"/>
  </p:handoutMasterIdLst>
  <p:sldIdLst>
    <p:sldId id="266" r:id="rId9"/>
    <p:sldId id="260" r:id="rId10"/>
    <p:sldId id="267" r:id="rId11"/>
    <p:sldId id="268" r:id="rId12"/>
    <p:sldId id="295" r:id="rId13"/>
    <p:sldId id="271" r:id="rId14"/>
    <p:sldId id="296" r:id="rId15"/>
    <p:sldId id="298" r:id="rId16"/>
    <p:sldId id="297" r:id="rId17"/>
    <p:sldId id="273" r:id="rId18"/>
    <p:sldId id="274" r:id="rId19"/>
    <p:sldId id="299" r:id="rId20"/>
    <p:sldId id="275" r:id="rId21"/>
    <p:sldId id="276" r:id="rId22"/>
    <p:sldId id="277" r:id="rId23"/>
    <p:sldId id="278" r:id="rId24"/>
    <p:sldId id="259" r:id="rId25"/>
    <p:sldId id="282" r:id="rId26"/>
    <p:sldId id="283" r:id="rId27"/>
    <p:sldId id="261" r:id="rId2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C4"/>
    <a:srgbClr val="0CA4AC"/>
    <a:srgbClr val="0FCAD3"/>
    <a:srgbClr val="53EBF3"/>
    <a:srgbClr val="10DCE6"/>
    <a:srgbClr val="19E5EF"/>
    <a:srgbClr val="7FC25E"/>
    <a:srgbClr val="99CE7E"/>
    <a:srgbClr val="4A6B9E"/>
    <a:srgbClr val="E1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6433" autoAdjust="0"/>
  </p:normalViewPr>
  <p:slideViewPr>
    <p:cSldViewPr snapToGrid="0">
      <p:cViewPr varScale="1">
        <p:scale>
          <a:sx n="57" d="100"/>
          <a:sy n="57" d="100"/>
        </p:scale>
        <p:origin x="980" y="2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4458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E99B992-82EF-49B9-958D-103864F509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218"/>
            <a:ext cx="12192000" cy="6878022"/>
          </a:xfrm>
          <a:prstGeom prst="rect">
            <a:avLst/>
          </a:prstGeom>
        </p:spPr>
      </p:pic>
      <p:sp>
        <p:nvSpPr>
          <p:cNvPr id="6" name="Retângulo 5"/>
          <p:cNvSpPr/>
          <p:nvPr userDrawn="1"/>
        </p:nvSpPr>
        <p:spPr>
          <a:xfrm>
            <a:off x="628769" y="-63188"/>
            <a:ext cx="10911016" cy="6942005"/>
          </a:xfrm>
          <a:prstGeom prst="rect">
            <a:avLst/>
          </a:prstGeom>
          <a:solidFill>
            <a:srgbClr val="4A6B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884" y="6394749"/>
            <a:ext cx="1606086" cy="144879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30BD0E4-DA32-42AA-832D-7CA703EA8D73}"/>
              </a:ext>
            </a:extLst>
          </p:cNvPr>
          <p:cNvSpPr/>
          <p:nvPr userDrawn="1"/>
        </p:nvSpPr>
        <p:spPr>
          <a:xfrm>
            <a:off x="628769" y="-68695"/>
            <a:ext cx="10911016" cy="6942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1010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dirty="0">
                <a:solidFill>
                  <a:srgbClr val="4A6B9E"/>
                </a:solidFill>
                <a:latin typeface="Trebuchet MS" panose="020B0603020202020204" pitchFamily="34" charset="0"/>
              </a:rPr>
              <a:t>Atenção Mascarada e Integração CD</a:t>
            </a:r>
            <a:endParaRPr lang="pt-BR" sz="6000" b="1" dirty="0">
              <a:solidFill>
                <a:srgbClr val="4A6B9E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Introdução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mascarada impede que o decodificador acesse informações futuras, garantindo previsões passo a passo.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técnica é essencial para manter a coerência na geração de texto durante o treinamento dos Transformers.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integração entre codificador e decodificador ocorre via atenção cruzada, permitindo que o decodificador consulte a entrada.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mecanismo fortalece a relação entre entrada e saída, melhorando tarefas como tradução e sumarização.</a:t>
            </a:r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C7DA5-85EE-5BC8-3FE5-C72AB266A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9007421-7EFE-6244-7577-8D7FE2443241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Revisão da Arquitetura </a:t>
            </a:r>
            <a:r>
              <a:rPr lang="pt-BR" sz="4500" b="1" dirty="0" err="1">
                <a:solidFill>
                  <a:schemeClr val="bg1"/>
                </a:solidFill>
              </a:rPr>
              <a:t>Transformer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EFAEDB8-AF31-587E-EFB7-9CB690E7B9B3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codificador recebe a entrada e a processa em camadas com atenção e </a:t>
            </a:r>
            <a:r>
              <a:rPr lang="pt-BR" sz="2800" i="1" dirty="0" err="1"/>
              <a:t>feedforward</a:t>
            </a:r>
            <a:r>
              <a:rPr lang="pt-BR" sz="2800" dirty="0"/>
              <a:t>, gerando representações contextuais.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decodificador utiliza atenção mascarada para prever cada token com base apenas nos anteriores, mantendo a coerência.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cruzada conecta o decodificador ao codificador, permitindo que a saída seja gerada com base na entrada.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arquitetura modular e paralelizável supera limitações das </a:t>
            </a:r>
            <a:r>
              <a:rPr lang="pt-BR" sz="2800" dirty="0" err="1"/>
              <a:t>RNNs</a:t>
            </a:r>
            <a:r>
              <a:rPr lang="pt-BR" sz="2800" dirty="0"/>
              <a:t>, sendo eficaz em tarefas como tradução e sumarização.</a:t>
            </a:r>
          </a:p>
        </p:txBody>
      </p:sp>
    </p:spTree>
    <p:extLst>
      <p:ext uri="{BB962C8B-B14F-4D97-AF65-F5344CB8AC3E}">
        <p14:creationId xmlns:p14="http://schemas.microsoft.com/office/powerpoint/2010/main" val="70443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7B3D9-9D41-0D3E-177F-853CFA031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6914649-E777-9BDD-339B-B87C6D4337BF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Atenção Mascarada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96C078D-EC77-30EB-2011-6077900C7AC9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mascarada impede que o decodificador acesse tokens futuros durante o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bloqueio garante que cada previsão dependa apenas dos tokens anteriores, mantendo a sequência lógica.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máscara é aplicada na matriz de atenção para ocultar posições que ainda não devem ser consideradas.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técnica é essencial para tarefas de geração de texto, onde a ordem e coerência são fundamentais.</a:t>
            </a:r>
          </a:p>
        </p:txBody>
      </p:sp>
    </p:spTree>
    <p:extLst>
      <p:ext uri="{BB962C8B-B14F-4D97-AF65-F5344CB8AC3E}">
        <p14:creationId xmlns:p14="http://schemas.microsoft.com/office/powerpoint/2010/main" val="3866191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B2DB7-E504-CC2E-FE15-0E94FA062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78C30DD-8ED8-7BF4-4795-CB502786530C}"/>
              </a:ext>
            </a:extLst>
          </p:cNvPr>
          <p:cNvSpPr txBox="1"/>
          <p:nvPr/>
        </p:nvSpPr>
        <p:spPr>
          <a:xfrm>
            <a:off x="656665" y="284410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Atenção Mascarada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A3B130A-10EF-CA41-56A0-516EAB92A194}"/>
              </a:ext>
            </a:extLst>
          </p:cNvPr>
          <p:cNvSpPr txBox="1"/>
          <p:nvPr/>
        </p:nvSpPr>
        <p:spPr>
          <a:xfrm>
            <a:off x="645459" y="6182037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IM,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Jinbae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; CHO,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Sungzoon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Distance-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based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self-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attention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network for natural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language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inference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arXiv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preprint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arXiv:1712.02047, 2017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pt-BR" sz="13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m 9" descr="Tabela&#10;&#10;O conteúdo gerado por IA pode estar incorreto.">
            <a:extLst>
              <a:ext uri="{FF2B5EF4-FFF2-40B4-BE49-F238E27FC236}">
                <a16:creationId xmlns:a16="http://schemas.microsoft.com/office/drawing/2014/main" id="{33771E36-26E1-F26D-B517-E6C68122AE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73"/>
          <a:stretch>
            <a:fillRect/>
          </a:stretch>
        </p:blipFill>
        <p:spPr>
          <a:xfrm>
            <a:off x="1525477" y="1639228"/>
            <a:ext cx="9141046" cy="4419695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54455219-430D-6B12-0EA7-62F1E32CBC53}"/>
              </a:ext>
            </a:extLst>
          </p:cNvPr>
          <p:cNvSpPr txBox="1"/>
          <p:nvPr/>
        </p:nvSpPr>
        <p:spPr>
          <a:xfrm>
            <a:off x="2988528" y="1309146"/>
            <a:ext cx="2224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Atenção sem Máscara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ECD9767-2C62-E989-EAC0-95C36E473017}"/>
              </a:ext>
            </a:extLst>
          </p:cNvPr>
          <p:cNvSpPr txBox="1"/>
          <p:nvPr/>
        </p:nvSpPr>
        <p:spPr>
          <a:xfrm>
            <a:off x="7880196" y="1331448"/>
            <a:ext cx="2014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Atenção Mascarada</a:t>
            </a:r>
          </a:p>
        </p:txBody>
      </p:sp>
    </p:spTree>
    <p:extLst>
      <p:ext uri="{BB962C8B-B14F-4D97-AF65-F5344CB8AC3E}">
        <p14:creationId xmlns:p14="http://schemas.microsoft.com/office/powerpoint/2010/main" val="1818135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6A113-96D2-B33D-7B55-68FBFF623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246C28A-8E74-3F9D-9F2E-5B3AE62E5BFA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Implementação da Máscara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8EEA50E-39A0-D43D-93D1-035273A00AD3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máscara é implementada com matrizes binárias que indicam quais posições devem ser bloqueadas.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Zeros são usados para ocultar tokens futuros, impedindo que o decodificador os utilize na geração.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matriz é combinada com os pesos de atenção, anulando a influência de posições não autorizadas.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uso da máscara garante que o modelo aprenda a prever de forma sequencial e consistente.</a:t>
            </a:r>
          </a:p>
        </p:txBody>
      </p:sp>
    </p:spTree>
    <p:extLst>
      <p:ext uri="{BB962C8B-B14F-4D97-AF65-F5344CB8AC3E}">
        <p14:creationId xmlns:p14="http://schemas.microsoft.com/office/powerpoint/2010/main" val="1372060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82709-C8AF-680A-DB91-F85FD3555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F3D64AA-DA8A-7CD5-9E41-4A9E485391C2}"/>
              </a:ext>
            </a:extLst>
          </p:cNvPr>
          <p:cNvSpPr txBox="1"/>
          <p:nvPr/>
        </p:nvSpPr>
        <p:spPr>
          <a:xfrm>
            <a:off x="645459" y="931293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Exemplo de Máscara</a:t>
            </a: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EC31154A-9200-11B4-89DD-AFB76753A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40656" y="2064688"/>
            <a:ext cx="2963754" cy="2728623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3B03066C-8491-A3E3-CBE4-A1A70F65F9FB}"/>
              </a:ext>
            </a:extLst>
          </p:cNvPr>
          <p:cNvSpPr txBox="1"/>
          <p:nvPr/>
        </p:nvSpPr>
        <p:spPr>
          <a:xfrm>
            <a:off x="645459" y="5167276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</a:t>
            </a: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Elaborada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pelo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autor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pt-BR" sz="13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3384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C7332-C78D-6991-6C1E-0E5F14A9C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55BE00A-B62A-E7ED-977F-7FD353764ABE}"/>
              </a:ext>
            </a:extLst>
          </p:cNvPr>
          <p:cNvSpPr txBox="1"/>
          <p:nvPr/>
        </p:nvSpPr>
        <p:spPr>
          <a:xfrm>
            <a:off x="656665" y="616871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Atenção Mascarada – Implementação Simples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DB0A4AC2-C0DA-44A1-8D80-6A024527B825}"/>
              </a:ext>
            </a:extLst>
          </p:cNvPr>
          <p:cNvSpPr/>
          <p:nvPr/>
        </p:nvSpPr>
        <p:spPr>
          <a:xfrm>
            <a:off x="1271239" y="3904725"/>
            <a:ext cx="1494263" cy="8028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/>
              <a:t>Scores de Atenção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3EB2BFD-337D-1E70-77E7-EC939A549EE4}"/>
              </a:ext>
            </a:extLst>
          </p:cNvPr>
          <p:cNvSpPr/>
          <p:nvPr/>
        </p:nvSpPr>
        <p:spPr>
          <a:xfrm>
            <a:off x="3395543" y="3904724"/>
            <a:ext cx="1494263" cy="8028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/>
              <a:t>Pesos de Atenção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962216E-575A-6B3B-1F11-CE3DD2F1A3D6}"/>
              </a:ext>
            </a:extLst>
          </p:cNvPr>
          <p:cNvSpPr/>
          <p:nvPr/>
        </p:nvSpPr>
        <p:spPr>
          <a:xfrm>
            <a:off x="5579395" y="3904723"/>
            <a:ext cx="2270131" cy="8028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/>
              <a:t>Scores de Atenção Mascarada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59B79808-AEB7-EC01-F4ED-435B9694FC23}"/>
              </a:ext>
            </a:extLst>
          </p:cNvPr>
          <p:cNvSpPr/>
          <p:nvPr/>
        </p:nvSpPr>
        <p:spPr>
          <a:xfrm>
            <a:off x="8539116" y="3904723"/>
            <a:ext cx="2270131" cy="8028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/>
              <a:t>Pesos de Atenção Mascarada</a:t>
            </a:r>
          </a:p>
        </p:txBody>
      </p:sp>
      <p:sp>
        <p:nvSpPr>
          <p:cNvPr id="15" name="Seta: Curva para Cima 14">
            <a:extLst>
              <a:ext uri="{FF2B5EF4-FFF2-40B4-BE49-F238E27FC236}">
                <a16:creationId xmlns:a16="http://schemas.microsoft.com/office/drawing/2014/main" id="{860ABFD2-3FDE-345A-8C60-B8255F7653A4}"/>
              </a:ext>
            </a:extLst>
          </p:cNvPr>
          <p:cNvSpPr/>
          <p:nvPr/>
        </p:nvSpPr>
        <p:spPr>
          <a:xfrm flipV="1">
            <a:off x="2375208" y="3391044"/>
            <a:ext cx="1494263" cy="378057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6" name="Seta: Curva para Cima 15">
            <a:extLst>
              <a:ext uri="{FF2B5EF4-FFF2-40B4-BE49-F238E27FC236}">
                <a16:creationId xmlns:a16="http://schemas.microsoft.com/office/drawing/2014/main" id="{CF03AD5B-44CE-709A-B8B3-400FAD4B9F72}"/>
              </a:ext>
            </a:extLst>
          </p:cNvPr>
          <p:cNvSpPr/>
          <p:nvPr/>
        </p:nvSpPr>
        <p:spPr>
          <a:xfrm flipV="1">
            <a:off x="4545980" y="3391043"/>
            <a:ext cx="1494263" cy="378057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7" name="Seta: Curva para Cima 16">
            <a:extLst>
              <a:ext uri="{FF2B5EF4-FFF2-40B4-BE49-F238E27FC236}">
                <a16:creationId xmlns:a16="http://schemas.microsoft.com/office/drawing/2014/main" id="{DA4B4213-0162-4838-09AB-A3A2E9639D33}"/>
              </a:ext>
            </a:extLst>
          </p:cNvPr>
          <p:cNvSpPr/>
          <p:nvPr/>
        </p:nvSpPr>
        <p:spPr>
          <a:xfrm flipV="1">
            <a:off x="7463885" y="3391043"/>
            <a:ext cx="1494263" cy="378057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67F3BB7-F78A-9A0D-2091-7CAE446824DB}"/>
              </a:ext>
            </a:extLst>
          </p:cNvPr>
          <p:cNvSpPr txBox="1"/>
          <p:nvPr/>
        </p:nvSpPr>
        <p:spPr>
          <a:xfrm>
            <a:off x="2588378" y="2961610"/>
            <a:ext cx="1067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i="1" dirty="0" err="1"/>
              <a:t>Softmax</a:t>
            </a:r>
            <a:endParaRPr lang="pt-BR" sz="2000" b="1" i="1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348B603-DC3C-D4E1-685A-A65E8F41BFFC}"/>
              </a:ext>
            </a:extLst>
          </p:cNvPr>
          <p:cNvSpPr txBox="1"/>
          <p:nvPr/>
        </p:nvSpPr>
        <p:spPr>
          <a:xfrm>
            <a:off x="7385854" y="2961609"/>
            <a:ext cx="16503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b="1" dirty="0"/>
              <a:t>Normalização</a:t>
            </a: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4155EDCF-952A-1C6B-934E-0BD5AB3B8A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17992" y="1459905"/>
            <a:ext cx="1950237" cy="1795514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8DF8FA34-2002-A539-8BB4-1E3DCF5F010A}"/>
              </a:ext>
            </a:extLst>
          </p:cNvPr>
          <p:cNvSpPr txBox="1"/>
          <p:nvPr/>
        </p:nvSpPr>
        <p:spPr>
          <a:xfrm>
            <a:off x="645459" y="5167276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</a:t>
            </a: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Elaborada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pelo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autor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pt-BR" sz="13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3324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10AE5-A7B4-94C4-8372-9F152D710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DBB95516-55E5-F21F-8637-4CA9CE3388BA}"/>
              </a:ext>
            </a:extLst>
          </p:cNvPr>
          <p:cNvSpPr/>
          <p:nvPr/>
        </p:nvSpPr>
        <p:spPr>
          <a:xfrm>
            <a:off x="2238176" y="3840830"/>
            <a:ext cx="1494263" cy="8028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/>
              <a:t>Scores de Atenção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B0EA6AAE-3147-79F7-D8EF-B2F807C397F4}"/>
              </a:ext>
            </a:extLst>
          </p:cNvPr>
          <p:cNvSpPr/>
          <p:nvPr/>
        </p:nvSpPr>
        <p:spPr>
          <a:xfrm>
            <a:off x="4422028" y="3840829"/>
            <a:ext cx="2270131" cy="8028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/>
              <a:t>Scores de Atenção Mascarada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04C5F0E8-DA05-538B-A7BF-4A0237F933EC}"/>
              </a:ext>
            </a:extLst>
          </p:cNvPr>
          <p:cNvSpPr/>
          <p:nvPr/>
        </p:nvSpPr>
        <p:spPr>
          <a:xfrm>
            <a:off x="7381749" y="3840829"/>
            <a:ext cx="2270131" cy="8028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/>
              <a:t>Pesos de Atenção Mascarada</a:t>
            </a:r>
          </a:p>
        </p:txBody>
      </p:sp>
      <p:sp>
        <p:nvSpPr>
          <p:cNvPr id="34" name="Seta: Curva para Cima 33">
            <a:extLst>
              <a:ext uri="{FF2B5EF4-FFF2-40B4-BE49-F238E27FC236}">
                <a16:creationId xmlns:a16="http://schemas.microsoft.com/office/drawing/2014/main" id="{BF55C091-E610-8182-56CA-149AA4DC3BDA}"/>
              </a:ext>
            </a:extLst>
          </p:cNvPr>
          <p:cNvSpPr/>
          <p:nvPr/>
        </p:nvSpPr>
        <p:spPr>
          <a:xfrm flipV="1">
            <a:off x="3388613" y="3327149"/>
            <a:ext cx="1494263" cy="378057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5" name="Seta: Curva para Cima 34">
            <a:extLst>
              <a:ext uri="{FF2B5EF4-FFF2-40B4-BE49-F238E27FC236}">
                <a16:creationId xmlns:a16="http://schemas.microsoft.com/office/drawing/2014/main" id="{0C8EFBAA-7331-685E-0E7F-709D26925C0A}"/>
              </a:ext>
            </a:extLst>
          </p:cNvPr>
          <p:cNvSpPr/>
          <p:nvPr/>
        </p:nvSpPr>
        <p:spPr>
          <a:xfrm flipV="1">
            <a:off x="6306518" y="3327149"/>
            <a:ext cx="1494263" cy="378057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A91F1FD5-F5D7-BA40-1A81-CC7F7A397466}"/>
              </a:ext>
            </a:extLst>
          </p:cNvPr>
          <p:cNvSpPr txBox="1"/>
          <p:nvPr/>
        </p:nvSpPr>
        <p:spPr>
          <a:xfrm>
            <a:off x="6520877" y="2897715"/>
            <a:ext cx="1065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b="1" i="1" dirty="0" err="1"/>
              <a:t>Softmax</a:t>
            </a:r>
            <a:endParaRPr lang="pt-BR" sz="2000" b="1" i="1" dirty="0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DABBF380-8FCC-2768-65DC-1BFBC0E2E6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86889" y="1461532"/>
            <a:ext cx="2870204" cy="1746012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EDC1A8F-64D0-8BE2-1B74-ABA5DCAF9A58}"/>
              </a:ext>
            </a:extLst>
          </p:cNvPr>
          <p:cNvSpPr txBox="1"/>
          <p:nvPr/>
        </p:nvSpPr>
        <p:spPr>
          <a:xfrm>
            <a:off x="645459" y="5167276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</a:t>
            </a: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Elaborada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pelo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autor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pt-BR" sz="13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F37F98E-3256-4608-0A97-0CD7B0ABF770}"/>
              </a:ext>
            </a:extLst>
          </p:cNvPr>
          <p:cNvSpPr txBox="1"/>
          <p:nvPr/>
        </p:nvSpPr>
        <p:spPr>
          <a:xfrm>
            <a:off x="656665" y="616871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Atenção Mascarada – Implementação Eficiente</a:t>
            </a:r>
          </a:p>
        </p:txBody>
      </p:sp>
    </p:spTree>
    <p:extLst>
      <p:ext uri="{BB962C8B-B14F-4D97-AF65-F5344CB8AC3E}">
        <p14:creationId xmlns:p14="http://schemas.microsoft.com/office/powerpoint/2010/main" val="3108971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994D1-4AE7-7667-69ED-763514036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76D7498-EDE3-8A7C-E72B-4EEAFBD8994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Atenção no Codificador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6BBEEC5-DCCF-EB9D-047E-E8D4C05D5B07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Diferente do decodificador, o codificador aplica atenção completa, sem necessidade de mascaramento.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Todos os tokens da entrada podem interagir entre si, permitindo o aprendizado de relações contextuais.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ausência de máscara no codificador facilita a captura de padrões globais na sequência de entrada.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comportamento é essencial para gerar representações ricas que serão utilizadas pelo decodificador.</a:t>
            </a:r>
          </a:p>
        </p:txBody>
      </p:sp>
    </p:spTree>
    <p:extLst>
      <p:ext uri="{BB962C8B-B14F-4D97-AF65-F5344CB8AC3E}">
        <p14:creationId xmlns:p14="http://schemas.microsoft.com/office/powerpoint/2010/main" val="105315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6E74A-E285-F2FA-E986-07ADA7279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976B78B-903B-CB71-DC07-FC7BF48FFBC7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Integração Codificador-Decodificador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5C12182-3322-C33F-C036-A2BBC9D37A4E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decodificador utiliza atenção cruzada para consultar as representações geradas pelo codificador.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conexão permite que cada etapa da geração de saída seja guiada pelas informações da entrada.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cruzada é aplicada após a atenção mascarada, combinando contexto interno e externo.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integração é essencial para tarefas como tradução, onde a saída depende diretamente da entrada.</a:t>
            </a:r>
          </a:p>
        </p:txBody>
      </p:sp>
    </p:spTree>
    <p:extLst>
      <p:ext uri="{BB962C8B-B14F-4D97-AF65-F5344CB8AC3E}">
        <p14:creationId xmlns:p14="http://schemas.microsoft.com/office/powerpoint/2010/main" val="4266502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60DFE-15D3-9F46-4312-06F8D0D7E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49FC8DE-D458-77D0-3985-F6EC043A568F}"/>
              </a:ext>
            </a:extLst>
          </p:cNvPr>
          <p:cNvSpPr txBox="1"/>
          <p:nvPr/>
        </p:nvSpPr>
        <p:spPr>
          <a:xfrm>
            <a:off x="656665" y="284410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Integração entre Codificador e Decodificador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423A0F0-7122-FC1E-FB77-1B71FE7596C8}"/>
              </a:ext>
            </a:extLst>
          </p:cNvPr>
          <p:cNvSpPr txBox="1"/>
          <p:nvPr/>
        </p:nvSpPr>
        <p:spPr>
          <a:xfrm>
            <a:off x="645459" y="6182037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VASWANI et al.,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Attention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Need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NIPS, 2017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pt-BR" sz="13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6C5E91E-7A84-61BA-000D-2421BD03A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267" y="961086"/>
            <a:ext cx="3544371" cy="522095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9A2D85C-D37C-2B15-179E-3D135D3101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83" t="19024" r="11119" b="27046"/>
          <a:stretch>
            <a:fillRect/>
          </a:stretch>
        </p:blipFill>
        <p:spPr>
          <a:xfrm>
            <a:off x="6352479" y="1129384"/>
            <a:ext cx="4107366" cy="4078628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4E1C4F4E-6E00-D038-ADB6-87B876E6B63A}"/>
              </a:ext>
            </a:extLst>
          </p:cNvPr>
          <p:cNvSpPr/>
          <p:nvPr/>
        </p:nvSpPr>
        <p:spPr>
          <a:xfrm>
            <a:off x="2430966" y="1940312"/>
            <a:ext cx="2765502" cy="2832410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1B9D32B4-56B1-133A-DF22-518FF33F8B9D}"/>
              </a:ext>
            </a:extLst>
          </p:cNvPr>
          <p:cNvCxnSpPr/>
          <p:nvPr/>
        </p:nvCxnSpPr>
        <p:spPr>
          <a:xfrm flipV="1">
            <a:off x="5196468" y="1129384"/>
            <a:ext cx="1156011" cy="81092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6850FC15-CF43-E0A2-CB68-983FDF8BBA5D}"/>
              </a:ext>
            </a:extLst>
          </p:cNvPr>
          <p:cNvCxnSpPr/>
          <p:nvPr/>
        </p:nvCxnSpPr>
        <p:spPr>
          <a:xfrm>
            <a:off x="5196468" y="4772722"/>
            <a:ext cx="1156011" cy="4352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orma Livre: Forma 16">
            <a:extLst>
              <a:ext uri="{FF2B5EF4-FFF2-40B4-BE49-F238E27FC236}">
                <a16:creationId xmlns:a16="http://schemas.microsoft.com/office/drawing/2014/main" id="{8027EA78-8BB3-E8E5-8047-4976AAAE108B}"/>
              </a:ext>
            </a:extLst>
          </p:cNvPr>
          <p:cNvSpPr/>
          <p:nvPr/>
        </p:nvSpPr>
        <p:spPr>
          <a:xfrm>
            <a:off x="7543705" y="2343301"/>
            <a:ext cx="1366379" cy="1106964"/>
          </a:xfrm>
          <a:custGeom>
            <a:avLst/>
            <a:gdLst>
              <a:gd name="connsiteX0" fmla="*/ 5411 w 1366379"/>
              <a:gd name="connsiteY0" fmla="*/ 266992 h 1106964"/>
              <a:gd name="connsiteX1" fmla="*/ 95 w 1366379"/>
              <a:gd name="connsiteY1" fmla="*/ 181932 h 1106964"/>
              <a:gd name="connsiteX2" fmla="*/ 10728 w 1366379"/>
              <a:gd name="connsiteY2" fmla="*/ 75606 h 1106964"/>
              <a:gd name="connsiteX3" fmla="*/ 42625 w 1366379"/>
              <a:gd name="connsiteY3" fmla="*/ 43708 h 1106964"/>
              <a:gd name="connsiteX4" fmla="*/ 127686 w 1366379"/>
              <a:gd name="connsiteY4" fmla="*/ 27759 h 1106964"/>
              <a:gd name="connsiteX5" fmla="*/ 701844 w 1366379"/>
              <a:gd name="connsiteY5" fmla="*/ 27759 h 1106964"/>
              <a:gd name="connsiteX6" fmla="*/ 808169 w 1366379"/>
              <a:gd name="connsiteY6" fmla="*/ 49025 h 1106964"/>
              <a:gd name="connsiteX7" fmla="*/ 845383 w 1366379"/>
              <a:gd name="connsiteY7" fmla="*/ 54341 h 1106964"/>
              <a:gd name="connsiteX8" fmla="*/ 893230 w 1366379"/>
              <a:gd name="connsiteY8" fmla="*/ 64973 h 1106964"/>
              <a:gd name="connsiteX9" fmla="*/ 914495 w 1366379"/>
              <a:gd name="connsiteY9" fmla="*/ 75606 h 1106964"/>
              <a:gd name="connsiteX10" fmla="*/ 925128 w 1366379"/>
              <a:gd name="connsiteY10" fmla="*/ 118136 h 1106964"/>
              <a:gd name="connsiteX11" fmla="*/ 941076 w 1366379"/>
              <a:gd name="connsiteY11" fmla="*/ 144718 h 1106964"/>
              <a:gd name="connsiteX12" fmla="*/ 946393 w 1366379"/>
              <a:gd name="connsiteY12" fmla="*/ 171299 h 1106964"/>
              <a:gd name="connsiteX13" fmla="*/ 951709 w 1366379"/>
              <a:gd name="connsiteY13" fmla="*/ 203197 h 1106964"/>
              <a:gd name="connsiteX14" fmla="*/ 962342 w 1366379"/>
              <a:gd name="connsiteY14" fmla="*/ 229778 h 1106964"/>
              <a:gd name="connsiteX15" fmla="*/ 967658 w 1366379"/>
              <a:gd name="connsiteY15" fmla="*/ 904946 h 1106964"/>
              <a:gd name="connsiteX16" fmla="*/ 978290 w 1366379"/>
              <a:gd name="connsiteY16" fmla="*/ 936843 h 1106964"/>
              <a:gd name="connsiteX17" fmla="*/ 983607 w 1366379"/>
              <a:gd name="connsiteY17" fmla="*/ 1011271 h 1106964"/>
              <a:gd name="connsiteX18" fmla="*/ 994239 w 1366379"/>
              <a:gd name="connsiteY18" fmla="*/ 1043169 h 1106964"/>
              <a:gd name="connsiteX19" fmla="*/ 999555 w 1366379"/>
              <a:gd name="connsiteY19" fmla="*/ 1064434 h 1106964"/>
              <a:gd name="connsiteX20" fmla="*/ 1031453 w 1366379"/>
              <a:gd name="connsiteY20" fmla="*/ 1080383 h 1106964"/>
              <a:gd name="connsiteX21" fmla="*/ 1052718 w 1366379"/>
              <a:gd name="connsiteY21" fmla="*/ 1085699 h 1106964"/>
              <a:gd name="connsiteX22" fmla="*/ 1068667 w 1366379"/>
              <a:gd name="connsiteY22" fmla="*/ 1091015 h 1106964"/>
              <a:gd name="connsiteX23" fmla="*/ 1132462 w 1366379"/>
              <a:gd name="connsiteY23" fmla="*/ 1096332 h 1106964"/>
              <a:gd name="connsiteX24" fmla="*/ 1159044 w 1366379"/>
              <a:gd name="connsiteY24" fmla="*/ 1101648 h 1106964"/>
              <a:gd name="connsiteX25" fmla="*/ 1180309 w 1366379"/>
              <a:gd name="connsiteY25" fmla="*/ 1106964 h 1106964"/>
              <a:gd name="connsiteX26" fmla="*/ 1334481 w 1366379"/>
              <a:gd name="connsiteY26" fmla="*/ 1101648 h 1106964"/>
              <a:gd name="connsiteX27" fmla="*/ 1350430 w 1366379"/>
              <a:gd name="connsiteY27" fmla="*/ 1080383 h 1106964"/>
              <a:gd name="connsiteX28" fmla="*/ 1355746 w 1366379"/>
              <a:gd name="connsiteY28" fmla="*/ 1005955 h 1106964"/>
              <a:gd name="connsiteX29" fmla="*/ 1361062 w 1366379"/>
              <a:gd name="connsiteY29" fmla="*/ 990006 h 1106964"/>
              <a:gd name="connsiteX30" fmla="*/ 1366379 w 1366379"/>
              <a:gd name="connsiteY30" fmla="*/ 942159 h 110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366379" h="1106964" extrusionOk="0">
                <a:moveTo>
                  <a:pt x="5411" y="266992"/>
                </a:moveTo>
                <a:cubicBezTo>
                  <a:pt x="3923" y="236890"/>
                  <a:pt x="2273" y="211736"/>
                  <a:pt x="95" y="181932"/>
                </a:cubicBezTo>
                <a:cubicBezTo>
                  <a:pt x="-364" y="147173"/>
                  <a:pt x="-1273" y="113275"/>
                  <a:pt x="10728" y="75606"/>
                </a:cubicBezTo>
                <a:cubicBezTo>
                  <a:pt x="11028" y="65003"/>
                  <a:pt x="34192" y="46433"/>
                  <a:pt x="42625" y="43708"/>
                </a:cubicBezTo>
                <a:cubicBezTo>
                  <a:pt x="71045" y="33301"/>
                  <a:pt x="99493" y="31997"/>
                  <a:pt x="127686" y="27759"/>
                </a:cubicBezTo>
                <a:cubicBezTo>
                  <a:pt x="305226" y="-19187"/>
                  <a:pt x="509642" y="36125"/>
                  <a:pt x="701844" y="27759"/>
                </a:cubicBezTo>
                <a:cubicBezTo>
                  <a:pt x="752222" y="39074"/>
                  <a:pt x="754046" y="39782"/>
                  <a:pt x="808169" y="49025"/>
                </a:cubicBezTo>
                <a:cubicBezTo>
                  <a:pt x="820089" y="50414"/>
                  <a:pt x="831748" y="54326"/>
                  <a:pt x="845383" y="54341"/>
                </a:cubicBezTo>
                <a:cubicBezTo>
                  <a:pt x="865856" y="57542"/>
                  <a:pt x="874360" y="58286"/>
                  <a:pt x="893230" y="64973"/>
                </a:cubicBezTo>
                <a:cubicBezTo>
                  <a:pt x="902015" y="67805"/>
                  <a:pt x="910146" y="69262"/>
                  <a:pt x="914495" y="75606"/>
                </a:cubicBezTo>
                <a:cubicBezTo>
                  <a:pt x="925434" y="90764"/>
                  <a:pt x="918290" y="107773"/>
                  <a:pt x="925128" y="118136"/>
                </a:cubicBezTo>
                <a:cubicBezTo>
                  <a:pt x="931110" y="124176"/>
                  <a:pt x="936727" y="139875"/>
                  <a:pt x="941076" y="144718"/>
                </a:cubicBezTo>
                <a:cubicBezTo>
                  <a:pt x="941563" y="153498"/>
                  <a:pt x="944956" y="164884"/>
                  <a:pt x="946393" y="171299"/>
                </a:cubicBezTo>
                <a:cubicBezTo>
                  <a:pt x="950466" y="182938"/>
                  <a:pt x="950839" y="193945"/>
                  <a:pt x="951709" y="203197"/>
                </a:cubicBezTo>
                <a:cubicBezTo>
                  <a:pt x="955395" y="213183"/>
                  <a:pt x="959592" y="219898"/>
                  <a:pt x="962342" y="229778"/>
                </a:cubicBezTo>
                <a:cubicBezTo>
                  <a:pt x="929913" y="435124"/>
                  <a:pt x="943517" y="629037"/>
                  <a:pt x="967658" y="904946"/>
                </a:cubicBezTo>
                <a:cubicBezTo>
                  <a:pt x="967932" y="915549"/>
                  <a:pt x="977750" y="924481"/>
                  <a:pt x="978290" y="936843"/>
                </a:cubicBezTo>
                <a:cubicBezTo>
                  <a:pt x="981545" y="958716"/>
                  <a:pt x="980597" y="986256"/>
                  <a:pt x="983607" y="1011271"/>
                </a:cubicBezTo>
                <a:cubicBezTo>
                  <a:pt x="985359" y="1021968"/>
                  <a:pt x="991805" y="1032421"/>
                  <a:pt x="994239" y="1043169"/>
                </a:cubicBezTo>
                <a:cubicBezTo>
                  <a:pt x="995627" y="1049659"/>
                  <a:pt x="994342" y="1059975"/>
                  <a:pt x="999555" y="1064434"/>
                </a:cubicBezTo>
                <a:cubicBezTo>
                  <a:pt x="1004981" y="1071503"/>
                  <a:pt x="1023267" y="1078736"/>
                  <a:pt x="1031453" y="1080383"/>
                </a:cubicBezTo>
                <a:cubicBezTo>
                  <a:pt x="1037977" y="1081847"/>
                  <a:pt x="1047782" y="1083796"/>
                  <a:pt x="1052718" y="1085699"/>
                </a:cubicBezTo>
                <a:cubicBezTo>
                  <a:pt x="1057497" y="1086897"/>
                  <a:pt x="1062903" y="1090248"/>
                  <a:pt x="1068667" y="1091015"/>
                </a:cubicBezTo>
                <a:cubicBezTo>
                  <a:pt x="1090808" y="1097672"/>
                  <a:pt x="1110668" y="1094747"/>
                  <a:pt x="1132462" y="1096332"/>
                </a:cubicBezTo>
                <a:cubicBezTo>
                  <a:pt x="1140933" y="1098008"/>
                  <a:pt x="1150633" y="1100043"/>
                  <a:pt x="1159044" y="1101648"/>
                </a:cubicBezTo>
                <a:cubicBezTo>
                  <a:pt x="1166308" y="1102941"/>
                  <a:pt x="1173208" y="1107093"/>
                  <a:pt x="1180309" y="1106964"/>
                </a:cubicBezTo>
                <a:cubicBezTo>
                  <a:pt x="1230795" y="1115540"/>
                  <a:pt x="1285975" y="1094945"/>
                  <a:pt x="1334481" y="1101648"/>
                </a:cubicBezTo>
                <a:cubicBezTo>
                  <a:pt x="1339954" y="1094271"/>
                  <a:pt x="1348561" y="1088803"/>
                  <a:pt x="1350430" y="1080383"/>
                </a:cubicBezTo>
                <a:cubicBezTo>
                  <a:pt x="1353122" y="1058260"/>
                  <a:pt x="1357026" y="1026473"/>
                  <a:pt x="1355746" y="1005955"/>
                </a:cubicBezTo>
                <a:cubicBezTo>
                  <a:pt x="1357094" y="999975"/>
                  <a:pt x="1358877" y="995486"/>
                  <a:pt x="1361062" y="990006"/>
                </a:cubicBezTo>
                <a:cubicBezTo>
                  <a:pt x="1361191" y="978370"/>
                  <a:pt x="1368202" y="953799"/>
                  <a:pt x="1366379" y="942159"/>
                </a:cubicBezTo>
              </a:path>
            </a:pathLst>
          </a:custGeom>
          <a:noFill/>
          <a:ln w="50800">
            <a:solidFill>
              <a:srgbClr val="FF0000"/>
            </a:solidFill>
            <a:tailEnd type="triangle" w="med" len="sm"/>
            <a:extLst>
              <a:ext uri="{C807C97D-BFC1-408E-A445-0C87EB9F89A2}">
                <ask:lineSketchStyleProps xmlns:ask="http://schemas.microsoft.com/office/drawing/2018/sketchyshapes" sd="4075156299">
                  <a:custGeom>
                    <a:avLst/>
                    <a:gdLst>
                      <a:gd name="connsiteX0" fmla="*/ 5411 w 1366379"/>
                      <a:gd name="connsiteY0" fmla="*/ 266992 h 1106964"/>
                      <a:gd name="connsiteX1" fmla="*/ 95 w 1366379"/>
                      <a:gd name="connsiteY1" fmla="*/ 181932 h 1106964"/>
                      <a:gd name="connsiteX2" fmla="*/ 10728 w 1366379"/>
                      <a:gd name="connsiteY2" fmla="*/ 75606 h 1106964"/>
                      <a:gd name="connsiteX3" fmla="*/ 42625 w 1366379"/>
                      <a:gd name="connsiteY3" fmla="*/ 43708 h 1106964"/>
                      <a:gd name="connsiteX4" fmla="*/ 127686 w 1366379"/>
                      <a:gd name="connsiteY4" fmla="*/ 27759 h 1106964"/>
                      <a:gd name="connsiteX5" fmla="*/ 701844 w 1366379"/>
                      <a:gd name="connsiteY5" fmla="*/ 27759 h 1106964"/>
                      <a:gd name="connsiteX6" fmla="*/ 808169 w 1366379"/>
                      <a:gd name="connsiteY6" fmla="*/ 49025 h 1106964"/>
                      <a:gd name="connsiteX7" fmla="*/ 845383 w 1366379"/>
                      <a:gd name="connsiteY7" fmla="*/ 54341 h 1106964"/>
                      <a:gd name="connsiteX8" fmla="*/ 893230 w 1366379"/>
                      <a:gd name="connsiteY8" fmla="*/ 64973 h 1106964"/>
                      <a:gd name="connsiteX9" fmla="*/ 914495 w 1366379"/>
                      <a:gd name="connsiteY9" fmla="*/ 75606 h 1106964"/>
                      <a:gd name="connsiteX10" fmla="*/ 925128 w 1366379"/>
                      <a:gd name="connsiteY10" fmla="*/ 118136 h 1106964"/>
                      <a:gd name="connsiteX11" fmla="*/ 941076 w 1366379"/>
                      <a:gd name="connsiteY11" fmla="*/ 144718 h 1106964"/>
                      <a:gd name="connsiteX12" fmla="*/ 946393 w 1366379"/>
                      <a:gd name="connsiteY12" fmla="*/ 171299 h 1106964"/>
                      <a:gd name="connsiteX13" fmla="*/ 951709 w 1366379"/>
                      <a:gd name="connsiteY13" fmla="*/ 203197 h 1106964"/>
                      <a:gd name="connsiteX14" fmla="*/ 962342 w 1366379"/>
                      <a:gd name="connsiteY14" fmla="*/ 229778 h 1106964"/>
                      <a:gd name="connsiteX15" fmla="*/ 967658 w 1366379"/>
                      <a:gd name="connsiteY15" fmla="*/ 904946 h 1106964"/>
                      <a:gd name="connsiteX16" fmla="*/ 978290 w 1366379"/>
                      <a:gd name="connsiteY16" fmla="*/ 936843 h 1106964"/>
                      <a:gd name="connsiteX17" fmla="*/ 983607 w 1366379"/>
                      <a:gd name="connsiteY17" fmla="*/ 1011271 h 1106964"/>
                      <a:gd name="connsiteX18" fmla="*/ 994239 w 1366379"/>
                      <a:gd name="connsiteY18" fmla="*/ 1043169 h 1106964"/>
                      <a:gd name="connsiteX19" fmla="*/ 999555 w 1366379"/>
                      <a:gd name="connsiteY19" fmla="*/ 1064434 h 1106964"/>
                      <a:gd name="connsiteX20" fmla="*/ 1031453 w 1366379"/>
                      <a:gd name="connsiteY20" fmla="*/ 1080383 h 1106964"/>
                      <a:gd name="connsiteX21" fmla="*/ 1052718 w 1366379"/>
                      <a:gd name="connsiteY21" fmla="*/ 1085699 h 1106964"/>
                      <a:gd name="connsiteX22" fmla="*/ 1068667 w 1366379"/>
                      <a:gd name="connsiteY22" fmla="*/ 1091015 h 1106964"/>
                      <a:gd name="connsiteX23" fmla="*/ 1132462 w 1366379"/>
                      <a:gd name="connsiteY23" fmla="*/ 1096332 h 1106964"/>
                      <a:gd name="connsiteX24" fmla="*/ 1159044 w 1366379"/>
                      <a:gd name="connsiteY24" fmla="*/ 1101648 h 1106964"/>
                      <a:gd name="connsiteX25" fmla="*/ 1180309 w 1366379"/>
                      <a:gd name="connsiteY25" fmla="*/ 1106964 h 1106964"/>
                      <a:gd name="connsiteX26" fmla="*/ 1334481 w 1366379"/>
                      <a:gd name="connsiteY26" fmla="*/ 1101648 h 1106964"/>
                      <a:gd name="connsiteX27" fmla="*/ 1350430 w 1366379"/>
                      <a:gd name="connsiteY27" fmla="*/ 1080383 h 1106964"/>
                      <a:gd name="connsiteX28" fmla="*/ 1355746 w 1366379"/>
                      <a:gd name="connsiteY28" fmla="*/ 1005955 h 1106964"/>
                      <a:gd name="connsiteX29" fmla="*/ 1361062 w 1366379"/>
                      <a:gd name="connsiteY29" fmla="*/ 990006 h 1106964"/>
                      <a:gd name="connsiteX30" fmla="*/ 1366379 w 1366379"/>
                      <a:gd name="connsiteY30" fmla="*/ 942159 h 11069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1366379" h="1106964">
                        <a:moveTo>
                          <a:pt x="5411" y="266992"/>
                        </a:moveTo>
                        <a:cubicBezTo>
                          <a:pt x="3639" y="238639"/>
                          <a:pt x="-694" y="210330"/>
                          <a:pt x="95" y="181932"/>
                        </a:cubicBezTo>
                        <a:cubicBezTo>
                          <a:pt x="1084" y="146327"/>
                          <a:pt x="4625" y="110698"/>
                          <a:pt x="10728" y="75606"/>
                        </a:cubicBezTo>
                        <a:cubicBezTo>
                          <a:pt x="12697" y="64282"/>
                          <a:pt x="35077" y="46853"/>
                          <a:pt x="42625" y="43708"/>
                        </a:cubicBezTo>
                        <a:cubicBezTo>
                          <a:pt x="66789" y="33640"/>
                          <a:pt x="102164" y="30950"/>
                          <a:pt x="127686" y="27759"/>
                        </a:cubicBezTo>
                        <a:cubicBezTo>
                          <a:pt x="309767" y="-32931"/>
                          <a:pt x="526936" y="24296"/>
                          <a:pt x="701844" y="27759"/>
                        </a:cubicBezTo>
                        <a:cubicBezTo>
                          <a:pt x="752260" y="38963"/>
                          <a:pt x="753953" y="39989"/>
                          <a:pt x="808169" y="49025"/>
                        </a:cubicBezTo>
                        <a:cubicBezTo>
                          <a:pt x="820529" y="51085"/>
                          <a:pt x="833023" y="52281"/>
                          <a:pt x="845383" y="54341"/>
                        </a:cubicBezTo>
                        <a:cubicBezTo>
                          <a:pt x="865633" y="57716"/>
                          <a:pt x="874112" y="60194"/>
                          <a:pt x="893230" y="64973"/>
                        </a:cubicBezTo>
                        <a:cubicBezTo>
                          <a:pt x="900318" y="68517"/>
                          <a:pt x="910418" y="68810"/>
                          <a:pt x="914495" y="75606"/>
                        </a:cubicBezTo>
                        <a:cubicBezTo>
                          <a:pt x="922013" y="88137"/>
                          <a:pt x="917610" y="105605"/>
                          <a:pt x="925128" y="118136"/>
                        </a:cubicBezTo>
                        <a:lnTo>
                          <a:pt x="941076" y="144718"/>
                        </a:lnTo>
                        <a:cubicBezTo>
                          <a:pt x="942848" y="153578"/>
                          <a:pt x="944777" y="162409"/>
                          <a:pt x="946393" y="171299"/>
                        </a:cubicBezTo>
                        <a:cubicBezTo>
                          <a:pt x="948321" y="181904"/>
                          <a:pt x="948873" y="192798"/>
                          <a:pt x="951709" y="203197"/>
                        </a:cubicBezTo>
                        <a:cubicBezTo>
                          <a:pt x="954220" y="212404"/>
                          <a:pt x="958798" y="220918"/>
                          <a:pt x="962342" y="229778"/>
                        </a:cubicBezTo>
                        <a:cubicBezTo>
                          <a:pt x="964114" y="454834"/>
                          <a:pt x="962583" y="679940"/>
                          <a:pt x="967658" y="904946"/>
                        </a:cubicBezTo>
                        <a:cubicBezTo>
                          <a:pt x="967911" y="916151"/>
                          <a:pt x="976627" y="925760"/>
                          <a:pt x="978290" y="936843"/>
                        </a:cubicBezTo>
                        <a:cubicBezTo>
                          <a:pt x="981980" y="961440"/>
                          <a:pt x="979917" y="986674"/>
                          <a:pt x="983607" y="1011271"/>
                        </a:cubicBezTo>
                        <a:cubicBezTo>
                          <a:pt x="985270" y="1022355"/>
                          <a:pt x="991521" y="1032296"/>
                          <a:pt x="994239" y="1043169"/>
                        </a:cubicBezTo>
                        <a:cubicBezTo>
                          <a:pt x="996011" y="1050257"/>
                          <a:pt x="995502" y="1058355"/>
                          <a:pt x="999555" y="1064434"/>
                        </a:cubicBezTo>
                        <a:cubicBezTo>
                          <a:pt x="1005036" y="1072655"/>
                          <a:pt x="1022714" y="1077886"/>
                          <a:pt x="1031453" y="1080383"/>
                        </a:cubicBezTo>
                        <a:cubicBezTo>
                          <a:pt x="1038478" y="1082390"/>
                          <a:pt x="1045693" y="1083692"/>
                          <a:pt x="1052718" y="1085699"/>
                        </a:cubicBezTo>
                        <a:cubicBezTo>
                          <a:pt x="1058106" y="1087238"/>
                          <a:pt x="1063112" y="1090274"/>
                          <a:pt x="1068667" y="1091015"/>
                        </a:cubicBezTo>
                        <a:cubicBezTo>
                          <a:pt x="1089819" y="1093835"/>
                          <a:pt x="1111197" y="1094560"/>
                          <a:pt x="1132462" y="1096332"/>
                        </a:cubicBezTo>
                        <a:cubicBezTo>
                          <a:pt x="1141323" y="1098104"/>
                          <a:pt x="1150223" y="1099688"/>
                          <a:pt x="1159044" y="1101648"/>
                        </a:cubicBezTo>
                        <a:cubicBezTo>
                          <a:pt x="1166176" y="1103233"/>
                          <a:pt x="1173003" y="1106964"/>
                          <a:pt x="1180309" y="1106964"/>
                        </a:cubicBezTo>
                        <a:cubicBezTo>
                          <a:pt x="1231730" y="1106964"/>
                          <a:pt x="1283090" y="1103420"/>
                          <a:pt x="1334481" y="1101648"/>
                        </a:cubicBezTo>
                        <a:cubicBezTo>
                          <a:pt x="1339797" y="1094560"/>
                          <a:pt x="1348508" y="1089032"/>
                          <a:pt x="1350430" y="1080383"/>
                        </a:cubicBezTo>
                        <a:cubicBezTo>
                          <a:pt x="1355826" y="1056103"/>
                          <a:pt x="1352840" y="1030657"/>
                          <a:pt x="1355746" y="1005955"/>
                        </a:cubicBezTo>
                        <a:cubicBezTo>
                          <a:pt x="1356401" y="1000390"/>
                          <a:pt x="1359290" y="995322"/>
                          <a:pt x="1361062" y="990006"/>
                        </a:cubicBezTo>
                        <a:lnTo>
                          <a:pt x="1366379" y="942159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143DF112-E4CB-16AE-CCC8-F9A471E55484}"/>
              </a:ext>
            </a:extLst>
          </p:cNvPr>
          <p:cNvSpPr/>
          <p:nvPr/>
        </p:nvSpPr>
        <p:spPr>
          <a:xfrm>
            <a:off x="8862237" y="3279888"/>
            <a:ext cx="531628" cy="201591"/>
          </a:xfrm>
          <a:custGeom>
            <a:avLst/>
            <a:gdLst>
              <a:gd name="connsiteX0" fmla="*/ 0 w 531628"/>
              <a:gd name="connsiteY0" fmla="*/ 165061 h 201591"/>
              <a:gd name="connsiteX1" fmla="*/ 85061 w 531628"/>
              <a:gd name="connsiteY1" fmla="*/ 175693 h 201591"/>
              <a:gd name="connsiteX2" fmla="*/ 122275 w 531628"/>
              <a:gd name="connsiteY2" fmla="*/ 181010 h 201591"/>
              <a:gd name="connsiteX3" fmla="*/ 191386 w 531628"/>
              <a:gd name="connsiteY3" fmla="*/ 191642 h 201591"/>
              <a:gd name="connsiteX4" fmla="*/ 361507 w 531628"/>
              <a:gd name="connsiteY4" fmla="*/ 191642 h 201591"/>
              <a:gd name="connsiteX5" fmla="*/ 377456 w 531628"/>
              <a:gd name="connsiteY5" fmla="*/ 186326 h 201591"/>
              <a:gd name="connsiteX6" fmla="*/ 409354 w 531628"/>
              <a:gd name="connsiteY6" fmla="*/ 181010 h 201591"/>
              <a:gd name="connsiteX7" fmla="*/ 478465 w 531628"/>
              <a:gd name="connsiteY7" fmla="*/ 154428 h 201591"/>
              <a:gd name="connsiteX8" fmla="*/ 489098 w 531628"/>
              <a:gd name="connsiteY8" fmla="*/ 138479 h 201591"/>
              <a:gd name="connsiteX9" fmla="*/ 510363 w 531628"/>
              <a:gd name="connsiteY9" fmla="*/ 95949 h 201591"/>
              <a:gd name="connsiteX10" fmla="*/ 531628 w 531628"/>
              <a:gd name="connsiteY10" fmla="*/ 69368 h 201591"/>
              <a:gd name="connsiteX11" fmla="*/ 531628 w 531628"/>
              <a:gd name="connsiteY11" fmla="*/ 256 h 201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31628" h="201591" extrusionOk="0">
                <a:moveTo>
                  <a:pt x="0" y="165061"/>
                </a:moveTo>
                <a:cubicBezTo>
                  <a:pt x="38131" y="164895"/>
                  <a:pt x="65486" y="176945"/>
                  <a:pt x="85061" y="175693"/>
                </a:cubicBezTo>
                <a:cubicBezTo>
                  <a:pt x="98640" y="177542"/>
                  <a:pt x="109876" y="178467"/>
                  <a:pt x="122275" y="181010"/>
                </a:cubicBezTo>
                <a:cubicBezTo>
                  <a:pt x="172740" y="177528"/>
                  <a:pt x="45189" y="203787"/>
                  <a:pt x="191386" y="191642"/>
                </a:cubicBezTo>
                <a:cubicBezTo>
                  <a:pt x="258755" y="211721"/>
                  <a:pt x="216939" y="192077"/>
                  <a:pt x="361507" y="191642"/>
                </a:cubicBezTo>
                <a:cubicBezTo>
                  <a:pt x="367442" y="190012"/>
                  <a:pt x="371412" y="187166"/>
                  <a:pt x="377456" y="186326"/>
                </a:cubicBezTo>
                <a:cubicBezTo>
                  <a:pt x="388919" y="182458"/>
                  <a:pt x="398470" y="183003"/>
                  <a:pt x="409354" y="181010"/>
                </a:cubicBezTo>
                <a:cubicBezTo>
                  <a:pt x="470347" y="163558"/>
                  <a:pt x="439572" y="176867"/>
                  <a:pt x="478465" y="154428"/>
                </a:cubicBezTo>
                <a:cubicBezTo>
                  <a:pt x="481409" y="148416"/>
                  <a:pt x="486265" y="145660"/>
                  <a:pt x="489098" y="138479"/>
                </a:cubicBezTo>
                <a:cubicBezTo>
                  <a:pt x="496243" y="124539"/>
                  <a:pt x="501943" y="104265"/>
                  <a:pt x="510363" y="95949"/>
                </a:cubicBezTo>
                <a:cubicBezTo>
                  <a:pt x="516235" y="83858"/>
                  <a:pt x="527098" y="80853"/>
                  <a:pt x="531628" y="69368"/>
                </a:cubicBezTo>
                <a:cubicBezTo>
                  <a:pt x="504229" y="-5120"/>
                  <a:pt x="484727" y="-3563"/>
                  <a:pt x="531628" y="256"/>
                </a:cubicBezTo>
              </a:path>
            </a:pathLst>
          </a:custGeom>
          <a:noFill/>
          <a:ln w="50800">
            <a:solidFill>
              <a:srgbClr val="FF0000"/>
            </a:solidFill>
            <a:tailEnd type="triangle" w="med" len="sm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31628"/>
                      <a:gd name="connsiteY0" fmla="*/ 165061 h 201591"/>
                      <a:gd name="connsiteX1" fmla="*/ 85061 w 531628"/>
                      <a:gd name="connsiteY1" fmla="*/ 175693 h 201591"/>
                      <a:gd name="connsiteX2" fmla="*/ 122275 w 531628"/>
                      <a:gd name="connsiteY2" fmla="*/ 181010 h 201591"/>
                      <a:gd name="connsiteX3" fmla="*/ 191386 w 531628"/>
                      <a:gd name="connsiteY3" fmla="*/ 191642 h 201591"/>
                      <a:gd name="connsiteX4" fmla="*/ 361507 w 531628"/>
                      <a:gd name="connsiteY4" fmla="*/ 191642 h 201591"/>
                      <a:gd name="connsiteX5" fmla="*/ 377456 w 531628"/>
                      <a:gd name="connsiteY5" fmla="*/ 186326 h 201591"/>
                      <a:gd name="connsiteX6" fmla="*/ 409354 w 531628"/>
                      <a:gd name="connsiteY6" fmla="*/ 181010 h 201591"/>
                      <a:gd name="connsiteX7" fmla="*/ 478465 w 531628"/>
                      <a:gd name="connsiteY7" fmla="*/ 154428 h 201591"/>
                      <a:gd name="connsiteX8" fmla="*/ 489098 w 531628"/>
                      <a:gd name="connsiteY8" fmla="*/ 138479 h 201591"/>
                      <a:gd name="connsiteX9" fmla="*/ 510363 w 531628"/>
                      <a:gd name="connsiteY9" fmla="*/ 95949 h 201591"/>
                      <a:gd name="connsiteX10" fmla="*/ 531628 w 531628"/>
                      <a:gd name="connsiteY10" fmla="*/ 69368 h 201591"/>
                      <a:gd name="connsiteX11" fmla="*/ 531628 w 531628"/>
                      <a:gd name="connsiteY11" fmla="*/ 256 h 2015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531628" h="201591">
                        <a:moveTo>
                          <a:pt x="0" y="165061"/>
                        </a:moveTo>
                        <a:lnTo>
                          <a:pt x="85061" y="175693"/>
                        </a:lnTo>
                        <a:cubicBezTo>
                          <a:pt x="97486" y="177314"/>
                          <a:pt x="109946" y="178768"/>
                          <a:pt x="122275" y="181010"/>
                        </a:cubicBezTo>
                        <a:cubicBezTo>
                          <a:pt x="194609" y="194162"/>
                          <a:pt x="58310" y="176856"/>
                          <a:pt x="191386" y="191642"/>
                        </a:cubicBezTo>
                        <a:cubicBezTo>
                          <a:pt x="258714" y="208476"/>
                          <a:pt x="219646" y="200795"/>
                          <a:pt x="361507" y="191642"/>
                        </a:cubicBezTo>
                        <a:cubicBezTo>
                          <a:pt x="367099" y="191281"/>
                          <a:pt x="371986" y="187542"/>
                          <a:pt x="377456" y="186326"/>
                        </a:cubicBezTo>
                        <a:cubicBezTo>
                          <a:pt x="387979" y="183988"/>
                          <a:pt x="398721" y="182782"/>
                          <a:pt x="409354" y="181010"/>
                        </a:cubicBezTo>
                        <a:cubicBezTo>
                          <a:pt x="464718" y="162555"/>
                          <a:pt x="442164" y="172580"/>
                          <a:pt x="478465" y="154428"/>
                        </a:cubicBezTo>
                        <a:cubicBezTo>
                          <a:pt x="482009" y="149112"/>
                          <a:pt x="486038" y="144088"/>
                          <a:pt x="489098" y="138479"/>
                        </a:cubicBezTo>
                        <a:cubicBezTo>
                          <a:pt x="496688" y="124564"/>
                          <a:pt x="500462" y="108326"/>
                          <a:pt x="510363" y="95949"/>
                        </a:cubicBezTo>
                        <a:lnTo>
                          <a:pt x="531628" y="69368"/>
                        </a:lnTo>
                        <a:cubicBezTo>
                          <a:pt x="501866" y="-8014"/>
                          <a:pt x="480365" y="256"/>
                          <a:pt x="531628" y="256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9691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7" grpId="0" animBg="1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84CFD-134E-FD1A-87A6-D2576DD99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E13726B-0668-6ABF-7FE9-F30C8E82E56A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Atenção Cruzada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6EC1462-F323-1D57-5401-2C900B21FB02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cruzada permite que o decodificador selecione partes relevantes da entrada processada pelo codificador.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mecanismo conecta diretamente os tokens gerados à representação da entrada, enriquecendo o contexto.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cruzada ocorre após a atenção mascarada, combinando informações internas e externas.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etapa é essencial para tarefas como tradução, onde a saída depende fortemente da estrutura da entrada.</a:t>
            </a:r>
          </a:p>
        </p:txBody>
      </p:sp>
    </p:spTree>
    <p:extLst>
      <p:ext uri="{BB962C8B-B14F-4D97-AF65-F5344CB8AC3E}">
        <p14:creationId xmlns:p14="http://schemas.microsoft.com/office/powerpoint/2010/main" val="203111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D9153-42B2-6689-5536-EFBA03E50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B3565E7-61B3-0CF3-8B5A-6E180BAA183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Fluxo de Dados na Integração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DDAF341-D779-7989-6AB7-3CA237156913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codificador processa a entrada completa e gera representações contextuais para cada token.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decodificador inicia a geração com atenção mascarada, considerando apenas os tokens já produzidos.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 seguida, ele acessa as saídas do codificador para enriquecer cada etapa da geração.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fluxo garante que a saída seja construída com base em contexto interno e externo, de forma ordenada.</a:t>
            </a:r>
          </a:p>
        </p:txBody>
      </p:sp>
    </p:spTree>
    <p:extLst>
      <p:ext uri="{BB962C8B-B14F-4D97-AF65-F5344CB8AC3E}">
        <p14:creationId xmlns:p14="http://schemas.microsoft.com/office/powerpoint/2010/main" val="2105394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62D09-D363-8A8F-AE99-7C6AE9FCD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A5B36A5-9667-94C1-70F7-1655E2E58FD1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Benefícios da Integração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A3984EC-6A4C-E9C0-7A20-B3400CFEC280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integração entre codificador e decodificador permite que a saída seja gerada com base em contexto relevante.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mecanismo melhora a precisão da geração ao conectar diretamente entrada e saída.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cruzada facilita o alinhamento entre os tokens da entrada e os gerados pelo decodificador.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é essencial para tarefas como tradução, onde cada palavra depende do significado completo da frase original.</a:t>
            </a:r>
          </a:p>
        </p:txBody>
      </p:sp>
    </p:spTree>
    <p:extLst>
      <p:ext uri="{BB962C8B-B14F-4D97-AF65-F5344CB8AC3E}">
        <p14:creationId xmlns:p14="http://schemas.microsoft.com/office/powerpoint/2010/main" val="2639201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30017-7C18-E631-1DDC-218DE41F0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485B021-14FD-545B-835E-67A927049E0B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Exemplo Prático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BFEFAE-153C-286C-30D0-7FCA46C5ACF8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Na tradução automática, o decodificador gera cada palavra com base nos tokens anteriores e na entrada traduzida.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mascarada garante que a geração ocorra de forma sequencial, respeitando a estrutura da frase.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cada passo, o decodificador consulta a entrada processada para alinhar corretamente os significados.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processo resulta em traduções mais precisas e contextualizadas, mesmo em frases complexas.</a:t>
            </a:r>
          </a:p>
        </p:txBody>
      </p:sp>
    </p:spTree>
    <p:extLst>
      <p:ext uri="{BB962C8B-B14F-4D97-AF65-F5344CB8AC3E}">
        <p14:creationId xmlns:p14="http://schemas.microsoft.com/office/powerpoint/2010/main" val="194686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823367"/>
              </p:ext>
            </p:extLst>
          </p:nvPr>
        </p:nvGraphicFramePr>
        <p:xfrm>
          <a:off x="1427357" y="1277055"/>
          <a:ext cx="9456234" cy="4372642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2185638">
                  <a:extLst>
                    <a:ext uri="{9D8B030D-6E8A-4147-A177-3AD203B41FA5}">
                      <a16:colId xmlns:a16="http://schemas.microsoft.com/office/drawing/2014/main" val="3059415648"/>
                    </a:ext>
                  </a:extLst>
                </a:gridCol>
                <a:gridCol w="3635298">
                  <a:extLst>
                    <a:ext uri="{9D8B030D-6E8A-4147-A177-3AD203B41FA5}">
                      <a16:colId xmlns:a16="http://schemas.microsoft.com/office/drawing/2014/main" val="3849346587"/>
                    </a:ext>
                  </a:extLst>
                </a:gridCol>
                <a:gridCol w="3635298">
                  <a:extLst>
                    <a:ext uri="{9D8B030D-6E8A-4147-A177-3AD203B41FA5}">
                      <a16:colId xmlns:a16="http://schemas.microsoft.com/office/drawing/2014/main" val="2901214388"/>
                    </a:ext>
                  </a:extLst>
                </a:gridCol>
              </a:tblGrid>
              <a:tr h="7150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3EBF3"/>
                          </a:solidFill>
                          <a:effectLst/>
                          <a:uLnTx/>
                          <a:uFillTx/>
                        </a:rPr>
                        <a:t>Aspecto</a:t>
                      </a:r>
                      <a:endParaRPr kumimoji="0" lang="pt-B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3EBF3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4402" marR="94402" marT="47202" marB="4720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3EBF3"/>
                          </a:solidFill>
                          <a:effectLst/>
                          <a:uLnTx/>
                          <a:uFillTx/>
                        </a:rPr>
                        <a:t>Atenção Mascarada</a:t>
                      </a:r>
                      <a:endParaRPr kumimoji="0" lang="pt-B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3EBF3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4402" marR="94402" marT="47202" marB="4720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3EBF3"/>
                          </a:solidFill>
                          <a:effectLst/>
                          <a:uLnTx/>
                          <a:uFillTx/>
                        </a:rPr>
                        <a:t>Atenção Cruzada</a:t>
                      </a:r>
                      <a:endParaRPr kumimoji="0" lang="pt-B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3EBF3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4402" marR="94402" marT="47202" marB="47202" anchor="ctr"/>
                </a:tc>
                <a:extLst>
                  <a:ext uri="{0D108BD9-81ED-4DB2-BD59-A6C34878D82A}">
                    <a16:rowId xmlns:a16="http://schemas.microsoft.com/office/drawing/2014/main" val="324262726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Objetivo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Impedir que o decodificador acesse tokens futuros durante a geração.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Permitir que o decodificador consulte a entrada processada pelo codificador.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542481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Aplicação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Usada no decodificador para garantir previsões passo a passo.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Usada após a atenção mascarada para enriquecer o contexto da saída.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422495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Função no modelo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Mantém a coerência temporal na geração de texto.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Conecta diretamente os tokens gerados às representações da entrada.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73441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Importância prática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Essencial em tarefas autoregressivas como geração de texto.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Fundamental em tarefas como tradução e resposta a perguntas.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3784606"/>
                  </a:ext>
                </a:extLst>
              </a:tr>
            </a:tbl>
          </a:graphicData>
        </a:graphic>
      </p:graphicFrame>
      <p:sp>
        <p:nvSpPr>
          <p:cNvPr id="3" name="CaixaDeTexto 2"/>
          <p:cNvSpPr txBox="1"/>
          <p:nvPr/>
        </p:nvSpPr>
        <p:spPr>
          <a:xfrm>
            <a:off x="645459" y="436914"/>
            <a:ext cx="1087867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500" b="1" dirty="0">
                <a:solidFill>
                  <a:srgbClr val="01BDC4"/>
                </a:solidFill>
              </a:rPr>
              <a:t>QUADRO COMPARATIVO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656665" y="5673942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00" i="1" dirty="0">
                <a:solidFill>
                  <a:schemeClr val="bg1">
                    <a:lumMod val="50000"/>
                  </a:schemeClr>
                </a:solidFill>
              </a:rPr>
              <a:t>FONTE: Elaborada pelo autor</a:t>
            </a:r>
          </a:p>
        </p:txBody>
      </p:sp>
    </p:spTree>
    <p:extLst>
      <p:ext uri="{BB962C8B-B14F-4D97-AF65-F5344CB8AC3E}">
        <p14:creationId xmlns:p14="http://schemas.microsoft.com/office/powerpoint/2010/main" val="258817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8A62D-3293-3E5F-6F9D-5E821F417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04431E9-40A1-7E45-C315-77FBD0C1E227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Aplicações Relevantes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B7CB8CA-849B-BFE4-A1DF-3C5315328B3F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como GPT usam atenção mascarada para gerar texto de forma sequencial e coerente.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BERT, por outro lado, aplica atenção completa, sem mascaramento, para entender o contexto bidirecional.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cruzada é essencial em modelos de tradução, permitindo que a saída reflita a entrada com precisão.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mecanismos tornam os Transformers versáteis em tarefas como sumarização, classificação e diálogo.</a:t>
            </a:r>
          </a:p>
        </p:txBody>
      </p:sp>
    </p:spTree>
    <p:extLst>
      <p:ext uri="{BB962C8B-B14F-4D97-AF65-F5344CB8AC3E}">
        <p14:creationId xmlns:p14="http://schemas.microsoft.com/office/powerpoint/2010/main" val="3292936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43314-B47E-006A-D195-753AAECD9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B85EA66-6202-2A84-F0AE-0F59876A19B4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60E3E0D-4D92-D732-23AF-E6CCFD8ED974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mascarada no decodificador impede o uso de tokens futuros, garantindo geração sequencial.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codificador aplica atenção completa, processando toda a entrada sem restrições temporais.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cruzada conecta o decodificador às representações da entrada, enriquecendo o contexto.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mecanismos atuam juntos para produzir saídas coerentes e contextualizadas em tarefas como tradução.</a:t>
            </a:r>
          </a:p>
        </p:txBody>
      </p:sp>
    </p:spTree>
    <p:extLst>
      <p:ext uri="{BB962C8B-B14F-4D97-AF65-F5344CB8AC3E}">
        <p14:creationId xmlns:p14="http://schemas.microsoft.com/office/powerpoint/2010/main" val="1880083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11437</TotalTime>
  <Words>1059</Words>
  <Application>Microsoft Office PowerPoint</Application>
  <PresentationFormat>Widescreen</PresentationFormat>
  <Paragraphs>101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20</vt:i4>
      </vt:variant>
    </vt:vector>
  </HeadingPairs>
  <TitlesOfParts>
    <vt:vector size="32" baseType="lpstr">
      <vt:lpstr>Arial</vt:lpstr>
      <vt:lpstr>Calibri</vt:lpstr>
      <vt:lpstr>Trebuchet MS</vt:lpstr>
      <vt:lpstr>Wingdings</vt:lpstr>
      <vt:lpstr>3_1 - Capa</vt:lpstr>
      <vt:lpstr>2 - Subdivisão do assunto principal</vt:lpstr>
      <vt:lpstr>3 - Título e texto</vt:lpstr>
      <vt:lpstr>2_3 - Título e texto</vt:lpstr>
      <vt:lpstr>1_3 - Título e texto</vt:lpstr>
      <vt:lpstr>5 - Slide de Tabela ou imagem</vt:lpstr>
      <vt:lpstr>1_5 - Slide de Tabela ou imagem</vt:lpstr>
      <vt:lpstr>6 - Final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Zenilton Patrocínio Jr.</cp:lastModifiedBy>
  <cp:revision>99</cp:revision>
  <dcterms:created xsi:type="dcterms:W3CDTF">2020-01-14T17:16:45Z</dcterms:created>
  <dcterms:modified xsi:type="dcterms:W3CDTF">2025-11-28T19:17:34Z</dcterms:modified>
</cp:coreProperties>
</file>