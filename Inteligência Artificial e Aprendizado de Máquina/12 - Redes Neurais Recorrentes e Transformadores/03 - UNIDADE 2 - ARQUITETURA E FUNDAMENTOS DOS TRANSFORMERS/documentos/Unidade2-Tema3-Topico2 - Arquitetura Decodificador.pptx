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  <p:sldMasterId id="2147483662" r:id="rId2"/>
    <p:sldMasterId id="2147483686" r:id="rId3"/>
    <p:sldMasterId id="2147483702" r:id="rId4"/>
    <p:sldMasterId id="2147483700" r:id="rId5"/>
    <p:sldMasterId id="2147483698" r:id="rId6"/>
    <p:sldMasterId id="2147483690" r:id="rId7"/>
    <p:sldMasterId id="2147483709" r:id="rId8"/>
  </p:sldMasterIdLst>
  <p:notesMasterIdLst>
    <p:notesMasterId r:id="rId35"/>
  </p:notesMasterIdLst>
  <p:handoutMasterIdLst>
    <p:handoutMasterId r:id="rId36"/>
  </p:handoutMasterIdLst>
  <p:sldIdLst>
    <p:sldId id="266" r:id="rId9"/>
    <p:sldId id="260" r:id="rId10"/>
    <p:sldId id="267" r:id="rId11"/>
    <p:sldId id="268" r:id="rId12"/>
    <p:sldId id="295" r:id="rId13"/>
    <p:sldId id="269" r:id="rId14"/>
    <p:sldId id="297" r:id="rId15"/>
    <p:sldId id="271" r:id="rId16"/>
    <p:sldId id="298" r:id="rId17"/>
    <p:sldId id="272" r:id="rId18"/>
    <p:sldId id="299" r:id="rId19"/>
    <p:sldId id="273" r:id="rId20"/>
    <p:sldId id="300" r:id="rId21"/>
    <p:sldId id="274" r:id="rId22"/>
    <p:sldId id="301" r:id="rId23"/>
    <p:sldId id="275" r:id="rId24"/>
    <p:sldId id="277" r:id="rId25"/>
    <p:sldId id="296" r:id="rId26"/>
    <p:sldId id="278" r:id="rId27"/>
    <p:sldId id="279" r:id="rId28"/>
    <p:sldId id="280" r:id="rId29"/>
    <p:sldId id="281" r:id="rId30"/>
    <p:sldId id="283" r:id="rId31"/>
    <p:sldId id="285" r:id="rId32"/>
    <p:sldId id="284" r:id="rId33"/>
    <p:sldId id="261" r:id="rId3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BDC4"/>
    <a:srgbClr val="0CA4AC"/>
    <a:srgbClr val="0FCAD3"/>
    <a:srgbClr val="53EBF3"/>
    <a:srgbClr val="10DCE6"/>
    <a:srgbClr val="19E5EF"/>
    <a:srgbClr val="7FC25E"/>
    <a:srgbClr val="99CE7E"/>
    <a:srgbClr val="4A6B9E"/>
    <a:srgbClr val="E1B0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8" autoAdjust="0"/>
    <p:restoredTop sz="96433" autoAdjust="0"/>
  </p:normalViewPr>
  <p:slideViewPr>
    <p:cSldViewPr snapToGrid="0">
      <p:cViewPr varScale="1">
        <p:scale>
          <a:sx n="57" d="100"/>
          <a:sy n="57" d="100"/>
        </p:scale>
        <p:origin x="980" y="2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9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3.xml"/><Relationship Id="rId34" Type="http://schemas.openxmlformats.org/officeDocument/2006/relationships/slide" Target="slides/slide26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D9E263-9857-493C-87AB-76AEC73ED1B0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3192C6-D1F8-4636-B20F-65E15941E4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05766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ECFB7B-FB1E-4DCF-B3DD-69231CD5CE5A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997A3D-AC07-440E-861A-1A04F9FB11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520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1032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153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965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826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4200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626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2235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9936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271D839-9F8D-4166-8A58-6B47D7B554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25"/>
          <a:stretch/>
        </p:blipFill>
        <p:spPr>
          <a:xfrm>
            <a:off x="5879592" y="-1016"/>
            <a:ext cx="6312408" cy="686003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9858289-CED5-4C74-A56D-1D4E492C6A4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662" r="84922"/>
          <a:stretch/>
        </p:blipFill>
        <p:spPr>
          <a:xfrm>
            <a:off x="0" y="4425696"/>
            <a:ext cx="1838325" cy="242417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712D76B-ED24-4422-88C0-6B7B3C166B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7021" b="14791"/>
          <a:stretch/>
        </p:blipFill>
        <p:spPr>
          <a:xfrm>
            <a:off x="801046" y="713766"/>
            <a:ext cx="1375226" cy="1147427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D825A9BF-6ACC-43DF-A1B8-755A546813D6}"/>
              </a:ext>
            </a:extLst>
          </p:cNvPr>
          <p:cNvSpPr/>
          <p:nvPr userDrawn="1"/>
        </p:nvSpPr>
        <p:spPr>
          <a:xfrm>
            <a:off x="0" y="2461486"/>
            <a:ext cx="12192000" cy="2238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4797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619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A6B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D41864C-5D31-4832-A9DF-D3CE768EAF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16"/>
            <a:ext cx="12192000" cy="6860031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C8AB8969-F6C8-4E34-9E94-3475775C31C1}"/>
              </a:ext>
            </a:extLst>
          </p:cNvPr>
          <p:cNvSpPr/>
          <p:nvPr userDrawn="1"/>
        </p:nvSpPr>
        <p:spPr>
          <a:xfrm>
            <a:off x="-42881" y="1491915"/>
            <a:ext cx="12255676" cy="4236024"/>
          </a:xfrm>
          <a:prstGeom prst="rect">
            <a:avLst/>
          </a:prstGeom>
          <a:noFill/>
          <a:ln w="19050">
            <a:solidFill>
              <a:srgbClr val="CE7F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B68C534-7803-414E-8BA1-6969B51E56A5}"/>
              </a:ext>
            </a:extLst>
          </p:cNvPr>
          <p:cNvSpPr/>
          <p:nvPr userDrawn="1"/>
        </p:nvSpPr>
        <p:spPr>
          <a:xfrm>
            <a:off x="-32080" y="1592300"/>
            <a:ext cx="12244875" cy="4035255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1F934283-E523-4C9E-8F73-3053A91293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979" b="14654"/>
          <a:stretch/>
        </p:blipFill>
        <p:spPr>
          <a:xfrm>
            <a:off x="10170133" y="233313"/>
            <a:ext cx="1076987" cy="94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980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A00898C9-9980-4E87-97AC-5E83C2D8FB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244"/>
          <a:stretch/>
        </p:blipFill>
        <p:spPr>
          <a:xfrm>
            <a:off x="0" y="1"/>
            <a:ext cx="12192001" cy="101489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C01E83D3-74CC-4611-9013-CE8C448ADC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CDF338D4-311E-44C0-92E4-277579AACB1D}"/>
              </a:ext>
            </a:extLst>
          </p:cNvPr>
          <p:cNvSpPr/>
          <p:nvPr userDrawn="1"/>
        </p:nvSpPr>
        <p:spPr>
          <a:xfrm>
            <a:off x="238125" y="1133475"/>
            <a:ext cx="11715750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4605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BF8A4F7-D892-4805-8A29-0CE7B385A0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E3AD4BB-7C89-4B5A-AC2F-1BBBBC701D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244"/>
          <a:stretch/>
        </p:blipFill>
        <p:spPr>
          <a:xfrm>
            <a:off x="0" y="1"/>
            <a:ext cx="12192001" cy="1014890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92645399-226D-4406-85F8-4E893C4404A7}"/>
              </a:ext>
            </a:extLst>
          </p:cNvPr>
          <p:cNvSpPr/>
          <p:nvPr userDrawn="1"/>
        </p:nvSpPr>
        <p:spPr>
          <a:xfrm>
            <a:off x="238125" y="1133475"/>
            <a:ext cx="6825866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A5AD9EF-CC3F-4371-8566-84417E4CB4FC}"/>
              </a:ext>
            </a:extLst>
          </p:cNvPr>
          <p:cNvSpPr/>
          <p:nvPr userDrawn="1"/>
        </p:nvSpPr>
        <p:spPr>
          <a:xfrm>
            <a:off x="7154426" y="1126817"/>
            <a:ext cx="4799449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1841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3EE433A-86F8-4A74-A106-C929C79F1D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732D89E6-11FC-4A9B-A724-0DB3487889EC}"/>
              </a:ext>
            </a:extLst>
          </p:cNvPr>
          <p:cNvSpPr/>
          <p:nvPr userDrawn="1"/>
        </p:nvSpPr>
        <p:spPr>
          <a:xfrm>
            <a:off x="228076" y="249219"/>
            <a:ext cx="11729461" cy="5779791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3950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15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A6B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479D0E5-4192-4B39-8A4A-8E8E696D586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011"/>
            <a:ext cx="12192000" cy="687802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8CA63F4-93AC-4439-A429-F7459663FB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00" t="26070" r="39575" b="41409"/>
          <a:stretch/>
        </p:blipFill>
        <p:spPr>
          <a:xfrm>
            <a:off x="4791456" y="1783080"/>
            <a:ext cx="2575502" cy="223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7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E99B992-82EF-49B9-958D-103864F509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218"/>
            <a:ext cx="12192000" cy="6878022"/>
          </a:xfrm>
          <a:prstGeom prst="rect">
            <a:avLst/>
          </a:prstGeom>
        </p:spPr>
      </p:pic>
      <p:sp>
        <p:nvSpPr>
          <p:cNvPr id="6" name="Retângulo 5"/>
          <p:cNvSpPr/>
          <p:nvPr userDrawn="1"/>
        </p:nvSpPr>
        <p:spPr>
          <a:xfrm>
            <a:off x="628769" y="-63188"/>
            <a:ext cx="10911016" cy="6942005"/>
          </a:xfrm>
          <a:prstGeom prst="rect">
            <a:avLst/>
          </a:prstGeom>
          <a:solidFill>
            <a:srgbClr val="4A6B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1884" y="6394749"/>
            <a:ext cx="1606086" cy="144879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A30BD0E4-DA32-42AA-832D-7CA703EA8D73}"/>
              </a:ext>
            </a:extLst>
          </p:cNvPr>
          <p:cNvSpPr/>
          <p:nvPr userDrawn="1"/>
        </p:nvSpPr>
        <p:spPr>
          <a:xfrm>
            <a:off x="628769" y="-68695"/>
            <a:ext cx="10911016" cy="6942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0221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3AC71C8-4A67-4A33-A6D5-77E00F8EAEB2}"/>
              </a:ext>
            </a:extLst>
          </p:cNvPr>
          <p:cNvSpPr txBox="1"/>
          <p:nvPr/>
        </p:nvSpPr>
        <p:spPr>
          <a:xfrm>
            <a:off x="-1" y="2917803"/>
            <a:ext cx="121920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>
                <a:solidFill>
                  <a:srgbClr val="4A6B9E"/>
                </a:solidFill>
                <a:latin typeface="Trebuchet MS" panose="020B0603020202020204" pitchFamily="34" charset="0"/>
              </a:rPr>
              <a:t>Arquitetura do Decodificador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58C59E6-C7EF-4B6B-BE4D-D770EE53AB4E}"/>
              </a:ext>
            </a:extLst>
          </p:cNvPr>
          <p:cNvSpPr txBox="1"/>
          <p:nvPr/>
        </p:nvSpPr>
        <p:spPr>
          <a:xfrm>
            <a:off x="-2" y="3907113"/>
            <a:ext cx="12192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dirty="0">
                <a:solidFill>
                  <a:srgbClr val="01BDC4"/>
                </a:solidFill>
                <a:latin typeface="Trebuchet MS" panose="020B0603020202020204" pitchFamily="34" charset="0"/>
              </a:rPr>
              <a:t>Zenilton Patrocínio Jr</a:t>
            </a:r>
          </a:p>
        </p:txBody>
      </p:sp>
    </p:spTree>
    <p:extLst>
      <p:ext uri="{BB962C8B-B14F-4D97-AF65-F5344CB8AC3E}">
        <p14:creationId xmlns:p14="http://schemas.microsoft.com/office/powerpoint/2010/main" val="2623967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Introdução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decodificador é composto por blocos que combinam atenção mascarada, atenção cruzada (ao codificador) e camadas </a:t>
            </a:r>
            <a:r>
              <a:rPr lang="pt-BR" sz="2800" i="1" dirty="0" err="1"/>
              <a:t>feedforward</a:t>
            </a:r>
            <a:r>
              <a:rPr lang="pt-BR" sz="2800" dirty="0"/>
              <a:t>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atenção mascarada impede que o modelo acesse informações futuras durante a geração de sequência.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interação com o codificador por meio da atenção cruzada permite que o decodificador integre contexto da entrada ao gerar a saída.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Camadas de normalização e conexões residuais ajudam a estabilizar o treinamento e melhorar o desempenho.</a:t>
            </a:r>
          </a:p>
        </p:txBody>
      </p:sp>
    </p:spTree>
    <p:extLst>
      <p:ext uri="{BB962C8B-B14F-4D97-AF65-F5344CB8AC3E}">
        <p14:creationId xmlns:p14="http://schemas.microsoft.com/office/powerpoint/2010/main" val="2300547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D6A6A-123D-772A-657D-DF5D1148D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20B2E3E-6F30-D56B-F6D6-87E027DFEDDE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Função do Decodificador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285767C-1BC8-ECE2-10DE-11EA368B034F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decodificador gera a saída sequencial com base na representação produzida pelo codificador.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Ele utiliza atenção mascarada para garantir que a geração respeite a ordem temporal dos dados.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atenção cruzada (ao codificador) permite incorporar informações relevantes da entrada durante a geração.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Camadas </a:t>
            </a:r>
            <a:r>
              <a:rPr lang="pt-BR" sz="2800" i="1" dirty="0" err="1"/>
              <a:t>feedforward</a:t>
            </a:r>
            <a:r>
              <a:rPr lang="pt-BR" sz="2800" dirty="0"/>
              <a:t> e normalização ajudam a refinar a saída e estabilizar o treinamento.</a:t>
            </a:r>
          </a:p>
        </p:txBody>
      </p:sp>
    </p:spTree>
    <p:extLst>
      <p:ext uri="{BB962C8B-B14F-4D97-AF65-F5344CB8AC3E}">
        <p14:creationId xmlns:p14="http://schemas.microsoft.com/office/powerpoint/2010/main" val="2841178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90A22-2C2E-6F07-CEE5-DBBE72F2F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A764592-1324-219B-F357-41F3860E836B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Componentes do Decodificador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936D83B-1EA0-8651-00F6-883042A3952A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decodificador possui camadas de atenção mascarada que controlam o acesso à sequência gerada.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atenção cruzada conecta o decodificador ao codificador, permitindo uso do contexto da entrada.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Camadas </a:t>
            </a:r>
            <a:r>
              <a:rPr lang="pt-BR" sz="2800" i="1" dirty="0" err="1"/>
              <a:t>feedforward</a:t>
            </a:r>
            <a:r>
              <a:rPr lang="pt-BR" sz="2800" dirty="0"/>
              <a:t> refinam as representações internas e ajudam na geração da saída.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Cada componente contribui para que o decodificador produza respostas coerentes e contextualizadas.</a:t>
            </a:r>
          </a:p>
        </p:txBody>
      </p:sp>
    </p:spTree>
    <p:extLst>
      <p:ext uri="{BB962C8B-B14F-4D97-AF65-F5344CB8AC3E}">
        <p14:creationId xmlns:p14="http://schemas.microsoft.com/office/powerpoint/2010/main" val="3050877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B2DB7-E504-CC2E-FE15-0E94FA062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F78C30DD-8ED8-7BF4-4795-CB502786530C}"/>
              </a:ext>
            </a:extLst>
          </p:cNvPr>
          <p:cNvSpPr txBox="1"/>
          <p:nvPr/>
        </p:nvSpPr>
        <p:spPr>
          <a:xfrm>
            <a:off x="656665" y="284410"/>
            <a:ext cx="1087867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500" b="1" i="0" u="none" strike="noStrike" kern="1200" cap="none" spc="0" normalizeH="0" baseline="0" noProof="0" dirty="0">
                <a:ln>
                  <a:noFill/>
                </a:ln>
                <a:solidFill>
                  <a:srgbClr val="01BD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Visualização do Decodificador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A3B130A-10EF-CA41-56A0-516EAB92A194}"/>
              </a:ext>
            </a:extLst>
          </p:cNvPr>
          <p:cNvSpPr txBox="1"/>
          <p:nvPr/>
        </p:nvSpPr>
        <p:spPr>
          <a:xfrm>
            <a:off x="645459" y="6182037"/>
            <a:ext cx="108786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FONTE: VASWANI et al.,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Attention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Need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NIPS, 2017</a:t>
            </a: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pt-BR" sz="1300" b="0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5A3EB0D-48CE-6CCF-1BA7-722A721223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757"/>
          <a:stretch>
            <a:fillRect/>
          </a:stretch>
        </p:blipFill>
        <p:spPr>
          <a:xfrm>
            <a:off x="5226784" y="915352"/>
            <a:ext cx="1738432" cy="5307980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4FC531A2-560D-C4C7-4755-01D4FD50CD97}"/>
              </a:ext>
            </a:extLst>
          </p:cNvPr>
          <p:cNvSpPr txBox="1"/>
          <p:nvPr/>
        </p:nvSpPr>
        <p:spPr>
          <a:xfrm>
            <a:off x="3182741" y="3362709"/>
            <a:ext cx="1305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Codificador</a:t>
            </a: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8F615567-E0CF-941B-C2CF-D3C2C71823A5}"/>
              </a:ext>
            </a:extLst>
          </p:cNvPr>
          <p:cNvCxnSpPr>
            <a:cxnSpLocks/>
          </p:cNvCxnSpPr>
          <p:nvPr/>
        </p:nvCxnSpPr>
        <p:spPr>
          <a:xfrm>
            <a:off x="4467067" y="3550013"/>
            <a:ext cx="789801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8135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BA2DE-C5A7-64A7-EC54-D221ADA30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9285213-2667-D5E7-676C-02B433E99EC3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Atenção Mascarada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93BD58C-D3D6-EDD4-37AF-AA4997FFA3E2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atenção mascarada impede que o decodificador acesse tokens futuros durante o treinamento.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limitação garante que a geração da sequência ocorra de forma coerente e ordenada.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modelo aprende a prever o próximo token com base apenas nos anteriores já vistos.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 mecanismo é essencial para tarefas como tradução e geração de texto sequencial.</a:t>
            </a:r>
          </a:p>
        </p:txBody>
      </p:sp>
    </p:spTree>
    <p:extLst>
      <p:ext uri="{BB962C8B-B14F-4D97-AF65-F5344CB8AC3E}">
        <p14:creationId xmlns:p14="http://schemas.microsoft.com/office/powerpoint/2010/main" val="249366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443ED-307A-595D-01D5-47CA71044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B7830020-7D7E-5623-61ED-86F40090C051}"/>
              </a:ext>
            </a:extLst>
          </p:cNvPr>
          <p:cNvSpPr txBox="1"/>
          <p:nvPr/>
        </p:nvSpPr>
        <p:spPr>
          <a:xfrm>
            <a:off x="656665" y="284410"/>
            <a:ext cx="1087867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500" b="1" i="0" u="none" strike="noStrike" kern="1200" cap="none" spc="0" normalizeH="0" baseline="0" noProof="0" dirty="0">
                <a:ln>
                  <a:noFill/>
                </a:ln>
                <a:solidFill>
                  <a:srgbClr val="01BD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Decodificador – Atenção Mascarada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0F2472B-4C99-879F-A3B9-8E315DDAE81B}"/>
              </a:ext>
            </a:extLst>
          </p:cNvPr>
          <p:cNvSpPr txBox="1"/>
          <p:nvPr/>
        </p:nvSpPr>
        <p:spPr>
          <a:xfrm>
            <a:off x="645459" y="6182037"/>
            <a:ext cx="108786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FONTE: VASWANI et al.,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Attention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Need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NIPS, 2017</a:t>
            </a: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pt-BR" sz="1300" b="0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51B5937-468D-4F8D-09BD-D8F1E1BEEA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757"/>
          <a:stretch>
            <a:fillRect/>
          </a:stretch>
        </p:blipFill>
        <p:spPr>
          <a:xfrm>
            <a:off x="5226784" y="915352"/>
            <a:ext cx="1738432" cy="5307980"/>
          </a:xfrm>
          <a:prstGeom prst="rect">
            <a:avLst/>
          </a:prstGeom>
        </p:spPr>
      </p:pic>
      <p:sp>
        <p:nvSpPr>
          <p:cNvPr id="7" name="Seta: para a Esquerda 6">
            <a:extLst>
              <a:ext uri="{FF2B5EF4-FFF2-40B4-BE49-F238E27FC236}">
                <a16:creationId xmlns:a16="http://schemas.microsoft.com/office/drawing/2014/main" id="{BFD609FB-16F6-4FBC-755F-8874F72DC0F2}"/>
              </a:ext>
            </a:extLst>
          </p:cNvPr>
          <p:cNvSpPr/>
          <p:nvPr/>
        </p:nvSpPr>
        <p:spPr>
          <a:xfrm>
            <a:off x="6317168" y="3890018"/>
            <a:ext cx="747131" cy="540834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CF51E62-A03F-3736-703C-554830E9EFCF}"/>
              </a:ext>
            </a:extLst>
          </p:cNvPr>
          <p:cNvSpPr txBox="1"/>
          <p:nvPr/>
        </p:nvSpPr>
        <p:spPr>
          <a:xfrm>
            <a:off x="3182741" y="3362709"/>
            <a:ext cx="1305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Codificador</a:t>
            </a: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01B2F3F0-79FB-B8D3-F011-3C2B53341F36}"/>
              </a:ext>
            </a:extLst>
          </p:cNvPr>
          <p:cNvCxnSpPr>
            <a:cxnSpLocks/>
          </p:cNvCxnSpPr>
          <p:nvPr/>
        </p:nvCxnSpPr>
        <p:spPr>
          <a:xfrm>
            <a:off x="4467067" y="3550013"/>
            <a:ext cx="789801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5476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3DCE8-E83F-DA7D-EE8C-4CF99891E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A4AB9EC-1B60-986A-84AA-0943EC820095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Atenção Cruzada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2DE6594-4F66-8821-01EF-77F0CA9F1ED1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atenção cruzada permite ao decodificador acessar informações do codificador durante a geração.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 mecanismo orienta a produção da saída com base no conteúdo da entrada codificada.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Ele ajuda o modelo a manter coerência entre o que foi recebido e o que está sendo gerado.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integração entre codificador e decodificador é essencial para tarefas como tradução e resumo.</a:t>
            </a:r>
          </a:p>
        </p:txBody>
      </p:sp>
    </p:spTree>
    <p:extLst>
      <p:ext uri="{BB962C8B-B14F-4D97-AF65-F5344CB8AC3E}">
        <p14:creationId xmlns:p14="http://schemas.microsoft.com/office/powerpoint/2010/main" val="4216019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8B14A-B6F4-0299-A050-DF58E5607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94C4BE2-B168-24E4-9F1A-98DE29D9F55A}"/>
              </a:ext>
            </a:extLst>
          </p:cNvPr>
          <p:cNvSpPr txBox="1"/>
          <p:nvPr/>
        </p:nvSpPr>
        <p:spPr>
          <a:xfrm>
            <a:off x="656665" y="284410"/>
            <a:ext cx="1087867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500" b="1" i="0" u="none" strike="noStrike" kern="1200" cap="none" spc="0" normalizeH="0" baseline="0" noProof="0" dirty="0">
                <a:ln>
                  <a:noFill/>
                </a:ln>
                <a:solidFill>
                  <a:srgbClr val="01BD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Decodificador – Atenção Cruzada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7E40B06-5620-C1D6-D5FC-61F5F97738D2}"/>
              </a:ext>
            </a:extLst>
          </p:cNvPr>
          <p:cNvSpPr txBox="1"/>
          <p:nvPr/>
        </p:nvSpPr>
        <p:spPr>
          <a:xfrm>
            <a:off x="645459" y="6182037"/>
            <a:ext cx="108786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FONTE: VASWANI et al.,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Attention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Need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NIPS, 2017</a:t>
            </a: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pt-BR" sz="1300" b="0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744ECF9-E42E-5CD8-11DC-8A4E0B3945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757"/>
          <a:stretch>
            <a:fillRect/>
          </a:stretch>
        </p:blipFill>
        <p:spPr>
          <a:xfrm>
            <a:off x="5226784" y="915352"/>
            <a:ext cx="1738432" cy="5307980"/>
          </a:xfrm>
          <a:prstGeom prst="rect">
            <a:avLst/>
          </a:prstGeom>
        </p:spPr>
      </p:pic>
      <p:sp>
        <p:nvSpPr>
          <p:cNvPr id="7" name="Seta: para a Esquerda 6">
            <a:extLst>
              <a:ext uri="{FF2B5EF4-FFF2-40B4-BE49-F238E27FC236}">
                <a16:creationId xmlns:a16="http://schemas.microsoft.com/office/drawing/2014/main" id="{2208176F-B491-DCAC-CF04-3C836130D61D}"/>
              </a:ext>
            </a:extLst>
          </p:cNvPr>
          <p:cNvSpPr/>
          <p:nvPr/>
        </p:nvSpPr>
        <p:spPr>
          <a:xfrm>
            <a:off x="6317168" y="2974407"/>
            <a:ext cx="747131" cy="540834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5670DB8-AC7E-429A-9933-97EAD6D66DD8}"/>
              </a:ext>
            </a:extLst>
          </p:cNvPr>
          <p:cNvSpPr txBox="1"/>
          <p:nvPr/>
        </p:nvSpPr>
        <p:spPr>
          <a:xfrm>
            <a:off x="3182741" y="3362709"/>
            <a:ext cx="1305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Codificador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A72FA165-C319-3A62-3926-D69805C2C0A4}"/>
              </a:ext>
            </a:extLst>
          </p:cNvPr>
          <p:cNvCxnSpPr>
            <a:cxnSpLocks/>
          </p:cNvCxnSpPr>
          <p:nvPr/>
        </p:nvCxnSpPr>
        <p:spPr>
          <a:xfrm>
            <a:off x="4467067" y="3550013"/>
            <a:ext cx="789801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0291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C6BAF-BB7E-AFAA-A229-CC0B71ED4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3180F9E-5184-B0E5-E582-18ED30215690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Camada </a:t>
            </a:r>
            <a:r>
              <a:rPr lang="pt-BR" sz="4500" b="1" i="1" dirty="0" err="1">
                <a:solidFill>
                  <a:schemeClr val="bg1"/>
                </a:solidFill>
              </a:rPr>
              <a:t>Feedforward</a:t>
            </a:r>
            <a:endParaRPr lang="pt-BR" sz="4500" b="1" i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75EA289-223F-5DC3-B68B-CCC363EE481C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camada </a:t>
            </a:r>
            <a:r>
              <a:rPr lang="pt-BR" sz="2800" i="1" dirty="0" err="1"/>
              <a:t>feedforward</a:t>
            </a:r>
            <a:r>
              <a:rPr lang="pt-BR" sz="2800" dirty="0"/>
              <a:t> aplica uma transformação não linear após os mecanismos de atenção.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Ela ajuda a refinar as representações internas antes da próxima etapa do decodificador.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camada é composta por duas subcamadas lineares com uma função de ativação entre elas.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Sua função é ampliar a capacidade de modelagem do decodificador em tarefas complexas.</a:t>
            </a:r>
          </a:p>
        </p:txBody>
      </p:sp>
    </p:spTree>
    <p:extLst>
      <p:ext uri="{BB962C8B-B14F-4D97-AF65-F5344CB8AC3E}">
        <p14:creationId xmlns:p14="http://schemas.microsoft.com/office/powerpoint/2010/main" val="29873066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42536-52CF-A632-4799-A5FB2BE5A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9A84FDE3-569B-3BE2-54BE-48A06FD695E0}"/>
              </a:ext>
            </a:extLst>
          </p:cNvPr>
          <p:cNvSpPr txBox="1"/>
          <p:nvPr/>
        </p:nvSpPr>
        <p:spPr>
          <a:xfrm>
            <a:off x="656665" y="284410"/>
            <a:ext cx="1087867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500" b="1" i="0" u="none" strike="noStrike" kern="1200" cap="none" spc="0" normalizeH="0" baseline="0" noProof="0" dirty="0">
                <a:ln>
                  <a:noFill/>
                </a:ln>
                <a:solidFill>
                  <a:srgbClr val="01BD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Decodificador – Camada </a:t>
            </a:r>
            <a:r>
              <a:rPr kumimoji="0" lang="pt-BR" sz="3500" b="1" i="1" u="none" strike="noStrike" kern="1200" cap="none" spc="0" normalizeH="0" baseline="0" noProof="0" dirty="0" err="1">
                <a:ln>
                  <a:noFill/>
                </a:ln>
                <a:solidFill>
                  <a:srgbClr val="01BD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Feedforward</a:t>
            </a:r>
            <a:endParaRPr kumimoji="0" lang="pt-BR" sz="3500" b="1" i="1" u="none" strike="noStrike" kern="1200" cap="none" spc="0" normalizeH="0" baseline="0" noProof="0" dirty="0">
              <a:ln>
                <a:noFill/>
              </a:ln>
              <a:solidFill>
                <a:srgbClr val="01BD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A0DB515-6BAA-84A5-EB47-73AB374EE726}"/>
              </a:ext>
            </a:extLst>
          </p:cNvPr>
          <p:cNvSpPr txBox="1"/>
          <p:nvPr/>
        </p:nvSpPr>
        <p:spPr>
          <a:xfrm>
            <a:off x="645459" y="6182037"/>
            <a:ext cx="108786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FONTE: VASWANI et al.,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Attention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Need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NIPS, 2017</a:t>
            </a: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pt-BR" sz="1300" b="0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64C4A7E-E716-48AC-DE5A-375BA04FD5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757"/>
          <a:stretch>
            <a:fillRect/>
          </a:stretch>
        </p:blipFill>
        <p:spPr>
          <a:xfrm>
            <a:off x="5226784" y="915352"/>
            <a:ext cx="1738432" cy="5307980"/>
          </a:xfrm>
          <a:prstGeom prst="rect">
            <a:avLst/>
          </a:prstGeom>
        </p:spPr>
      </p:pic>
      <p:sp>
        <p:nvSpPr>
          <p:cNvPr id="7" name="Seta: para a Esquerda 6">
            <a:extLst>
              <a:ext uri="{FF2B5EF4-FFF2-40B4-BE49-F238E27FC236}">
                <a16:creationId xmlns:a16="http://schemas.microsoft.com/office/drawing/2014/main" id="{11836BA0-7242-F7CB-7AF6-C11F3282F498}"/>
              </a:ext>
            </a:extLst>
          </p:cNvPr>
          <p:cNvSpPr/>
          <p:nvPr/>
        </p:nvSpPr>
        <p:spPr>
          <a:xfrm>
            <a:off x="6317168" y="2227275"/>
            <a:ext cx="747131" cy="540834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5CBA34F-C845-F66B-7134-3BBA8BA9E565}"/>
              </a:ext>
            </a:extLst>
          </p:cNvPr>
          <p:cNvSpPr txBox="1"/>
          <p:nvPr/>
        </p:nvSpPr>
        <p:spPr>
          <a:xfrm>
            <a:off x="3182741" y="3362709"/>
            <a:ext cx="1276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Codificador</a:t>
            </a: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2FA1AE54-C262-1EFF-5866-77E403AA0ACA}"/>
              </a:ext>
            </a:extLst>
          </p:cNvPr>
          <p:cNvCxnSpPr>
            <a:cxnSpLocks/>
          </p:cNvCxnSpPr>
          <p:nvPr/>
        </p:nvCxnSpPr>
        <p:spPr>
          <a:xfrm>
            <a:off x="4467067" y="3550013"/>
            <a:ext cx="789801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89768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5566D-960C-8EAE-F71E-8BE60DCBE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AA5A3FA-05EE-F3F8-1F37-7135B8BE1291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Normalização e Conexões Residuais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8B539A4-0152-AA85-52C4-634C76A5750C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normalização em camadas ajuda a manter a estabilidade do treinamento ao longo das etapas.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Conexões residuais permitem que o modelo preserve informações importantes entre as camadas.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Esses mecanismos reduzem o risco de degradação de sinal e facilitam o fluxo de gradientes.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Juntos, contribuem para um decodificador mais robusto e eficiente em tarefas complexas.</a:t>
            </a:r>
          </a:p>
        </p:txBody>
      </p:sp>
    </p:spTree>
    <p:extLst>
      <p:ext uri="{BB962C8B-B14F-4D97-AF65-F5344CB8AC3E}">
        <p14:creationId xmlns:p14="http://schemas.microsoft.com/office/powerpoint/2010/main" val="13572122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A35C3-E598-1BCD-9968-0A758111B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58D59CF6-D17D-68A5-FFB2-40477E401F26}"/>
              </a:ext>
            </a:extLst>
          </p:cNvPr>
          <p:cNvSpPr txBox="1"/>
          <p:nvPr/>
        </p:nvSpPr>
        <p:spPr>
          <a:xfrm>
            <a:off x="656665" y="284410"/>
            <a:ext cx="1087867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500" b="1" i="0" u="none" strike="noStrike" kern="1200" cap="none" spc="0" normalizeH="0" baseline="0" noProof="0" dirty="0">
                <a:ln>
                  <a:noFill/>
                </a:ln>
                <a:solidFill>
                  <a:srgbClr val="01BD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Decodificador – Normalização / Conexões Residuais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39F2EAF-0B93-8551-C2C0-91F8C15F3070}"/>
              </a:ext>
            </a:extLst>
          </p:cNvPr>
          <p:cNvSpPr txBox="1"/>
          <p:nvPr/>
        </p:nvSpPr>
        <p:spPr>
          <a:xfrm>
            <a:off x="645459" y="6182037"/>
            <a:ext cx="108786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FONTE: VASWANI et al.,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Attention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Need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NIPS, 2017</a:t>
            </a: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pt-BR" sz="1300" b="0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62F48E8-BC4F-8057-2476-393F532AE6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757"/>
          <a:stretch>
            <a:fillRect/>
          </a:stretch>
        </p:blipFill>
        <p:spPr>
          <a:xfrm>
            <a:off x="5226784" y="915352"/>
            <a:ext cx="1738432" cy="5307980"/>
          </a:xfrm>
          <a:prstGeom prst="rect">
            <a:avLst/>
          </a:prstGeom>
        </p:spPr>
      </p:pic>
      <p:sp>
        <p:nvSpPr>
          <p:cNvPr id="7" name="Seta: para a Esquerda 6">
            <a:extLst>
              <a:ext uri="{FF2B5EF4-FFF2-40B4-BE49-F238E27FC236}">
                <a16:creationId xmlns:a16="http://schemas.microsoft.com/office/drawing/2014/main" id="{7047A3D6-712D-3A6F-3CDB-497F285BC962}"/>
              </a:ext>
            </a:extLst>
          </p:cNvPr>
          <p:cNvSpPr/>
          <p:nvPr/>
        </p:nvSpPr>
        <p:spPr>
          <a:xfrm>
            <a:off x="6317168" y="1915042"/>
            <a:ext cx="747131" cy="540834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Seta: para a Esquerda 1">
            <a:extLst>
              <a:ext uri="{FF2B5EF4-FFF2-40B4-BE49-F238E27FC236}">
                <a16:creationId xmlns:a16="http://schemas.microsoft.com/office/drawing/2014/main" id="{78819FD5-0536-F5E5-B901-1587EE4708C5}"/>
              </a:ext>
            </a:extLst>
          </p:cNvPr>
          <p:cNvSpPr/>
          <p:nvPr/>
        </p:nvSpPr>
        <p:spPr>
          <a:xfrm>
            <a:off x="6317168" y="2657496"/>
            <a:ext cx="747131" cy="540834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eta: para a Esquerda 4">
            <a:extLst>
              <a:ext uri="{FF2B5EF4-FFF2-40B4-BE49-F238E27FC236}">
                <a16:creationId xmlns:a16="http://schemas.microsoft.com/office/drawing/2014/main" id="{EDB940C6-8324-CA5D-8548-DA4806F7FC91}"/>
              </a:ext>
            </a:extLst>
          </p:cNvPr>
          <p:cNvSpPr/>
          <p:nvPr/>
        </p:nvSpPr>
        <p:spPr>
          <a:xfrm>
            <a:off x="6317168" y="3547040"/>
            <a:ext cx="747131" cy="540834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1955AF8-F4B8-8139-ABD6-6F7C6019AA85}"/>
              </a:ext>
            </a:extLst>
          </p:cNvPr>
          <p:cNvSpPr txBox="1"/>
          <p:nvPr/>
        </p:nvSpPr>
        <p:spPr>
          <a:xfrm>
            <a:off x="3182741" y="3362709"/>
            <a:ext cx="1305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Codificador</a:t>
            </a: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6894E8A5-0A67-A104-4115-7424907B5184}"/>
              </a:ext>
            </a:extLst>
          </p:cNvPr>
          <p:cNvCxnSpPr>
            <a:cxnSpLocks/>
          </p:cNvCxnSpPr>
          <p:nvPr/>
        </p:nvCxnSpPr>
        <p:spPr>
          <a:xfrm>
            <a:off x="4467067" y="3550013"/>
            <a:ext cx="789801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27735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0EF9A-B7D0-CF20-9468-A9AE9FBC9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FDCBDD6-689A-5D8F-CCEC-3FC592BAD940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Codificação Posicional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5B2164C-2793-45EC-F2B5-0EA1C3EEC33E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</a:t>
            </a:r>
            <a:r>
              <a:rPr lang="pt-BR" sz="2800" dirty="0" err="1"/>
              <a:t>positional</a:t>
            </a:r>
            <a:r>
              <a:rPr lang="pt-BR" sz="2800" dirty="0"/>
              <a:t> </a:t>
            </a:r>
            <a:r>
              <a:rPr lang="pt-BR" sz="2800" dirty="0" err="1"/>
              <a:t>encoding</a:t>
            </a:r>
            <a:r>
              <a:rPr lang="pt-BR" sz="2800" dirty="0"/>
              <a:t> insere informações de posição nos dados processados pelo decodificador.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codificação permite que o modelo reconheça a ordem dos tokens na sequência.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Sem essa etapa, o decodificador não teria noção da estrutura temporal da entrada.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Geralmente, usam-se funções senoidais para representar posições de forma contínua e </a:t>
            </a:r>
            <a:r>
              <a:rPr lang="pt-BR" sz="2800" dirty="0" err="1"/>
              <a:t>diferenciável</a:t>
            </a:r>
            <a:r>
              <a:rPr lang="pt-BR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028220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03F51-6E10-7325-AE1A-4CE9F4CCE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2305E6A3-1D2E-CFF6-CBF0-DD02CB619B7A}"/>
              </a:ext>
            </a:extLst>
          </p:cNvPr>
          <p:cNvSpPr txBox="1"/>
          <p:nvPr/>
        </p:nvSpPr>
        <p:spPr>
          <a:xfrm>
            <a:off x="656665" y="284410"/>
            <a:ext cx="1087867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500" b="1" i="0" u="none" strike="noStrike" kern="1200" cap="none" spc="0" normalizeH="0" baseline="0" noProof="0" dirty="0">
                <a:ln>
                  <a:noFill/>
                </a:ln>
                <a:solidFill>
                  <a:srgbClr val="01BD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Decodificador – Codificação Posicional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7306BFC-923A-9E39-C395-0EC712C69C7D}"/>
              </a:ext>
            </a:extLst>
          </p:cNvPr>
          <p:cNvSpPr txBox="1"/>
          <p:nvPr/>
        </p:nvSpPr>
        <p:spPr>
          <a:xfrm>
            <a:off x="645459" y="6182037"/>
            <a:ext cx="108786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FONTE: VASWANI et al.,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Attention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Need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NIPS, 2017</a:t>
            </a: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pt-BR" sz="1300" b="0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FDA2A84-E78F-7E7D-61AF-18956F828F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757"/>
          <a:stretch>
            <a:fillRect/>
          </a:stretch>
        </p:blipFill>
        <p:spPr>
          <a:xfrm>
            <a:off x="5226784" y="915352"/>
            <a:ext cx="1738432" cy="5307980"/>
          </a:xfrm>
          <a:prstGeom prst="rect">
            <a:avLst/>
          </a:prstGeom>
        </p:spPr>
      </p:pic>
      <p:sp>
        <p:nvSpPr>
          <p:cNvPr id="7" name="Seta: para a Esquerda 6">
            <a:extLst>
              <a:ext uri="{FF2B5EF4-FFF2-40B4-BE49-F238E27FC236}">
                <a16:creationId xmlns:a16="http://schemas.microsoft.com/office/drawing/2014/main" id="{FA2640E9-86ED-032F-9E6C-DC6E724A6ED3}"/>
              </a:ext>
            </a:extLst>
          </p:cNvPr>
          <p:cNvSpPr/>
          <p:nvPr/>
        </p:nvSpPr>
        <p:spPr>
          <a:xfrm>
            <a:off x="7032122" y="4747451"/>
            <a:ext cx="747131" cy="540834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E8181A6-E39E-C852-6BC3-60E31BC0061A}"/>
              </a:ext>
            </a:extLst>
          </p:cNvPr>
          <p:cNvSpPr txBox="1"/>
          <p:nvPr/>
        </p:nvSpPr>
        <p:spPr>
          <a:xfrm>
            <a:off x="3182741" y="3362709"/>
            <a:ext cx="1305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Codificador</a:t>
            </a: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9C4E0BEA-93FE-2143-64C9-AC72CBE3A9F0}"/>
              </a:ext>
            </a:extLst>
          </p:cNvPr>
          <p:cNvCxnSpPr>
            <a:cxnSpLocks/>
          </p:cNvCxnSpPr>
          <p:nvPr/>
        </p:nvCxnSpPr>
        <p:spPr>
          <a:xfrm>
            <a:off x="4467067" y="3550013"/>
            <a:ext cx="789801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5968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D10E2-5876-8BA7-4681-7D2226381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C05FE6F-5945-EADC-DBA5-6083ED3A093D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Fluxo de Dados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6A02497-F73D-4073-388C-F7968104C02E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fluxo de dados no decodificador segue uma ordem específica de operações em cada bloco.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Primeiro, aplica-se atenção mascarada para controlar o acesso à sequência gerada.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Em seguida, ocorre a atenção cruzada para integrar informações do codificador.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Por fim, a camada </a:t>
            </a:r>
            <a:r>
              <a:rPr lang="pt-BR" sz="2800" i="1" dirty="0" err="1"/>
              <a:t>feedforward</a:t>
            </a:r>
            <a:r>
              <a:rPr lang="pt-BR" sz="2800" dirty="0"/>
              <a:t> transforma os dados antes de seguir para o próximo bloco.</a:t>
            </a:r>
          </a:p>
        </p:txBody>
      </p:sp>
    </p:spTree>
    <p:extLst>
      <p:ext uri="{BB962C8B-B14F-4D97-AF65-F5344CB8AC3E}">
        <p14:creationId xmlns:p14="http://schemas.microsoft.com/office/powerpoint/2010/main" val="1090799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79CEE-501C-3BEF-8075-F7A3DD468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F1FB8F1-9793-639A-95C3-51868F1CB166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Integração com Codificador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301A0C4-1A79-F06E-256A-03685AF2BEFC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decodificador recebe as representações do codificador por meio do mecanismo de atenção cruzada.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integração permite que a saída seja gerada com base no conteúdo da entrada processada.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comunicação entre codificador e decodificador garante coerência entre entrada e resposta.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 processo é essencial para tarefas como tradução, onde o contexto da entrada é fundamental.</a:t>
            </a:r>
          </a:p>
        </p:txBody>
      </p:sp>
    </p:spTree>
    <p:extLst>
      <p:ext uri="{BB962C8B-B14F-4D97-AF65-F5344CB8AC3E}">
        <p14:creationId xmlns:p14="http://schemas.microsoft.com/office/powerpoint/2010/main" val="36329906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60DFE-15D3-9F46-4312-06F8D0D7E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E49FC8DE-D458-77D0-3985-F6EC043A568F}"/>
              </a:ext>
            </a:extLst>
          </p:cNvPr>
          <p:cNvSpPr txBox="1"/>
          <p:nvPr/>
        </p:nvSpPr>
        <p:spPr>
          <a:xfrm>
            <a:off x="656665" y="284410"/>
            <a:ext cx="1087867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500" b="1" i="0" u="none" strike="noStrike" kern="1200" cap="none" spc="0" normalizeH="0" baseline="0" noProof="0" dirty="0">
                <a:ln>
                  <a:noFill/>
                </a:ln>
                <a:solidFill>
                  <a:srgbClr val="01BD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Integração entre Codificador e </a:t>
            </a:r>
            <a:r>
              <a:rPr lang="pt-BR" sz="3500" b="1" dirty="0">
                <a:solidFill>
                  <a:srgbClr val="01BDC4"/>
                </a:solidFill>
                <a:latin typeface="Calibri" panose="020F0502020204030204"/>
              </a:rPr>
              <a:t>Decodificador</a:t>
            </a:r>
            <a:endParaRPr kumimoji="0" lang="pt-BR" sz="3500" b="1" i="0" u="none" strike="noStrike" kern="1200" cap="none" spc="0" normalizeH="0" baseline="0" noProof="0" dirty="0">
              <a:ln>
                <a:noFill/>
              </a:ln>
              <a:solidFill>
                <a:srgbClr val="01BD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423A0F0-7122-FC1E-FB77-1B71FE7596C8}"/>
              </a:ext>
            </a:extLst>
          </p:cNvPr>
          <p:cNvSpPr txBox="1"/>
          <p:nvPr/>
        </p:nvSpPr>
        <p:spPr>
          <a:xfrm>
            <a:off x="645459" y="6182037"/>
            <a:ext cx="108786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FONTE: VASWANI et al.,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Attention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Need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NIPS, 2017</a:t>
            </a: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pt-BR" sz="1300" b="0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6C5E91E-7A84-61BA-000D-2421BD03A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267" y="961086"/>
            <a:ext cx="3544371" cy="522095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C9A2D85C-D37C-2B15-179E-3D135D3101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83" t="19024" r="11119" b="27046"/>
          <a:stretch>
            <a:fillRect/>
          </a:stretch>
        </p:blipFill>
        <p:spPr>
          <a:xfrm>
            <a:off x="6352479" y="1129384"/>
            <a:ext cx="4107366" cy="4078628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4E1C4F4E-6E00-D038-ADB6-87B876E6B63A}"/>
              </a:ext>
            </a:extLst>
          </p:cNvPr>
          <p:cNvSpPr/>
          <p:nvPr/>
        </p:nvSpPr>
        <p:spPr>
          <a:xfrm>
            <a:off x="2430966" y="1940312"/>
            <a:ext cx="2765502" cy="2832410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1B9D32B4-56B1-133A-DF22-518FF33F8B9D}"/>
              </a:ext>
            </a:extLst>
          </p:cNvPr>
          <p:cNvCxnSpPr/>
          <p:nvPr/>
        </p:nvCxnSpPr>
        <p:spPr>
          <a:xfrm flipV="1">
            <a:off x="5196468" y="1129384"/>
            <a:ext cx="1156011" cy="81092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6850FC15-CF43-E0A2-CB68-983FDF8BBA5D}"/>
              </a:ext>
            </a:extLst>
          </p:cNvPr>
          <p:cNvCxnSpPr/>
          <p:nvPr/>
        </p:nvCxnSpPr>
        <p:spPr>
          <a:xfrm>
            <a:off x="5196468" y="4772722"/>
            <a:ext cx="1156011" cy="43529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orma Livre: Forma 16">
            <a:extLst>
              <a:ext uri="{FF2B5EF4-FFF2-40B4-BE49-F238E27FC236}">
                <a16:creationId xmlns:a16="http://schemas.microsoft.com/office/drawing/2014/main" id="{8027EA78-8BB3-E8E5-8047-4976AAAE108B}"/>
              </a:ext>
            </a:extLst>
          </p:cNvPr>
          <p:cNvSpPr/>
          <p:nvPr/>
        </p:nvSpPr>
        <p:spPr>
          <a:xfrm>
            <a:off x="7543705" y="2343301"/>
            <a:ext cx="1366379" cy="1106964"/>
          </a:xfrm>
          <a:custGeom>
            <a:avLst/>
            <a:gdLst>
              <a:gd name="connsiteX0" fmla="*/ 5411 w 1366379"/>
              <a:gd name="connsiteY0" fmla="*/ 266992 h 1106964"/>
              <a:gd name="connsiteX1" fmla="*/ 95 w 1366379"/>
              <a:gd name="connsiteY1" fmla="*/ 181932 h 1106964"/>
              <a:gd name="connsiteX2" fmla="*/ 10728 w 1366379"/>
              <a:gd name="connsiteY2" fmla="*/ 75606 h 1106964"/>
              <a:gd name="connsiteX3" fmla="*/ 42625 w 1366379"/>
              <a:gd name="connsiteY3" fmla="*/ 43708 h 1106964"/>
              <a:gd name="connsiteX4" fmla="*/ 127686 w 1366379"/>
              <a:gd name="connsiteY4" fmla="*/ 27759 h 1106964"/>
              <a:gd name="connsiteX5" fmla="*/ 701844 w 1366379"/>
              <a:gd name="connsiteY5" fmla="*/ 27759 h 1106964"/>
              <a:gd name="connsiteX6" fmla="*/ 808169 w 1366379"/>
              <a:gd name="connsiteY6" fmla="*/ 49025 h 1106964"/>
              <a:gd name="connsiteX7" fmla="*/ 845383 w 1366379"/>
              <a:gd name="connsiteY7" fmla="*/ 54341 h 1106964"/>
              <a:gd name="connsiteX8" fmla="*/ 893230 w 1366379"/>
              <a:gd name="connsiteY8" fmla="*/ 64973 h 1106964"/>
              <a:gd name="connsiteX9" fmla="*/ 914495 w 1366379"/>
              <a:gd name="connsiteY9" fmla="*/ 75606 h 1106964"/>
              <a:gd name="connsiteX10" fmla="*/ 925128 w 1366379"/>
              <a:gd name="connsiteY10" fmla="*/ 118136 h 1106964"/>
              <a:gd name="connsiteX11" fmla="*/ 941076 w 1366379"/>
              <a:gd name="connsiteY11" fmla="*/ 144718 h 1106964"/>
              <a:gd name="connsiteX12" fmla="*/ 946393 w 1366379"/>
              <a:gd name="connsiteY12" fmla="*/ 171299 h 1106964"/>
              <a:gd name="connsiteX13" fmla="*/ 951709 w 1366379"/>
              <a:gd name="connsiteY13" fmla="*/ 203197 h 1106964"/>
              <a:gd name="connsiteX14" fmla="*/ 962342 w 1366379"/>
              <a:gd name="connsiteY14" fmla="*/ 229778 h 1106964"/>
              <a:gd name="connsiteX15" fmla="*/ 967658 w 1366379"/>
              <a:gd name="connsiteY15" fmla="*/ 904946 h 1106964"/>
              <a:gd name="connsiteX16" fmla="*/ 978290 w 1366379"/>
              <a:gd name="connsiteY16" fmla="*/ 936843 h 1106964"/>
              <a:gd name="connsiteX17" fmla="*/ 983607 w 1366379"/>
              <a:gd name="connsiteY17" fmla="*/ 1011271 h 1106964"/>
              <a:gd name="connsiteX18" fmla="*/ 994239 w 1366379"/>
              <a:gd name="connsiteY18" fmla="*/ 1043169 h 1106964"/>
              <a:gd name="connsiteX19" fmla="*/ 999555 w 1366379"/>
              <a:gd name="connsiteY19" fmla="*/ 1064434 h 1106964"/>
              <a:gd name="connsiteX20" fmla="*/ 1031453 w 1366379"/>
              <a:gd name="connsiteY20" fmla="*/ 1080383 h 1106964"/>
              <a:gd name="connsiteX21" fmla="*/ 1052718 w 1366379"/>
              <a:gd name="connsiteY21" fmla="*/ 1085699 h 1106964"/>
              <a:gd name="connsiteX22" fmla="*/ 1068667 w 1366379"/>
              <a:gd name="connsiteY22" fmla="*/ 1091015 h 1106964"/>
              <a:gd name="connsiteX23" fmla="*/ 1132462 w 1366379"/>
              <a:gd name="connsiteY23" fmla="*/ 1096332 h 1106964"/>
              <a:gd name="connsiteX24" fmla="*/ 1159044 w 1366379"/>
              <a:gd name="connsiteY24" fmla="*/ 1101648 h 1106964"/>
              <a:gd name="connsiteX25" fmla="*/ 1180309 w 1366379"/>
              <a:gd name="connsiteY25" fmla="*/ 1106964 h 1106964"/>
              <a:gd name="connsiteX26" fmla="*/ 1334481 w 1366379"/>
              <a:gd name="connsiteY26" fmla="*/ 1101648 h 1106964"/>
              <a:gd name="connsiteX27" fmla="*/ 1350430 w 1366379"/>
              <a:gd name="connsiteY27" fmla="*/ 1080383 h 1106964"/>
              <a:gd name="connsiteX28" fmla="*/ 1355746 w 1366379"/>
              <a:gd name="connsiteY28" fmla="*/ 1005955 h 1106964"/>
              <a:gd name="connsiteX29" fmla="*/ 1361062 w 1366379"/>
              <a:gd name="connsiteY29" fmla="*/ 990006 h 1106964"/>
              <a:gd name="connsiteX30" fmla="*/ 1366379 w 1366379"/>
              <a:gd name="connsiteY30" fmla="*/ 942159 h 110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366379" h="1106964" extrusionOk="0">
                <a:moveTo>
                  <a:pt x="5411" y="266992"/>
                </a:moveTo>
                <a:cubicBezTo>
                  <a:pt x="3923" y="236890"/>
                  <a:pt x="2273" y="211736"/>
                  <a:pt x="95" y="181932"/>
                </a:cubicBezTo>
                <a:cubicBezTo>
                  <a:pt x="-364" y="147173"/>
                  <a:pt x="-1273" y="113275"/>
                  <a:pt x="10728" y="75606"/>
                </a:cubicBezTo>
                <a:cubicBezTo>
                  <a:pt x="11028" y="65003"/>
                  <a:pt x="34192" y="46433"/>
                  <a:pt x="42625" y="43708"/>
                </a:cubicBezTo>
                <a:cubicBezTo>
                  <a:pt x="71045" y="33301"/>
                  <a:pt x="99493" y="31997"/>
                  <a:pt x="127686" y="27759"/>
                </a:cubicBezTo>
                <a:cubicBezTo>
                  <a:pt x="305226" y="-19187"/>
                  <a:pt x="509642" y="36125"/>
                  <a:pt x="701844" y="27759"/>
                </a:cubicBezTo>
                <a:cubicBezTo>
                  <a:pt x="752222" y="39074"/>
                  <a:pt x="754046" y="39782"/>
                  <a:pt x="808169" y="49025"/>
                </a:cubicBezTo>
                <a:cubicBezTo>
                  <a:pt x="820089" y="50414"/>
                  <a:pt x="831748" y="54326"/>
                  <a:pt x="845383" y="54341"/>
                </a:cubicBezTo>
                <a:cubicBezTo>
                  <a:pt x="865856" y="57542"/>
                  <a:pt x="874360" y="58286"/>
                  <a:pt x="893230" y="64973"/>
                </a:cubicBezTo>
                <a:cubicBezTo>
                  <a:pt x="902015" y="67805"/>
                  <a:pt x="910146" y="69262"/>
                  <a:pt x="914495" y="75606"/>
                </a:cubicBezTo>
                <a:cubicBezTo>
                  <a:pt x="925434" y="90764"/>
                  <a:pt x="918290" y="107773"/>
                  <a:pt x="925128" y="118136"/>
                </a:cubicBezTo>
                <a:cubicBezTo>
                  <a:pt x="931110" y="124176"/>
                  <a:pt x="936727" y="139875"/>
                  <a:pt x="941076" y="144718"/>
                </a:cubicBezTo>
                <a:cubicBezTo>
                  <a:pt x="941563" y="153498"/>
                  <a:pt x="944956" y="164884"/>
                  <a:pt x="946393" y="171299"/>
                </a:cubicBezTo>
                <a:cubicBezTo>
                  <a:pt x="950466" y="182938"/>
                  <a:pt x="950839" y="193945"/>
                  <a:pt x="951709" y="203197"/>
                </a:cubicBezTo>
                <a:cubicBezTo>
                  <a:pt x="955395" y="213183"/>
                  <a:pt x="959592" y="219898"/>
                  <a:pt x="962342" y="229778"/>
                </a:cubicBezTo>
                <a:cubicBezTo>
                  <a:pt x="929913" y="435124"/>
                  <a:pt x="943517" y="629037"/>
                  <a:pt x="967658" y="904946"/>
                </a:cubicBezTo>
                <a:cubicBezTo>
                  <a:pt x="967932" y="915549"/>
                  <a:pt x="977750" y="924481"/>
                  <a:pt x="978290" y="936843"/>
                </a:cubicBezTo>
                <a:cubicBezTo>
                  <a:pt x="981545" y="958716"/>
                  <a:pt x="980597" y="986256"/>
                  <a:pt x="983607" y="1011271"/>
                </a:cubicBezTo>
                <a:cubicBezTo>
                  <a:pt x="985359" y="1021968"/>
                  <a:pt x="991805" y="1032421"/>
                  <a:pt x="994239" y="1043169"/>
                </a:cubicBezTo>
                <a:cubicBezTo>
                  <a:pt x="995627" y="1049659"/>
                  <a:pt x="994342" y="1059975"/>
                  <a:pt x="999555" y="1064434"/>
                </a:cubicBezTo>
                <a:cubicBezTo>
                  <a:pt x="1004981" y="1071503"/>
                  <a:pt x="1023267" y="1078736"/>
                  <a:pt x="1031453" y="1080383"/>
                </a:cubicBezTo>
                <a:cubicBezTo>
                  <a:pt x="1037977" y="1081847"/>
                  <a:pt x="1047782" y="1083796"/>
                  <a:pt x="1052718" y="1085699"/>
                </a:cubicBezTo>
                <a:cubicBezTo>
                  <a:pt x="1057497" y="1086897"/>
                  <a:pt x="1062903" y="1090248"/>
                  <a:pt x="1068667" y="1091015"/>
                </a:cubicBezTo>
                <a:cubicBezTo>
                  <a:pt x="1090808" y="1097672"/>
                  <a:pt x="1110668" y="1094747"/>
                  <a:pt x="1132462" y="1096332"/>
                </a:cubicBezTo>
                <a:cubicBezTo>
                  <a:pt x="1140933" y="1098008"/>
                  <a:pt x="1150633" y="1100043"/>
                  <a:pt x="1159044" y="1101648"/>
                </a:cubicBezTo>
                <a:cubicBezTo>
                  <a:pt x="1166308" y="1102941"/>
                  <a:pt x="1173208" y="1107093"/>
                  <a:pt x="1180309" y="1106964"/>
                </a:cubicBezTo>
                <a:cubicBezTo>
                  <a:pt x="1230795" y="1115540"/>
                  <a:pt x="1285975" y="1094945"/>
                  <a:pt x="1334481" y="1101648"/>
                </a:cubicBezTo>
                <a:cubicBezTo>
                  <a:pt x="1339954" y="1094271"/>
                  <a:pt x="1348561" y="1088803"/>
                  <a:pt x="1350430" y="1080383"/>
                </a:cubicBezTo>
                <a:cubicBezTo>
                  <a:pt x="1353122" y="1058260"/>
                  <a:pt x="1357026" y="1026473"/>
                  <a:pt x="1355746" y="1005955"/>
                </a:cubicBezTo>
                <a:cubicBezTo>
                  <a:pt x="1357094" y="999975"/>
                  <a:pt x="1358877" y="995486"/>
                  <a:pt x="1361062" y="990006"/>
                </a:cubicBezTo>
                <a:cubicBezTo>
                  <a:pt x="1361191" y="978370"/>
                  <a:pt x="1368202" y="953799"/>
                  <a:pt x="1366379" y="942159"/>
                </a:cubicBezTo>
              </a:path>
            </a:pathLst>
          </a:custGeom>
          <a:noFill/>
          <a:ln w="50800">
            <a:solidFill>
              <a:srgbClr val="FF0000"/>
            </a:solidFill>
            <a:tailEnd type="triangle" w="med" len="sm"/>
            <a:extLst>
              <a:ext uri="{C807C97D-BFC1-408E-A445-0C87EB9F89A2}">
                <ask:lineSketchStyleProps xmlns:ask="http://schemas.microsoft.com/office/drawing/2018/sketchyshapes" sd="4075156299">
                  <a:custGeom>
                    <a:avLst/>
                    <a:gdLst>
                      <a:gd name="connsiteX0" fmla="*/ 5411 w 1366379"/>
                      <a:gd name="connsiteY0" fmla="*/ 266992 h 1106964"/>
                      <a:gd name="connsiteX1" fmla="*/ 95 w 1366379"/>
                      <a:gd name="connsiteY1" fmla="*/ 181932 h 1106964"/>
                      <a:gd name="connsiteX2" fmla="*/ 10728 w 1366379"/>
                      <a:gd name="connsiteY2" fmla="*/ 75606 h 1106964"/>
                      <a:gd name="connsiteX3" fmla="*/ 42625 w 1366379"/>
                      <a:gd name="connsiteY3" fmla="*/ 43708 h 1106964"/>
                      <a:gd name="connsiteX4" fmla="*/ 127686 w 1366379"/>
                      <a:gd name="connsiteY4" fmla="*/ 27759 h 1106964"/>
                      <a:gd name="connsiteX5" fmla="*/ 701844 w 1366379"/>
                      <a:gd name="connsiteY5" fmla="*/ 27759 h 1106964"/>
                      <a:gd name="connsiteX6" fmla="*/ 808169 w 1366379"/>
                      <a:gd name="connsiteY6" fmla="*/ 49025 h 1106964"/>
                      <a:gd name="connsiteX7" fmla="*/ 845383 w 1366379"/>
                      <a:gd name="connsiteY7" fmla="*/ 54341 h 1106964"/>
                      <a:gd name="connsiteX8" fmla="*/ 893230 w 1366379"/>
                      <a:gd name="connsiteY8" fmla="*/ 64973 h 1106964"/>
                      <a:gd name="connsiteX9" fmla="*/ 914495 w 1366379"/>
                      <a:gd name="connsiteY9" fmla="*/ 75606 h 1106964"/>
                      <a:gd name="connsiteX10" fmla="*/ 925128 w 1366379"/>
                      <a:gd name="connsiteY10" fmla="*/ 118136 h 1106964"/>
                      <a:gd name="connsiteX11" fmla="*/ 941076 w 1366379"/>
                      <a:gd name="connsiteY11" fmla="*/ 144718 h 1106964"/>
                      <a:gd name="connsiteX12" fmla="*/ 946393 w 1366379"/>
                      <a:gd name="connsiteY12" fmla="*/ 171299 h 1106964"/>
                      <a:gd name="connsiteX13" fmla="*/ 951709 w 1366379"/>
                      <a:gd name="connsiteY13" fmla="*/ 203197 h 1106964"/>
                      <a:gd name="connsiteX14" fmla="*/ 962342 w 1366379"/>
                      <a:gd name="connsiteY14" fmla="*/ 229778 h 1106964"/>
                      <a:gd name="connsiteX15" fmla="*/ 967658 w 1366379"/>
                      <a:gd name="connsiteY15" fmla="*/ 904946 h 1106964"/>
                      <a:gd name="connsiteX16" fmla="*/ 978290 w 1366379"/>
                      <a:gd name="connsiteY16" fmla="*/ 936843 h 1106964"/>
                      <a:gd name="connsiteX17" fmla="*/ 983607 w 1366379"/>
                      <a:gd name="connsiteY17" fmla="*/ 1011271 h 1106964"/>
                      <a:gd name="connsiteX18" fmla="*/ 994239 w 1366379"/>
                      <a:gd name="connsiteY18" fmla="*/ 1043169 h 1106964"/>
                      <a:gd name="connsiteX19" fmla="*/ 999555 w 1366379"/>
                      <a:gd name="connsiteY19" fmla="*/ 1064434 h 1106964"/>
                      <a:gd name="connsiteX20" fmla="*/ 1031453 w 1366379"/>
                      <a:gd name="connsiteY20" fmla="*/ 1080383 h 1106964"/>
                      <a:gd name="connsiteX21" fmla="*/ 1052718 w 1366379"/>
                      <a:gd name="connsiteY21" fmla="*/ 1085699 h 1106964"/>
                      <a:gd name="connsiteX22" fmla="*/ 1068667 w 1366379"/>
                      <a:gd name="connsiteY22" fmla="*/ 1091015 h 1106964"/>
                      <a:gd name="connsiteX23" fmla="*/ 1132462 w 1366379"/>
                      <a:gd name="connsiteY23" fmla="*/ 1096332 h 1106964"/>
                      <a:gd name="connsiteX24" fmla="*/ 1159044 w 1366379"/>
                      <a:gd name="connsiteY24" fmla="*/ 1101648 h 1106964"/>
                      <a:gd name="connsiteX25" fmla="*/ 1180309 w 1366379"/>
                      <a:gd name="connsiteY25" fmla="*/ 1106964 h 1106964"/>
                      <a:gd name="connsiteX26" fmla="*/ 1334481 w 1366379"/>
                      <a:gd name="connsiteY26" fmla="*/ 1101648 h 1106964"/>
                      <a:gd name="connsiteX27" fmla="*/ 1350430 w 1366379"/>
                      <a:gd name="connsiteY27" fmla="*/ 1080383 h 1106964"/>
                      <a:gd name="connsiteX28" fmla="*/ 1355746 w 1366379"/>
                      <a:gd name="connsiteY28" fmla="*/ 1005955 h 1106964"/>
                      <a:gd name="connsiteX29" fmla="*/ 1361062 w 1366379"/>
                      <a:gd name="connsiteY29" fmla="*/ 990006 h 1106964"/>
                      <a:gd name="connsiteX30" fmla="*/ 1366379 w 1366379"/>
                      <a:gd name="connsiteY30" fmla="*/ 942159 h 11069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</a:cxnLst>
                    <a:rect l="l" t="t" r="r" b="b"/>
                    <a:pathLst>
                      <a:path w="1366379" h="1106964">
                        <a:moveTo>
                          <a:pt x="5411" y="266992"/>
                        </a:moveTo>
                        <a:cubicBezTo>
                          <a:pt x="3639" y="238639"/>
                          <a:pt x="-694" y="210330"/>
                          <a:pt x="95" y="181932"/>
                        </a:cubicBezTo>
                        <a:cubicBezTo>
                          <a:pt x="1084" y="146327"/>
                          <a:pt x="4625" y="110698"/>
                          <a:pt x="10728" y="75606"/>
                        </a:cubicBezTo>
                        <a:cubicBezTo>
                          <a:pt x="12697" y="64282"/>
                          <a:pt x="35077" y="46853"/>
                          <a:pt x="42625" y="43708"/>
                        </a:cubicBezTo>
                        <a:cubicBezTo>
                          <a:pt x="66789" y="33640"/>
                          <a:pt x="102164" y="30950"/>
                          <a:pt x="127686" y="27759"/>
                        </a:cubicBezTo>
                        <a:cubicBezTo>
                          <a:pt x="309767" y="-32931"/>
                          <a:pt x="526936" y="24296"/>
                          <a:pt x="701844" y="27759"/>
                        </a:cubicBezTo>
                        <a:cubicBezTo>
                          <a:pt x="752260" y="38963"/>
                          <a:pt x="753953" y="39989"/>
                          <a:pt x="808169" y="49025"/>
                        </a:cubicBezTo>
                        <a:cubicBezTo>
                          <a:pt x="820529" y="51085"/>
                          <a:pt x="833023" y="52281"/>
                          <a:pt x="845383" y="54341"/>
                        </a:cubicBezTo>
                        <a:cubicBezTo>
                          <a:pt x="865633" y="57716"/>
                          <a:pt x="874112" y="60194"/>
                          <a:pt x="893230" y="64973"/>
                        </a:cubicBezTo>
                        <a:cubicBezTo>
                          <a:pt x="900318" y="68517"/>
                          <a:pt x="910418" y="68810"/>
                          <a:pt x="914495" y="75606"/>
                        </a:cubicBezTo>
                        <a:cubicBezTo>
                          <a:pt x="922013" y="88137"/>
                          <a:pt x="917610" y="105605"/>
                          <a:pt x="925128" y="118136"/>
                        </a:cubicBezTo>
                        <a:lnTo>
                          <a:pt x="941076" y="144718"/>
                        </a:lnTo>
                        <a:cubicBezTo>
                          <a:pt x="942848" y="153578"/>
                          <a:pt x="944777" y="162409"/>
                          <a:pt x="946393" y="171299"/>
                        </a:cubicBezTo>
                        <a:cubicBezTo>
                          <a:pt x="948321" y="181904"/>
                          <a:pt x="948873" y="192798"/>
                          <a:pt x="951709" y="203197"/>
                        </a:cubicBezTo>
                        <a:cubicBezTo>
                          <a:pt x="954220" y="212404"/>
                          <a:pt x="958798" y="220918"/>
                          <a:pt x="962342" y="229778"/>
                        </a:cubicBezTo>
                        <a:cubicBezTo>
                          <a:pt x="964114" y="454834"/>
                          <a:pt x="962583" y="679940"/>
                          <a:pt x="967658" y="904946"/>
                        </a:cubicBezTo>
                        <a:cubicBezTo>
                          <a:pt x="967911" y="916151"/>
                          <a:pt x="976627" y="925760"/>
                          <a:pt x="978290" y="936843"/>
                        </a:cubicBezTo>
                        <a:cubicBezTo>
                          <a:pt x="981980" y="961440"/>
                          <a:pt x="979917" y="986674"/>
                          <a:pt x="983607" y="1011271"/>
                        </a:cubicBezTo>
                        <a:cubicBezTo>
                          <a:pt x="985270" y="1022355"/>
                          <a:pt x="991521" y="1032296"/>
                          <a:pt x="994239" y="1043169"/>
                        </a:cubicBezTo>
                        <a:cubicBezTo>
                          <a:pt x="996011" y="1050257"/>
                          <a:pt x="995502" y="1058355"/>
                          <a:pt x="999555" y="1064434"/>
                        </a:cubicBezTo>
                        <a:cubicBezTo>
                          <a:pt x="1005036" y="1072655"/>
                          <a:pt x="1022714" y="1077886"/>
                          <a:pt x="1031453" y="1080383"/>
                        </a:cubicBezTo>
                        <a:cubicBezTo>
                          <a:pt x="1038478" y="1082390"/>
                          <a:pt x="1045693" y="1083692"/>
                          <a:pt x="1052718" y="1085699"/>
                        </a:cubicBezTo>
                        <a:cubicBezTo>
                          <a:pt x="1058106" y="1087238"/>
                          <a:pt x="1063112" y="1090274"/>
                          <a:pt x="1068667" y="1091015"/>
                        </a:cubicBezTo>
                        <a:cubicBezTo>
                          <a:pt x="1089819" y="1093835"/>
                          <a:pt x="1111197" y="1094560"/>
                          <a:pt x="1132462" y="1096332"/>
                        </a:cubicBezTo>
                        <a:cubicBezTo>
                          <a:pt x="1141323" y="1098104"/>
                          <a:pt x="1150223" y="1099688"/>
                          <a:pt x="1159044" y="1101648"/>
                        </a:cubicBezTo>
                        <a:cubicBezTo>
                          <a:pt x="1166176" y="1103233"/>
                          <a:pt x="1173003" y="1106964"/>
                          <a:pt x="1180309" y="1106964"/>
                        </a:cubicBezTo>
                        <a:cubicBezTo>
                          <a:pt x="1231730" y="1106964"/>
                          <a:pt x="1283090" y="1103420"/>
                          <a:pt x="1334481" y="1101648"/>
                        </a:cubicBezTo>
                        <a:cubicBezTo>
                          <a:pt x="1339797" y="1094560"/>
                          <a:pt x="1348508" y="1089032"/>
                          <a:pt x="1350430" y="1080383"/>
                        </a:cubicBezTo>
                        <a:cubicBezTo>
                          <a:pt x="1355826" y="1056103"/>
                          <a:pt x="1352840" y="1030657"/>
                          <a:pt x="1355746" y="1005955"/>
                        </a:cubicBezTo>
                        <a:cubicBezTo>
                          <a:pt x="1356401" y="1000390"/>
                          <a:pt x="1359290" y="995322"/>
                          <a:pt x="1361062" y="990006"/>
                        </a:cubicBezTo>
                        <a:lnTo>
                          <a:pt x="1366379" y="942159"/>
                        </a:lnTo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Forma Livre: Forma 17">
            <a:extLst>
              <a:ext uri="{FF2B5EF4-FFF2-40B4-BE49-F238E27FC236}">
                <a16:creationId xmlns:a16="http://schemas.microsoft.com/office/drawing/2014/main" id="{143DF112-E4CB-16AE-CCC8-F9A471E55484}"/>
              </a:ext>
            </a:extLst>
          </p:cNvPr>
          <p:cNvSpPr/>
          <p:nvPr/>
        </p:nvSpPr>
        <p:spPr>
          <a:xfrm>
            <a:off x="8862237" y="3279888"/>
            <a:ext cx="531628" cy="201591"/>
          </a:xfrm>
          <a:custGeom>
            <a:avLst/>
            <a:gdLst>
              <a:gd name="connsiteX0" fmla="*/ 0 w 531628"/>
              <a:gd name="connsiteY0" fmla="*/ 165061 h 201591"/>
              <a:gd name="connsiteX1" fmla="*/ 85061 w 531628"/>
              <a:gd name="connsiteY1" fmla="*/ 175693 h 201591"/>
              <a:gd name="connsiteX2" fmla="*/ 122275 w 531628"/>
              <a:gd name="connsiteY2" fmla="*/ 181010 h 201591"/>
              <a:gd name="connsiteX3" fmla="*/ 191386 w 531628"/>
              <a:gd name="connsiteY3" fmla="*/ 191642 h 201591"/>
              <a:gd name="connsiteX4" fmla="*/ 361507 w 531628"/>
              <a:gd name="connsiteY4" fmla="*/ 191642 h 201591"/>
              <a:gd name="connsiteX5" fmla="*/ 377456 w 531628"/>
              <a:gd name="connsiteY5" fmla="*/ 186326 h 201591"/>
              <a:gd name="connsiteX6" fmla="*/ 409354 w 531628"/>
              <a:gd name="connsiteY6" fmla="*/ 181010 h 201591"/>
              <a:gd name="connsiteX7" fmla="*/ 478465 w 531628"/>
              <a:gd name="connsiteY7" fmla="*/ 154428 h 201591"/>
              <a:gd name="connsiteX8" fmla="*/ 489098 w 531628"/>
              <a:gd name="connsiteY8" fmla="*/ 138479 h 201591"/>
              <a:gd name="connsiteX9" fmla="*/ 510363 w 531628"/>
              <a:gd name="connsiteY9" fmla="*/ 95949 h 201591"/>
              <a:gd name="connsiteX10" fmla="*/ 531628 w 531628"/>
              <a:gd name="connsiteY10" fmla="*/ 69368 h 201591"/>
              <a:gd name="connsiteX11" fmla="*/ 531628 w 531628"/>
              <a:gd name="connsiteY11" fmla="*/ 256 h 201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31628" h="201591" extrusionOk="0">
                <a:moveTo>
                  <a:pt x="0" y="165061"/>
                </a:moveTo>
                <a:cubicBezTo>
                  <a:pt x="38131" y="164895"/>
                  <a:pt x="65486" y="176945"/>
                  <a:pt x="85061" y="175693"/>
                </a:cubicBezTo>
                <a:cubicBezTo>
                  <a:pt x="98640" y="177542"/>
                  <a:pt x="109876" y="178467"/>
                  <a:pt x="122275" y="181010"/>
                </a:cubicBezTo>
                <a:cubicBezTo>
                  <a:pt x="172740" y="177528"/>
                  <a:pt x="45189" y="203787"/>
                  <a:pt x="191386" y="191642"/>
                </a:cubicBezTo>
                <a:cubicBezTo>
                  <a:pt x="258755" y="211721"/>
                  <a:pt x="216939" y="192077"/>
                  <a:pt x="361507" y="191642"/>
                </a:cubicBezTo>
                <a:cubicBezTo>
                  <a:pt x="367442" y="190012"/>
                  <a:pt x="371412" y="187166"/>
                  <a:pt x="377456" y="186326"/>
                </a:cubicBezTo>
                <a:cubicBezTo>
                  <a:pt x="388919" y="182458"/>
                  <a:pt x="398470" y="183003"/>
                  <a:pt x="409354" y="181010"/>
                </a:cubicBezTo>
                <a:cubicBezTo>
                  <a:pt x="470347" y="163558"/>
                  <a:pt x="439572" y="176867"/>
                  <a:pt x="478465" y="154428"/>
                </a:cubicBezTo>
                <a:cubicBezTo>
                  <a:pt x="481409" y="148416"/>
                  <a:pt x="486265" y="145660"/>
                  <a:pt x="489098" y="138479"/>
                </a:cubicBezTo>
                <a:cubicBezTo>
                  <a:pt x="496243" y="124539"/>
                  <a:pt x="501943" y="104265"/>
                  <a:pt x="510363" y="95949"/>
                </a:cubicBezTo>
                <a:cubicBezTo>
                  <a:pt x="516235" y="83858"/>
                  <a:pt x="527098" y="80853"/>
                  <a:pt x="531628" y="69368"/>
                </a:cubicBezTo>
                <a:cubicBezTo>
                  <a:pt x="504229" y="-5120"/>
                  <a:pt x="484727" y="-3563"/>
                  <a:pt x="531628" y="256"/>
                </a:cubicBezTo>
              </a:path>
            </a:pathLst>
          </a:custGeom>
          <a:noFill/>
          <a:ln w="50800">
            <a:solidFill>
              <a:srgbClr val="FF0000"/>
            </a:solidFill>
            <a:tailEnd type="triangle" w="med" len="sm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31628"/>
                      <a:gd name="connsiteY0" fmla="*/ 165061 h 201591"/>
                      <a:gd name="connsiteX1" fmla="*/ 85061 w 531628"/>
                      <a:gd name="connsiteY1" fmla="*/ 175693 h 201591"/>
                      <a:gd name="connsiteX2" fmla="*/ 122275 w 531628"/>
                      <a:gd name="connsiteY2" fmla="*/ 181010 h 201591"/>
                      <a:gd name="connsiteX3" fmla="*/ 191386 w 531628"/>
                      <a:gd name="connsiteY3" fmla="*/ 191642 h 201591"/>
                      <a:gd name="connsiteX4" fmla="*/ 361507 w 531628"/>
                      <a:gd name="connsiteY4" fmla="*/ 191642 h 201591"/>
                      <a:gd name="connsiteX5" fmla="*/ 377456 w 531628"/>
                      <a:gd name="connsiteY5" fmla="*/ 186326 h 201591"/>
                      <a:gd name="connsiteX6" fmla="*/ 409354 w 531628"/>
                      <a:gd name="connsiteY6" fmla="*/ 181010 h 201591"/>
                      <a:gd name="connsiteX7" fmla="*/ 478465 w 531628"/>
                      <a:gd name="connsiteY7" fmla="*/ 154428 h 201591"/>
                      <a:gd name="connsiteX8" fmla="*/ 489098 w 531628"/>
                      <a:gd name="connsiteY8" fmla="*/ 138479 h 201591"/>
                      <a:gd name="connsiteX9" fmla="*/ 510363 w 531628"/>
                      <a:gd name="connsiteY9" fmla="*/ 95949 h 201591"/>
                      <a:gd name="connsiteX10" fmla="*/ 531628 w 531628"/>
                      <a:gd name="connsiteY10" fmla="*/ 69368 h 201591"/>
                      <a:gd name="connsiteX11" fmla="*/ 531628 w 531628"/>
                      <a:gd name="connsiteY11" fmla="*/ 256 h 2015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531628" h="201591">
                        <a:moveTo>
                          <a:pt x="0" y="165061"/>
                        </a:moveTo>
                        <a:lnTo>
                          <a:pt x="85061" y="175693"/>
                        </a:lnTo>
                        <a:cubicBezTo>
                          <a:pt x="97486" y="177314"/>
                          <a:pt x="109946" y="178768"/>
                          <a:pt x="122275" y="181010"/>
                        </a:cubicBezTo>
                        <a:cubicBezTo>
                          <a:pt x="194609" y="194162"/>
                          <a:pt x="58310" y="176856"/>
                          <a:pt x="191386" y="191642"/>
                        </a:cubicBezTo>
                        <a:cubicBezTo>
                          <a:pt x="258714" y="208476"/>
                          <a:pt x="219646" y="200795"/>
                          <a:pt x="361507" y="191642"/>
                        </a:cubicBezTo>
                        <a:cubicBezTo>
                          <a:pt x="367099" y="191281"/>
                          <a:pt x="371986" y="187542"/>
                          <a:pt x="377456" y="186326"/>
                        </a:cubicBezTo>
                        <a:cubicBezTo>
                          <a:pt x="387979" y="183988"/>
                          <a:pt x="398721" y="182782"/>
                          <a:pt x="409354" y="181010"/>
                        </a:cubicBezTo>
                        <a:cubicBezTo>
                          <a:pt x="464718" y="162555"/>
                          <a:pt x="442164" y="172580"/>
                          <a:pt x="478465" y="154428"/>
                        </a:cubicBezTo>
                        <a:cubicBezTo>
                          <a:pt x="482009" y="149112"/>
                          <a:pt x="486038" y="144088"/>
                          <a:pt x="489098" y="138479"/>
                        </a:cubicBezTo>
                        <a:cubicBezTo>
                          <a:pt x="496688" y="124564"/>
                          <a:pt x="500462" y="108326"/>
                          <a:pt x="510363" y="95949"/>
                        </a:cubicBezTo>
                        <a:lnTo>
                          <a:pt x="531628" y="69368"/>
                        </a:lnTo>
                        <a:cubicBezTo>
                          <a:pt x="501866" y="-8014"/>
                          <a:pt x="480365" y="256"/>
                          <a:pt x="531628" y="256"/>
                        </a:cubicBezTo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EA35FB9-FAFD-38F7-D1ED-4BD8184B8880}"/>
              </a:ext>
            </a:extLst>
          </p:cNvPr>
          <p:cNvSpPr txBox="1"/>
          <p:nvPr/>
        </p:nvSpPr>
        <p:spPr>
          <a:xfrm>
            <a:off x="8589162" y="3158710"/>
            <a:ext cx="3064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rgbClr val="FF0000"/>
                </a:solidFill>
              </a:rPr>
              <a:t>V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143BB8D-44B6-CDF5-B5CA-E9B97FAE87B7}"/>
              </a:ext>
            </a:extLst>
          </p:cNvPr>
          <p:cNvSpPr txBox="1"/>
          <p:nvPr/>
        </p:nvSpPr>
        <p:spPr>
          <a:xfrm>
            <a:off x="9029912" y="3165053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rgbClr val="FF0000"/>
                </a:solidFill>
              </a:rPr>
              <a:t>K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93BBE64-DAB0-3377-2104-01429127ECA9}"/>
              </a:ext>
            </a:extLst>
          </p:cNvPr>
          <p:cNvSpPr txBox="1"/>
          <p:nvPr/>
        </p:nvSpPr>
        <p:spPr>
          <a:xfrm>
            <a:off x="9519655" y="3165053"/>
            <a:ext cx="3257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rgbClr val="FF0000"/>
                </a:solidFill>
              </a:rPr>
              <a:t>Q</a:t>
            </a:r>
          </a:p>
        </p:txBody>
      </p:sp>
    </p:spTree>
    <p:extLst>
      <p:ext uri="{BB962C8B-B14F-4D97-AF65-F5344CB8AC3E}">
        <p14:creationId xmlns:p14="http://schemas.microsoft.com/office/powerpoint/2010/main" val="1789691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7" grpId="0" animBg="1"/>
      <p:bldP spid="18" grpId="0" animBg="1"/>
      <p:bldP spid="2" grpId="0"/>
      <p:bldP spid="7" grpId="0"/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9DA21-41CF-12B5-E789-BAD788B8B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93A522D-E637-7D90-348C-CDDF3B29B900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Treinamento do Decodificador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B563CC7-2A67-9AEA-50BD-1DBE979370CF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treinamento do decodificador usa o método de </a:t>
            </a:r>
            <a:r>
              <a:rPr lang="pt-BR" sz="2800" b="1" i="1" dirty="0" err="1"/>
              <a:t>teacher</a:t>
            </a:r>
            <a:r>
              <a:rPr lang="pt-BR" sz="2800" b="1" i="1" dirty="0"/>
              <a:t> </a:t>
            </a:r>
            <a:r>
              <a:rPr lang="pt-BR" sz="2800" b="1" i="1" dirty="0" err="1"/>
              <a:t>forcing</a:t>
            </a:r>
            <a:r>
              <a:rPr lang="pt-BR" sz="2800" dirty="0"/>
              <a:t> para acelerar o aprendizado.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Nesse processo, o modelo recebe o token correto anterior em vez de sua própria previsão.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Máscaras são aplicadas para garantir que o decodificador não acesse posições futuras.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abordagem supervisionada melhora a estabilidade e a eficiência do treinamento.</a:t>
            </a:r>
          </a:p>
        </p:txBody>
      </p:sp>
    </p:spTree>
    <p:extLst>
      <p:ext uri="{BB962C8B-B14F-4D97-AF65-F5344CB8AC3E}">
        <p14:creationId xmlns:p14="http://schemas.microsoft.com/office/powerpoint/2010/main" val="10467746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83304-6DDA-5828-08AB-708BCA018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7D81F4E-C7FB-665F-AAB9-114DC81F1415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Decodificador </a:t>
            </a:r>
            <a:r>
              <a:rPr lang="pt-BR" sz="4500" b="1" dirty="0" err="1">
                <a:solidFill>
                  <a:schemeClr val="bg1"/>
                </a:solidFill>
              </a:rPr>
              <a:t>Autoregressivo</a:t>
            </a:r>
            <a:endParaRPr lang="pt-BR" sz="4500" b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72A7FE6-01A7-8ECD-4835-902963F41962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decodificador </a:t>
            </a:r>
            <a:r>
              <a:rPr lang="pt-BR" sz="2800" dirty="0" err="1"/>
              <a:t>autoregressivo</a:t>
            </a:r>
            <a:r>
              <a:rPr lang="pt-BR" sz="2800" dirty="0"/>
              <a:t> gera a saída token por token, respeitando a ordem da sequência.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Cada novo token é produzido com base nos anteriores já gerados, formando um contexto acumulado.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 processo garante coerência e continuidade na geração de texto ou tradução.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É amplamente utilizado em modelos como GPT, voltados para tarefas de geração sequencial.</a:t>
            </a:r>
          </a:p>
        </p:txBody>
      </p:sp>
    </p:spTree>
    <p:extLst>
      <p:ext uri="{BB962C8B-B14F-4D97-AF65-F5344CB8AC3E}">
        <p14:creationId xmlns:p14="http://schemas.microsoft.com/office/powerpoint/2010/main" val="10177940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6C6F7-590D-D055-202E-F9FE8CC8C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1B0DB82-AD2B-EA2B-6C71-71A88531847B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Aplicações do Decodificador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95A38E4-4F9D-9B0A-32CF-674D31012751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decodificador é amplamente usado em tradução automática, convertendo texto entre idiomas.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Também é essencial na geração de texto, criando respostas coerentes e contextualizadas.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Em tarefas de sumarização, ajuda a produzir versões condensadas de conteúdos extensos.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Sua capacidade de entender e gerar linguagem o torna útil em diversos sistemas de IA.</a:t>
            </a:r>
          </a:p>
        </p:txBody>
      </p:sp>
    </p:spTree>
    <p:extLst>
      <p:ext uri="{BB962C8B-B14F-4D97-AF65-F5344CB8AC3E}">
        <p14:creationId xmlns:p14="http://schemas.microsoft.com/office/powerpoint/2010/main" val="16843582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80922-6B10-B9ED-3055-BB070F93D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2B642C5-EA0A-8941-BCA7-ECE046F5CC76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Diferenças do Codificador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E2AE1BD-D71C-CE03-495E-AEF50ABF5FA8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codificador processa toda a entrada de uma vez, capturando o contexto global da sequência.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Já o decodificador gera a saída de forma passo a passo, respeitando a ordem dos tokens.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Enquanto o codificador foca na compreensão da entrada, o decodificador atua na geração.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distinção é essencial para tarefas como tradução, onde entrada e saída têm papéis distintos.</a:t>
            </a:r>
          </a:p>
        </p:txBody>
      </p:sp>
    </p:spTree>
    <p:extLst>
      <p:ext uri="{BB962C8B-B14F-4D97-AF65-F5344CB8AC3E}">
        <p14:creationId xmlns:p14="http://schemas.microsoft.com/office/powerpoint/2010/main" val="19216514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FC451-7AF8-B67A-1154-821F75ECF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1A2E93A-48E9-2414-CE16-598F391AA9C6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Desafios do Decodificador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B8C9D82-6C48-0914-3A17-71C288C253E4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Um dos principais desafios do decodificador é manter a coerência ao longo da sequência gerada.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É necessário evitar repetições excessivas, que podem comprometer a qualidade do texto.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modelo também precisa lidar com ambiguidades presentes na entrada ou no contexto.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Estratégias de treinamento e ajustes finos ajudam a superar esses obstáculos na prática.</a:t>
            </a:r>
          </a:p>
        </p:txBody>
      </p:sp>
    </p:spTree>
    <p:extLst>
      <p:ext uri="{BB962C8B-B14F-4D97-AF65-F5344CB8AC3E}">
        <p14:creationId xmlns:p14="http://schemas.microsoft.com/office/powerpoint/2010/main" val="14224076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C6891-0945-C069-1E3B-074D38EA7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0D676B-03BF-F84D-2A35-B48931F687EB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Decodificador no GPT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59379BE-8D08-A1FD-A0B5-BC7896C1EFC7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modelo GPT é baseado exclusivamente em decodificadores, sem uso de codificadores.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Ele aplica atenção mascarada para gerar texto de forma </a:t>
            </a:r>
            <a:r>
              <a:rPr lang="pt-BR" sz="2800" dirty="0" err="1"/>
              <a:t>autoregressiva</a:t>
            </a:r>
            <a:r>
              <a:rPr lang="pt-BR" sz="2800" dirty="0"/>
              <a:t> e ordenada.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Cada token é previsto com base nos anteriores, respeitando a estrutura sequencial.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arquitetura é eficaz em tarefas como geração de texto, resumo e resposta automática.</a:t>
            </a:r>
          </a:p>
        </p:txBody>
      </p:sp>
    </p:spTree>
    <p:extLst>
      <p:ext uri="{BB962C8B-B14F-4D97-AF65-F5344CB8AC3E}">
        <p14:creationId xmlns:p14="http://schemas.microsoft.com/office/powerpoint/2010/main" val="39189688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E73C1-2217-F76A-2149-848049C10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673976D-11A5-E610-F33B-8CAE711B86C4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Resumo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94EE56F-78D1-6FC6-4559-5A541C915CC6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decodificador é uma parte central dos Transformers voltada para geração sequencial de dados.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Ele combina atenção mascarada, atenção cruzada e camadas </a:t>
            </a:r>
            <a:r>
              <a:rPr lang="pt-BR" sz="2800" i="1" dirty="0" err="1"/>
              <a:t>feedforward</a:t>
            </a:r>
            <a:r>
              <a:rPr lang="pt-BR" sz="2800" dirty="0"/>
              <a:t> para produzir saídas.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Sua arquitetura permite gerar texto coerente com base em representações do codificador.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É amplamente utilizado em aplicações como tradução, sumarização e criação de conteúdo.</a:t>
            </a:r>
          </a:p>
        </p:txBody>
      </p:sp>
    </p:spTree>
    <p:extLst>
      <p:ext uri="{BB962C8B-B14F-4D97-AF65-F5344CB8AC3E}">
        <p14:creationId xmlns:p14="http://schemas.microsoft.com/office/powerpoint/2010/main" val="3864038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2772528"/>
      </p:ext>
    </p:extLst>
  </p:cSld>
  <p:clrMapOvr>
    <a:masterClrMapping/>
  </p:clrMapOvr>
</p:sld>
</file>

<file path=ppt/theme/theme1.xml><?xml version="1.0" encoding="utf-8"?>
<a:theme xmlns:a="http://schemas.openxmlformats.org/drawingml/2006/main" name="3_1 - Cap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 - Subdivisão do assunto princip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5 - Slide de Tabela ou image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 - Fin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5 - Slide de Tabela ou image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11395</TotalTime>
  <Words>1223</Words>
  <Application>Microsoft Office PowerPoint</Application>
  <PresentationFormat>Widescreen</PresentationFormat>
  <Paragraphs>110</Paragraphs>
  <Slides>26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8</vt:i4>
      </vt:variant>
      <vt:variant>
        <vt:lpstr>Títulos de slides</vt:lpstr>
      </vt:variant>
      <vt:variant>
        <vt:i4>26</vt:i4>
      </vt:variant>
    </vt:vector>
  </HeadingPairs>
  <TitlesOfParts>
    <vt:vector size="38" baseType="lpstr">
      <vt:lpstr>Arial</vt:lpstr>
      <vt:lpstr>Calibri</vt:lpstr>
      <vt:lpstr>Trebuchet MS</vt:lpstr>
      <vt:lpstr>Wingdings</vt:lpstr>
      <vt:lpstr>3_1 - Capa</vt:lpstr>
      <vt:lpstr>2 - Subdivisão do assunto principal</vt:lpstr>
      <vt:lpstr>3 - Título e texto</vt:lpstr>
      <vt:lpstr>2_3 - Título e texto</vt:lpstr>
      <vt:lpstr>1_3 - Título e texto</vt:lpstr>
      <vt:lpstr>1_5 - Slide de Tabela ou imagem</vt:lpstr>
      <vt:lpstr>6 - Final</vt:lpstr>
      <vt:lpstr>5 - Slide de Tabela ou imagem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Zenilton Patrocínio Jr.</cp:lastModifiedBy>
  <cp:revision>103</cp:revision>
  <dcterms:created xsi:type="dcterms:W3CDTF">2020-01-14T17:16:45Z</dcterms:created>
  <dcterms:modified xsi:type="dcterms:W3CDTF">2025-11-28T19:16:54Z</dcterms:modified>
</cp:coreProperties>
</file>