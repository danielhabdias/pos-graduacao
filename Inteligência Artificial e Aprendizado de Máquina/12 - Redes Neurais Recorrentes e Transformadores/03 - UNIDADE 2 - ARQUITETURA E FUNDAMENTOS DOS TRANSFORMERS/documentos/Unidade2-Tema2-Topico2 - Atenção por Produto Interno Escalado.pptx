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  <p:sldMasterId id="2147483709" r:id="rId8"/>
  </p:sldMasterIdLst>
  <p:notesMasterIdLst>
    <p:notesMasterId r:id="rId32"/>
  </p:notesMasterIdLst>
  <p:handoutMasterIdLst>
    <p:handoutMasterId r:id="rId33"/>
  </p:handoutMasterIdLst>
  <p:sldIdLst>
    <p:sldId id="266" r:id="rId9"/>
    <p:sldId id="260" r:id="rId10"/>
    <p:sldId id="267" r:id="rId11"/>
    <p:sldId id="268" r:id="rId12"/>
    <p:sldId id="269" r:id="rId13"/>
    <p:sldId id="296" r:id="rId14"/>
    <p:sldId id="295" r:id="rId15"/>
    <p:sldId id="270" r:id="rId16"/>
    <p:sldId id="271" r:id="rId17"/>
    <p:sldId id="272" r:id="rId18"/>
    <p:sldId id="273" r:id="rId19"/>
    <p:sldId id="274" r:id="rId20"/>
    <p:sldId id="288" r:id="rId21"/>
    <p:sldId id="290" r:id="rId22"/>
    <p:sldId id="294" r:id="rId23"/>
    <p:sldId id="277" r:id="rId24"/>
    <p:sldId id="278" r:id="rId25"/>
    <p:sldId id="279" r:id="rId26"/>
    <p:sldId id="280" r:id="rId27"/>
    <p:sldId id="281" r:id="rId28"/>
    <p:sldId id="282" r:id="rId29"/>
    <p:sldId id="285" r:id="rId30"/>
    <p:sldId id="261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EFC3"/>
    <a:srgbClr val="E0F7BB"/>
    <a:srgbClr val="F3B9F9"/>
    <a:srgbClr val="B9F0F9"/>
    <a:srgbClr val="01BDC4"/>
    <a:srgbClr val="0CA4AC"/>
    <a:srgbClr val="0FCAD3"/>
    <a:srgbClr val="53EBF3"/>
    <a:srgbClr val="10DCE6"/>
    <a:srgbClr val="19E5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93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5089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50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>
                <a:solidFill>
                  <a:srgbClr val="4A6B9E"/>
                </a:solidFill>
                <a:latin typeface="Trebuchet MS" panose="020B0603020202020204" pitchFamily="34" charset="0"/>
              </a:rPr>
              <a:t>Atenção por Produto Interno Escalado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por Produto Interno Escalado (</a:t>
            </a:r>
            <a:r>
              <a:rPr lang="pt-BR" sz="2800" dirty="0" err="1"/>
              <a:t>Scaled</a:t>
            </a:r>
            <a:r>
              <a:rPr lang="pt-BR" sz="2800" dirty="0"/>
              <a:t> </a:t>
            </a:r>
            <a:r>
              <a:rPr lang="pt-BR" sz="2800" dirty="0" err="1"/>
              <a:t>Dot-Product</a:t>
            </a:r>
            <a:r>
              <a:rPr lang="pt-BR" sz="2800" dirty="0"/>
              <a:t> </a:t>
            </a:r>
            <a:r>
              <a:rPr lang="pt-BR" sz="2800" dirty="0" err="1"/>
              <a:t>Attention</a:t>
            </a:r>
            <a:r>
              <a:rPr lang="pt-BR" sz="2800" dirty="0"/>
              <a:t> – SDPA) é essencial para destacar partes relevantes da entrada em Transformers.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SDPA calcula pesos de atenção com base na similaridade entre vetores, ajustando pela escala para estabilidade numérica.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mecanismo melhora a eficiência computacional e a capacidade de paralelização dos modelos.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SDPA é amplamente usada em tarefas como tradução automática, sumarização e compreensão de linguagem natural.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3FE97-FA32-8813-67EF-840C5F4A6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7384296-B98B-E7B5-F536-281F20F5383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Motivação para o Mecanismo de Atenção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E60E642-B1AE-4936-CED9-42565E960AD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arquitetura </a:t>
            </a:r>
            <a:r>
              <a:rPr lang="pt-BR" sz="2800" dirty="0" err="1"/>
              <a:t>Transformer</a:t>
            </a:r>
            <a:r>
              <a:rPr lang="pt-BR" sz="2800" dirty="0"/>
              <a:t> substitui a recorrência pela SDPA para lidar melhor com dependências de longo alcance.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SDPA permite que o modelo processe todos os tokens simultaneamente, aumentando a eficiência.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por produto interno escalado facilita o foco seletivo em partes relevantes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melhora a paralelização e supera limitações das </a:t>
            </a:r>
            <a:r>
              <a:rPr lang="pt-BR" sz="2800" dirty="0" err="1"/>
              <a:t>RNNs</a:t>
            </a:r>
            <a:r>
              <a:rPr lang="pt-BR" sz="2800" dirty="0"/>
              <a:t> em tarefas sequenciais.</a:t>
            </a:r>
          </a:p>
        </p:txBody>
      </p:sp>
    </p:spTree>
    <p:extLst>
      <p:ext uri="{BB962C8B-B14F-4D97-AF65-F5344CB8AC3E}">
        <p14:creationId xmlns:p14="http://schemas.microsoft.com/office/powerpoint/2010/main" val="581678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3B53-2878-02B5-FBAB-00EFDE75B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2D1F8B6-FD6D-E03E-6ECD-39B77A71EE1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Atenção por Produto Interno Escalado (SDPA)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F842653-8387-8D00-50E4-E14780CF51E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por Produto Interno Escalado (</a:t>
            </a:r>
            <a:r>
              <a:rPr lang="pt-BR" sz="2800" dirty="0" err="1"/>
              <a:t>Scaled</a:t>
            </a:r>
            <a:r>
              <a:rPr lang="pt-BR" sz="2800" dirty="0"/>
              <a:t> </a:t>
            </a:r>
            <a:r>
              <a:rPr lang="pt-BR" sz="2800" dirty="0" err="1"/>
              <a:t>Dot-Product</a:t>
            </a:r>
            <a:r>
              <a:rPr lang="pt-BR" sz="2800" dirty="0"/>
              <a:t> </a:t>
            </a:r>
            <a:r>
              <a:rPr lang="pt-BR" sz="2800" dirty="0" err="1"/>
              <a:t>Attetion</a:t>
            </a:r>
            <a:r>
              <a:rPr lang="pt-BR" sz="2800" dirty="0"/>
              <a:t> – SDPA) calcula a relevância entre tokens por meio do produto interno.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escala (ou normalização) aplicada ao produto interno evita valores extremos que dificultam o aprendizado.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SDPA permite que o modelo foque seletivamente em partes da entrada com maior significado contextual.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mecanismo é a base do funcionamento eficiente dos Transformers em tarefas sequenciais.</a:t>
            </a:r>
          </a:p>
        </p:txBody>
      </p:sp>
    </p:spTree>
    <p:extLst>
      <p:ext uri="{BB962C8B-B14F-4D97-AF65-F5344CB8AC3E}">
        <p14:creationId xmlns:p14="http://schemas.microsoft.com/office/powerpoint/2010/main" val="3230696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6FA5C-9881-FA3D-51D3-8A9454432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3888E3-04E7-79C6-CD84-68D62D61AE5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Componentes da SDPA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BC68219-31A7-9BE4-7230-3C33D87EB2FD}"/>
              </a:ext>
            </a:extLst>
          </p:cNvPr>
          <p:cNvSpPr txBox="1"/>
          <p:nvPr/>
        </p:nvSpPr>
        <p:spPr>
          <a:xfrm>
            <a:off x="512064" y="1304405"/>
            <a:ext cx="11137392" cy="4617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SDPA utiliza três vetores principais: consulta (Q – Query), chave (K – Key) e valor (V – </a:t>
            </a:r>
            <a:r>
              <a:rPr lang="pt-BR" sz="2800" dirty="0" err="1"/>
              <a:t>Value</a:t>
            </a:r>
            <a:r>
              <a:rPr lang="pt-BR" sz="2800" dirty="0"/>
              <a:t>), obtidos por meio de projeções lineares. 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Quando derivados da mesma entrada é chamado de </a:t>
            </a:r>
            <a:r>
              <a:rPr lang="pt-BR" sz="2800" b="1" dirty="0" err="1"/>
              <a:t>autoatenção</a:t>
            </a:r>
            <a:r>
              <a:rPr lang="pt-BR" sz="2800" dirty="0"/>
              <a:t> (self-</a:t>
            </a:r>
            <a:r>
              <a:rPr lang="pt-BR" sz="2800" dirty="0" err="1"/>
              <a:t>attention</a:t>
            </a:r>
            <a:r>
              <a:rPr lang="pt-BR" sz="2800" dirty="0"/>
              <a:t>).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consulta (Q) é comparada com as chaves (K) por meio do produto interno para se determinar a relevância de cada valor (V).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produto interno é normalizado (ou escalado) para evitar instabilidades.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pesos resultantes são aplicados ao vetor valor (V), gerando uma saída ponderada e contextualizada.</a:t>
            </a:r>
          </a:p>
        </p:txBody>
      </p:sp>
    </p:spTree>
    <p:extLst>
      <p:ext uri="{BB962C8B-B14F-4D97-AF65-F5344CB8AC3E}">
        <p14:creationId xmlns:p14="http://schemas.microsoft.com/office/powerpoint/2010/main" val="2451280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D1187-D13B-3D65-CE2C-FDA9568B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C8EC1DA-D622-2669-D084-0FFAB7398AF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Máscara de Atenção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968258-3263-1BCB-ECD6-ED48036ED98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Uma máscara de atenção opcional pode ser usada para impedir que o modelo considere certos tokens durante o processamento.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Ela pode ser aplicada para ignorar posições irrelevantes ou ocultar informações futuras em tarefas de geração.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mecanismo garante que o modelo mantenha coerência e respeite restrições de contexto.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Embora opcional, a máscara é essencial em cenários como tradução ou preenchimento de lacunas.</a:t>
            </a:r>
          </a:p>
        </p:txBody>
      </p:sp>
    </p:spTree>
    <p:extLst>
      <p:ext uri="{BB962C8B-B14F-4D97-AF65-F5344CB8AC3E}">
        <p14:creationId xmlns:p14="http://schemas.microsoft.com/office/powerpoint/2010/main" val="2683775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2DB7-E504-CC2E-FE15-0E94FA062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78C30DD-8ED8-7BF4-4795-CB502786530C}"/>
              </a:ext>
            </a:extLst>
          </p:cNvPr>
          <p:cNvSpPr txBox="1"/>
          <p:nvPr/>
        </p:nvSpPr>
        <p:spPr>
          <a:xfrm>
            <a:off x="645459" y="603612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Atenção por Produto Interno Escalado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65F97EA-B42C-2759-C264-F80AC56E8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72" y="1538869"/>
            <a:ext cx="2209656" cy="436012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A3B130A-10EF-CA41-56A0-516EAB92A194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813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6610B-550E-3D66-C602-F2B12E666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764EAA5-BA67-8F76-FEF7-23595742F93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Cálculo do Produto Escalar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8CEECEB-9326-AB75-0089-83B1AC1FCD4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Na SDPA, o produto interno entre o vetor consulta (Q) e o vetor chave (K) mede a similaridade entre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operação gera pontuações (</a:t>
            </a:r>
            <a:r>
              <a:rPr lang="pt-BR" sz="2800" i="1" dirty="0" err="1"/>
              <a:t>attention</a:t>
            </a:r>
            <a:r>
              <a:rPr lang="pt-BR" sz="2800" i="1" dirty="0"/>
              <a:t> scores</a:t>
            </a:r>
            <a:r>
              <a:rPr lang="pt-BR" sz="2800" dirty="0"/>
              <a:t>) que indicam o quanto cada entrada deve influenciar a saída.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produto interno é calculado entre cada vetor consulta (Q) e todos os vetores chave (K) representando diferentes partes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etapa é fundamental para capturar relações contextuais entre todos os elementos da entrada, isto é, todas as consultas e todas as chaves.</a:t>
            </a:r>
          </a:p>
        </p:txBody>
      </p:sp>
    </p:spTree>
    <p:extLst>
      <p:ext uri="{BB962C8B-B14F-4D97-AF65-F5344CB8AC3E}">
        <p14:creationId xmlns:p14="http://schemas.microsoft.com/office/powerpoint/2010/main" val="4063787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A8919-31BB-7D11-07DF-C935803A1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FFAA756-ECAE-6EE1-3C43-3CCA74F6054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Normalização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161668-274B-266A-35A5-0A8EF56BAB7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Após o produto interno, os scores de SDPA são divididos pela raiz quadrada da dimensão dos vetores de consulta, chave ou valor.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operação evita que os valores fiquem muito grandes, pois isso prejudicaria o cálculo de probabilidade a seguir.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normalização também ajuda a estabilizar os gradientes durante o treinamento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etapa é essencial para garantir que a SDPA funcione de forma eficiente e precisa.</a:t>
            </a:r>
          </a:p>
        </p:txBody>
      </p:sp>
    </p:spTree>
    <p:extLst>
      <p:ext uri="{BB962C8B-B14F-4D97-AF65-F5344CB8AC3E}">
        <p14:creationId xmlns:p14="http://schemas.microsoft.com/office/powerpoint/2010/main" val="2517570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E1526-C9D8-AD39-3395-9DB3BC71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6ECE9A5-8DC6-1AAC-41CD-8909C575A76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Cálculo de Pesos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9CF05FE-DD34-2556-CC63-BCAA297BCCDA}"/>
              </a:ext>
            </a:extLst>
          </p:cNvPr>
          <p:cNvSpPr txBox="1"/>
          <p:nvPr/>
        </p:nvSpPr>
        <p:spPr>
          <a:xfrm>
            <a:off x="512064" y="1304405"/>
            <a:ext cx="11137392" cy="4617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cálculo de pesos é feito por meio da função </a:t>
            </a:r>
            <a:r>
              <a:rPr lang="pt-BR" sz="2800" b="1" i="1" dirty="0" err="1"/>
              <a:t>softmax</a:t>
            </a:r>
            <a:r>
              <a:rPr lang="pt-BR" sz="2800" dirty="0"/>
              <a:t>, que é capaz de transformar qualquer conjunto de valores em uma distribuição de probabilidades.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função </a:t>
            </a:r>
            <a:r>
              <a:rPr lang="pt-BR" sz="2800" b="1" i="1" dirty="0" err="1"/>
              <a:t>softmax</a:t>
            </a:r>
            <a:r>
              <a:rPr lang="pt-BR" sz="2800" dirty="0"/>
              <a:t> transforma os scores da SDPA em probabilidades interpretáveis.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valores são normalizados para que a soma total seja igual a 1.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transformação também é comum em classificadores com múltiplas classes.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saída probabilística facilita a análise e tomada de decisão do modelo.</a:t>
            </a:r>
          </a:p>
        </p:txBody>
      </p:sp>
    </p:spTree>
    <p:extLst>
      <p:ext uri="{BB962C8B-B14F-4D97-AF65-F5344CB8AC3E}">
        <p14:creationId xmlns:p14="http://schemas.microsoft.com/office/powerpoint/2010/main" val="918051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9B33B-E5B6-4805-61D5-24DCF5462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6DEE75F-8518-ECC8-1FD2-72D66E6E738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Obtenção dos Resultados de Atenção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C074480-CC85-8FB4-5675-2DE1560517C3}"/>
              </a:ext>
            </a:extLst>
          </p:cNvPr>
          <p:cNvSpPr txBox="1"/>
          <p:nvPr/>
        </p:nvSpPr>
        <p:spPr>
          <a:xfrm>
            <a:off x="512064" y="1304405"/>
            <a:ext cx="11137392" cy="4181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pesos gerados pela SDPA são aplicados aos vetor valor (V) produzido a partir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multiplicação ponderada combina informações relevantes do vetor valor (V) para produzir o resultado para cada posição.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Como os pesos são gerados para cada vetor consulta, é possível produzir  resultados para cada posição de forma independente.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resultado é uma representação contextualizada da sequência original.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etapa finaliza o processo de atenção, integrando foco e conteúdo.</a:t>
            </a:r>
          </a:p>
        </p:txBody>
      </p:sp>
    </p:spTree>
    <p:extLst>
      <p:ext uri="{BB962C8B-B14F-4D97-AF65-F5344CB8AC3E}">
        <p14:creationId xmlns:p14="http://schemas.microsoft.com/office/powerpoint/2010/main" val="207409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5EEE8-F0C3-4742-D9FB-35E7F0C20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72A5412-5247-4C33-72A5-21835B4A3F8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Fórmula da SDPA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B0EADBC6-F49D-F209-1559-CD91F130B135}"/>
                  </a:ext>
                </a:extLst>
              </p:cNvPr>
              <p:cNvSpPr txBox="1"/>
              <p:nvPr/>
            </p:nvSpPr>
            <p:spPr>
              <a:xfrm>
                <a:off x="512064" y="1304405"/>
                <a:ext cx="11137392" cy="4264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Equação da SDPA:</a:t>
                </a:r>
              </a:p>
              <a:p>
                <a:pPr algn="ctr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800" dirty="0"/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O produto interno entre Q e K mede a similaridade entre os elementos.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A normalização ajusta a escala dos scores antes da aplicação da função </a:t>
                </a:r>
                <a:r>
                  <a:rPr lang="pt-BR" sz="2800" b="1" i="1" dirty="0" err="1"/>
                  <a:t>softmax</a:t>
                </a:r>
                <a:r>
                  <a:rPr lang="pt-BR" sz="2800" dirty="0"/>
                  <a:t>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O resultado final é uma saída ponderada que reflete a atenção contextual do modelo.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B0EADBC6-F49D-F209-1559-CD91F130B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1304405"/>
                <a:ext cx="11137392" cy="4264373"/>
              </a:xfrm>
              <a:prstGeom prst="rect">
                <a:avLst/>
              </a:prstGeom>
              <a:blipFill>
                <a:blip r:embed="rId2"/>
                <a:stretch>
                  <a:fillRect l="-930" t="-1429" r="-1587" b="-3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3462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2DB7-E504-CC2E-FE15-0E94FA062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78C30DD-8ED8-7BF4-4795-CB502786530C}"/>
              </a:ext>
            </a:extLst>
          </p:cNvPr>
          <p:cNvSpPr txBox="1"/>
          <p:nvPr/>
        </p:nvSpPr>
        <p:spPr>
          <a:xfrm>
            <a:off x="645459" y="603612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Visualização do Mecanismo de Atenção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3B130A-10EF-CA41-56A0-516EAB92A194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Elaborada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pelo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autor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: Rounded Corners 1">
            <a:extLst>
              <a:ext uri="{FF2B5EF4-FFF2-40B4-BE49-F238E27FC236}">
                <a16:creationId xmlns:a16="http://schemas.microsoft.com/office/drawing/2014/main" id="{0E0B9EFB-AB40-8A54-3F11-C570D70DBADA}"/>
              </a:ext>
            </a:extLst>
          </p:cNvPr>
          <p:cNvSpPr/>
          <p:nvPr/>
        </p:nvSpPr>
        <p:spPr>
          <a:xfrm>
            <a:off x="2069904" y="1865621"/>
            <a:ext cx="8052192" cy="3338449"/>
          </a:xfrm>
          <a:prstGeom prst="roundRect">
            <a:avLst/>
          </a:prstGeom>
          <a:solidFill>
            <a:srgbClr val="FFAB40">
              <a:lumMod val="40000"/>
              <a:lumOff val="60000"/>
            </a:srgbClr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2">
                <a:extLst>
                  <a:ext uri="{FF2B5EF4-FFF2-40B4-BE49-F238E27FC236}">
                    <a16:creationId xmlns:a16="http://schemas.microsoft.com/office/drawing/2014/main" id="{5B87A1B0-54F3-5E3E-1E2A-AE9F268919EB}"/>
                  </a:ext>
                </a:extLst>
              </p:cNvPr>
              <p:cNvSpPr txBox="1"/>
              <p:nvPr/>
            </p:nvSpPr>
            <p:spPr>
              <a:xfrm>
                <a:off x="3233616" y="5515735"/>
                <a:ext cx="297629" cy="307777"/>
              </a:xfrm>
              <a:prstGeom prst="rect">
                <a:avLst/>
              </a:prstGeom>
              <a:solidFill>
                <a:srgbClr val="C6E6A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2" name="TextBox 2">
                <a:extLst>
                  <a:ext uri="{FF2B5EF4-FFF2-40B4-BE49-F238E27FC236}">
                    <a16:creationId xmlns:a16="http://schemas.microsoft.com/office/drawing/2014/main" id="{5B87A1B0-54F3-5E3E-1E2A-AE9F26891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3616" y="5515735"/>
                <a:ext cx="297629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7">
                <a:extLst>
                  <a:ext uri="{FF2B5EF4-FFF2-40B4-BE49-F238E27FC236}">
                    <a16:creationId xmlns:a16="http://schemas.microsoft.com/office/drawing/2014/main" id="{78E8A970-12E9-D06D-4560-997AD7E19CB2}"/>
                  </a:ext>
                </a:extLst>
              </p:cNvPr>
              <p:cNvSpPr txBox="1"/>
              <p:nvPr/>
            </p:nvSpPr>
            <p:spPr>
              <a:xfrm>
                <a:off x="5021178" y="5515736"/>
                <a:ext cx="297629" cy="307777"/>
              </a:xfrm>
              <a:prstGeom prst="rect">
                <a:avLst/>
              </a:prstGeom>
              <a:solidFill>
                <a:srgbClr val="C6E6A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3" name="TextBox 7">
                <a:extLst>
                  <a:ext uri="{FF2B5EF4-FFF2-40B4-BE49-F238E27FC236}">
                    <a16:creationId xmlns:a16="http://schemas.microsoft.com/office/drawing/2014/main" id="{78E8A970-12E9-D06D-4560-997AD7E19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178" y="5515736"/>
                <a:ext cx="297629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8">
                <a:extLst>
                  <a:ext uri="{FF2B5EF4-FFF2-40B4-BE49-F238E27FC236}">
                    <a16:creationId xmlns:a16="http://schemas.microsoft.com/office/drawing/2014/main" id="{2D61FBF3-BCA3-CB59-0F71-9B101BC34C6A}"/>
                  </a:ext>
                </a:extLst>
              </p:cNvPr>
              <p:cNvSpPr txBox="1"/>
              <p:nvPr/>
            </p:nvSpPr>
            <p:spPr>
              <a:xfrm>
                <a:off x="6858942" y="5515736"/>
                <a:ext cx="297629" cy="307777"/>
              </a:xfrm>
              <a:prstGeom prst="rect">
                <a:avLst/>
              </a:prstGeom>
              <a:solidFill>
                <a:srgbClr val="C6E6A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4" name="TextBox 8">
                <a:extLst>
                  <a:ext uri="{FF2B5EF4-FFF2-40B4-BE49-F238E27FC236}">
                    <a16:creationId xmlns:a16="http://schemas.microsoft.com/office/drawing/2014/main" id="{2D61FBF3-BCA3-CB59-0F71-9B101BC34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5515736"/>
                <a:ext cx="297629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9">
                <a:extLst>
                  <a:ext uri="{FF2B5EF4-FFF2-40B4-BE49-F238E27FC236}">
                    <a16:creationId xmlns:a16="http://schemas.microsoft.com/office/drawing/2014/main" id="{11D193B5-56E1-AFBD-8806-258BE1B3CC77}"/>
                  </a:ext>
                </a:extLst>
              </p:cNvPr>
              <p:cNvSpPr txBox="1"/>
              <p:nvPr/>
            </p:nvSpPr>
            <p:spPr>
              <a:xfrm>
                <a:off x="8696706" y="5515735"/>
                <a:ext cx="297629" cy="307777"/>
              </a:xfrm>
              <a:prstGeom prst="rect">
                <a:avLst/>
              </a:prstGeom>
              <a:solidFill>
                <a:srgbClr val="C6E6A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5" name="TextBox 9">
                <a:extLst>
                  <a:ext uri="{FF2B5EF4-FFF2-40B4-BE49-F238E27FC236}">
                    <a16:creationId xmlns:a16="http://schemas.microsoft.com/office/drawing/2014/main" id="{11D193B5-56E1-AFBD-8806-258BE1B3C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706" y="5515735"/>
                <a:ext cx="297629" cy="307777"/>
              </a:xfrm>
              <a:prstGeom prst="rect">
                <a:avLst/>
              </a:prstGeom>
              <a:blipFill>
                <a:blip r:embed="rId5"/>
                <a:stretch>
                  <a:fillRect r="-20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3">
                <a:extLst>
                  <a:ext uri="{FF2B5EF4-FFF2-40B4-BE49-F238E27FC236}">
                    <a16:creationId xmlns:a16="http://schemas.microsoft.com/office/drawing/2014/main" id="{36B39FAD-967D-7600-FEFD-7763EF285295}"/>
                  </a:ext>
                </a:extLst>
              </p:cNvPr>
              <p:cNvSpPr txBox="1"/>
              <p:nvPr/>
            </p:nvSpPr>
            <p:spPr>
              <a:xfrm>
                <a:off x="3173202" y="4895650"/>
                <a:ext cx="419548" cy="307777"/>
              </a:xfrm>
              <a:prstGeom prst="rect">
                <a:avLst/>
              </a:prstGeom>
              <a:solidFill>
                <a:srgbClr val="F3B9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6" name="TextBox 3">
                <a:extLst>
                  <a:ext uri="{FF2B5EF4-FFF2-40B4-BE49-F238E27FC236}">
                    <a16:creationId xmlns:a16="http://schemas.microsoft.com/office/drawing/2014/main" id="{36B39FAD-967D-7600-FEFD-7763EF285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202" y="4895650"/>
                <a:ext cx="419548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10">
                <a:extLst>
                  <a:ext uri="{FF2B5EF4-FFF2-40B4-BE49-F238E27FC236}">
                    <a16:creationId xmlns:a16="http://schemas.microsoft.com/office/drawing/2014/main" id="{8D15F175-08C9-C075-A3AD-9E300773F90F}"/>
                  </a:ext>
                </a:extLst>
              </p:cNvPr>
              <p:cNvSpPr txBox="1"/>
              <p:nvPr/>
            </p:nvSpPr>
            <p:spPr>
              <a:xfrm>
                <a:off x="3592750" y="4895650"/>
                <a:ext cx="419548" cy="308418"/>
              </a:xfrm>
              <a:prstGeom prst="rect">
                <a:avLst/>
              </a:prstGeom>
              <a:solidFill>
                <a:srgbClr val="B9F0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7" name="TextBox 10">
                <a:extLst>
                  <a:ext uri="{FF2B5EF4-FFF2-40B4-BE49-F238E27FC236}">
                    <a16:creationId xmlns:a16="http://schemas.microsoft.com/office/drawing/2014/main" id="{8D15F175-08C9-C075-A3AD-9E300773F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750" y="4895650"/>
                <a:ext cx="419548" cy="3084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988D1B31-0F35-2180-50DA-F16419F76A7F}"/>
                  </a:ext>
                </a:extLst>
              </p:cNvPr>
              <p:cNvSpPr txBox="1"/>
              <p:nvPr/>
            </p:nvSpPr>
            <p:spPr>
              <a:xfrm>
                <a:off x="2753654" y="4895650"/>
                <a:ext cx="419548" cy="307777"/>
              </a:xfrm>
              <a:prstGeom prst="rect">
                <a:avLst/>
              </a:prstGeom>
              <a:solidFill>
                <a:srgbClr val="E0F7BB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988D1B31-0F35-2180-50DA-F16419F76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654" y="4895650"/>
                <a:ext cx="419548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12">
                <a:extLst>
                  <a:ext uri="{FF2B5EF4-FFF2-40B4-BE49-F238E27FC236}">
                    <a16:creationId xmlns:a16="http://schemas.microsoft.com/office/drawing/2014/main" id="{C2137ABF-9EBC-F024-F6CD-536EDC345C78}"/>
                  </a:ext>
                </a:extLst>
              </p:cNvPr>
              <p:cNvSpPr txBox="1"/>
              <p:nvPr/>
            </p:nvSpPr>
            <p:spPr>
              <a:xfrm>
                <a:off x="4947669" y="4895652"/>
                <a:ext cx="419548" cy="307777"/>
              </a:xfrm>
              <a:prstGeom prst="rect">
                <a:avLst/>
              </a:prstGeom>
              <a:solidFill>
                <a:srgbClr val="F3B9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9" name="TextBox 12">
                <a:extLst>
                  <a:ext uri="{FF2B5EF4-FFF2-40B4-BE49-F238E27FC236}">
                    <a16:creationId xmlns:a16="http://schemas.microsoft.com/office/drawing/2014/main" id="{C2137ABF-9EBC-F024-F6CD-536EDC345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669" y="4895652"/>
                <a:ext cx="419548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13">
                <a:extLst>
                  <a:ext uri="{FF2B5EF4-FFF2-40B4-BE49-F238E27FC236}">
                    <a16:creationId xmlns:a16="http://schemas.microsoft.com/office/drawing/2014/main" id="{2C69F71C-A1D8-736D-0DEB-3A671FACAD26}"/>
                  </a:ext>
                </a:extLst>
              </p:cNvPr>
              <p:cNvSpPr txBox="1"/>
              <p:nvPr/>
            </p:nvSpPr>
            <p:spPr>
              <a:xfrm>
                <a:off x="5367217" y="4895652"/>
                <a:ext cx="419548" cy="308418"/>
              </a:xfrm>
              <a:prstGeom prst="rect">
                <a:avLst/>
              </a:prstGeom>
              <a:solidFill>
                <a:srgbClr val="B9F0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0" name="TextBox 13">
                <a:extLst>
                  <a:ext uri="{FF2B5EF4-FFF2-40B4-BE49-F238E27FC236}">
                    <a16:creationId xmlns:a16="http://schemas.microsoft.com/office/drawing/2014/main" id="{2C69F71C-A1D8-736D-0DEB-3A671FACA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217" y="4895652"/>
                <a:ext cx="419548" cy="3084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14">
                <a:extLst>
                  <a:ext uri="{FF2B5EF4-FFF2-40B4-BE49-F238E27FC236}">
                    <a16:creationId xmlns:a16="http://schemas.microsoft.com/office/drawing/2014/main" id="{8D4EA488-8A94-DC4C-588B-6AF9DCFCFAC3}"/>
                  </a:ext>
                </a:extLst>
              </p:cNvPr>
              <p:cNvSpPr txBox="1"/>
              <p:nvPr/>
            </p:nvSpPr>
            <p:spPr>
              <a:xfrm>
                <a:off x="4528121" y="4895652"/>
                <a:ext cx="419548" cy="307777"/>
              </a:xfrm>
              <a:prstGeom prst="rect">
                <a:avLst/>
              </a:prstGeom>
              <a:solidFill>
                <a:srgbClr val="E0F7BB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1" name="TextBox 14">
                <a:extLst>
                  <a:ext uri="{FF2B5EF4-FFF2-40B4-BE49-F238E27FC236}">
                    <a16:creationId xmlns:a16="http://schemas.microsoft.com/office/drawing/2014/main" id="{8D4EA488-8A94-DC4C-588B-6AF9DCFCF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121" y="4895652"/>
                <a:ext cx="419548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15">
                <a:extLst>
                  <a:ext uri="{FF2B5EF4-FFF2-40B4-BE49-F238E27FC236}">
                    <a16:creationId xmlns:a16="http://schemas.microsoft.com/office/drawing/2014/main" id="{713E1E72-CE35-13E4-AF5E-EDCC2D0E9D71}"/>
                  </a:ext>
                </a:extLst>
              </p:cNvPr>
              <p:cNvSpPr txBox="1"/>
              <p:nvPr/>
            </p:nvSpPr>
            <p:spPr>
              <a:xfrm>
                <a:off x="6783641" y="4895652"/>
                <a:ext cx="419548" cy="307777"/>
              </a:xfrm>
              <a:prstGeom prst="rect">
                <a:avLst/>
              </a:prstGeom>
              <a:solidFill>
                <a:srgbClr val="F3B9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2" name="TextBox 15">
                <a:extLst>
                  <a:ext uri="{FF2B5EF4-FFF2-40B4-BE49-F238E27FC236}">
                    <a16:creationId xmlns:a16="http://schemas.microsoft.com/office/drawing/2014/main" id="{713E1E72-CE35-13E4-AF5E-EDCC2D0E9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641" y="4895652"/>
                <a:ext cx="419548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16">
                <a:extLst>
                  <a:ext uri="{FF2B5EF4-FFF2-40B4-BE49-F238E27FC236}">
                    <a16:creationId xmlns:a16="http://schemas.microsoft.com/office/drawing/2014/main" id="{FEBD53D0-F793-2B5D-4F3A-9AC1C9C593A7}"/>
                  </a:ext>
                </a:extLst>
              </p:cNvPr>
              <p:cNvSpPr txBox="1"/>
              <p:nvPr/>
            </p:nvSpPr>
            <p:spPr>
              <a:xfrm>
                <a:off x="7203189" y="4895652"/>
                <a:ext cx="419548" cy="308418"/>
              </a:xfrm>
              <a:prstGeom prst="rect">
                <a:avLst/>
              </a:prstGeom>
              <a:solidFill>
                <a:srgbClr val="B9F0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3" name="TextBox 16">
                <a:extLst>
                  <a:ext uri="{FF2B5EF4-FFF2-40B4-BE49-F238E27FC236}">
                    <a16:creationId xmlns:a16="http://schemas.microsoft.com/office/drawing/2014/main" id="{FEBD53D0-F793-2B5D-4F3A-9AC1C9C59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189" y="4895652"/>
                <a:ext cx="419548" cy="3084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17">
                <a:extLst>
                  <a:ext uri="{FF2B5EF4-FFF2-40B4-BE49-F238E27FC236}">
                    <a16:creationId xmlns:a16="http://schemas.microsoft.com/office/drawing/2014/main" id="{744DBE76-2497-2BD0-75B4-AECF85685FF3}"/>
                  </a:ext>
                </a:extLst>
              </p:cNvPr>
              <p:cNvSpPr txBox="1"/>
              <p:nvPr/>
            </p:nvSpPr>
            <p:spPr>
              <a:xfrm>
                <a:off x="6364093" y="4895652"/>
                <a:ext cx="419548" cy="307777"/>
              </a:xfrm>
              <a:prstGeom prst="rect">
                <a:avLst/>
              </a:prstGeom>
              <a:solidFill>
                <a:srgbClr val="E0F7BB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4" name="TextBox 17">
                <a:extLst>
                  <a:ext uri="{FF2B5EF4-FFF2-40B4-BE49-F238E27FC236}">
                    <a16:creationId xmlns:a16="http://schemas.microsoft.com/office/drawing/2014/main" id="{744DBE76-2497-2BD0-75B4-AECF85685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093" y="4895652"/>
                <a:ext cx="419548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18">
                <a:extLst>
                  <a:ext uri="{FF2B5EF4-FFF2-40B4-BE49-F238E27FC236}">
                    <a16:creationId xmlns:a16="http://schemas.microsoft.com/office/drawing/2014/main" id="{E92E1CB5-1D9E-A5C2-7CD9-D01CD3043CF3}"/>
                  </a:ext>
                </a:extLst>
              </p:cNvPr>
              <p:cNvSpPr txBox="1"/>
              <p:nvPr/>
            </p:nvSpPr>
            <p:spPr>
              <a:xfrm>
                <a:off x="8619613" y="4895652"/>
                <a:ext cx="419548" cy="307777"/>
              </a:xfrm>
              <a:prstGeom prst="rect">
                <a:avLst/>
              </a:prstGeom>
              <a:solidFill>
                <a:srgbClr val="F3B9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5" name="TextBox 18">
                <a:extLst>
                  <a:ext uri="{FF2B5EF4-FFF2-40B4-BE49-F238E27FC236}">
                    <a16:creationId xmlns:a16="http://schemas.microsoft.com/office/drawing/2014/main" id="{E92E1CB5-1D9E-A5C2-7CD9-D01CD3043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613" y="4895652"/>
                <a:ext cx="419548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19">
                <a:extLst>
                  <a:ext uri="{FF2B5EF4-FFF2-40B4-BE49-F238E27FC236}">
                    <a16:creationId xmlns:a16="http://schemas.microsoft.com/office/drawing/2014/main" id="{71CE0BB3-F505-7EBC-53BF-15FA52294CEB}"/>
                  </a:ext>
                </a:extLst>
              </p:cNvPr>
              <p:cNvSpPr txBox="1"/>
              <p:nvPr/>
            </p:nvSpPr>
            <p:spPr>
              <a:xfrm>
                <a:off x="9039161" y="4895652"/>
                <a:ext cx="419548" cy="308418"/>
              </a:xfrm>
              <a:prstGeom prst="rect">
                <a:avLst/>
              </a:prstGeom>
              <a:solidFill>
                <a:srgbClr val="B9F0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6" name="TextBox 19">
                <a:extLst>
                  <a:ext uri="{FF2B5EF4-FFF2-40B4-BE49-F238E27FC236}">
                    <a16:creationId xmlns:a16="http://schemas.microsoft.com/office/drawing/2014/main" id="{71CE0BB3-F505-7EBC-53BF-15FA52294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161" y="4895652"/>
                <a:ext cx="419548" cy="3084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21">
                <a:extLst>
                  <a:ext uri="{FF2B5EF4-FFF2-40B4-BE49-F238E27FC236}">
                    <a16:creationId xmlns:a16="http://schemas.microsoft.com/office/drawing/2014/main" id="{63A12C8C-3723-5326-D8AC-3B6818122519}"/>
                  </a:ext>
                </a:extLst>
              </p:cNvPr>
              <p:cNvSpPr txBox="1"/>
              <p:nvPr/>
            </p:nvSpPr>
            <p:spPr>
              <a:xfrm>
                <a:off x="8200065" y="4895652"/>
                <a:ext cx="419548" cy="307777"/>
              </a:xfrm>
              <a:prstGeom prst="rect">
                <a:avLst/>
              </a:prstGeom>
              <a:solidFill>
                <a:srgbClr val="E0F7BB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7" name="TextBox 21">
                <a:extLst>
                  <a:ext uri="{FF2B5EF4-FFF2-40B4-BE49-F238E27FC236}">
                    <a16:creationId xmlns:a16="http://schemas.microsoft.com/office/drawing/2014/main" id="{63A12C8C-3723-5326-D8AC-3B6818122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0065" y="4895652"/>
                <a:ext cx="419548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5">
                <a:extLst>
                  <a:ext uri="{FF2B5EF4-FFF2-40B4-BE49-F238E27FC236}">
                    <a16:creationId xmlns:a16="http://schemas.microsoft.com/office/drawing/2014/main" id="{035464E1-6AEC-EDD9-4070-C6B48369B6D5}"/>
                  </a:ext>
                </a:extLst>
              </p:cNvPr>
              <p:cNvSpPr txBox="1"/>
              <p:nvPr/>
            </p:nvSpPr>
            <p:spPr>
              <a:xfrm>
                <a:off x="2805650" y="4558609"/>
                <a:ext cx="12325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𝑉</m:t>
                        </m:r>
                      </m:e>
                      <m:sub>
                        <m: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𝐾</m:t>
                        </m:r>
                      </m:e>
                      <m:sub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𝑄</m:t>
                        </m:r>
                      </m:e>
                      <m:sub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8" name="TextBox 5">
                <a:extLst>
                  <a:ext uri="{FF2B5EF4-FFF2-40B4-BE49-F238E27FC236}">
                    <a16:creationId xmlns:a16="http://schemas.microsoft.com/office/drawing/2014/main" id="{035464E1-6AEC-EDD9-4070-C6B48369B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650" y="4558609"/>
                <a:ext cx="1232582" cy="307777"/>
              </a:xfrm>
              <a:prstGeom prst="rect">
                <a:avLst/>
              </a:prstGeom>
              <a:blipFill>
                <a:blip r:embed="rId11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22">
                <a:extLst>
                  <a:ext uri="{FF2B5EF4-FFF2-40B4-BE49-F238E27FC236}">
                    <a16:creationId xmlns:a16="http://schemas.microsoft.com/office/drawing/2014/main" id="{8A6231F9-DCAB-3827-D1E1-86F98354B3E3}"/>
                  </a:ext>
                </a:extLst>
              </p:cNvPr>
              <p:cNvSpPr txBox="1"/>
              <p:nvPr/>
            </p:nvSpPr>
            <p:spPr>
              <a:xfrm>
                <a:off x="4541152" y="4558610"/>
                <a:ext cx="12450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𝑉</m:t>
                        </m:r>
                      </m:e>
                      <m:sub>
                        <m: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𝐾</m:t>
                        </m:r>
                      </m:e>
                      <m:sub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𝑄</m:t>
                        </m:r>
                      </m:e>
                      <m:sub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9" name="TextBox 22">
                <a:extLst>
                  <a:ext uri="{FF2B5EF4-FFF2-40B4-BE49-F238E27FC236}">
                    <a16:creationId xmlns:a16="http://schemas.microsoft.com/office/drawing/2014/main" id="{8A6231F9-DCAB-3827-D1E1-86F98354B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1152" y="4558610"/>
                <a:ext cx="1245084" cy="307777"/>
              </a:xfrm>
              <a:prstGeom prst="rect">
                <a:avLst/>
              </a:prstGeom>
              <a:blipFill>
                <a:blip r:embed="rId1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23">
                <a:extLst>
                  <a:ext uri="{FF2B5EF4-FFF2-40B4-BE49-F238E27FC236}">
                    <a16:creationId xmlns:a16="http://schemas.microsoft.com/office/drawing/2014/main" id="{FC964ACC-3E95-CEAE-C608-E817895044DF}"/>
                  </a:ext>
                </a:extLst>
              </p:cNvPr>
              <p:cNvSpPr txBox="1"/>
              <p:nvPr/>
            </p:nvSpPr>
            <p:spPr>
              <a:xfrm>
                <a:off x="6391465" y="4558609"/>
                <a:ext cx="12450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𝑉</m:t>
                        </m:r>
                      </m:e>
                      <m:sub>
                        <m: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𝐾</m:t>
                        </m:r>
                      </m:e>
                      <m:sub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𝑄</m:t>
                        </m:r>
                      </m:e>
                      <m:sub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3</m:t>
                        </m:r>
                      </m:sub>
                    </m:sSub>
                  </m:oMath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0" name="TextBox 23">
                <a:extLst>
                  <a:ext uri="{FF2B5EF4-FFF2-40B4-BE49-F238E27FC236}">
                    <a16:creationId xmlns:a16="http://schemas.microsoft.com/office/drawing/2014/main" id="{FC964ACC-3E95-CEAE-C608-E81789504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465" y="4558609"/>
                <a:ext cx="1245084" cy="307777"/>
              </a:xfrm>
              <a:prstGeom prst="rect">
                <a:avLst/>
              </a:prstGeom>
              <a:blipFill>
                <a:blip r:embed="rId1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24">
                <a:extLst>
                  <a:ext uri="{FF2B5EF4-FFF2-40B4-BE49-F238E27FC236}">
                    <a16:creationId xmlns:a16="http://schemas.microsoft.com/office/drawing/2014/main" id="{AFA1BAA4-9735-E5D8-6AC4-3F23F96D8317}"/>
                  </a:ext>
                </a:extLst>
              </p:cNvPr>
              <p:cNvSpPr txBox="1"/>
              <p:nvPr/>
            </p:nvSpPr>
            <p:spPr>
              <a:xfrm>
                <a:off x="8256780" y="4558302"/>
                <a:ext cx="12373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𝑉</m:t>
                        </m:r>
                      </m:e>
                      <m:sub>
                        <m: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𝐾</m:t>
                        </m:r>
                      </m:e>
                      <m:sub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𝑄</m:t>
                        </m:r>
                      </m:e>
                      <m:sub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4</m:t>
                        </m:r>
                      </m:sub>
                    </m:sSub>
                  </m:oMath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1" name="TextBox 24">
                <a:extLst>
                  <a:ext uri="{FF2B5EF4-FFF2-40B4-BE49-F238E27FC236}">
                    <a16:creationId xmlns:a16="http://schemas.microsoft.com/office/drawing/2014/main" id="{AFA1BAA4-9735-E5D8-6AC4-3F23F96D8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780" y="4558302"/>
                <a:ext cx="1237390" cy="307777"/>
              </a:xfrm>
              <a:prstGeom prst="rect">
                <a:avLst/>
              </a:prstGeom>
              <a:blipFill>
                <a:blip r:embed="rId1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Table 26">
                <a:extLst>
                  <a:ext uri="{FF2B5EF4-FFF2-40B4-BE49-F238E27FC236}">
                    <a16:creationId xmlns:a16="http://schemas.microsoft.com/office/drawing/2014/main" id="{89C15B48-335F-DA27-7320-80E8DE864E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6262068"/>
                  </p:ext>
                </p:extLst>
              </p:nvPr>
            </p:nvGraphicFramePr>
            <p:xfrm>
              <a:off x="4047886" y="3833296"/>
              <a:ext cx="3584504" cy="3657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12910">
                      <a:extLst>
                        <a:ext uri="{9D8B030D-6E8A-4147-A177-3AD203B41FA5}">
                          <a16:colId xmlns:a16="http://schemas.microsoft.com/office/drawing/2014/main" val="2399119278"/>
                        </a:ext>
                      </a:extLst>
                    </a:gridCol>
                    <a:gridCol w="879342">
                      <a:extLst>
                        <a:ext uri="{9D8B030D-6E8A-4147-A177-3AD203B41FA5}">
                          <a16:colId xmlns:a16="http://schemas.microsoft.com/office/drawing/2014/main" val="544944249"/>
                        </a:ext>
                      </a:extLst>
                    </a:gridCol>
                    <a:gridCol w="896126">
                      <a:extLst>
                        <a:ext uri="{9D8B030D-6E8A-4147-A177-3AD203B41FA5}">
                          <a16:colId xmlns:a16="http://schemas.microsoft.com/office/drawing/2014/main" val="2557670085"/>
                        </a:ext>
                      </a:extLst>
                    </a:gridCol>
                    <a:gridCol w="896126">
                      <a:extLst>
                        <a:ext uri="{9D8B030D-6E8A-4147-A177-3AD203B41FA5}">
                          <a16:colId xmlns:a16="http://schemas.microsoft.com/office/drawing/2014/main" val="1980274324"/>
                        </a:ext>
                      </a:extLst>
                    </a:gridCol>
                  </a:tblGrid>
                  <a:tr h="31456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3A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3A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3A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3A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00317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Table 26">
                <a:extLst>
                  <a:ext uri="{FF2B5EF4-FFF2-40B4-BE49-F238E27FC236}">
                    <a16:creationId xmlns:a16="http://schemas.microsoft.com/office/drawing/2014/main" id="{89C15B48-335F-DA27-7320-80E8DE864E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6262068"/>
                  </p:ext>
                </p:extLst>
              </p:nvPr>
            </p:nvGraphicFramePr>
            <p:xfrm>
              <a:off x="4047886" y="3833296"/>
              <a:ext cx="3584504" cy="3657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12910">
                      <a:extLst>
                        <a:ext uri="{9D8B030D-6E8A-4147-A177-3AD203B41FA5}">
                          <a16:colId xmlns:a16="http://schemas.microsoft.com/office/drawing/2014/main" val="2399119278"/>
                        </a:ext>
                      </a:extLst>
                    </a:gridCol>
                    <a:gridCol w="879342">
                      <a:extLst>
                        <a:ext uri="{9D8B030D-6E8A-4147-A177-3AD203B41FA5}">
                          <a16:colId xmlns:a16="http://schemas.microsoft.com/office/drawing/2014/main" val="544944249"/>
                        </a:ext>
                      </a:extLst>
                    </a:gridCol>
                    <a:gridCol w="896126">
                      <a:extLst>
                        <a:ext uri="{9D8B030D-6E8A-4147-A177-3AD203B41FA5}">
                          <a16:colId xmlns:a16="http://schemas.microsoft.com/office/drawing/2014/main" val="2557670085"/>
                        </a:ext>
                      </a:extLst>
                    </a:gridCol>
                    <a:gridCol w="896126">
                      <a:extLst>
                        <a:ext uri="{9D8B030D-6E8A-4147-A177-3AD203B41FA5}">
                          <a16:colId xmlns:a16="http://schemas.microsoft.com/office/drawing/2014/main" val="198027432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333" t="-1639" r="-294000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4828" t="-1639" r="-204138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202041" t="-1639" r="-101361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302041" t="-1639" r="-1361" b="-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003176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3" name="Straight Arrow Connector 28">
            <a:extLst>
              <a:ext uri="{FF2B5EF4-FFF2-40B4-BE49-F238E27FC236}">
                <a16:creationId xmlns:a16="http://schemas.microsoft.com/office/drawing/2014/main" id="{E877920E-D2BB-FC40-939B-B821A4549FA2}"/>
              </a:ext>
            </a:extLst>
          </p:cNvPr>
          <p:cNvCxnSpPr>
            <a:cxnSpLocks/>
          </p:cNvCxnSpPr>
          <p:nvPr/>
        </p:nvCxnSpPr>
        <p:spPr>
          <a:xfrm flipV="1">
            <a:off x="3823855" y="4170978"/>
            <a:ext cx="1729827" cy="457241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74" name="Straight Arrow Connector 34">
            <a:extLst>
              <a:ext uri="{FF2B5EF4-FFF2-40B4-BE49-F238E27FC236}">
                <a16:creationId xmlns:a16="http://schemas.microsoft.com/office/drawing/2014/main" id="{B777F3A6-8350-C022-DD6A-404249C84833}"/>
              </a:ext>
            </a:extLst>
          </p:cNvPr>
          <p:cNvCxnSpPr>
            <a:cxnSpLocks/>
            <a:stCxn id="68" idx="0"/>
          </p:cNvCxnSpPr>
          <p:nvPr/>
        </p:nvCxnSpPr>
        <p:spPr>
          <a:xfrm flipV="1">
            <a:off x="3421941" y="4104874"/>
            <a:ext cx="727528" cy="453735"/>
          </a:xfrm>
          <a:prstGeom prst="straightConnector1">
            <a:avLst/>
          </a:prstGeom>
          <a:noFill/>
          <a:ln w="22225" cap="flat" cmpd="sng" algn="ctr">
            <a:solidFill>
              <a:srgbClr val="007E09"/>
            </a:solidFill>
            <a:prstDash val="solid"/>
            <a:tailEnd type="triangle"/>
          </a:ln>
          <a:effectLst/>
        </p:spPr>
      </p:cxnSp>
      <p:cxnSp>
        <p:nvCxnSpPr>
          <p:cNvPr id="75" name="Straight Arrow Connector 37">
            <a:extLst>
              <a:ext uri="{FF2B5EF4-FFF2-40B4-BE49-F238E27FC236}">
                <a16:creationId xmlns:a16="http://schemas.microsoft.com/office/drawing/2014/main" id="{8FE1F201-F63F-3AC0-7933-8ED33B40AC5C}"/>
              </a:ext>
            </a:extLst>
          </p:cNvPr>
          <p:cNvCxnSpPr>
            <a:cxnSpLocks/>
          </p:cNvCxnSpPr>
          <p:nvPr/>
        </p:nvCxnSpPr>
        <p:spPr>
          <a:xfrm flipV="1">
            <a:off x="5135876" y="4148541"/>
            <a:ext cx="34116" cy="464733"/>
          </a:xfrm>
          <a:prstGeom prst="straightConnector1">
            <a:avLst/>
          </a:prstGeom>
          <a:noFill/>
          <a:ln w="22225" cap="flat" cmpd="sng" algn="ctr">
            <a:solidFill>
              <a:srgbClr val="007E09"/>
            </a:solidFill>
            <a:prstDash val="solid"/>
            <a:tailEnd type="triangle"/>
          </a:ln>
          <a:effectLst/>
        </p:spPr>
      </p:cxnSp>
      <p:cxnSp>
        <p:nvCxnSpPr>
          <p:cNvPr id="76" name="Straight Arrow Connector 41">
            <a:extLst>
              <a:ext uri="{FF2B5EF4-FFF2-40B4-BE49-F238E27FC236}">
                <a16:creationId xmlns:a16="http://schemas.microsoft.com/office/drawing/2014/main" id="{5FBF4160-1E9D-A24E-1438-8AA40D258CE7}"/>
              </a:ext>
            </a:extLst>
          </p:cNvPr>
          <p:cNvCxnSpPr>
            <a:cxnSpLocks/>
          </p:cNvCxnSpPr>
          <p:nvPr/>
        </p:nvCxnSpPr>
        <p:spPr>
          <a:xfrm flipH="1" flipV="1">
            <a:off x="6142108" y="4170978"/>
            <a:ext cx="756280" cy="437158"/>
          </a:xfrm>
          <a:prstGeom prst="straightConnector1">
            <a:avLst/>
          </a:prstGeom>
          <a:noFill/>
          <a:ln w="22225" cap="flat" cmpd="sng" algn="ctr">
            <a:solidFill>
              <a:srgbClr val="007E09"/>
            </a:solidFill>
            <a:prstDash val="solid"/>
            <a:tailEnd type="triangle"/>
          </a:ln>
          <a:effectLst/>
        </p:spPr>
      </p:cxnSp>
      <p:cxnSp>
        <p:nvCxnSpPr>
          <p:cNvPr id="77" name="Straight Arrow Connector 44">
            <a:extLst>
              <a:ext uri="{FF2B5EF4-FFF2-40B4-BE49-F238E27FC236}">
                <a16:creationId xmlns:a16="http://schemas.microsoft.com/office/drawing/2014/main" id="{D276C540-8754-6040-2929-068D547E9BAA}"/>
              </a:ext>
            </a:extLst>
          </p:cNvPr>
          <p:cNvCxnSpPr>
            <a:cxnSpLocks/>
          </p:cNvCxnSpPr>
          <p:nvPr/>
        </p:nvCxnSpPr>
        <p:spPr>
          <a:xfrm flipH="1" flipV="1">
            <a:off x="7053943" y="4104874"/>
            <a:ext cx="1615733" cy="523345"/>
          </a:xfrm>
          <a:prstGeom prst="straightConnector1">
            <a:avLst/>
          </a:prstGeom>
          <a:noFill/>
          <a:ln w="22225" cap="flat" cmpd="sng" algn="ctr">
            <a:solidFill>
              <a:srgbClr val="007E09"/>
            </a:solidFill>
            <a:prstDash val="solid"/>
            <a:tailEnd type="triangle"/>
          </a:ln>
          <a:effectLst/>
        </p:spPr>
      </p:cxnSp>
      <p:cxnSp>
        <p:nvCxnSpPr>
          <p:cNvPr id="78" name="Straight Arrow Connector 47">
            <a:extLst>
              <a:ext uri="{FF2B5EF4-FFF2-40B4-BE49-F238E27FC236}">
                <a16:creationId xmlns:a16="http://schemas.microsoft.com/office/drawing/2014/main" id="{21A4B95F-6190-98CD-4358-8447AB05ADEC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3382430" y="5203427"/>
            <a:ext cx="546" cy="312310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79" name="Straight Arrow Connector 49">
            <a:extLst>
              <a:ext uri="{FF2B5EF4-FFF2-40B4-BE49-F238E27FC236}">
                <a16:creationId xmlns:a16="http://schemas.microsoft.com/office/drawing/2014/main" id="{4869A66A-89F9-1FBA-C7A5-D450FDD3EB89}"/>
              </a:ext>
            </a:extLst>
          </p:cNvPr>
          <p:cNvCxnSpPr>
            <a:cxnSpLocks/>
          </p:cNvCxnSpPr>
          <p:nvPr/>
        </p:nvCxnSpPr>
        <p:spPr>
          <a:xfrm flipV="1">
            <a:off x="5163148" y="5203427"/>
            <a:ext cx="546" cy="312310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80" name="Straight Arrow Connector 50">
            <a:extLst>
              <a:ext uri="{FF2B5EF4-FFF2-40B4-BE49-F238E27FC236}">
                <a16:creationId xmlns:a16="http://schemas.microsoft.com/office/drawing/2014/main" id="{D7182761-D03B-AC1A-0648-47538D8A79D0}"/>
              </a:ext>
            </a:extLst>
          </p:cNvPr>
          <p:cNvCxnSpPr>
            <a:cxnSpLocks/>
          </p:cNvCxnSpPr>
          <p:nvPr/>
        </p:nvCxnSpPr>
        <p:spPr>
          <a:xfrm flipV="1">
            <a:off x="7013461" y="5201836"/>
            <a:ext cx="546" cy="312310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81" name="Straight Arrow Connector 51">
            <a:extLst>
              <a:ext uri="{FF2B5EF4-FFF2-40B4-BE49-F238E27FC236}">
                <a16:creationId xmlns:a16="http://schemas.microsoft.com/office/drawing/2014/main" id="{0A0524F6-11A2-A3F7-A1C8-6E1405D5C813}"/>
              </a:ext>
            </a:extLst>
          </p:cNvPr>
          <p:cNvCxnSpPr>
            <a:cxnSpLocks/>
          </p:cNvCxnSpPr>
          <p:nvPr/>
        </p:nvCxnSpPr>
        <p:spPr>
          <a:xfrm flipV="1">
            <a:off x="8839270" y="5197364"/>
            <a:ext cx="546" cy="312310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graphicFrame>
        <p:nvGraphicFramePr>
          <p:cNvPr id="82" name="Table 26">
            <a:extLst>
              <a:ext uri="{FF2B5EF4-FFF2-40B4-BE49-F238E27FC236}">
                <a16:creationId xmlns:a16="http://schemas.microsoft.com/office/drawing/2014/main" id="{9B8DFB9E-D1FB-DAB7-2D9F-D38233611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980244"/>
              </p:ext>
            </p:extLst>
          </p:nvPr>
        </p:nvGraphicFramePr>
        <p:xfrm>
          <a:off x="4351227" y="3268684"/>
          <a:ext cx="2904568" cy="365760"/>
        </p:xfrm>
        <a:graphic>
          <a:graphicData uri="http://schemas.openxmlformats.org/drawingml/2006/table">
            <a:tbl>
              <a:tblPr firstRow="1" bandRow="1"/>
              <a:tblGrid>
                <a:gridCol w="726142">
                  <a:extLst>
                    <a:ext uri="{9D8B030D-6E8A-4147-A177-3AD203B41FA5}">
                      <a16:colId xmlns:a16="http://schemas.microsoft.com/office/drawing/2014/main" val="2399119278"/>
                    </a:ext>
                  </a:extLst>
                </a:gridCol>
                <a:gridCol w="726142">
                  <a:extLst>
                    <a:ext uri="{9D8B030D-6E8A-4147-A177-3AD203B41FA5}">
                      <a16:colId xmlns:a16="http://schemas.microsoft.com/office/drawing/2014/main" val="544944249"/>
                    </a:ext>
                  </a:extLst>
                </a:gridCol>
                <a:gridCol w="726142">
                  <a:extLst>
                    <a:ext uri="{9D8B030D-6E8A-4147-A177-3AD203B41FA5}">
                      <a16:colId xmlns:a16="http://schemas.microsoft.com/office/drawing/2014/main" val="2557670085"/>
                    </a:ext>
                  </a:extLst>
                </a:gridCol>
                <a:gridCol w="726142">
                  <a:extLst>
                    <a:ext uri="{9D8B030D-6E8A-4147-A177-3AD203B41FA5}">
                      <a16:colId xmlns:a16="http://schemas.microsoft.com/office/drawing/2014/main" val="1980274324"/>
                    </a:ext>
                  </a:extLst>
                </a:gridCol>
              </a:tblGrid>
              <a:tr h="3145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</a:rPr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49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</a:rPr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49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</a:rPr>
                        <a:t>0.2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49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0.4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4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031768"/>
                  </a:ext>
                </a:extLst>
              </a:tr>
            </a:tbl>
          </a:graphicData>
        </a:graphic>
      </p:graphicFrame>
      <p:cxnSp>
        <p:nvCxnSpPr>
          <p:cNvPr id="83" name="Straight Arrow Connector 55">
            <a:extLst>
              <a:ext uri="{FF2B5EF4-FFF2-40B4-BE49-F238E27FC236}">
                <a16:creationId xmlns:a16="http://schemas.microsoft.com/office/drawing/2014/main" id="{FF8FBE28-4FBE-BD33-3B64-4CAD72010578}"/>
              </a:ext>
            </a:extLst>
          </p:cNvPr>
          <p:cNvCxnSpPr>
            <a:cxnSpLocks/>
          </p:cNvCxnSpPr>
          <p:nvPr/>
        </p:nvCxnSpPr>
        <p:spPr>
          <a:xfrm flipV="1">
            <a:off x="4695190" y="3612518"/>
            <a:ext cx="0" cy="198909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84" name="Straight Arrow Connector 57">
            <a:extLst>
              <a:ext uri="{FF2B5EF4-FFF2-40B4-BE49-F238E27FC236}">
                <a16:creationId xmlns:a16="http://schemas.microsoft.com/office/drawing/2014/main" id="{4BC1FA10-FB2D-8ED7-C98F-078C8D780962}"/>
              </a:ext>
            </a:extLst>
          </p:cNvPr>
          <p:cNvCxnSpPr>
            <a:cxnSpLocks/>
          </p:cNvCxnSpPr>
          <p:nvPr/>
        </p:nvCxnSpPr>
        <p:spPr>
          <a:xfrm flipV="1">
            <a:off x="5421331" y="3612518"/>
            <a:ext cx="0" cy="198909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85" name="Straight Arrow Connector 58">
            <a:extLst>
              <a:ext uri="{FF2B5EF4-FFF2-40B4-BE49-F238E27FC236}">
                <a16:creationId xmlns:a16="http://schemas.microsoft.com/office/drawing/2014/main" id="{924E6C2E-2A26-1641-5A0E-BB067B171E6E}"/>
              </a:ext>
            </a:extLst>
          </p:cNvPr>
          <p:cNvCxnSpPr>
            <a:cxnSpLocks/>
          </p:cNvCxnSpPr>
          <p:nvPr/>
        </p:nvCxnSpPr>
        <p:spPr>
          <a:xfrm flipV="1">
            <a:off x="6167195" y="3612517"/>
            <a:ext cx="0" cy="198909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86" name="Straight Arrow Connector 59">
            <a:extLst>
              <a:ext uri="{FF2B5EF4-FFF2-40B4-BE49-F238E27FC236}">
                <a16:creationId xmlns:a16="http://schemas.microsoft.com/office/drawing/2014/main" id="{E8ABCD20-0604-3D9F-440F-B66714653B58}"/>
              </a:ext>
            </a:extLst>
          </p:cNvPr>
          <p:cNvCxnSpPr>
            <a:cxnSpLocks/>
          </p:cNvCxnSpPr>
          <p:nvPr/>
        </p:nvCxnSpPr>
        <p:spPr>
          <a:xfrm flipV="1">
            <a:off x="6870026" y="3612516"/>
            <a:ext cx="0" cy="198909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sp>
        <p:nvSpPr>
          <p:cNvPr id="87" name="TextBox 65">
            <a:extLst>
              <a:ext uri="{FF2B5EF4-FFF2-40B4-BE49-F238E27FC236}">
                <a16:creationId xmlns:a16="http://schemas.microsoft.com/office/drawing/2014/main" id="{4DB4D586-2AA3-3BFD-1128-08C652BBD72A}"/>
              </a:ext>
            </a:extLst>
          </p:cNvPr>
          <p:cNvSpPr txBox="1"/>
          <p:nvPr/>
        </p:nvSpPr>
        <p:spPr>
          <a:xfrm>
            <a:off x="7318703" y="3242104"/>
            <a:ext cx="16754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Norm + </a:t>
            </a:r>
            <a:r>
              <a:rPr lang="en-US" sz="16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Softmax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94" name="Straight Arrow Connector 28">
            <a:extLst>
              <a:ext uri="{FF2B5EF4-FFF2-40B4-BE49-F238E27FC236}">
                <a16:creationId xmlns:a16="http://schemas.microsoft.com/office/drawing/2014/main" id="{EC69ED4B-3544-3821-FB90-BAB4717F26FE}"/>
              </a:ext>
            </a:extLst>
          </p:cNvPr>
          <p:cNvCxnSpPr>
            <a:cxnSpLocks/>
          </p:cNvCxnSpPr>
          <p:nvPr/>
        </p:nvCxnSpPr>
        <p:spPr>
          <a:xfrm flipV="1">
            <a:off x="3823855" y="4136137"/>
            <a:ext cx="2588326" cy="492082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97" name="Straight Arrow Connector 28">
            <a:extLst>
              <a:ext uri="{FF2B5EF4-FFF2-40B4-BE49-F238E27FC236}">
                <a16:creationId xmlns:a16="http://schemas.microsoft.com/office/drawing/2014/main" id="{51D3CB88-9856-3943-DF4D-FAF6E9EC1FF1}"/>
              </a:ext>
            </a:extLst>
          </p:cNvPr>
          <p:cNvCxnSpPr>
            <a:cxnSpLocks/>
          </p:cNvCxnSpPr>
          <p:nvPr/>
        </p:nvCxnSpPr>
        <p:spPr>
          <a:xfrm flipV="1">
            <a:off x="3823855" y="4110879"/>
            <a:ext cx="3494848" cy="517340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100" name="Straight Arrow Connector 28">
            <a:extLst>
              <a:ext uri="{FF2B5EF4-FFF2-40B4-BE49-F238E27FC236}">
                <a16:creationId xmlns:a16="http://schemas.microsoft.com/office/drawing/2014/main" id="{25F6C2EF-C295-A980-ECDC-38506EC51502}"/>
              </a:ext>
            </a:extLst>
          </p:cNvPr>
          <p:cNvCxnSpPr>
            <a:cxnSpLocks/>
          </p:cNvCxnSpPr>
          <p:nvPr/>
        </p:nvCxnSpPr>
        <p:spPr>
          <a:xfrm flipV="1">
            <a:off x="3823855" y="4136137"/>
            <a:ext cx="773445" cy="492082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Oval 4">
                <a:extLst>
                  <a:ext uri="{FF2B5EF4-FFF2-40B4-BE49-F238E27FC236}">
                    <a16:creationId xmlns:a16="http://schemas.microsoft.com/office/drawing/2014/main" id="{FB37307F-3D79-0503-8F97-8F8C5E92459A}"/>
                  </a:ext>
                </a:extLst>
              </p:cNvPr>
              <p:cNvSpPr/>
              <p:nvPr/>
            </p:nvSpPr>
            <p:spPr>
              <a:xfrm>
                <a:off x="4569035" y="2610015"/>
                <a:ext cx="331213" cy="314569"/>
              </a:xfrm>
              <a:prstGeom prst="ellipse">
                <a:avLst/>
              </a:prstGeom>
              <a:solidFill>
                <a:srgbClr val="FFAB40"/>
              </a:solid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×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mc:Choice>
        <mc:Fallback xmlns="">
          <p:sp>
            <p:nvSpPr>
              <p:cNvPr id="129" name="Oval 4">
                <a:extLst>
                  <a:ext uri="{FF2B5EF4-FFF2-40B4-BE49-F238E27FC236}">
                    <a16:creationId xmlns:a16="http://schemas.microsoft.com/office/drawing/2014/main" id="{FB37307F-3D79-0503-8F97-8F8C5E924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035" y="2610015"/>
                <a:ext cx="331213" cy="314569"/>
              </a:xfrm>
              <a:prstGeom prst="ellipse">
                <a:avLst/>
              </a:prstGeom>
              <a:blipFill>
                <a:blip r:embed="rId16"/>
                <a:stretch>
                  <a:fillRect l="-3571"/>
                </a:stretch>
              </a:blip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Oval 40">
                <a:extLst>
                  <a:ext uri="{FF2B5EF4-FFF2-40B4-BE49-F238E27FC236}">
                    <a16:creationId xmlns:a16="http://schemas.microsoft.com/office/drawing/2014/main" id="{4CF4E6A7-3C2F-928A-7F2E-1976BDC3AE6B}"/>
                  </a:ext>
                </a:extLst>
              </p:cNvPr>
              <p:cNvSpPr/>
              <p:nvPr/>
            </p:nvSpPr>
            <p:spPr>
              <a:xfrm>
                <a:off x="5286692" y="2619043"/>
                <a:ext cx="331213" cy="314569"/>
              </a:xfrm>
              <a:prstGeom prst="ellipse">
                <a:avLst/>
              </a:prstGeom>
              <a:solidFill>
                <a:srgbClr val="FFAB40"/>
              </a:solid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×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mc:Choice>
        <mc:Fallback xmlns="">
          <p:sp>
            <p:nvSpPr>
              <p:cNvPr id="130" name="Oval 40">
                <a:extLst>
                  <a:ext uri="{FF2B5EF4-FFF2-40B4-BE49-F238E27FC236}">
                    <a16:creationId xmlns:a16="http://schemas.microsoft.com/office/drawing/2014/main" id="{4CF4E6A7-3C2F-928A-7F2E-1976BDC3AE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692" y="2619043"/>
                <a:ext cx="331213" cy="314569"/>
              </a:xfrm>
              <a:prstGeom prst="ellipse">
                <a:avLst/>
              </a:prstGeom>
              <a:blipFill>
                <a:blip r:embed="rId17"/>
                <a:stretch>
                  <a:fillRect l="-1754"/>
                </a:stretch>
              </a:blip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Oval 42">
                <a:extLst>
                  <a:ext uri="{FF2B5EF4-FFF2-40B4-BE49-F238E27FC236}">
                    <a16:creationId xmlns:a16="http://schemas.microsoft.com/office/drawing/2014/main" id="{6D60E4A7-5135-DE70-ADFD-91B6D8B83698}"/>
                  </a:ext>
                </a:extLst>
              </p:cNvPr>
              <p:cNvSpPr/>
              <p:nvPr/>
            </p:nvSpPr>
            <p:spPr>
              <a:xfrm>
                <a:off x="6004349" y="2610014"/>
                <a:ext cx="331213" cy="314569"/>
              </a:xfrm>
              <a:prstGeom prst="ellipse">
                <a:avLst/>
              </a:prstGeom>
              <a:solidFill>
                <a:srgbClr val="FFAB40"/>
              </a:solid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×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mc:Choice>
        <mc:Fallback xmlns="">
          <p:sp>
            <p:nvSpPr>
              <p:cNvPr id="131" name="Oval 42">
                <a:extLst>
                  <a:ext uri="{FF2B5EF4-FFF2-40B4-BE49-F238E27FC236}">
                    <a16:creationId xmlns:a16="http://schemas.microsoft.com/office/drawing/2014/main" id="{6D60E4A7-5135-DE70-ADFD-91B6D8B836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349" y="2610014"/>
                <a:ext cx="331213" cy="314569"/>
              </a:xfrm>
              <a:prstGeom prst="ellipse">
                <a:avLst/>
              </a:prstGeom>
              <a:blipFill>
                <a:blip r:embed="rId18"/>
                <a:stretch>
                  <a:fillRect l="-1786"/>
                </a:stretch>
              </a:blip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Oval 43">
                <a:extLst>
                  <a:ext uri="{FF2B5EF4-FFF2-40B4-BE49-F238E27FC236}">
                    <a16:creationId xmlns:a16="http://schemas.microsoft.com/office/drawing/2014/main" id="{16809F8C-466B-38F6-53E3-10D5890378DA}"/>
                  </a:ext>
                </a:extLst>
              </p:cNvPr>
              <p:cNvSpPr/>
              <p:nvPr/>
            </p:nvSpPr>
            <p:spPr>
              <a:xfrm>
                <a:off x="6717457" y="2605441"/>
                <a:ext cx="331213" cy="314569"/>
              </a:xfrm>
              <a:prstGeom prst="ellipse">
                <a:avLst/>
              </a:prstGeom>
              <a:solidFill>
                <a:srgbClr val="FFAB40"/>
              </a:solid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×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mc:Choice>
        <mc:Fallback xmlns="">
          <p:sp>
            <p:nvSpPr>
              <p:cNvPr id="132" name="Oval 43">
                <a:extLst>
                  <a:ext uri="{FF2B5EF4-FFF2-40B4-BE49-F238E27FC236}">
                    <a16:creationId xmlns:a16="http://schemas.microsoft.com/office/drawing/2014/main" id="{16809F8C-466B-38F6-53E3-10D5890378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7457" y="2605441"/>
                <a:ext cx="331213" cy="314569"/>
              </a:xfrm>
              <a:prstGeom prst="ellipse">
                <a:avLst/>
              </a:prstGeom>
              <a:blipFill>
                <a:blip r:embed="rId19"/>
                <a:stretch>
                  <a:fillRect l="-3571"/>
                </a:stretch>
              </a:blip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Straight Arrow Connector 45">
            <a:extLst>
              <a:ext uri="{FF2B5EF4-FFF2-40B4-BE49-F238E27FC236}">
                <a16:creationId xmlns:a16="http://schemas.microsoft.com/office/drawing/2014/main" id="{6749E143-202F-28C9-3305-CEBF73CE0DA7}"/>
              </a:ext>
            </a:extLst>
          </p:cNvPr>
          <p:cNvCxnSpPr>
            <a:cxnSpLocks/>
          </p:cNvCxnSpPr>
          <p:nvPr/>
        </p:nvCxnSpPr>
        <p:spPr>
          <a:xfrm flipV="1">
            <a:off x="4734369" y="2928209"/>
            <a:ext cx="546" cy="312310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34" name="Straight Arrow Connector 46">
            <a:extLst>
              <a:ext uri="{FF2B5EF4-FFF2-40B4-BE49-F238E27FC236}">
                <a16:creationId xmlns:a16="http://schemas.microsoft.com/office/drawing/2014/main" id="{9A722B28-142C-270A-19AC-C6991EF17418}"/>
              </a:ext>
            </a:extLst>
          </p:cNvPr>
          <p:cNvCxnSpPr>
            <a:cxnSpLocks/>
          </p:cNvCxnSpPr>
          <p:nvPr/>
        </p:nvCxnSpPr>
        <p:spPr>
          <a:xfrm flipV="1">
            <a:off x="5451752" y="2939675"/>
            <a:ext cx="546" cy="312310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35" name="Straight Arrow Connector 48">
            <a:extLst>
              <a:ext uri="{FF2B5EF4-FFF2-40B4-BE49-F238E27FC236}">
                <a16:creationId xmlns:a16="http://schemas.microsoft.com/office/drawing/2014/main" id="{D80FA5E7-0A47-A81C-7A17-22C106429C53}"/>
              </a:ext>
            </a:extLst>
          </p:cNvPr>
          <p:cNvCxnSpPr>
            <a:cxnSpLocks/>
          </p:cNvCxnSpPr>
          <p:nvPr/>
        </p:nvCxnSpPr>
        <p:spPr>
          <a:xfrm flipV="1">
            <a:off x="6166862" y="2931361"/>
            <a:ext cx="546" cy="312310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36" name="Straight Arrow Connector 52">
            <a:extLst>
              <a:ext uri="{FF2B5EF4-FFF2-40B4-BE49-F238E27FC236}">
                <a16:creationId xmlns:a16="http://schemas.microsoft.com/office/drawing/2014/main" id="{7954A20D-F0B9-F3E4-5BDB-04DAD6EA12EC}"/>
              </a:ext>
            </a:extLst>
          </p:cNvPr>
          <p:cNvCxnSpPr>
            <a:cxnSpLocks/>
          </p:cNvCxnSpPr>
          <p:nvPr/>
        </p:nvCxnSpPr>
        <p:spPr>
          <a:xfrm flipV="1">
            <a:off x="6880834" y="2928209"/>
            <a:ext cx="546" cy="312310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137" name="Freeform: Shape 6">
            <a:extLst>
              <a:ext uri="{FF2B5EF4-FFF2-40B4-BE49-F238E27FC236}">
                <a16:creationId xmlns:a16="http://schemas.microsoft.com/office/drawing/2014/main" id="{795A9B34-89C6-0E6E-5962-CDEDCC153795}"/>
              </a:ext>
            </a:extLst>
          </p:cNvPr>
          <p:cNvSpPr/>
          <p:nvPr/>
        </p:nvSpPr>
        <p:spPr>
          <a:xfrm>
            <a:off x="2980488" y="2811846"/>
            <a:ext cx="1592132" cy="1796290"/>
          </a:xfrm>
          <a:custGeom>
            <a:avLst/>
            <a:gdLst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996875 w 1592132"/>
              <a:gd name="connsiteY2" fmla="*/ 14702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996875 w 1592132"/>
              <a:gd name="connsiteY2" fmla="*/ 14702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32677 w 1592132"/>
              <a:gd name="connsiteY1" fmla="*/ 681317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21167 w 1592132"/>
              <a:gd name="connsiteY2" fmla="*/ 236668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211566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211566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2132" h="1308847">
                <a:moveTo>
                  <a:pt x="0" y="1308847"/>
                </a:moveTo>
                <a:cubicBezTo>
                  <a:pt x="11953" y="1036320"/>
                  <a:pt x="76498" y="894676"/>
                  <a:pt x="211566" y="702832"/>
                </a:cubicBezTo>
                <a:cubicBezTo>
                  <a:pt x="346634" y="510988"/>
                  <a:pt x="644861" y="339464"/>
                  <a:pt x="874955" y="222325"/>
                </a:cubicBezTo>
                <a:cubicBezTo>
                  <a:pt x="1105049" y="105186"/>
                  <a:pt x="1217706" y="97715"/>
                  <a:pt x="1592132" y="0"/>
                </a:cubicBezTo>
              </a:path>
            </a:pathLst>
          </a:cu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8" name="Freeform: Shape 53">
            <a:extLst>
              <a:ext uri="{FF2B5EF4-FFF2-40B4-BE49-F238E27FC236}">
                <a16:creationId xmlns:a16="http://schemas.microsoft.com/office/drawing/2014/main" id="{7290DFF1-18A1-5938-03E6-D0EF6CDCB2D9}"/>
              </a:ext>
            </a:extLst>
          </p:cNvPr>
          <p:cNvSpPr/>
          <p:nvPr/>
        </p:nvSpPr>
        <p:spPr>
          <a:xfrm>
            <a:off x="4738543" y="2890447"/>
            <a:ext cx="575470" cy="1737772"/>
          </a:xfrm>
          <a:custGeom>
            <a:avLst/>
            <a:gdLst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996875 w 1592132"/>
              <a:gd name="connsiteY2" fmla="*/ 14702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996875 w 1592132"/>
              <a:gd name="connsiteY2" fmla="*/ 14702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32677 w 1592132"/>
              <a:gd name="connsiteY1" fmla="*/ 681317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21167 w 1592132"/>
              <a:gd name="connsiteY2" fmla="*/ 236668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211566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211566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326326 w 1592132"/>
              <a:gd name="connsiteY1" fmla="*/ 706418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467809"/>
              <a:gd name="connsiteY0" fmla="*/ 1305261 h 1305261"/>
              <a:gd name="connsiteX1" fmla="*/ 202003 w 1467809"/>
              <a:gd name="connsiteY1" fmla="*/ 706418 h 1305261"/>
              <a:gd name="connsiteX2" fmla="*/ 750632 w 1467809"/>
              <a:gd name="connsiteY2" fmla="*/ 222325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278510 w 1467809"/>
              <a:gd name="connsiteY1" fmla="*/ 706418 h 1305261"/>
              <a:gd name="connsiteX2" fmla="*/ 750632 w 1467809"/>
              <a:gd name="connsiteY2" fmla="*/ 222325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278510 w 1467809"/>
              <a:gd name="connsiteY1" fmla="*/ 706418 h 1305261"/>
              <a:gd name="connsiteX2" fmla="*/ 846267 w 1467809"/>
              <a:gd name="connsiteY2" fmla="*/ 240254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364581 w 1467809"/>
              <a:gd name="connsiteY1" fmla="*/ 710004 h 1305261"/>
              <a:gd name="connsiteX2" fmla="*/ 846267 w 1467809"/>
              <a:gd name="connsiteY2" fmla="*/ 240254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364581 w 1467809"/>
              <a:gd name="connsiteY1" fmla="*/ 710004 h 1305261"/>
              <a:gd name="connsiteX2" fmla="*/ 846267 w 1467809"/>
              <a:gd name="connsiteY2" fmla="*/ 240254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364581 w 1467809"/>
              <a:gd name="connsiteY1" fmla="*/ 710004 h 1305261"/>
              <a:gd name="connsiteX2" fmla="*/ 922774 w 1467809"/>
              <a:gd name="connsiteY2" fmla="*/ 254598 h 1305261"/>
              <a:gd name="connsiteX3" fmla="*/ 1467809 w 1467809"/>
              <a:gd name="connsiteY3" fmla="*/ 0 h 1305261"/>
              <a:gd name="connsiteX0" fmla="*/ 0 w 1534752"/>
              <a:gd name="connsiteY0" fmla="*/ 1258644 h 1258644"/>
              <a:gd name="connsiteX1" fmla="*/ 364581 w 1534752"/>
              <a:gd name="connsiteY1" fmla="*/ 663387 h 1258644"/>
              <a:gd name="connsiteX2" fmla="*/ 922774 w 1534752"/>
              <a:gd name="connsiteY2" fmla="*/ 207981 h 1258644"/>
              <a:gd name="connsiteX3" fmla="*/ 1534752 w 1534752"/>
              <a:gd name="connsiteY3" fmla="*/ 0 h 1258644"/>
              <a:gd name="connsiteX0" fmla="*/ 0 w 1534752"/>
              <a:gd name="connsiteY0" fmla="*/ 1258644 h 1258644"/>
              <a:gd name="connsiteX1" fmla="*/ 364581 w 1534752"/>
              <a:gd name="connsiteY1" fmla="*/ 663387 h 1258644"/>
              <a:gd name="connsiteX2" fmla="*/ 922774 w 1534752"/>
              <a:gd name="connsiteY2" fmla="*/ 207981 h 1258644"/>
              <a:gd name="connsiteX3" fmla="*/ 1534752 w 1534752"/>
              <a:gd name="connsiteY3" fmla="*/ 0 h 1258644"/>
              <a:gd name="connsiteX0" fmla="*/ 0 w 1534752"/>
              <a:gd name="connsiteY0" fmla="*/ 1258644 h 1258644"/>
              <a:gd name="connsiteX1" fmla="*/ 364581 w 1534752"/>
              <a:gd name="connsiteY1" fmla="*/ 663387 h 1258644"/>
              <a:gd name="connsiteX2" fmla="*/ 922774 w 1534752"/>
              <a:gd name="connsiteY2" fmla="*/ 207981 h 1258644"/>
              <a:gd name="connsiteX3" fmla="*/ 1534752 w 1534752"/>
              <a:gd name="connsiteY3" fmla="*/ 0 h 125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752" h="1258644">
                <a:moveTo>
                  <a:pt x="0" y="1258644"/>
                </a:moveTo>
                <a:cubicBezTo>
                  <a:pt x="78896" y="978945"/>
                  <a:pt x="210785" y="838497"/>
                  <a:pt x="364581" y="663387"/>
                </a:cubicBezTo>
                <a:cubicBezTo>
                  <a:pt x="518377" y="488277"/>
                  <a:pt x="718181" y="311374"/>
                  <a:pt x="922774" y="207981"/>
                </a:cubicBezTo>
                <a:cubicBezTo>
                  <a:pt x="1127367" y="104588"/>
                  <a:pt x="1160326" y="97715"/>
                  <a:pt x="1534752" y="0"/>
                </a:cubicBezTo>
              </a:path>
            </a:pathLst>
          </a:cu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9" name="Freeform: Shape 56">
            <a:extLst>
              <a:ext uri="{FF2B5EF4-FFF2-40B4-BE49-F238E27FC236}">
                <a16:creationId xmlns:a16="http://schemas.microsoft.com/office/drawing/2014/main" id="{E4D723C1-65AD-2324-46CD-B4A8F6BAA9A9}"/>
              </a:ext>
            </a:extLst>
          </p:cNvPr>
          <p:cNvSpPr/>
          <p:nvPr/>
        </p:nvSpPr>
        <p:spPr>
          <a:xfrm flipH="1">
            <a:off x="6302593" y="2882574"/>
            <a:ext cx="270528" cy="1725561"/>
          </a:xfrm>
          <a:custGeom>
            <a:avLst/>
            <a:gdLst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996875 w 1592132"/>
              <a:gd name="connsiteY2" fmla="*/ 14702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996875 w 1592132"/>
              <a:gd name="connsiteY2" fmla="*/ 14702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32677 w 1592132"/>
              <a:gd name="connsiteY1" fmla="*/ 681317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21167 w 1592132"/>
              <a:gd name="connsiteY2" fmla="*/ 236668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211566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211566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326326 w 1592132"/>
              <a:gd name="connsiteY1" fmla="*/ 706418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467809"/>
              <a:gd name="connsiteY0" fmla="*/ 1305261 h 1305261"/>
              <a:gd name="connsiteX1" fmla="*/ 202003 w 1467809"/>
              <a:gd name="connsiteY1" fmla="*/ 706418 h 1305261"/>
              <a:gd name="connsiteX2" fmla="*/ 750632 w 1467809"/>
              <a:gd name="connsiteY2" fmla="*/ 222325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278510 w 1467809"/>
              <a:gd name="connsiteY1" fmla="*/ 706418 h 1305261"/>
              <a:gd name="connsiteX2" fmla="*/ 750632 w 1467809"/>
              <a:gd name="connsiteY2" fmla="*/ 222325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278510 w 1467809"/>
              <a:gd name="connsiteY1" fmla="*/ 706418 h 1305261"/>
              <a:gd name="connsiteX2" fmla="*/ 846267 w 1467809"/>
              <a:gd name="connsiteY2" fmla="*/ 240254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364581 w 1467809"/>
              <a:gd name="connsiteY1" fmla="*/ 710004 h 1305261"/>
              <a:gd name="connsiteX2" fmla="*/ 846267 w 1467809"/>
              <a:gd name="connsiteY2" fmla="*/ 240254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364581 w 1467809"/>
              <a:gd name="connsiteY1" fmla="*/ 710004 h 1305261"/>
              <a:gd name="connsiteX2" fmla="*/ 846267 w 1467809"/>
              <a:gd name="connsiteY2" fmla="*/ 240254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364581 w 1467809"/>
              <a:gd name="connsiteY1" fmla="*/ 710004 h 1305261"/>
              <a:gd name="connsiteX2" fmla="*/ 922774 w 1467809"/>
              <a:gd name="connsiteY2" fmla="*/ 254598 h 1305261"/>
              <a:gd name="connsiteX3" fmla="*/ 1467809 w 1467809"/>
              <a:gd name="connsiteY3" fmla="*/ 0 h 1305261"/>
              <a:gd name="connsiteX0" fmla="*/ 0 w 1534752"/>
              <a:gd name="connsiteY0" fmla="*/ 1258644 h 1258644"/>
              <a:gd name="connsiteX1" fmla="*/ 364581 w 1534752"/>
              <a:gd name="connsiteY1" fmla="*/ 663387 h 1258644"/>
              <a:gd name="connsiteX2" fmla="*/ 922774 w 1534752"/>
              <a:gd name="connsiteY2" fmla="*/ 207981 h 1258644"/>
              <a:gd name="connsiteX3" fmla="*/ 1534752 w 1534752"/>
              <a:gd name="connsiteY3" fmla="*/ 0 h 1258644"/>
              <a:gd name="connsiteX0" fmla="*/ 0 w 1534752"/>
              <a:gd name="connsiteY0" fmla="*/ 1258644 h 1258644"/>
              <a:gd name="connsiteX1" fmla="*/ 364581 w 1534752"/>
              <a:gd name="connsiteY1" fmla="*/ 663387 h 1258644"/>
              <a:gd name="connsiteX2" fmla="*/ 922774 w 1534752"/>
              <a:gd name="connsiteY2" fmla="*/ 207981 h 1258644"/>
              <a:gd name="connsiteX3" fmla="*/ 1534752 w 1534752"/>
              <a:gd name="connsiteY3" fmla="*/ 0 h 1258644"/>
              <a:gd name="connsiteX0" fmla="*/ 0 w 1534752"/>
              <a:gd name="connsiteY0" fmla="*/ 1258644 h 1258644"/>
              <a:gd name="connsiteX1" fmla="*/ 364581 w 1534752"/>
              <a:gd name="connsiteY1" fmla="*/ 663387 h 1258644"/>
              <a:gd name="connsiteX2" fmla="*/ 922774 w 1534752"/>
              <a:gd name="connsiteY2" fmla="*/ 207981 h 1258644"/>
              <a:gd name="connsiteX3" fmla="*/ 1534752 w 1534752"/>
              <a:gd name="connsiteY3" fmla="*/ 0 h 125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752" h="1258644">
                <a:moveTo>
                  <a:pt x="0" y="1258644"/>
                </a:moveTo>
                <a:cubicBezTo>
                  <a:pt x="78896" y="978945"/>
                  <a:pt x="210785" y="838497"/>
                  <a:pt x="364581" y="663387"/>
                </a:cubicBezTo>
                <a:cubicBezTo>
                  <a:pt x="518377" y="488277"/>
                  <a:pt x="718181" y="311374"/>
                  <a:pt x="922774" y="207981"/>
                </a:cubicBezTo>
                <a:cubicBezTo>
                  <a:pt x="1127367" y="104588"/>
                  <a:pt x="1160326" y="97715"/>
                  <a:pt x="1534752" y="0"/>
                </a:cubicBezTo>
              </a:path>
            </a:pathLst>
          </a:cu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0" name="Freeform: Shape 60">
            <a:extLst>
              <a:ext uri="{FF2B5EF4-FFF2-40B4-BE49-F238E27FC236}">
                <a16:creationId xmlns:a16="http://schemas.microsoft.com/office/drawing/2014/main" id="{D803596C-DCDB-518A-A364-BE6EC7B2794C}"/>
              </a:ext>
            </a:extLst>
          </p:cNvPr>
          <p:cNvSpPr/>
          <p:nvPr/>
        </p:nvSpPr>
        <p:spPr>
          <a:xfrm flipH="1">
            <a:off x="7043164" y="2783160"/>
            <a:ext cx="1383188" cy="1800826"/>
          </a:xfrm>
          <a:custGeom>
            <a:avLst/>
            <a:gdLst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996875 w 1592132"/>
              <a:gd name="connsiteY2" fmla="*/ 14702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996875 w 1592132"/>
              <a:gd name="connsiteY2" fmla="*/ 14702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32677 w 1592132"/>
              <a:gd name="connsiteY1" fmla="*/ 681317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21167 w 1592132"/>
              <a:gd name="connsiteY2" fmla="*/ 236668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211566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211566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2132" h="1308847">
                <a:moveTo>
                  <a:pt x="0" y="1308847"/>
                </a:moveTo>
                <a:cubicBezTo>
                  <a:pt x="11953" y="1036320"/>
                  <a:pt x="76498" y="894676"/>
                  <a:pt x="211566" y="702832"/>
                </a:cubicBezTo>
                <a:cubicBezTo>
                  <a:pt x="346634" y="510988"/>
                  <a:pt x="644861" y="339464"/>
                  <a:pt x="874955" y="222325"/>
                </a:cubicBezTo>
                <a:cubicBezTo>
                  <a:pt x="1105049" y="105186"/>
                  <a:pt x="1217706" y="97715"/>
                  <a:pt x="1592132" y="0"/>
                </a:cubicBezTo>
              </a:path>
            </a:pathLst>
          </a:cu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Oval 61">
                <a:extLst>
                  <a:ext uri="{FF2B5EF4-FFF2-40B4-BE49-F238E27FC236}">
                    <a16:creationId xmlns:a16="http://schemas.microsoft.com/office/drawing/2014/main" id="{E9A53C3A-483E-F35A-750A-778020A3D3F6}"/>
                  </a:ext>
                </a:extLst>
              </p:cNvPr>
              <p:cNvSpPr/>
              <p:nvPr/>
            </p:nvSpPr>
            <p:spPr>
              <a:xfrm>
                <a:off x="5040866" y="2019459"/>
                <a:ext cx="331213" cy="314569"/>
              </a:xfrm>
              <a:prstGeom prst="ellipse">
                <a:avLst/>
              </a:prstGeom>
              <a:solidFill>
                <a:srgbClr val="FFAB40"/>
              </a:solid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18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Σ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mc:Choice>
        <mc:Fallback xmlns="">
          <p:sp>
            <p:nvSpPr>
              <p:cNvPr id="141" name="Oval 61">
                <a:extLst>
                  <a:ext uri="{FF2B5EF4-FFF2-40B4-BE49-F238E27FC236}">
                    <a16:creationId xmlns:a16="http://schemas.microsoft.com/office/drawing/2014/main" id="{E9A53C3A-483E-F35A-750A-778020A3D3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866" y="2019459"/>
                <a:ext cx="331213" cy="314569"/>
              </a:xfrm>
              <a:prstGeom prst="ellipse">
                <a:avLst/>
              </a:prstGeom>
              <a:blipFill>
                <a:blip r:embed="rId20"/>
                <a:stretch>
                  <a:fillRect l="-1786"/>
                </a:stretch>
              </a:blip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2" name="Straight Arrow Connector 62">
            <a:extLst>
              <a:ext uri="{FF2B5EF4-FFF2-40B4-BE49-F238E27FC236}">
                <a16:creationId xmlns:a16="http://schemas.microsoft.com/office/drawing/2014/main" id="{442E82CE-8C27-1987-263A-3118E56C8E4B}"/>
              </a:ext>
            </a:extLst>
          </p:cNvPr>
          <p:cNvCxnSpPr>
            <a:cxnSpLocks/>
            <a:stCxn id="129" idx="7"/>
            <a:endCxn id="141" idx="3"/>
          </p:cNvCxnSpPr>
          <p:nvPr/>
        </p:nvCxnSpPr>
        <p:spPr>
          <a:xfrm flipV="1">
            <a:off x="4851743" y="2287960"/>
            <a:ext cx="237628" cy="368123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43" name="Straight Arrow Connector 63">
            <a:extLst>
              <a:ext uri="{FF2B5EF4-FFF2-40B4-BE49-F238E27FC236}">
                <a16:creationId xmlns:a16="http://schemas.microsoft.com/office/drawing/2014/main" id="{096AB798-A783-27A3-3D36-37B10B137362}"/>
              </a:ext>
            </a:extLst>
          </p:cNvPr>
          <p:cNvCxnSpPr>
            <a:cxnSpLocks/>
          </p:cNvCxnSpPr>
          <p:nvPr/>
        </p:nvCxnSpPr>
        <p:spPr>
          <a:xfrm flipH="1" flipV="1">
            <a:off x="5263545" y="2334028"/>
            <a:ext cx="139409" cy="297686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44" name="Straight Arrow Connector 64">
            <a:extLst>
              <a:ext uri="{FF2B5EF4-FFF2-40B4-BE49-F238E27FC236}">
                <a16:creationId xmlns:a16="http://schemas.microsoft.com/office/drawing/2014/main" id="{D228910A-DD35-A840-0C8C-28911276083D}"/>
              </a:ext>
            </a:extLst>
          </p:cNvPr>
          <p:cNvCxnSpPr>
            <a:cxnSpLocks/>
          </p:cNvCxnSpPr>
          <p:nvPr/>
        </p:nvCxnSpPr>
        <p:spPr>
          <a:xfrm flipH="1" flipV="1">
            <a:off x="5359721" y="2281268"/>
            <a:ext cx="649806" cy="377668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45" name="Straight Arrow Connector 66">
            <a:extLst>
              <a:ext uri="{FF2B5EF4-FFF2-40B4-BE49-F238E27FC236}">
                <a16:creationId xmlns:a16="http://schemas.microsoft.com/office/drawing/2014/main" id="{41963284-5B18-6CE7-BC67-D2E41ED5D1E4}"/>
              </a:ext>
            </a:extLst>
          </p:cNvPr>
          <p:cNvCxnSpPr>
            <a:cxnSpLocks/>
          </p:cNvCxnSpPr>
          <p:nvPr/>
        </p:nvCxnSpPr>
        <p:spPr>
          <a:xfrm flipH="1" flipV="1">
            <a:off x="5395226" y="2218897"/>
            <a:ext cx="1322232" cy="461815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46" name="Straight Arrow Connector 71">
            <a:extLst>
              <a:ext uri="{FF2B5EF4-FFF2-40B4-BE49-F238E27FC236}">
                <a16:creationId xmlns:a16="http://schemas.microsoft.com/office/drawing/2014/main" id="{0B166FAE-E618-EB22-0ED5-463E465E7544}"/>
              </a:ext>
            </a:extLst>
          </p:cNvPr>
          <p:cNvCxnSpPr>
            <a:cxnSpLocks/>
            <a:stCxn id="141" idx="1"/>
          </p:cNvCxnSpPr>
          <p:nvPr/>
        </p:nvCxnSpPr>
        <p:spPr>
          <a:xfrm flipH="1" flipV="1">
            <a:off x="3569164" y="1605547"/>
            <a:ext cx="1520207" cy="459980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83">
                <a:extLst>
                  <a:ext uri="{FF2B5EF4-FFF2-40B4-BE49-F238E27FC236}">
                    <a16:creationId xmlns:a16="http://schemas.microsoft.com/office/drawing/2014/main" id="{2747358A-89EA-4293-09BA-B4BCCA9F1682}"/>
                  </a:ext>
                </a:extLst>
              </p:cNvPr>
              <p:cNvSpPr txBox="1"/>
              <p:nvPr/>
            </p:nvSpPr>
            <p:spPr>
              <a:xfrm>
                <a:off x="3271535" y="1297770"/>
                <a:ext cx="297629" cy="307777"/>
              </a:xfrm>
              <a:prstGeom prst="rect">
                <a:avLst/>
              </a:prstGeom>
              <a:solidFill>
                <a:srgbClr val="C6E6A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𝑦</m:t>
                          </m:r>
                        </m:e>
                        <m:sub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48" name="TextBox 83">
                <a:extLst>
                  <a:ext uri="{FF2B5EF4-FFF2-40B4-BE49-F238E27FC236}">
                    <a16:creationId xmlns:a16="http://schemas.microsoft.com/office/drawing/2014/main" id="{2747358A-89EA-4293-09BA-B4BCCA9F1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535" y="1297770"/>
                <a:ext cx="297629" cy="307777"/>
              </a:xfrm>
              <a:prstGeom prst="rect">
                <a:avLst/>
              </a:prstGeom>
              <a:blipFill>
                <a:blip r:embed="rId21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579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/>
      <p:bldP spid="69" grpId="0"/>
      <p:bldP spid="70" grpId="0"/>
      <p:bldP spid="71" grpId="0"/>
      <p:bldP spid="87" grpId="0"/>
      <p:bldP spid="129" grpId="0" animBg="1"/>
      <p:bldP spid="130" grpId="0" animBg="1"/>
      <p:bldP spid="131" grpId="0" animBg="1"/>
      <p:bldP spid="132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0F39D-F55A-AFBE-A616-55AF4927D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D63EA36-B745-A755-7958-B76B48D64809}"/>
              </a:ext>
            </a:extLst>
          </p:cNvPr>
          <p:cNvSpPr txBox="1"/>
          <p:nvPr/>
        </p:nvSpPr>
        <p:spPr>
          <a:xfrm>
            <a:off x="645459" y="603612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Visualização do Mecanismo de Atenção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B843AE0-4588-19ED-1DB5-9A5D466126CA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Elaborada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pelo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autor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: Rounded Corners 1">
            <a:extLst>
              <a:ext uri="{FF2B5EF4-FFF2-40B4-BE49-F238E27FC236}">
                <a16:creationId xmlns:a16="http://schemas.microsoft.com/office/drawing/2014/main" id="{E1A3FCE9-C335-142F-29EA-2C8379A7C016}"/>
              </a:ext>
            </a:extLst>
          </p:cNvPr>
          <p:cNvSpPr/>
          <p:nvPr/>
        </p:nvSpPr>
        <p:spPr>
          <a:xfrm>
            <a:off x="2069904" y="1901335"/>
            <a:ext cx="8052192" cy="3302736"/>
          </a:xfrm>
          <a:prstGeom prst="roundRect">
            <a:avLst/>
          </a:prstGeom>
          <a:solidFill>
            <a:srgbClr val="FFAB40">
              <a:lumMod val="40000"/>
              <a:lumOff val="60000"/>
            </a:srgbClr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2">
                <a:extLst>
                  <a:ext uri="{FF2B5EF4-FFF2-40B4-BE49-F238E27FC236}">
                    <a16:creationId xmlns:a16="http://schemas.microsoft.com/office/drawing/2014/main" id="{3D3EA889-BDF1-2A21-A668-0B96363E61F1}"/>
                  </a:ext>
                </a:extLst>
              </p:cNvPr>
              <p:cNvSpPr txBox="1"/>
              <p:nvPr/>
            </p:nvSpPr>
            <p:spPr>
              <a:xfrm>
                <a:off x="3233616" y="5515735"/>
                <a:ext cx="297629" cy="307777"/>
              </a:xfrm>
              <a:prstGeom prst="rect">
                <a:avLst/>
              </a:prstGeom>
              <a:solidFill>
                <a:srgbClr val="C6E6A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2" name="TextBox 2">
                <a:extLst>
                  <a:ext uri="{FF2B5EF4-FFF2-40B4-BE49-F238E27FC236}">
                    <a16:creationId xmlns:a16="http://schemas.microsoft.com/office/drawing/2014/main" id="{3D3EA889-BDF1-2A21-A668-0B96363E6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3616" y="5515735"/>
                <a:ext cx="297629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7">
                <a:extLst>
                  <a:ext uri="{FF2B5EF4-FFF2-40B4-BE49-F238E27FC236}">
                    <a16:creationId xmlns:a16="http://schemas.microsoft.com/office/drawing/2014/main" id="{62FB13BD-3E2D-C699-2432-51D47F1E091C}"/>
                  </a:ext>
                </a:extLst>
              </p:cNvPr>
              <p:cNvSpPr txBox="1"/>
              <p:nvPr/>
            </p:nvSpPr>
            <p:spPr>
              <a:xfrm>
                <a:off x="5021178" y="5515736"/>
                <a:ext cx="297629" cy="307777"/>
              </a:xfrm>
              <a:prstGeom prst="rect">
                <a:avLst/>
              </a:prstGeom>
              <a:solidFill>
                <a:srgbClr val="C6E6A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3" name="TextBox 7">
                <a:extLst>
                  <a:ext uri="{FF2B5EF4-FFF2-40B4-BE49-F238E27FC236}">
                    <a16:creationId xmlns:a16="http://schemas.microsoft.com/office/drawing/2014/main" id="{62FB13BD-3E2D-C699-2432-51D47F1E0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178" y="5515736"/>
                <a:ext cx="297629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8">
                <a:extLst>
                  <a:ext uri="{FF2B5EF4-FFF2-40B4-BE49-F238E27FC236}">
                    <a16:creationId xmlns:a16="http://schemas.microsoft.com/office/drawing/2014/main" id="{E4F6494F-12DC-AB35-C13C-B98F60779368}"/>
                  </a:ext>
                </a:extLst>
              </p:cNvPr>
              <p:cNvSpPr txBox="1"/>
              <p:nvPr/>
            </p:nvSpPr>
            <p:spPr>
              <a:xfrm>
                <a:off x="6858942" y="5515736"/>
                <a:ext cx="297629" cy="307777"/>
              </a:xfrm>
              <a:prstGeom prst="rect">
                <a:avLst/>
              </a:prstGeom>
              <a:solidFill>
                <a:srgbClr val="C6E6A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4" name="TextBox 8">
                <a:extLst>
                  <a:ext uri="{FF2B5EF4-FFF2-40B4-BE49-F238E27FC236}">
                    <a16:creationId xmlns:a16="http://schemas.microsoft.com/office/drawing/2014/main" id="{E4F6494F-12DC-AB35-C13C-B98F60779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5515736"/>
                <a:ext cx="297629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9">
                <a:extLst>
                  <a:ext uri="{FF2B5EF4-FFF2-40B4-BE49-F238E27FC236}">
                    <a16:creationId xmlns:a16="http://schemas.microsoft.com/office/drawing/2014/main" id="{2C96E59B-DD39-5A48-AAA0-5D94AF343011}"/>
                  </a:ext>
                </a:extLst>
              </p:cNvPr>
              <p:cNvSpPr txBox="1"/>
              <p:nvPr/>
            </p:nvSpPr>
            <p:spPr>
              <a:xfrm>
                <a:off x="8696706" y="5515735"/>
                <a:ext cx="297629" cy="307777"/>
              </a:xfrm>
              <a:prstGeom prst="rect">
                <a:avLst/>
              </a:prstGeom>
              <a:solidFill>
                <a:srgbClr val="C6E6A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5" name="TextBox 9">
                <a:extLst>
                  <a:ext uri="{FF2B5EF4-FFF2-40B4-BE49-F238E27FC236}">
                    <a16:creationId xmlns:a16="http://schemas.microsoft.com/office/drawing/2014/main" id="{2C96E59B-DD39-5A48-AAA0-5D94AF343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706" y="5515735"/>
                <a:ext cx="297629" cy="307777"/>
              </a:xfrm>
              <a:prstGeom prst="rect">
                <a:avLst/>
              </a:prstGeom>
              <a:blipFill>
                <a:blip r:embed="rId5"/>
                <a:stretch>
                  <a:fillRect r="-20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3">
                <a:extLst>
                  <a:ext uri="{FF2B5EF4-FFF2-40B4-BE49-F238E27FC236}">
                    <a16:creationId xmlns:a16="http://schemas.microsoft.com/office/drawing/2014/main" id="{56084FED-671A-2201-8B22-8896EC5516A5}"/>
                  </a:ext>
                </a:extLst>
              </p:cNvPr>
              <p:cNvSpPr txBox="1"/>
              <p:nvPr/>
            </p:nvSpPr>
            <p:spPr>
              <a:xfrm>
                <a:off x="3173202" y="4895650"/>
                <a:ext cx="419548" cy="307777"/>
              </a:xfrm>
              <a:prstGeom prst="rect">
                <a:avLst/>
              </a:prstGeom>
              <a:solidFill>
                <a:srgbClr val="F3B9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6" name="TextBox 3">
                <a:extLst>
                  <a:ext uri="{FF2B5EF4-FFF2-40B4-BE49-F238E27FC236}">
                    <a16:creationId xmlns:a16="http://schemas.microsoft.com/office/drawing/2014/main" id="{56084FED-671A-2201-8B22-8896EC551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202" y="4895650"/>
                <a:ext cx="419548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10">
                <a:extLst>
                  <a:ext uri="{FF2B5EF4-FFF2-40B4-BE49-F238E27FC236}">
                    <a16:creationId xmlns:a16="http://schemas.microsoft.com/office/drawing/2014/main" id="{329FA055-873D-B8B4-9521-E53B60004DC6}"/>
                  </a:ext>
                </a:extLst>
              </p:cNvPr>
              <p:cNvSpPr txBox="1"/>
              <p:nvPr/>
            </p:nvSpPr>
            <p:spPr>
              <a:xfrm>
                <a:off x="3592750" y="4895650"/>
                <a:ext cx="419548" cy="308418"/>
              </a:xfrm>
              <a:prstGeom prst="rect">
                <a:avLst/>
              </a:prstGeom>
              <a:solidFill>
                <a:srgbClr val="B9F0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7" name="TextBox 10">
                <a:extLst>
                  <a:ext uri="{FF2B5EF4-FFF2-40B4-BE49-F238E27FC236}">
                    <a16:creationId xmlns:a16="http://schemas.microsoft.com/office/drawing/2014/main" id="{329FA055-873D-B8B4-9521-E53B60004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750" y="4895650"/>
                <a:ext cx="419548" cy="3084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E797175A-224A-78F1-F016-767797C014FC}"/>
                  </a:ext>
                </a:extLst>
              </p:cNvPr>
              <p:cNvSpPr txBox="1"/>
              <p:nvPr/>
            </p:nvSpPr>
            <p:spPr>
              <a:xfrm>
                <a:off x="2753654" y="4895650"/>
                <a:ext cx="419548" cy="307777"/>
              </a:xfrm>
              <a:prstGeom prst="rect">
                <a:avLst/>
              </a:prstGeom>
              <a:solidFill>
                <a:srgbClr val="E0F7BB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E797175A-224A-78F1-F016-767797C01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654" y="4895650"/>
                <a:ext cx="419548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12">
                <a:extLst>
                  <a:ext uri="{FF2B5EF4-FFF2-40B4-BE49-F238E27FC236}">
                    <a16:creationId xmlns:a16="http://schemas.microsoft.com/office/drawing/2014/main" id="{5FE07F2C-7BD7-70EF-63FF-05FDD46E7AD2}"/>
                  </a:ext>
                </a:extLst>
              </p:cNvPr>
              <p:cNvSpPr txBox="1"/>
              <p:nvPr/>
            </p:nvSpPr>
            <p:spPr>
              <a:xfrm>
                <a:off x="4947669" y="4895652"/>
                <a:ext cx="419548" cy="307777"/>
              </a:xfrm>
              <a:prstGeom prst="rect">
                <a:avLst/>
              </a:prstGeom>
              <a:solidFill>
                <a:srgbClr val="F3B9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9" name="TextBox 12">
                <a:extLst>
                  <a:ext uri="{FF2B5EF4-FFF2-40B4-BE49-F238E27FC236}">
                    <a16:creationId xmlns:a16="http://schemas.microsoft.com/office/drawing/2014/main" id="{5FE07F2C-7BD7-70EF-63FF-05FDD46E7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669" y="4895652"/>
                <a:ext cx="419548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13">
                <a:extLst>
                  <a:ext uri="{FF2B5EF4-FFF2-40B4-BE49-F238E27FC236}">
                    <a16:creationId xmlns:a16="http://schemas.microsoft.com/office/drawing/2014/main" id="{1F134F58-8B59-823D-802D-E04758FFB7E3}"/>
                  </a:ext>
                </a:extLst>
              </p:cNvPr>
              <p:cNvSpPr txBox="1"/>
              <p:nvPr/>
            </p:nvSpPr>
            <p:spPr>
              <a:xfrm>
                <a:off x="5367217" y="4895652"/>
                <a:ext cx="419548" cy="308418"/>
              </a:xfrm>
              <a:prstGeom prst="rect">
                <a:avLst/>
              </a:prstGeom>
              <a:solidFill>
                <a:srgbClr val="B9F0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0" name="TextBox 13">
                <a:extLst>
                  <a:ext uri="{FF2B5EF4-FFF2-40B4-BE49-F238E27FC236}">
                    <a16:creationId xmlns:a16="http://schemas.microsoft.com/office/drawing/2014/main" id="{1F134F58-8B59-823D-802D-E04758FFB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217" y="4895652"/>
                <a:ext cx="419548" cy="3084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14">
                <a:extLst>
                  <a:ext uri="{FF2B5EF4-FFF2-40B4-BE49-F238E27FC236}">
                    <a16:creationId xmlns:a16="http://schemas.microsoft.com/office/drawing/2014/main" id="{59B0D59D-9507-511D-3EDE-3E0E50D9A70E}"/>
                  </a:ext>
                </a:extLst>
              </p:cNvPr>
              <p:cNvSpPr txBox="1"/>
              <p:nvPr/>
            </p:nvSpPr>
            <p:spPr>
              <a:xfrm>
                <a:off x="4528121" y="4895652"/>
                <a:ext cx="419548" cy="307777"/>
              </a:xfrm>
              <a:prstGeom prst="rect">
                <a:avLst/>
              </a:prstGeom>
              <a:solidFill>
                <a:srgbClr val="E0F7BB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1" name="TextBox 14">
                <a:extLst>
                  <a:ext uri="{FF2B5EF4-FFF2-40B4-BE49-F238E27FC236}">
                    <a16:creationId xmlns:a16="http://schemas.microsoft.com/office/drawing/2014/main" id="{59B0D59D-9507-511D-3EDE-3E0E50D9A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121" y="4895652"/>
                <a:ext cx="419548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15">
                <a:extLst>
                  <a:ext uri="{FF2B5EF4-FFF2-40B4-BE49-F238E27FC236}">
                    <a16:creationId xmlns:a16="http://schemas.microsoft.com/office/drawing/2014/main" id="{DFF8C34F-E40C-5161-D47C-04536F47FA22}"/>
                  </a:ext>
                </a:extLst>
              </p:cNvPr>
              <p:cNvSpPr txBox="1"/>
              <p:nvPr/>
            </p:nvSpPr>
            <p:spPr>
              <a:xfrm>
                <a:off x="6783641" y="4895652"/>
                <a:ext cx="419548" cy="307777"/>
              </a:xfrm>
              <a:prstGeom prst="rect">
                <a:avLst/>
              </a:prstGeom>
              <a:solidFill>
                <a:srgbClr val="F3B9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2" name="TextBox 15">
                <a:extLst>
                  <a:ext uri="{FF2B5EF4-FFF2-40B4-BE49-F238E27FC236}">
                    <a16:creationId xmlns:a16="http://schemas.microsoft.com/office/drawing/2014/main" id="{DFF8C34F-E40C-5161-D47C-04536F47F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641" y="4895652"/>
                <a:ext cx="419548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16">
                <a:extLst>
                  <a:ext uri="{FF2B5EF4-FFF2-40B4-BE49-F238E27FC236}">
                    <a16:creationId xmlns:a16="http://schemas.microsoft.com/office/drawing/2014/main" id="{B0BD7216-0C6E-1651-C737-D7C9429AE33E}"/>
                  </a:ext>
                </a:extLst>
              </p:cNvPr>
              <p:cNvSpPr txBox="1"/>
              <p:nvPr/>
            </p:nvSpPr>
            <p:spPr>
              <a:xfrm>
                <a:off x="7203189" y="4895652"/>
                <a:ext cx="419548" cy="308418"/>
              </a:xfrm>
              <a:prstGeom prst="rect">
                <a:avLst/>
              </a:prstGeom>
              <a:solidFill>
                <a:srgbClr val="B9F0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3" name="TextBox 16">
                <a:extLst>
                  <a:ext uri="{FF2B5EF4-FFF2-40B4-BE49-F238E27FC236}">
                    <a16:creationId xmlns:a16="http://schemas.microsoft.com/office/drawing/2014/main" id="{B0BD7216-0C6E-1651-C737-D7C9429AE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189" y="4895652"/>
                <a:ext cx="419548" cy="3084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17">
                <a:extLst>
                  <a:ext uri="{FF2B5EF4-FFF2-40B4-BE49-F238E27FC236}">
                    <a16:creationId xmlns:a16="http://schemas.microsoft.com/office/drawing/2014/main" id="{9EDD2AB8-EF20-2BFB-61A8-AAD6208B9F9C}"/>
                  </a:ext>
                </a:extLst>
              </p:cNvPr>
              <p:cNvSpPr txBox="1"/>
              <p:nvPr/>
            </p:nvSpPr>
            <p:spPr>
              <a:xfrm>
                <a:off x="6364093" y="4895652"/>
                <a:ext cx="419548" cy="307777"/>
              </a:xfrm>
              <a:prstGeom prst="rect">
                <a:avLst/>
              </a:prstGeom>
              <a:solidFill>
                <a:srgbClr val="E0F7BB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4" name="TextBox 17">
                <a:extLst>
                  <a:ext uri="{FF2B5EF4-FFF2-40B4-BE49-F238E27FC236}">
                    <a16:creationId xmlns:a16="http://schemas.microsoft.com/office/drawing/2014/main" id="{9EDD2AB8-EF20-2BFB-61A8-AAD6208B9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093" y="4895652"/>
                <a:ext cx="419548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18">
                <a:extLst>
                  <a:ext uri="{FF2B5EF4-FFF2-40B4-BE49-F238E27FC236}">
                    <a16:creationId xmlns:a16="http://schemas.microsoft.com/office/drawing/2014/main" id="{595516E7-73E2-E332-8376-80214FC8D4C9}"/>
                  </a:ext>
                </a:extLst>
              </p:cNvPr>
              <p:cNvSpPr txBox="1"/>
              <p:nvPr/>
            </p:nvSpPr>
            <p:spPr>
              <a:xfrm>
                <a:off x="8619613" y="4895652"/>
                <a:ext cx="419548" cy="307777"/>
              </a:xfrm>
              <a:prstGeom prst="rect">
                <a:avLst/>
              </a:prstGeom>
              <a:solidFill>
                <a:srgbClr val="F3B9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5" name="TextBox 18">
                <a:extLst>
                  <a:ext uri="{FF2B5EF4-FFF2-40B4-BE49-F238E27FC236}">
                    <a16:creationId xmlns:a16="http://schemas.microsoft.com/office/drawing/2014/main" id="{595516E7-73E2-E332-8376-80214FC8D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613" y="4895652"/>
                <a:ext cx="419548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19">
                <a:extLst>
                  <a:ext uri="{FF2B5EF4-FFF2-40B4-BE49-F238E27FC236}">
                    <a16:creationId xmlns:a16="http://schemas.microsoft.com/office/drawing/2014/main" id="{C6B7C27A-7F3F-5143-A43A-A883B339F904}"/>
                  </a:ext>
                </a:extLst>
              </p:cNvPr>
              <p:cNvSpPr txBox="1"/>
              <p:nvPr/>
            </p:nvSpPr>
            <p:spPr>
              <a:xfrm>
                <a:off x="9039161" y="4895652"/>
                <a:ext cx="419548" cy="308418"/>
              </a:xfrm>
              <a:prstGeom prst="rect">
                <a:avLst/>
              </a:prstGeom>
              <a:solidFill>
                <a:srgbClr val="B9F0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6" name="TextBox 19">
                <a:extLst>
                  <a:ext uri="{FF2B5EF4-FFF2-40B4-BE49-F238E27FC236}">
                    <a16:creationId xmlns:a16="http://schemas.microsoft.com/office/drawing/2014/main" id="{C6B7C27A-7F3F-5143-A43A-A883B339F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161" y="4895652"/>
                <a:ext cx="419548" cy="3084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21">
                <a:extLst>
                  <a:ext uri="{FF2B5EF4-FFF2-40B4-BE49-F238E27FC236}">
                    <a16:creationId xmlns:a16="http://schemas.microsoft.com/office/drawing/2014/main" id="{54342CA7-D34E-693F-5524-7665D2879E25}"/>
                  </a:ext>
                </a:extLst>
              </p:cNvPr>
              <p:cNvSpPr txBox="1"/>
              <p:nvPr/>
            </p:nvSpPr>
            <p:spPr>
              <a:xfrm>
                <a:off x="8200065" y="4895652"/>
                <a:ext cx="419548" cy="307777"/>
              </a:xfrm>
              <a:prstGeom prst="rect">
                <a:avLst/>
              </a:prstGeom>
              <a:solidFill>
                <a:srgbClr val="E0F7BB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7" name="TextBox 21">
                <a:extLst>
                  <a:ext uri="{FF2B5EF4-FFF2-40B4-BE49-F238E27FC236}">
                    <a16:creationId xmlns:a16="http://schemas.microsoft.com/office/drawing/2014/main" id="{54342CA7-D34E-693F-5524-7665D2879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0065" y="4895652"/>
                <a:ext cx="419548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5">
                <a:extLst>
                  <a:ext uri="{FF2B5EF4-FFF2-40B4-BE49-F238E27FC236}">
                    <a16:creationId xmlns:a16="http://schemas.microsoft.com/office/drawing/2014/main" id="{525F79AB-8C40-3E6D-A6B1-785895E27713}"/>
                  </a:ext>
                </a:extLst>
              </p:cNvPr>
              <p:cNvSpPr txBox="1"/>
              <p:nvPr/>
            </p:nvSpPr>
            <p:spPr>
              <a:xfrm>
                <a:off x="2805650" y="4558609"/>
                <a:ext cx="12325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𝑉</m:t>
                        </m:r>
                      </m:e>
                      <m:sub>
                        <m: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𝐾</m:t>
                        </m:r>
                      </m:e>
                      <m:sub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𝑄</m:t>
                        </m:r>
                      </m:e>
                      <m:sub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8" name="TextBox 5">
                <a:extLst>
                  <a:ext uri="{FF2B5EF4-FFF2-40B4-BE49-F238E27FC236}">
                    <a16:creationId xmlns:a16="http://schemas.microsoft.com/office/drawing/2014/main" id="{525F79AB-8C40-3E6D-A6B1-785895E27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650" y="4558609"/>
                <a:ext cx="1232582" cy="307777"/>
              </a:xfrm>
              <a:prstGeom prst="rect">
                <a:avLst/>
              </a:prstGeom>
              <a:blipFill>
                <a:blip r:embed="rId11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22">
                <a:extLst>
                  <a:ext uri="{FF2B5EF4-FFF2-40B4-BE49-F238E27FC236}">
                    <a16:creationId xmlns:a16="http://schemas.microsoft.com/office/drawing/2014/main" id="{C3B541B5-415C-72CF-4A7B-A02EB0CD4E49}"/>
                  </a:ext>
                </a:extLst>
              </p:cNvPr>
              <p:cNvSpPr txBox="1"/>
              <p:nvPr/>
            </p:nvSpPr>
            <p:spPr>
              <a:xfrm>
                <a:off x="4541152" y="4558610"/>
                <a:ext cx="12450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𝑉</m:t>
                        </m:r>
                      </m:e>
                      <m:sub>
                        <m: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𝐾</m:t>
                        </m:r>
                      </m:e>
                      <m:sub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𝑄</m:t>
                        </m:r>
                      </m:e>
                      <m:sub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9" name="TextBox 22">
                <a:extLst>
                  <a:ext uri="{FF2B5EF4-FFF2-40B4-BE49-F238E27FC236}">
                    <a16:creationId xmlns:a16="http://schemas.microsoft.com/office/drawing/2014/main" id="{C3B541B5-415C-72CF-4A7B-A02EB0CD4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1152" y="4558610"/>
                <a:ext cx="1245084" cy="307777"/>
              </a:xfrm>
              <a:prstGeom prst="rect">
                <a:avLst/>
              </a:prstGeom>
              <a:blipFill>
                <a:blip r:embed="rId1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23">
                <a:extLst>
                  <a:ext uri="{FF2B5EF4-FFF2-40B4-BE49-F238E27FC236}">
                    <a16:creationId xmlns:a16="http://schemas.microsoft.com/office/drawing/2014/main" id="{B8B97A6C-1505-763A-5FBA-63BFBBD7EC2A}"/>
                  </a:ext>
                </a:extLst>
              </p:cNvPr>
              <p:cNvSpPr txBox="1"/>
              <p:nvPr/>
            </p:nvSpPr>
            <p:spPr>
              <a:xfrm>
                <a:off x="6391465" y="4558609"/>
                <a:ext cx="12450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𝑉</m:t>
                        </m:r>
                      </m:e>
                      <m:sub>
                        <m: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𝐾</m:t>
                        </m:r>
                      </m:e>
                      <m:sub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𝑄</m:t>
                        </m:r>
                      </m:e>
                      <m:sub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3</m:t>
                        </m:r>
                      </m:sub>
                    </m:sSub>
                  </m:oMath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0" name="TextBox 23">
                <a:extLst>
                  <a:ext uri="{FF2B5EF4-FFF2-40B4-BE49-F238E27FC236}">
                    <a16:creationId xmlns:a16="http://schemas.microsoft.com/office/drawing/2014/main" id="{B8B97A6C-1505-763A-5FBA-63BFBBD7E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465" y="4558609"/>
                <a:ext cx="1245084" cy="307777"/>
              </a:xfrm>
              <a:prstGeom prst="rect">
                <a:avLst/>
              </a:prstGeom>
              <a:blipFill>
                <a:blip r:embed="rId1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24">
                <a:extLst>
                  <a:ext uri="{FF2B5EF4-FFF2-40B4-BE49-F238E27FC236}">
                    <a16:creationId xmlns:a16="http://schemas.microsoft.com/office/drawing/2014/main" id="{ECFFD03F-D7EF-A24E-2462-F4799A04C270}"/>
                  </a:ext>
                </a:extLst>
              </p:cNvPr>
              <p:cNvSpPr txBox="1"/>
              <p:nvPr/>
            </p:nvSpPr>
            <p:spPr>
              <a:xfrm>
                <a:off x="8256780" y="4558302"/>
                <a:ext cx="12373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𝑉</m:t>
                        </m:r>
                      </m:e>
                      <m:sub>
                        <m:r>
                          <a:rPr lang="en-US" sz="1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𝐾</m:t>
                        </m:r>
                      </m:e>
                      <m:sub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𝑄</m:t>
                        </m:r>
                      </m:e>
                      <m:sub>
                        <m:r>
                          <a:rPr lang="en-US" sz="1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4</m:t>
                        </m:r>
                      </m:sub>
                    </m:sSub>
                  </m:oMath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1" name="TextBox 24">
                <a:extLst>
                  <a:ext uri="{FF2B5EF4-FFF2-40B4-BE49-F238E27FC236}">
                    <a16:creationId xmlns:a16="http://schemas.microsoft.com/office/drawing/2014/main" id="{ECFFD03F-D7EF-A24E-2462-F4799A04C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780" y="4558302"/>
                <a:ext cx="1237390" cy="307777"/>
              </a:xfrm>
              <a:prstGeom prst="rect">
                <a:avLst/>
              </a:prstGeom>
              <a:blipFill>
                <a:blip r:embed="rId1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Table 26">
                <a:extLst>
                  <a:ext uri="{FF2B5EF4-FFF2-40B4-BE49-F238E27FC236}">
                    <a16:creationId xmlns:a16="http://schemas.microsoft.com/office/drawing/2014/main" id="{4A04BA05-28F1-9FCC-BA67-D39EE2CD6A9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47886" y="3833296"/>
              <a:ext cx="3584504" cy="3657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12910">
                      <a:extLst>
                        <a:ext uri="{9D8B030D-6E8A-4147-A177-3AD203B41FA5}">
                          <a16:colId xmlns:a16="http://schemas.microsoft.com/office/drawing/2014/main" val="2399119278"/>
                        </a:ext>
                      </a:extLst>
                    </a:gridCol>
                    <a:gridCol w="879342">
                      <a:extLst>
                        <a:ext uri="{9D8B030D-6E8A-4147-A177-3AD203B41FA5}">
                          <a16:colId xmlns:a16="http://schemas.microsoft.com/office/drawing/2014/main" val="544944249"/>
                        </a:ext>
                      </a:extLst>
                    </a:gridCol>
                    <a:gridCol w="896126">
                      <a:extLst>
                        <a:ext uri="{9D8B030D-6E8A-4147-A177-3AD203B41FA5}">
                          <a16:colId xmlns:a16="http://schemas.microsoft.com/office/drawing/2014/main" val="2557670085"/>
                        </a:ext>
                      </a:extLst>
                    </a:gridCol>
                    <a:gridCol w="896126">
                      <a:extLst>
                        <a:ext uri="{9D8B030D-6E8A-4147-A177-3AD203B41FA5}">
                          <a16:colId xmlns:a16="http://schemas.microsoft.com/office/drawing/2014/main" val="1980274324"/>
                        </a:ext>
                      </a:extLst>
                    </a:gridCol>
                  </a:tblGrid>
                  <a:tr h="31456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3A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3A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3A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3A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00317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Table 26">
                <a:extLst>
                  <a:ext uri="{FF2B5EF4-FFF2-40B4-BE49-F238E27FC236}">
                    <a16:creationId xmlns:a16="http://schemas.microsoft.com/office/drawing/2014/main" id="{4A04BA05-28F1-9FCC-BA67-D39EE2CD6A9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47886" y="3833296"/>
              <a:ext cx="3584504" cy="3657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12910">
                      <a:extLst>
                        <a:ext uri="{9D8B030D-6E8A-4147-A177-3AD203B41FA5}">
                          <a16:colId xmlns:a16="http://schemas.microsoft.com/office/drawing/2014/main" val="2399119278"/>
                        </a:ext>
                      </a:extLst>
                    </a:gridCol>
                    <a:gridCol w="879342">
                      <a:extLst>
                        <a:ext uri="{9D8B030D-6E8A-4147-A177-3AD203B41FA5}">
                          <a16:colId xmlns:a16="http://schemas.microsoft.com/office/drawing/2014/main" val="544944249"/>
                        </a:ext>
                      </a:extLst>
                    </a:gridCol>
                    <a:gridCol w="896126">
                      <a:extLst>
                        <a:ext uri="{9D8B030D-6E8A-4147-A177-3AD203B41FA5}">
                          <a16:colId xmlns:a16="http://schemas.microsoft.com/office/drawing/2014/main" val="2557670085"/>
                        </a:ext>
                      </a:extLst>
                    </a:gridCol>
                    <a:gridCol w="896126">
                      <a:extLst>
                        <a:ext uri="{9D8B030D-6E8A-4147-A177-3AD203B41FA5}">
                          <a16:colId xmlns:a16="http://schemas.microsoft.com/office/drawing/2014/main" val="198027432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333" t="-1639" r="-294000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4828" t="-1639" r="-204138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202041" t="-1639" r="-101361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302041" t="-1639" r="-1361" b="-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003176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3" name="Straight Arrow Connector 28">
            <a:extLst>
              <a:ext uri="{FF2B5EF4-FFF2-40B4-BE49-F238E27FC236}">
                <a16:creationId xmlns:a16="http://schemas.microsoft.com/office/drawing/2014/main" id="{CC0D87E4-C628-0AC9-D16D-4F1998688AC1}"/>
              </a:ext>
            </a:extLst>
          </p:cNvPr>
          <p:cNvCxnSpPr>
            <a:cxnSpLocks/>
          </p:cNvCxnSpPr>
          <p:nvPr/>
        </p:nvCxnSpPr>
        <p:spPr>
          <a:xfrm flipV="1">
            <a:off x="5543837" y="4170978"/>
            <a:ext cx="9845" cy="437158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74" name="Straight Arrow Connector 34">
            <a:extLst>
              <a:ext uri="{FF2B5EF4-FFF2-40B4-BE49-F238E27FC236}">
                <a16:creationId xmlns:a16="http://schemas.microsoft.com/office/drawing/2014/main" id="{CCE5A759-3EBF-E2EC-B99D-18FC82B5D232}"/>
              </a:ext>
            </a:extLst>
          </p:cNvPr>
          <p:cNvCxnSpPr>
            <a:cxnSpLocks/>
            <a:stCxn id="68" idx="0"/>
          </p:cNvCxnSpPr>
          <p:nvPr/>
        </p:nvCxnSpPr>
        <p:spPr>
          <a:xfrm flipV="1">
            <a:off x="3421941" y="4104874"/>
            <a:ext cx="727528" cy="453735"/>
          </a:xfrm>
          <a:prstGeom prst="straightConnector1">
            <a:avLst/>
          </a:prstGeom>
          <a:noFill/>
          <a:ln w="22225" cap="flat" cmpd="sng" algn="ctr">
            <a:solidFill>
              <a:srgbClr val="007E09"/>
            </a:solidFill>
            <a:prstDash val="solid"/>
            <a:tailEnd type="triangle"/>
          </a:ln>
          <a:effectLst/>
        </p:spPr>
      </p:cxnSp>
      <p:cxnSp>
        <p:nvCxnSpPr>
          <p:cNvPr id="75" name="Straight Arrow Connector 37">
            <a:extLst>
              <a:ext uri="{FF2B5EF4-FFF2-40B4-BE49-F238E27FC236}">
                <a16:creationId xmlns:a16="http://schemas.microsoft.com/office/drawing/2014/main" id="{02793EE6-F817-AA57-8D65-C897C32E27FB}"/>
              </a:ext>
            </a:extLst>
          </p:cNvPr>
          <p:cNvCxnSpPr>
            <a:cxnSpLocks/>
          </p:cNvCxnSpPr>
          <p:nvPr/>
        </p:nvCxnSpPr>
        <p:spPr>
          <a:xfrm flipV="1">
            <a:off x="5135876" y="4148541"/>
            <a:ext cx="34116" cy="464733"/>
          </a:xfrm>
          <a:prstGeom prst="straightConnector1">
            <a:avLst/>
          </a:prstGeom>
          <a:noFill/>
          <a:ln w="22225" cap="flat" cmpd="sng" algn="ctr">
            <a:solidFill>
              <a:srgbClr val="007E09"/>
            </a:solidFill>
            <a:prstDash val="solid"/>
            <a:tailEnd type="triangle"/>
          </a:ln>
          <a:effectLst/>
        </p:spPr>
      </p:cxnSp>
      <p:cxnSp>
        <p:nvCxnSpPr>
          <p:cNvPr id="76" name="Straight Arrow Connector 41">
            <a:extLst>
              <a:ext uri="{FF2B5EF4-FFF2-40B4-BE49-F238E27FC236}">
                <a16:creationId xmlns:a16="http://schemas.microsoft.com/office/drawing/2014/main" id="{82C62D27-4D50-5C96-3586-96B28E9F5277}"/>
              </a:ext>
            </a:extLst>
          </p:cNvPr>
          <p:cNvCxnSpPr>
            <a:cxnSpLocks/>
          </p:cNvCxnSpPr>
          <p:nvPr/>
        </p:nvCxnSpPr>
        <p:spPr>
          <a:xfrm flipH="1" flipV="1">
            <a:off x="6142108" y="4170978"/>
            <a:ext cx="756280" cy="437158"/>
          </a:xfrm>
          <a:prstGeom prst="straightConnector1">
            <a:avLst/>
          </a:prstGeom>
          <a:noFill/>
          <a:ln w="22225" cap="flat" cmpd="sng" algn="ctr">
            <a:solidFill>
              <a:srgbClr val="007E09"/>
            </a:solidFill>
            <a:prstDash val="solid"/>
            <a:tailEnd type="triangle"/>
          </a:ln>
          <a:effectLst/>
        </p:spPr>
      </p:cxnSp>
      <p:cxnSp>
        <p:nvCxnSpPr>
          <p:cNvPr id="77" name="Straight Arrow Connector 44">
            <a:extLst>
              <a:ext uri="{FF2B5EF4-FFF2-40B4-BE49-F238E27FC236}">
                <a16:creationId xmlns:a16="http://schemas.microsoft.com/office/drawing/2014/main" id="{6AA7344A-F004-8836-FFBE-5D9ECFEB42B6}"/>
              </a:ext>
            </a:extLst>
          </p:cNvPr>
          <p:cNvCxnSpPr>
            <a:cxnSpLocks/>
          </p:cNvCxnSpPr>
          <p:nvPr/>
        </p:nvCxnSpPr>
        <p:spPr>
          <a:xfrm flipH="1" flipV="1">
            <a:off x="7053943" y="4104874"/>
            <a:ext cx="1615733" cy="523345"/>
          </a:xfrm>
          <a:prstGeom prst="straightConnector1">
            <a:avLst/>
          </a:prstGeom>
          <a:noFill/>
          <a:ln w="22225" cap="flat" cmpd="sng" algn="ctr">
            <a:solidFill>
              <a:srgbClr val="007E09"/>
            </a:solidFill>
            <a:prstDash val="solid"/>
            <a:tailEnd type="triangle"/>
          </a:ln>
          <a:effectLst/>
        </p:spPr>
      </p:cxnSp>
      <p:cxnSp>
        <p:nvCxnSpPr>
          <p:cNvPr id="78" name="Straight Arrow Connector 47">
            <a:extLst>
              <a:ext uri="{FF2B5EF4-FFF2-40B4-BE49-F238E27FC236}">
                <a16:creationId xmlns:a16="http://schemas.microsoft.com/office/drawing/2014/main" id="{C4A76767-7E1A-B46A-52B3-BB2F165DC673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3382430" y="5203427"/>
            <a:ext cx="546" cy="312310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79" name="Straight Arrow Connector 49">
            <a:extLst>
              <a:ext uri="{FF2B5EF4-FFF2-40B4-BE49-F238E27FC236}">
                <a16:creationId xmlns:a16="http://schemas.microsoft.com/office/drawing/2014/main" id="{4CD37F32-95E0-5E89-E8E3-4CAC4C8449E1}"/>
              </a:ext>
            </a:extLst>
          </p:cNvPr>
          <p:cNvCxnSpPr>
            <a:cxnSpLocks/>
          </p:cNvCxnSpPr>
          <p:nvPr/>
        </p:nvCxnSpPr>
        <p:spPr>
          <a:xfrm flipV="1">
            <a:off x="5163148" y="5203427"/>
            <a:ext cx="546" cy="312310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80" name="Straight Arrow Connector 50">
            <a:extLst>
              <a:ext uri="{FF2B5EF4-FFF2-40B4-BE49-F238E27FC236}">
                <a16:creationId xmlns:a16="http://schemas.microsoft.com/office/drawing/2014/main" id="{37C04D9E-658E-3562-0497-6360FDC52560}"/>
              </a:ext>
            </a:extLst>
          </p:cNvPr>
          <p:cNvCxnSpPr>
            <a:cxnSpLocks/>
          </p:cNvCxnSpPr>
          <p:nvPr/>
        </p:nvCxnSpPr>
        <p:spPr>
          <a:xfrm flipV="1">
            <a:off x="7013461" y="5201836"/>
            <a:ext cx="546" cy="312310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81" name="Straight Arrow Connector 51">
            <a:extLst>
              <a:ext uri="{FF2B5EF4-FFF2-40B4-BE49-F238E27FC236}">
                <a16:creationId xmlns:a16="http://schemas.microsoft.com/office/drawing/2014/main" id="{E82E382C-7ADA-F05C-FDA0-03F61D80F636}"/>
              </a:ext>
            </a:extLst>
          </p:cNvPr>
          <p:cNvCxnSpPr>
            <a:cxnSpLocks/>
          </p:cNvCxnSpPr>
          <p:nvPr/>
        </p:nvCxnSpPr>
        <p:spPr>
          <a:xfrm flipV="1">
            <a:off x="8839270" y="5197364"/>
            <a:ext cx="546" cy="312310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graphicFrame>
        <p:nvGraphicFramePr>
          <p:cNvPr id="82" name="Table 26">
            <a:extLst>
              <a:ext uri="{FF2B5EF4-FFF2-40B4-BE49-F238E27FC236}">
                <a16:creationId xmlns:a16="http://schemas.microsoft.com/office/drawing/2014/main" id="{63652699-1AE8-C4E9-43FF-C7108C521E99}"/>
              </a:ext>
            </a:extLst>
          </p:cNvPr>
          <p:cNvGraphicFramePr>
            <a:graphicFrameLocks noGrp="1"/>
          </p:cNvGraphicFramePr>
          <p:nvPr/>
        </p:nvGraphicFramePr>
        <p:xfrm>
          <a:off x="4351227" y="3268684"/>
          <a:ext cx="2904568" cy="365760"/>
        </p:xfrm>
        <a:graphic>
          <a:graphicData uri="http://schemas.openxmlformats.org/drawingml/2006/table">
            <a:tbl>
              <a:tblPr firstRow="1" bandRow="1"/>
              <a:tblGrid>
                <a:gridCol w="726142">
                  <a:extLst>
                    <a:ext uri="{9D8B030D-6E8A-4147-A177-3AD203B41FA5}">
                      <a16:colId xmlns:a16="http://schemas.microsoft.com/office/drawing/2014/main" val="2399119278"/>
                    </a:ext>
                  </a:extLst>
                </a:gridCol>
                <a:gridCol w="726142">
                  <a:extLst>
                    <a:ext uri="{9D8B030D-6E8A-4147-A177-3AD203B41FA5}">
                      <a16:colId xmlns:a16="http://schemas.microsoft.com/office/drawing/2014/main" val="544944249"/>
                    </a:ext>
                  </a:extLst>
                </a:gridCol>
                <a:gridCol w="726142">
                  <a:extLst>
                    <a:ext uri="{9D8B030D-6E8A-4147-A177-3AD203B41FA5}">
                      <a16:colId xmlns:a16="http://schemas.microsoft.com/office/drawing/2014/main" val="2557670085"/>
                    </a:ext>
                  </a:extLst>
                </a:gridCol>
                <a:gridCol w="726142">
                  <a:extLst>
                    <a:ext uri="{9D8B030D-6E8A-4147-A177-3AD203B41FA5}">
                      <a16:colId xmlns:a16="http://schemas.microsoft.com/office/drawing/2014/main" val="1980274324"/>
                    </a:ext>
                  </a:extLst>
                </a:gridCol>
              </a:tblGrid>
              <a:tr h="3145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49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49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49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4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031768"/>
                  </a:ext>
                </a:extLst>
              </a:tr>
            </a:tbl>
          </a:graphicData>
        </a:graphic>
      </p:graphicFrame>
      <p:cxnSp>
        <p:nvCxnSpPr>
          <p:cNvPr id="83" name="Straight Arrow Connector 55">
            <a:extLst>
              <a:ext uri="{FF2B5EF4-FFF2-40B4-BE49-F238E27FC236}">
                <a16:creationId xmlns:a16="http://schemas.microsoft.com/office/drawing/2014/main" id="{DC9A276B-121B-B94E-9458-E4299A384031}"/>
              </a:ext>
            </a:extLst>
          </p:cNvPr>
          <p:cNvCxnSpPr>
            <a:cxnSpLocks/>
          </p:cNvCxnSpPr>
          <p:nvPr/>
        </p:nvCxnSpPr>
        <p:spPr>
          <a:xfrm flipV="1">
            <a:off x="4695190" y="3612518"/>
            <a:ext cx="0" cy="198909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84" name="Straight Arrow Connector 57">
            <a:extLst>
              <a:ext uri="{FF2B5EF4-FFF2-40B4-BE49-F238E27FC236}">
                <a16:creationId xmlns:a16="http://schemas.microsoft.com/office/drawing/2014/main" id="{114100CE-51EC-54BB-554E-CE82BC4B20E4}"/>
              </a:ext>
            </a:extLst>
          </p:cNvPr>
          <p:cNvCxnSpPr>
            <a:cxnSpLocks/>
          </p:cNvCxnSpPr>
          <p:nvPr/>
        </p:nvCxnSpPr>
        <p:spPr>
          <a:xfrm flipV="1">
            <a:off x="5421331" y="3612518"/>
            <a:ext cx="0" cy="198909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85" name="Straight Arrow Connector 58">
            <a:extLst>
              <a:ext uri="{FF2B5EF4-FFF2-40B4-BE49-F238E27FC236}">
                <a16:creationId xmlns:a16="http://schemas.microsoft.com/office/drawing/2014/main" id="{977D6753-3986-C143-7A8E-19120B21498D}"/>
              </a:ext>
            </a:extLst>
          </p:cNvPr>
          <p:cNvCxnSpPr>
            <a:cxnSpLocks/>
          </p:cNvCxnSpPr>
          <p:nvPr/>
        </p:nvCxnSpPr>
        <p:spPr>
          <a:xfrm flipV="1">
            <a:off x="6167195" y="3612517"/>
            <a:ext cx="0" cy="198909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86" name="Straight Arrow Connector 59">
            <a:extLst>
              <a:ext uri="{FF2B5EF4-FFF2-40B4-BE49-F238E27FC236}">
                <a16:creationId xmlns:a16="http://schemas.microsoft.com/office/drawing/2014/main" id="{05D95960-243D-5320-A253-7692E46146B4}"/>
              </a:ext>
            </a:extLst>
          </p:cNvPr>
          <p:cNvCxnSpPr>
            <a:cxnSpLocks/>
          </p:cNvCxnSpPr>
          <p:nvPr/>
        </p:nvCxnSpPr>
        <p:spPr>
          <a:xfrm flipV="1">
            <a:off x="6870026" y="3612516"/>
            <a:ext cx="0" cy="198909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sp>
        <p:nvSpPr>
          <p:cNvPr id="87" name="TextBox 65">
            <a:extLst>
              <a:ext uri="{FF2B5EF4-FFF2-40B4-BE49-F238E27FC236}">
                <a16:creationId xmlns:a16="http://schemas.microsoft.com/office/drawing/2014/main" id="{83180452-1BD2-B96D-8B0F-8AB31CEF596A}"/>
              </a:ext>
            </a:extLst>
          </p:cNvPr>
          <p:cNvSpPr txBox="1"/>
          <p:nvPr/>
        </p:nvSpPr>
        <p:spPr>
          <a:xfrm>
            <a:off x="7318703" y="3242104"/>
            <a:ext cx="16754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Norm + </a:t>
            </a:r>
            <a:r>
              <a:rPr lang="en-US" sz="16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Softmax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94" name="Straight Arrow Connector 28">
            <a:extLst>
              <a:ext uri="{FF2B5EF4-FFF2-40B4-BE49-F238E27FC236}">
                <a16:creationId xmlns:a16="http://schemas.microsoft.com/office/drawing/2014/main" id="{FC30A87E-7A03-AE91-E425-691E915EE4BA}"/>
              </a:ext>
            </a:extLst>
          </p:cNvPr>
          <p:cNvCxnSpPr>
            <a:cxnSpLocks/>
          </p:cNvCxnSpPr>
          <p:nvPr/>
        </p:nvCxnSpPr>
        <p:spPr>
          <a:xfrm flipV="1">
            <a:off x="5543837" y="4136137"/>
            <a:ext cx="868344" cy="476274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97" name="Straight Arrow Connector 28">
            <a:extLst>
              <a:ext uri="{FF2B5EF4-FFF2-40B4-BE49-F238E27FC236}">
                <a16:creationId xmlns:a16="http://schemas.microsoft.com/office/drawing/2014/main" id="{C8A6736C-D71C-B4DB-4501-88B66FFE2032}"/>
              </a:ext>
            </a:extLst>
          </p:cNvPr>
          <p:cNvCxnSpPr>
            <a:cxnSpLocks/>
          </p:cNvCxnSpPr>
          <p:nvPr/>
        </p:nvCxnSpPr>
        <p:spPr>
          <a:xfrm flipV="1">
            <a:off x="5553682" y="4110879"/>
            <a:ext cx="1765021" cy="497257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p:cxnSp>
        <p:nvCxnSpPr>
          <p:cNvPr id="100" name="Straight Arrow Connector 28">
            <a:extLst>
              <a:ext uri="{FF2B5EF4-FFF2-40B4-BE49-F238E27FC236}">
                <a16:creationId xmlns:a16="http://schemas.microsoft.com/office/drawing/2014/main" id="{03E0D794-AE84-9B87-A489-D57368ED9C16}"/>
              </a:ext>
            </a:extLst>
          </p:cNvPr>
          <p:cNvCxnSpPr>
            <a:cxnSpLocks/>
          </p:cNvCxnSpPr>
          <p:nvPr/>
        </p:nvCxnSpPr>
        <p:spPr>
          <a:xfrm flipH="1" flipV="1">
            <a:off x="4719343" y="4173778"/>
            <a:ext cx="825543" cy="434358"/>
          </a:xfrm>
          <a:prstGeom prst="straightConnector1">
            <a:avLst/>
          </a:prstGeom>
          <a:noFill/>
          <a:ln w="22225" cap="flat" cmpd="sng" algn="ctr">
            <a:solidFill>
              <a:srgbClr val="00487E"/>
            </a:solidFill>
            <a:prstDash val="soli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 4">
                <a:extLst>
                  <a:ext uri="{FF2B5EF4-FFF2-40B4-BE49-F238E27FC236}">
                    <a16:creationId xmlns:a16="http://schemas.microsoft.com/office/drawing/2014/main" id="{7F107408-A997-DCF5-4BA7-771008D5DAFD}"/>
                  </a:ext>
                </a:extLst>
              </p:cNvPr>
              <p:cNvSpPr/>
              <p:nvPr/>
            </p:nvSpPr>
            <p:spPr>
              <a:xfrm>
                <a:off x="4569035" y="2610015"/>
                <a:ext cx="331213" cy="314569"/>
              </a:xfrm>
              <a:prstGeom prst="ellipse">
                <a:avLst/>
              </a:prstGeom>
              <a:solidFill>
                <a:srgbClr val="FFAB40"/>
              </a:solid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×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mc:Choice>
        <mc:Fallback xmlns="">
          <p:sp>
            <p:nvSpPr>
              <p:cNvPr id="2" name="Oval 4">
                <a:extLst>
                  <a:ext uri="{FF2B5EF4-FFF2-40B4-BE49-F238E27FC236}">
                    <a16:creationId xmlns:a16="http://schemas.microsoft.com/office/drawing/2014/main" id="{7F107408-A997-DCF5-4BA7-771008D5DA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035" y="2610015"/>
                <a:ext cx="331213" cy="314569"/>
              </a:xfrm>
              <a:prstGeom prst="ellipse">
                <a:avLst/>
              </a:prstGeom>
              <a:blipFill>
                <a:blip r:embed="rId16"/>
                <a:stretch>
                  <a:fillRect l="-3571"/>
                </a:stretch>
              </a:blip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0">
                <a:extLst>
                  <a:ext uri="{FF2B5EF4-FFF2-40B4-BE49-F238E27FC236}">
                    <a16:creationId xmlns:a16="http://schemas.microsoft.com/office/drawing/2014/main" id="{12913F34-080F-FE17-D1A5-79317745F77D}"/>
                  </a:ext>
                </a:extLst>
              </p:cNvPr>
              <p:cNvSpPr/>
              <p:nvPr/>
            </p:nvSpPr>
            <p:spPr>
              <a:xfrm>
                <a:off x="5286692" y="2619043"/>
                <a:ext cx="331213" cy="314569"/>
              </a:xfrm>
              <a:prstGeom prst="ellipse">
                <a:avLst/>
              </a:prstGeom>
              <a:solidFill>
                <a:srgbClr val="FFAB40"/>
              </a:solid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×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mc:Choice>
        <mc:Fallback xmlns="">
          <p:sp>
            <p:nvSpPr>
              <p:cNvPr id="5" name="Oval 40">
                <a:extLst>
                  <a:ext uri="{FF2B5EF4-FFF2-40B4-BE49-F238E27FC236}">
                    <a16:creationId xmlns:a16="http://schemas.microsoft.com/office/drawing/2014/main" id="{12913F34-080F-FE17-D1A5-79317745F7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692" y="2619043"/>
                <a:ext cx="331213" cy="314569"/>
              </a:xfrm>
              <a:prstGeom prst="ellipse">
                <a:avLst/>
              </a:prstGeom>
              <a:blipFill>
                <a:blip r:embed="rId17"/>
                <a:stretch>
                  <a:fillRect l="-1754"/>
                </a:stretch>
              </a:blip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42">
                <a:extLst>
                  <a:ext uri="{FF2B5EF4-FFF2-40B4-BE49-F238E27FC236}">
                    <a16:creationId xmlns:a16="http://schemas.microsoft.com/office/drawing/2014/main" id="{DB58D627-C325-BB30-0679-679054174189}"/>
                  </a:ext>
                </a:extLst>
              </p:cNvPr>
              <p:cNvSpPr/>
              <p:nvPr/>
            </p:nvSpPr>
            <p:spPr>
              <a:xfrm>
                <a:off x="6004349" y="2610014"/>
                <a:ext cx="331213" cy="314569"/>
              </a:xfrm>
              <a:prstGeom prst="ellipse">
                <a:avLst/>
              </a:prstGeom>
              <a:solidFill>
                <a:srgbClr val="FFAB40"/>
              </a:solid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×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mc:Choice>
        <mc:Fallback xmlns="">
          <p:sp>
            <p:nvSpPr>
              <p:cNvPr id="6" name="Oval 42">
                <a:extLst>
                  <a:ext uri="{FF2B5EF4-FFF2-40B4-BE49-F238E27FC236}">
                    <a16:creationId xmlns:a16="http://schemas.microsoft.com/office/drawing/2014/main" id="{DB58D627-C325-BB30-0679-6790541741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349" y="2610014"/>
                <a:ext cx="331213" cy="314569"/>
              </a:xfrm>
              <a:prstGeom prst="ellipse">
                <a:avLst/>
              </a:prstGeom>
              <a:blipFill>
                <a:blip r:embed="rId18"/>
                <a:stretch>
                  <a:fillRect l="-1786"/>
                </a:stretch>
              </a:blip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43">
                <a:extLst>
                  <a:ext uri="{FF2B5EF4-FFF2-40B4-BE49-F238E27FC236}">
                    <a16:creationId xmlns:a16="http://schemas.microsoft.com/office/drawing/2014/main" id="{64CC94B3-A10C-BB24-6D09-A6FA90A69CEF}"/>
                  </a:ext>
                </a:extLst>
              </p:cNvPr>
              <p:cNvSpPr/>
              <p:nvPr/>
            </p:nvSpPr>
            <p:spPr>
              <a:xfrm>
                <a:off x="6717457" y="2605441"/>
                <a:ext cx="331213" cy="314569"/>
              </a:xfrm>
              <a:prstGeom prst="ellipse">
                <a:avLst/>
              </a:prstGeom>
              <a:solidFill>
                <a:srgbClr val="FFAB40"/>
              </a:solid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×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mc:Choice>
        <mc:Fallback xmlns="">
          <p:sp>
            <p:nvSpPr>
              <p:cNvPr id="7" name="Oval 43">
                <a:extLst>
                  <a:ext uri="{FF2B5EF4-FFF2-40B4-BE49-F238E27FC236}">
                    <a16:creationId xmlns:a16="http://schemas.microsoft.com/office/drawing/2014/main" id="{64CC94B3-A10C-BB24-6D09-A6FA90A69C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7457" y="2605441"/>
                <a:ext cx="331213" cy="314569"/>
              </a:xfrm>
              <a:prstGeom prst="ellipse">
                <a:avLst/>
              </a:prstGeom>
              <a:blipFill>
                <a:blip r:embed="rId19"/>
                <a:stretch>
                  <a:fillRect l="-3571"/>
                </a:stretch>
              </a:blip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45">
            <a:extLst>
              <a:ext uri="{FF2B5EF4-FFF2-40B4-BE49-F238E27FC236}">
                <a16:creationId xmlns:a16="http://schemas.microsoft.com/office/drawing/2014/main" id="{2A43EB3B-ED58-3940-AA8A-018AA5F441C1}"/>
              </a:ext>
            </a:extLst>
          </p:cNvPr>
          <p:cNvCxnSpPr>
            <a:cxnSpLocks/>
          </p:cNvCxnSpPr>
          <p:nvPr/>
        </p:nvCxnSpPr>
        <p:spPr>
          <a:xfrm flipV="1">
            <a:off x="4734369" y="2928209"/>
            <a:ext cx="546" cy="312310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9" name="Straight Arrow Connector 46">
            <a:extLst>
              <a:ext uri="{FF2B5EF4-FFF2-40B4-BE49-F238E27FC236}">
                <a16:creationId xmlns:a16="http://schemas.microsoft.com/office/drawing/2014/main" id="{2DE18E33-D0B3-E60F-364B-5674F7AB945C}"/>
              </a:ext>
            </a:extLst>
          </p:cNvPr>
          <p:cNvCxnSpPr>
            <a:cxnSpLocks/>
          </p:cNvCxnSpPr>
          <p:nvPr/>
        </p:nvCxnSpPr>
        <p:spPr>
          <a:xfrm flipV="1">
            <a:off x="5451752" y="2939675"/>
            <a:ext cx="546" cy="312310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0" name="Straight Arrow Connector 48">
            <a:extLst>
              <a:ext uri="{FF2B5EF4-FFF2-40B4-BE49-F238E27FC236}">
                <a16:creationId xmlns:a16="http://schemas.microsoft.com/office/drawing/2014/main" id="{EB18FA8D-73B4-FE15-16C1-95FBB4A29482}"/>
              </a:ext>
            </a:extLst>
          </p:cNvPr>
          <p:cNvCxnSpPr>
            <a:cxnSpLocks/>
          </p:cNvCxnSpPr>
          <p:nvPr/>
        </p:nvCxnSpPr>
        <p:spPr>
          <a:xfrm flipV="1">
            <a:off x="6166862" y="2931361"/>
            <a:ext cx="546" cy="312310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1" name="Straight Arrow Connector 52">
            <a:extLst>
              <a:ext uri="{FF2B5EF4-FFF2-40B4-BE49-F238E27FC236}">
                <a16:creationId xmlns:a16="http://schemas.microsoft.com/office/drawing/2014/main" id="{338C7C39-B088-A10C-50D7-461551B3900C}"/>
              </a:ext>
            </a:extLst>
          </p:cNvPr>
          <p:cNvCxnSpPr>
            <a:cxnSpLocks/>
          </p:cNvCxnSpPr>
          <p:nvPr/>
        </p:nvCxnSpPr>
        <p:spPr>
          <a:xfrm flipV="1">
            <a:off x="6880834" y="2928209"/>
            <a:ext cx="546" cy="312310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12" name="Freeform: Shape 6">
            <a:extLst>
              <a:ext uri="{FF2B5EF4-FFF2-40B4-BE49-F238E27FC236}">
                <a16:creationId xmlns:a16="http://schemas.microsoft.com/office/drawing/2014/main" id="{65FCF0F2-81BA-C084-9586-10BA227FA6CD}"/>
              </a:ext>
            </a:extLst>
          </p:cNvPr>
          <p:cNvSpPr/>
          <p:nvPr/>
        </p:nvSpPr>
        <p:spPr>
          <a:xfrm>
            <a:off x="2980488" y="2811846"/>
            <a:ext cx="1592132" cy="1796290"/>
          </a:xfrm>
          <a:custGeom>
            <a:avLst/>
            <a:gdLst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996875 w 1592132"/>
              <a:gd name="connsiteY2" fmla="*/ 14702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996875 w 1592132"/>
              <a:gd name="connsiteY2" fmla="*/ 14702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32677 w 1592132"/>
              <a:gd name="connsiteY1" fmla="*/ 681317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21167 w 1592132"/>
              <a:gd name="connsiteY2" fmla="*/ 236668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211566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211566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2132" h="1308847">
                <a:moveTo>
                  <a:pt x="0" y="1308847"/>
                </a:moveTo>
                <a:cubicBezTo>
                  <a:pt x="11953" y="1036320"/>
                  <a:pt x="76498" y="894676"/>
                  <a:pt x="211566" y="702832"/>
                </a:cubicBezTo>
                <a:cubicBezTo>
                  <a:pt x="346634" y="510988"/>
                  <a:pt x="644861" y="339464"/>
                  <a:pt x="874955" y="222325"/>
                </a:cubicBezTo>
                <a:cubicBezTo>
                  <a:pt x="1105049" y="105186"/>
                  <a:pt x="1217706" y="97715"/>
                  <a:pt x="1592132" y="0"/>
                </a:cubicBezTo>
              </a:path>
            </a:pathLst>
          </a:cu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" name="Freeform: Shape 53">
            <a:extLst>
              <a:ext uri="{FF2B5EF4-FFF2-40B4-BE49-F238E27FC236}">
                <a16:creationId xmlns:a16="http://schemas.microsoft.com/office/drawing/2014/main" id="{D1823147-ECDB-CD91-8C86-0ADA02F80EA8}"/>
              </a:ext>
            </a:extLst>
          </p:cNvPr>
          <p:cNvSpPr/>
          <p:nvPr/>
        </p:nvSpPr>
        <p:spPr>
          <a:xfrm>
            <a:off x="4738543" y="2890447"/>
            <a:ext cx="575470" cy="1737772"/>
          </a:xfrm>
          <a:custGeom>
            <a:avLst/>
            <a:gdLst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996875 w 1592132"/>
              <a:gd name="connsiteY2" fmla="*/ 14702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996875 w 1592132"/>
              <a:gd name="connsiteY2" fmla="*/ 14702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32677 w 1592132"/>
              <a:gd name="connsiteY1" fmla="*/ 681317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21167 w 1592132"/>
              <a:gd name="connsiteY2" fmla="*/ 236668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211566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211566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326326 w 1592132"/>
              <a:gd name="connsiteY1" fmla="*/ 706418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467809"/>
              <a:gd name="connsiteY0" fmla="*/ 1305261 h 1305261"/>
              <a:gd name="connsiteX1" fmla="*/ 202003 w 1467809"/>
              <a:gd name="connsiteY1" fmla="*/ 706418 h 1305261"/>
              <a:gd name="connsiteX2" fmla="*/ 750632 w 1467809"/>
              <a:gd name="connsiteY2" fmla="*/ 222325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278510 w 1467809"/>
              <a:gd name="connsiteY1" fmla="*/ 706418 h 1305261"/>
              <a:gd name="connsiteX2" fmla="*/ 750632 w 1467809"/>
              <a:gd name="connsiteY2" fmla="*/ 222325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278510 w 1467809"/>
              <a:gd name="connsiteY1" fmla="*/ 706418 h 1305261"/>
              <a:gd name="connsiteX2" fmla="*/ 846267 w 1467809"/>
              <a:gd name="connsiteY2" fmla="*/ 240254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364581 w 1467809"/>
              <a:gd name="connsiteY1" fmla="*/ 710004 h 1305261"/>
              <a:gd name="connsiteX2" fmla="*/ 846267 w 1467809"/>
              <a:gd name="connsiteY2" fmla="*/ 240254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364581 w 1467809"/>
              <a:gd name="connsiteY1" fmla="*/ 710004 h 1305261"/>
              <a:gd name="connsiteX2" fmla="*/ 846267 w 1467809"/>
              <a:gd name="connsiteY2" fmla="*/ 240254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364581 w 1467809"/>
              <a:gd name="connsiteY1" fmla="*/ 710004 h 1305261"/>
              <a:gd name="connsiteX2" fmla="*/ 922774 w 1467809"/>
              <a:gd name="connsiteY2" fmla="*/ 254598 h 1305261"/>
              <a:gd name="connsiteX3" fmla="*/ 1467809 w 1467809"/>
              <a:gd name="connsiteY3" fmla="*/ 0 h 1305261"/>
              <a:gd name="connsiteX0" fmla="*/ 0 w 1534752"/>
              <a:gd name="connsiteY0" fmla="*/ 1258644 h 1258644"/>
              <a:gd name="connsiteX1" fmla="*/ 364581 w 1534752"/>
              <a:gd name="connsiteY1" fmla="*/ 663387 h 1258644"/>
              <a:gd name="connsiteX2" fmla="*/ 922774 w 1534752"/>
              <a:gd name="connsiteY2" fmla="*/ 207981 h 1258644"/>
              <a:gd name="connsiteX3" fmla="*/ 1534752 w 1534752"/>
              <a:gd name="connsiteY3" fmla="*/ 0 h 1258644"/>
              <a:gd name="connsiteX0" fmla="*/ 0 w 1534752"/>
              <a:gd name="connsiteY0" fmla="*/ 1258644 h 1258644"/>
              <a:gd name="connsiteX1" fmla="*/ 364581 w 1534752"/>
              <a:gd name="connsiteY1" fmla="*/ 663387 h 1258644"/>
              <a:gd name="connsiteX2" fmla="*/ 922774 w 1534752"/>
              <a:gd name="connsiteY2" fmla="*/ 207981 h 1258644"/>
              <a:gd name="connsiteX3" fmla="*/ 1534752 w 1534752"/>
              <a:gd name="connsiteY3" fmla="*/ 0 h 1258644"/>
              <a:gd name="connsiteX0" fmla="*/ 0 w 1534752"/>
              <a:gd name="connsiteY0" fmla="*/ 1258644 h 1258644"/>
              <a:gd name="connsiteX1" fmla="*/ 364581 w 1534752"/>
              <a:gd name="connsiteY1" fmla="*/ 663387 h 1258644"/>
              <a:gd name="connsiteX2" fmla="*/ 922774 w 1534752"/>
              <a:gd name="connsiteY2" fmla="*/ 207981 h 1258644"/>
              <a:gd name="connsiteX3" fmla="*/ 1534752 w 1534752"/>
              <a:gd name="connsiteY3" fmla="*/ 0 h 125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752" h="1258644">
                <a:moveTo>
                  <a:pt x="0" y="1258644"/>
                </a:moveTo>
                <a:cubicBezTo>
                  <a:pt x="78896" y="978945"/>
                  <a:pt x="210785" y="838497"/>
                  <a:pt x="364581" y="663387"/>
                </a:cubicBezTo>
                <a:cubicBezTo>
                  <a:pt x="518377" y="488277"/>
                  <a:pt x="718181" y="311374"/>
                  <a:pt x="922774" y="207981"/>
                </a:cubicBezTo>
                <a:cubicBezTo>
                  <a:pt x="1127367" y="104588"/>
                  <a:pt x="1160326" y="97715"/>
                  <a:pt x="1534752" y="0"/>
                </a:cubicBezTo>
              </a:path>
            </a:pathLst>
          </a:cu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Freeform: Shape 56">
            <a:extLst>
              <a:ext uri="{FF2B5EF4-FFF2-40B4-BE49-F238E27FC236}">
                <a16:creationId xmlns:a16="http://schemas.microsoft.com/office/drawing/2014/main" id="{3CC1031D-FE24-3450-295A-ED6EF7664322}"/>
              </a:ext>
            </a:extLst>
          </p:cNvPr>
          <p:cNvSpPr/>
          <p:nvPr/>
        </p:nvSpPr>
        <p:spPr>
          <a:xfrm flipH="1">
            <a:off x="6302593" y="2882574"/>
            <a:ext cx="270528" cy="1725561"/>
          </a:xfrm>
          <a:custGeom>
            <a:avLst/>
            <a:gdLst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996875 w 1592132"/>
              <a:gd name="connsiteY2" fmla="*/ 14702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996875 w 1592132"/>
              <a:gd name="connsiteY2" fmla="*/ 14702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32677 w 1592132"/>
              <a:gd name="connsiteY1" fmla="*/ 681317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21167 w 1592132"/>
              <a:gd name="connsiteY2" fmla="*/ 236668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211566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211566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326326 w 1592132"/>
              <a:gd name="connsiteY1" fmla="*/ 706418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467809"/>
              <a:gd name="connsiteY0" fmla="*/ 1305261 h 1305261"/>
              <a:gd name="connsiteX1" fmla="*/ 202003 w 1467809"/>
              <a:gd name="connsiteY1" fmla="*/ 706418 h 1305261"/>
              <a:gd name="connsiteX2" fmla="*/ 750632 w 1467809"/>
              <a:gd name="connsiteY2" fmla="*/ 222325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278510 w 1467809"/>
              <a:gd name="connsiteY1" fmla="*/ 706418 h 1305261"/>
              <a:gd name="connsiteX2" fmla="*/ 750632 w 1467809"/>
              <a:gd name="connsiteY2" fmla="*/ 222325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278510 w 1467809"/>
              <a:gd name="connsiteY1" fmla="*/ 706418 h 1305261"/>
              <a:gd name="connsiteX2" fmla="*/ 846267 w 1467809"/>
              <a:gd name="connsiteY2" fmla="*/ 240254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364581 w 1467809"/>
              <a:gd name="connsiteY1" fmla="*/ 710004 h 1305261"/>
              <a:gd name="connsiteX2" fmla="*/ 846267 w 1467809"/>
              <a:gd name="connsiteY2" fmla="*/ 240254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364581 w 1467809"/>
              <a:gd name="connsiteY1" fmla="*/ 710004 h 1305261"/>
              <a:gd name="connsiteX2" fmla="*/ 846267 w 1467809"/>
              <a:gd name="connsiteY2" fmla="*/ 240254 h 1305261"/>
              <a:gd name="connsiteX3" fmla="*/ 1467809 w 1467809"/>
              <a:gd name="connsiteY3" fmla="*/ 0 h 1305261"/>
              <a:gd name="connsiteX0" fmla="*/ 0 w 1467809"/>
              <a:gd name="connsiteY0" fmla="*/ 1305261 h 1305261"/>
              <a:gd name="connsiteX1" fmla="*/ 364581 w 1467809"/>
              <a:gd name="connsiteY1" fmla="*/ 710004 h 1305261"/>
              <a:gd name="connsiteX2" fmla="*/ 922774 w 1467809"/>
              <a:gd name="connsiteY2" fmla="*/ 254598 h 1305261"/>
              <a:gd name="connsiteX3" fmla="*/ 1467809 w 1467809"/>
              <a:gd name="connsiteY3" fmla="*/ 0 h 1305261"/>
              <a:gd name="connsiteX0" fmla="*/ 0 w 1534752"/>
              <a:gd name="connsiteY0" fmla="*/ 1258644 h 1258644"/>
              <a:gd name="connsiteX1" fmla="*/ 364581 w 1534752"/>
              <a:gd name="connsiteY1" fmla="*/ 663387 h 1258644"/>
              <a:gd name="connsiteX2" fmla="*/ 922774 w 1534752"/>
              <a:gd name="connsiteY2" fmla="*/ 207981 h 1258644"/>
              <a:gd name="connsiteX3" fmla="*/ 1534752 w 1534752"/>
              <a:gd name="connsiteY3" fmla="*/ 0 h 1258644"/>
              <a:gd name="connsiteX0" fmla="*/ 0 w 1534752"/>
              <a:gd name="connsiteY0" fmla="*/ 1258644 h 1258644"/>
              <a:gd name="connsiteX1" fmla="*/ 364581 w 1534752"/>
              <a:gd name="connsiteY1" fmla="*/ 663387 h 1258644"/>
              <a:gd name="connsiteX2" fmla="*/ 922774 w 1534752"/>
              <a:gd name="connsiteY2" fmla="*/ 207981 h 1258644"/>
              <a:gd name="connsiteX3" fmla="*/ 1534752 w 1534752"/>
              <a:gd name="connsiteY3" fmla="*/ 0 h 1258644"/>
              <a:gd name="connsiteX0" fmla="*/ 0 w 1534752"/>
              <a:gd name="connsiteY0" fmla="*/ 1258644 h 1258644"/>
              <a:gd name="connsiteX1" fmla="*/ 364581 w 1534752"/>
              <a:gd name="connsiteY1" fmla="*/ 663387 h 1258644"/>
              <a:gd name="connsiteX2" fmla="*/ 922774 w 1534752"/>
              <a:gd name="connsiteY2" fmla="*/ 207981 h 1258644"/>
              <a:gd name="connsiteX3" fmla="*/ 1534752 w 1534752"/>
              <a:gd name="connsiteY3" fmla="*/ 0 h 125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752" h="1258644">
                <a:moveTo>
                  <a:pt x="0" y="1258644"/>
                </a:moveTo>
                <a:cubicBezTo>
                  <a:pt x="78896" y="978945"/>
                  <a:pt x="210785" y="838497"/>
                  <a:pt x="364581" y="663387"/>
                </a:cubicBezTo>
                <a:cubicBezTo>
                  <a:pt x="518377" y="488277"/>
                  <a:pt x="718181" y="311374"/>
                  <a:pt x="922774" y="207981"/>
                </a:cubicBezTo>
                <a:cubicBezTo>
                  <a:pt x="1127367" y="104588"/>
                  <a:pt x="1160326" y="97715"/>
                  <a:pt x="1534752" y="0"/>
                </a:cubicBezTo>
              </a:path>
            </a:pathLst>
          </a:cu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" name="Freeform: Shape 60">
            <a:extLst>
              <a:ext uri="{FF2B5EF4-FFF2-40B4-BE49-F238E27FC236}">
                <a16:creationId xmlns:a16="http://schemas.microsoft.com/office/drawing/2014/main" id="{48ECFC17-9C44-65A6-7CFD-8D5D2C06118A}"/>
              </a:ext>
            </a:extLst>
          </p:cNvPr>
          <p:cNvSpPr/>
          <p:nvPr/>
        </p:nvSpPr>
        <p:spPr>
          <a:xfrm flipH="1">
            <a:off x="7043164" y="2783160"/>
            <a:ext cx="1383188" cy="1800826"/>
          </a:xfrm>
          <a:custGeom>
            <a:avLst/>
            <a:gdLst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996875 w 1592132"/>
              <a:gd name="connsiteY2" fmla="*/ 14702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996875 w 1592132"/>
              <a:gd name="connsiteY2" fmla="*/ 14702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90052 w 1592132"/>
              <a:gd name="connsiteY1" fmla="*/ 570155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32677 w 1592132"/>
              <a:gd name="connsiteY1" fmla="*/ 681317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727934 w 1592132"/>
              <a:gd name="connsiteY2" fmla="*/ 268941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21167 w 1592132"/>
              <a:gd name="connsiteY2" fmla="*/ 236668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172122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211566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  <a:gd name="connsiteX0" fmla="*/ 0 w 1592132"/>
              <a:gd name="connsiteY0" fmla="*/ 1308847 h 1308847"/>
              <a:gd name="connsiteX1" fmla="*/ 211566 w 1592132"/>
              <a:gd name="connsiteY1" fmla="*/ 702832 h 1308847"/>
              <a:gd name="connsiteX2" fmla="*/ 874955 w 1592132"/>
              <a:gd name="connsiteY2" fmla="*/ 222325 h 1308847"/>
              <a:gd name="connsiteX3" fmla="*/ 1592132 w 1592132"/>
              <a:gd name="connsiteY3" fmla="*/ 0 h 130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2132" h="1308847">
                <a:moveTo>
                  <a:pt x="0" y="1308847"/>
                </a:moveTo>
                <a:cubicBezTo>
                  <a:pt x="11953" y="1036320"/>
                  <a:pt x="76498" y="894676"/>
                  <a:pt x="211566" y="702832"/>
                </a:cubicBezTo>
                <a:cubicBezTo>
                  <a:pt x="346634" y="510988"/>
                  <a:pt x="644861" y="339464"/>
                  <a:pt x="874955" y="222325"/>
                </a:cubicBezTo>
                <a:cubicBezTo>
                  <a:pt x="1105049" y="105186"/>
                  <a:pt x="1217706" y="97715"/>
                  <a:pt x="1592132" y="0"/>
                </a:cubicBezTo>
              </a:path>
            </a:pathLst>
          </a:cu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6" name="Straight Arrow Connector 62">
            <a:extLst>
              <a:ext uri="{FF2B5EF4-FFF2-40B4-BE49-F238E27FC236}">
                <a16:creationId xmlns:a16="http://schemas.microsoft.com/office/drawing/2014/main" id="{0CF634A2-98DD-6903-87FF-F118D996E018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4851743" y="2287960"/>
            <a:ext cx="237628" cy="368123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7" name="Straight Arrow Connector 63">
            <a:extLst>
              <a:ext uri="{FF2B5EF4-FFF2-40B4-BE49-F238E27FC236}">
                <a16:creationId xmlns:a16="http://schemas.microsoft.com/office/drawing/2014/main" id="{EA9F9E26-BB81-CD99-3CA2-C31D211BF71A}"/>
              </a:ext>
            </a:extLst>
          </p:cNvPr>
          <p:cNvCxnSpPr>
            <a:cxnSpLocks/>
          </p:cNvCxnSpPr>
          <p:nvPr/>
        </p:nvCxnSpPr>
        <p:spPr>
          <a:xfrm flipH="1" flipV="1">
            <a:off x="5263545" y="2334028"/>
            <a:ext cx="139409" cy="297686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8" name="Straight Arrow Connector 64">
            <a:extLst>
              <a:ext uri="{FF2B5EF4-FFF2-40B4-BE49-F238E27FC236}">
                <a16:creationId xmlns:a16="http://schemas.microsoft.com/office/drawing/2014/main" id="{34EDAF6E-61F3-EFF2-9F9C-6F2FCAD13D89}"/>
              </a:ext>
            </a:extLst>
          </p:cNvPr>
          <p:cNvCxnSpPr>
            <a:cxnSpLocks/>
          </p:cNvCxnSpPr>
          <p:nvPr/>
        </p:nvCxnSpPr>
        <p:spPr>
          <a:xfrm flipH="1" flipV="1">
            <a:off x="5359721" y="2281268"/>
            <a:ext cx="649806" cy="377668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9" name="Straight Arrow Connector 66">
            <a:extLst>
              <a:ext uri="{FF2B5EF4-FFF2-40B4-BE49-F238E27FC236}">
                <a16:creationId xmlns:a16="http://schemas.microsoft.com/office/drawing/2014/main" id="{4B5D1A0D-588E-6657-4DC7-1757276019D6}"/>
              </a:ext>
            </a:extLst>
          </p:cNvPr>
          <p:cNvCxnSpPr>
            <a:cxnSpLocks/>
          </p:cNvCxnSpPr>
          <p:nvPr/>
        </p:nvCxnSpPr>
        <p:spPr>
          <a:xfrm flipH="1" flipV="1">
            <a:off x="5395226" y="2218897"/>
            <a:ext cx="1322232" cy="461815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20" name="Straight Arrow Connector 71">
            <a:extLst>
              <a:ext uri="{FF2B5EF4-FFF2-40B4-BE49-F238E27FC236}">
                <a16:creationId xmlns:a16="http://schemas.microsoft.com/office/drawing/2014/main" id="{50839D41-C72A-6126-FF52-E2EFEBEDAE2A}"/>
              </a:ext>
            </a:extLst>
          </p:cNvPr>
          <p:cNvCxnSpPr>
            <a:cxnSpLocks/>
            <a:stCxn id="25" idx="0"/>
            <a:endCxn id="21" idx="2"/>
          </p:cNvCxnSpPr>
          <p:nvPr/>
        </p:nvCxnSpPr>
        <p:spPr>
          <a:xfrm flipV="1">
            <a:off x="5206473" y="1617536"/>
            <a:ext cx="4434" cy="401923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75">
                <a:extLst>
                  <a:ext uri="{FF2B5EF4-FFF2-40B4-BE49-F238E27FC236}">
                    <a16:creationId xmlns:a16="http://schemas.microsoft.com/office/drawing/2014/main" id="{56C70D7F-2C11-CA9D-34DB-C39E2F97AE0F}"/>
                  </a:ext>
                </a:extLst>
              </p:cNvPr>
              <p:cNvSpPr txBox="1"/>
              <p:nvPr/>
            </p:nvSpPr>
            <p:spPr>
              <a:xfrm>
                <a:off x="5062092" y="1309759"/>
                <a:ext cx="297629" cy="307777"/>
              </a:xfrm>
              <a:prstGeom prst="rect">
                <a:avLst/>
              </a:prstGeom>
              <a:solidFill>
                <a:srgbClr val="C6E6A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𝑦</m:t>
                          </m:r>
                        </m:e>
                        <m:sub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21" name="TextBox 75">
                <a:extLst>
                  <a:ext uri="{FF2B5EF4-FFF2-40B4-BE49-F238E27FC236}">
                    <a16:creationId xmlns:a16="http://schemas.microsoft.com/office/drawing/2014/main" id="{56C70D7F-2C11-CA9D-34DB-C39E2F97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092" y="1309759"/>
                <a:ext cx="297629" cy="307777"/>
              </a:xfrm>
              <a:prstGeom prst="rect">
                <a:avLst/>
              </a:prstGeom>
              <a:blipFill>
                <a:blip r:embed="rId20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83">
                <a:extLst>
                  <a:ext uri="{FF2B5EF4-FFF2-40B4-BE49-F238E27FC236}">
                    <a16:creationId xmlns:a16="http://schemas.microsoft.com/office/drawing/2014/main" id="{AAE86E07-3EC0-37FA-031C-900EA18BF8B8}"/>
                  </a:ext>
                </a:extLst>
              </p:cNvPr>
              <p:cNvSpPr txBox="1"/>
              <p:nvPr/>
            </p:nvSpPr>
            <p:spPr>
              <a:xfrm>
                <a:off x="3271535" y="1297770"/>
                <a:ext cx="297629" cy="307777"/>
              </a:xfrm>
              <a:prstGeom prst="rect">
                <a:avLst/>
              </a:prstGeom>
              <a:solidFill>
                <a:srgbClr val="C6E6A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𝑦</m:t>
                          </m:r>
                        </m:e>
                        <m:sub>
                          <m:r>
                            <a:rPr lang="en-US" sz="14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22" name="TextBox 83">
                <a:extLst>
                  <a:ext uri="{FF2B5EF4-FFF2-40B4-BE49-F238E27FC236}">
                    <a16:creationId xmlns:a16="http://schemas.microsoft.com/office/drawing/2014/main" id="{AAE86E07-3EC0-37FA-031C-900EA18BF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535" y="1297770"/>
                <a:ext cx="297629" cy="307777"/>
              </a:xfrm>
              <a:prstGeom prst="rect">
                <a:avLst/>
              </a:prstGeom>
              <a:blipFill>
                <a:blip r:embed="rId21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61">
                <a:extLst>
                  <a:ext uri="{FF2B5EF4-FFF2-40B4-BE49-F238E27FC236}">
                    <a16:creationId xmlns:a16="http://schemas.microsoft.com/office/drawing/2014/main" id="{998F5584-6459-C9F0-2B02-B56EC6D8715F}"/>
                  </a:ext>
                </a:extLst>
              </p:cNvPr>
              <p:cNvSpPr/>
              <p:nvPr/>
            </p:nvSpPr>
            <p:spPr>
              <a:xfrm>
                <a:off x="5040866" y="2019459"/>
                <a:ext cx="331213" cy="314569"/>
              </a:xfrm>
              <a:prstGeom prst="ellipse">
                <a:avLst/>
              </a:prstGeom>
              <a:solidFill>
                <a:srgbClr val="FFAB40"/>
              </a:solid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18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Σ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mc:Choice>
        <mc:Fallback xmlns="">
          <p:sp>
            <p:nvSpPr>
              <p:cNvPr id="25" name="Oval 61">
                <a:extLst>
                  <a:ext uri="{FF2B5EF4-FFF2-40B4-BE49-F238E27FC236}">
                    <a16:creationId xmlns:a16="http://schemas.microsoft.com/office/drawing/2014/main" id="{998F5584-6459-C9F0-2B02-B56EC6D871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866" y="2019459"/>
                <a:ext cx="331213" cy="314569"/>
              </a:xfrm>
              <a:prstGeom prst="ellipse">
                <a:avLst/>
              </a:prstGeom>
              <a:blipFill>
                <a:blip r:embed="rId22"/>
                <a:stretch>
                  <a:fillRect l="-1786"/>
                </a:stretch>
              </a:blipFill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aixaDeTexto 22">
            <a:extLst>
              <a:ext uri="{FF2B5EF4-FFF2-40B4-BE49-F238E27FC236}">
                <a16:creationId xmlns:a16="http://schemas.microsoft.com/office/drawing/2014/main" id="{69D87AAB-1E8E-4219-A3C9-8AA38F73C9D2}"/>
              </a:ext>
            </a:extLst>
          </p:cNvPr>
          <p:cNvSpPr txBox="1"/>
          <p:nvPr/>
        </p:nvSpPr>
        <p:spPr>
          <a:xfrm>
            <a:off x="5772834" y="1008811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ym typeface="Symbol" panose="05050102010706020507" pitchFamily="18" charset="2"/>
              </a:rPr>
              <a:t>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299808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2" grpId="0" animBg="1"/>
      <p:bldP spid="5" grpId="0" animBg="1"/>
      <p:bldP spid="6" grpId="0" animBg="1"/>
      <p:bldP spid="7" grpId="0" animBg="1"/>
      <p:bldP spid="12" grpId="0" animBg="1"/>
      <p:bldP spid="13" grpId="0" animBg="1"/>
      <p:bldP spid="14" grpId="0" animBg="1"/>
      <p:bldP spid="15" grpId="0" animBg="1"/>
      <p:bldP spid="21" grpId="0" animBg="1"/>
      <p:bldP spid="25" grpId="0" animBg="1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42183-1B33-94F4-26B8-86B7BFD17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20D7E2F-2A0A-3274-7682-7EA36EA4137D}"/>
              </a:ext>
            </a:extLst>
          </p:cNvPr>
          <p:cNvSpPr txBox="1"/>
          <p:nvPr/>
        </p:nvSpPr>
        <p:spPr>
          <a:xfrm>
            <a:off x="645459" y="603612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Visualização do Mecanismo de Atenção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E3FDEC0-A8DD-102F-9918-A363698C0EA8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Elaborada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pelo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autor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: Rounded Corners 1">
            <a:extLst>
              <a:ext uri="{FF2B5EF4-FFF2-40B4-BE49-F238E27FC236}">
                <a16:creationId xmlns:a16="http://schemas.microsoft.com/office/drawing/2014/main" id="{4F9DF05F-B73E-3240-2105-4DE0FEF21597}"/>
              </a:ext>
            </a:extLst>
          </p:cNvPr>
          <p:cNvSpPr/>
          <p:nvPr/>
        </p:nvSpPr>
        <p:spPr>
          <a:xfrm>
            <a:off x="2345768" y="1991007"/>
            <a:ext cx="7393259" cy="3434576"/>
          </a:xfrm>
          <a:prstGeom prst="roundRect">
            <a:avLst/>
          </a:prstGeom>
          <a:solidFill>
            <a:srgbClr val="FFAB40">
              <a:lumMod val="40000"/>
              <a:lumOff val="60000"/>
            </a:srgbClr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3">
                <a:extLst>
                  <a:ext uri="{FF2B5EF4-FFF2-40B4-BE49-F238E27FC236}">
                    <a16:creationId xmlns:a16="http://schemas.microsoft.com/office/drawing/2014/main" id="{D21C4ACE-E316-FA63-56C0-30D69D7ED48D}"/>
                  </a:ext>
                </a:extLst>
              </p:cNvPr>
              <p:cNvSpPr txBox="1"/>
              <p:nvPr/>
            </p:nvSpPr>
            <p:spPr>
              <a:xfrm>
                <a:off x="4475989" y="4493947"/>
                <a:ext cx="419548" cy="307777"/>
              </a:xfrm>
              <a:prstGeom prst="rect">
                <a:avLst/>
              </a:prstGeom>
              <a:solidFill>
                <a:srgbClr val="F3B9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6" name="TextBox 3">
                <a:extLst>
                  <a:ext uri="{FF2B5EF4-FFF2-40B4-BE49-F238E27FC236}">
                    <a16:creationId xmlns:a16="http://schemas.microsoft.com/office/drawing/2014/main" id="{D21C4ACE-E316-FA63-56C0-30D69D7ED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989" y="4493947"/>
                <a:ext cx="4195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10">
                <a:extLst>
                  <a:ext uri="{FF2B5EF4-FFF2-40B4-BE49-F238E27FC236}">
                    <a16:creationId xmlns:a16="http://schemas.microsoft.com/office/drawing/2014/main" id="{EB7B9B47-2429-2150-56F9-5833D97D5B01}"/>
                  </a:ext>
                </a:extLst>
              </p:cNvPr>
              <p:cNvSpPr txBox="1"/>
              <p:nvPr/>
            </p:nvSpPr>
            <p:spPr>
              <a:xfrm>
                <a:off x="3042100" y="4493306"/>
                <a:ext cx="419548" cy="308418"/>
              </a:xfrm>
              <a:prstGeom prst="rect">
                <a:avLst/>
              </a:prstGeom>
              <a:solidFill>
                <a:srgbClr val="B9F0F9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7" name="TextBox 10">
                <a:extLst>
                  <a:ext uri="{FF2B5EF4-FFF2-40B4-BE49-F238E27FC236}">
                    <a16:creationId xmlns:a16="http://schemas.microsoft.com/office/drawing/2014/main" id="{EB7B9B47-2429-2150-56F9-5833D97D5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100" y="4493306"/>
                <a:ext cx="419548" cy="3084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DCE69BA3-508F-60A2-06A6-E907A47F9BE5}"/>
                  </a:ext>
                </a:extLst>
              </p:cNvPr>
              <p:cNvSpPr txBox="1"/>
              <p:nvPr/>
            </p:nvSpPr>
            <p:spPr>
              <a:xfrm>
                <a:off x="8561957" y="4493306"/>
                <a:ext cx="419548" cy="307777"/>
              </a:xfrm>
              <a:prstGeom prst="rect">
                <a:avLst/>
              </a:prstGeom>
              <a:solidFill>
                <a:srgbClr val="E0F7BB"/>
              </a:solidFill>
              <a:ln w="1270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𝑊</m:t>
                          </m:r>
                        </m:e>
                        <m:sup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DCE69BA3-508F-60A2-06A6-E907A47F9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1957" y="4493306"/>
                <a:ext cx="4195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tângulo 26">
            <a:extLst>
              <a:ext uri="{FF2B5EF4-FFF2-40B4-BE49-F238E27FC236}">
                <a16:creationId xmlns:a16="http://schemas.microsoft.com/office/drawing/2014/main" id="{B3C57ECC-5FF7-B158-BCBF-19CF33B654EF}"/>
              </a:ext>
            </a:extLst>
          </p:cNvPr>
          <p:cNvSpPr/>
          <p:nvPr/>
        </p:nvSpPr>
        <p:spPr>
          <a:xfrm>
            <a:off x="2702610" y="2425905"/>
            <a:ext cx="1104742" cy="1783602"/>
          </a:xfrm>
          <a:prstGeom prst="rect">
            <a:avLst/>
          </a:prstGeom>
          <a:solidFill>
            <a:srgbClr val="B9F0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FD69F09-2E6A-17F8-222B-E2FE5865E62A}"/>
              </a:ext>
            </a:extLst>
          </p:cNvPr>
          <p:cNvSpPr/>
          <p:nvPr/>
        </p:nvSpPr>
        <p:spPr>
          <a:xfrm>
            <a:off x="4135609" y="2420711"/>
            <a:ext cx="1100308" cy="1783602"/>
          </a:xfrm>
          <a:prstGeom prst="rect">
            <a:avLst/>
          </a:prstGeom>
          <a:solidFill>
            <a:srgbClr val="F3B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F82A5A33-02B0-83AF-564E-70C0A484C43C}"/>
              </a:ext>
            </a:extLst>
          </p:cNvPr>
          <p:cNvSpPr/>
          <p:nvPr/>
        </p:nvSpPr>
        <p:spPr>
          <a:xfrm>
            <a:off x="8221577" y="2431305"/>
            <a:ext cx="1100309" cy="1783602"/>
          </a:xfrm>
          <a:prstGeom prst="rect">
            <a:avLst/>
          </a:prstGeom>
          <a:solidFill>
            <a:srgbClr val="E0F7B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0469B38-E506-3534-B6B0-1CE458E58FA3}"/>
              </a:ext>
            </a:extLst>
          </p:cNvPr>
          <p:cNvSpPr txBox="1"/>
          <p:nvPr/>
        </p:nvSpPr>
        <p:spPr>
          <a:xfrm>
            <a:off x="3818503" y="3036021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ym typeface="Symbol" panose="05050102010706020507" pitchFamily="18" charset="2"/>
              </a:rPr>
              <a:t></a:t>
            </a:r>
            <a:endParaRPr lang="pt-BR" sz="2800" b="1" dirty="0"/>
          </a:p>
        </p:txBody>
      </p:sp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F4569857-F4B7-45A3-312E-98C9AA4A7BC0}"/>
              </a:ext>
            </a:extLst>
          </p:cNvPr>
          <p:cNvSpPr/>
          <p:nvPr/>
        </p:nvSpPr>
        <p:spPr>
          <a:xfrm>
            <a:off x="5419331" y="2431305"/>
            <a:ext cx="1290626" cy="1783602"/>
          </a:xfrm>
          <a:prstGeom prst="rightArrow">
            <a:avLst>
              <a:gd name="adj1" fmla="val 60003"/>
              <a:gd name="adj2" fmla="val 3795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Norm </a:t>
            </a:r>
          </a:p>
          <a:p>
            <a:pPr algn="ctr"/>
            <a:r>
              <a:rPr lang="pt-BR" dirty="0"/>
              <a:t>+ </a:t>
            </a:r>
            <a:r>
              <a:rPr lang="pt-BR" dirty="0" err="1"/>
              <a:t>Softmax</a:t>
            </a:r>
            <a:endParaRPr lang="pt-BR" dirty="0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F0513E8-95FC-53B4-0FB2-3E9344334615}"/>
              </a:ext>
            </a:extLst>
          </p:cNvPr>
          <p:cNvSpPr/>
          <p:nvPr/>
        </p:nvSpPr>
        <p:spPr>
          <a:xfrm>
            <a:off x="6837116" y="2420711"/>
            <a:ext cx="1100309" cy="17836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Pesos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33D710F-E340-A22B-D15A-1ECBBE3BFAF8}"/>
              </a:ext>
            </a:extLst>
          </p:cNvPr>
          <p:cNvSpPr txBox="1"/>
          <p:nvPr/>
        </p:nvSpPr>
        <p:spPr>
          <a:xfrm>
            <a:off x="7908671" y="312305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×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A83A2E3-29FD-39D4-879F-F69385E4A496}"/>
              </a:ext>
            </a:extLst>
          </p:cNvPr>
          <p:cNvSpPr/>
          <p:nvPr/>
        </p:nvSpPr>
        <p:spPr>
          <a:xfrm>
            <a:off x="1166164" y="2660377"/>
            <a:ext cx="651179" cy="1783602"/>
          </a:xfrm>
          <a:prstGeom prst="rect">
            <a:avLst/>
          </a:prstGeom>
          <a:solidFill>
            <a:srgbClr val="C6EF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D4DC6E3A-FE1E-5E9D-E6CE-12007B26A324}"/>
              </a:ext>
            </a:extLst>
          </p:cNvPr>
          <p:cNvSpPr/>
          <p:nvPr/>
        </p:nvSpPr>
        <p:spPr>
          <a:xfrm>
            <a:off x="10267453" y="2660377"/>
            <a:ext cx="651179" cy="178360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Y</a:t>
            </a: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C413C542-B523-C095-37C8-3F3F8EA015DA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1817343" y="3552178"/>
            <a:ext cx="52842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7460BA6F-0E0B-AE6F-02A9-F73E0DCC913B}"/>
              </a:ext>
            </a:extLst>
          </p:cNvPr>
          <p:cNvCxnSpPr>
            <a:cxnSpLocks/>
          </p:cNvCxnSpPr>
          <p:nvPr/>
        </p:nvCxnSpPr>
        <p:spPr>
          <a:xfrm>
            <a:off x="9739028" y="3552178"/>
            <a:ext cx="52842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E853081B-D667-D6CD-EF43-5695BABA3154}"/>
              </a:ext>
            </a:extLst>
          </p:cNvPr>
          <p:cNvGrpSpPr/>
          <p:nvPr/>
        </p:nvGrpSpPr>
        <p:grpSpPr>
          <a:xfrm>
            <a:off x="2339163" y="3558363"/>
            <a:ext cx="6460280" cy="1446028"/>
            <a:chOff x="2339163" y="3558363"/>
            <a:chExt cx="6460280" cy="1446028"/>
          </a:xfrm>
        </p:grpSpPr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46308F08-45FE-E28C-4ED8-7EB8B81F0E9F}"/>
                </a:ext>
              </a:extLst>
            </p:cNvPr>
            <p:cNvSpPr/>
            <p:nvPr/>
          </p:nvSpPr>
          <p:spPr>
            <a:xfrm>
              <a:off x="2339163" y="3558363"/>
              <a:ext cx="914400" cy="1446028"/>
            </a:xfrm>
            <a:custGeom>
              <a:avLst/>
              <a:gdLst>
                <a:gd name="connsiteX0" fmla="*/ 0 w 914400"/>
                <a:gd name="connsiteY0" fmla="*/ 0 h 1446028"/>
                <a:gd name="connsiteX1" fmla="*/ 184297 w 914400"/>
                <a:gd name="connsiteY1" fmla="*/ 0 h 1446028"/>
                <a:gd name="connsiteX2" fmla="*/ 177209 w 914400"/>
                <a:gd name="connsiteY2" fmla="*/ 1446028 h 1446028"/>
                <a:gd name="connsiteX3" fmla="*/ 914400 w 914400"/>
                <a:gd name="connsiteY3" fmla="*/ 1446028 h 1446028"/>
                <a:gd name="connsiteX4" fmla="*/ 914400 w 914400"/>
                <a:gd name="connsiteY4" fmla="*/ 1240249 h 144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1446028">
                  <a:moveTo>
                    <a:pt x="0" y="0"/>
                  </a:moveTo>
                  <a:lnTo>
                    <a:pt x="184297" y="0"/>
                  </a:lnTo>
                  <a:cubicBezTo>
                    <a:pt x="181934" y="482009"/>
                    <a:pt x="179572" y="964019"/>
                    <a:pt x="177209" y="1446028"/>
                  </a:cubicBezTo>
                  <a:lnTo>
                    <a:pt x="914400" y="1446028"/>
                  </a:lnTo>
                  <a:lnTo>
                    <a:pt x="914400" y="1240249"/>
                  </a:lnTo>
                </a:path>
              </a:pathLst>
            </a:custGeom>
            <a:noFill/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8" name="Forma Livre: Forma 87">
              <a:extLst>
                <a:ext uri="{FF2B5EF4-FFF2-40B4-BE49-F238E27FC236}">
                  <a16:creationId xmlns:a16="http://schemas.microsoft.com/office/drawing/2014/main" id="{1B44D9D5-D1AE-6B52-E10A-CC829B2C0EB5}"/>
                </a:ext>
              </a:extLst>
            </p:cNvPr>
            <p:cNvSpPr/>
            <p:nvPr/>
          </p:nvSpPr>
          <p:spPr>
            <a:xfrm>
              <a:off x="3253014" y="4806043"/>
              <a:ext cx="1435100" cy="195943"/>
            </a:xfrm>
            <a:custGeom>
              <a:avLst/>
              <a:gdLst>
                <a:gd name="connsiteX0" fmla="*/ 0 w 1435100"/>
                <a:gd name="connsiteY0" fmla="*/ 195943 h 195943"/>
                <a:gd name="connsiteX1" fmla="*/ 1431472 w 1435100"/>
                <a:gd name="connsiteY1" fmla="*/ 195943 h 195943"/>
                <a:gd name="connsiteX2" fmla="*/ 1435100 w 1435100"/>
                <a:gd name="connsiteY2" fmla="*/ 0 h 195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35100" h="195943">
                  <a:moveTo>
                    <a:pt x="0" y="195943"/>
                  </a:moveTo>
                  <a:lnTo>
                    <a:pt x="1431472" y="195943"/>
                  </a:lnTo>
                  <a:cubicBezTo>
                    <a:pt x="1432681" y="130629"/>
                    <a:pt x="1433891" y="65314"/>
                    <a:pt x="1435100" y="0"/>
                  </a:cubicBezTo>
                </a:path>
              </a:pathLst>
            </a:custGeom>
            <a:noFill/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Forma Livre: Forma 88">
              <a:extLst>
                <a:ext uri="{FF2B5EF4-FFF2-40B4-BE49-F238E27FC236}">
                  <a16:creationId xmlns:a16="http://schemas.microsoft.com/office/drawing/2014/main" id="{C76C2A12-0129-018D-0D6A-C6D6724DB655}"/>
                </a:ext>
              </a:extLst>
            </p:cNvPr>
            <p:cNvSpPr/>
            <p:nvPr/>
          </p:nvSpPr>
          <p:spPr>
            <a:xfrm>
              <a:off x="4688113" y="4806043"/>
              <a:ext cx="4111330" cy="195943"/>
            </a:xfrm>
            <a:custGeom>
              <a:avLst/>
              <a:gdLst>
                <a:gd name="connsiteX0" fmla="*/ 0 w 1435100"/>
                <a:gd name="connsiteY0" fmla="*/ 195943 h 195943"/>
                <a:gd name="connsiteX1" fmla="*/ 1431472 w 1435100"/>
                <a:gd name="connsiteY1" fmla="*/ 195943 h 195943"/>
                <a:gd name="connsiteX2" fmla="*/ 1435100 w 1435100"/>
                <a:gd name="connsiteY2" fmla="*/ 0 h 195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35100" h="195943">
                  <a:moveTo>
                    <a:pt x="0" y="195943"/>
                  </a:moveTo>
                  <a:lnTo>
                    <a:pt x="1431472" y="195943"/>
                  </a:lnTo>
                  <a:cubicBezTo>
                    <a:pt x="1432681" y="130629"/>
                    <a:pt x="1433891" y="65314"/>
                    <a:pt x="1435100" y="0"/>
                  </a:cubicBezTo>
                </a:path>
              </a:pathLst>
            </a:custGeom>
            <a:noFill/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92" name="Conector de Seta Reta 91">
            <a:extLst>
              <a:ext uri="{FF2B5EF4-FFF2-40B4-BE49-F238E27FC236}">
                <a16:creationId xmlns:a16="http://schemas.microsoft.com/office/drawing/2014/main" id="{6747FEBD-A779-D1C4-D8C8-652FA5C787AB}"/>
              </a:ext>
            </a:extLst>
          </p:cNvPr>
          <p:cNvCxnSpPr>
            <a:stCxn id="57" idx="0"/>
            <a:endCxn id="27" idx="2"/>
          </p:cNvCxnSpPr>
          <p:nvPr/>
        </p:nvCxnSpPr>
        <p:spPr>
          <a:xfrm flipV="1">
            <a:off x="3251874" y="4209507"/>
            <a:ext cx="3107" cy="283799"/>
          </a:xfrm>
          <a:prstGeom prst="straightConnector1">
            <a:avLst/>
          </a:prstGeom>
          <a:noFill/>
          <a:ln w="2857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Conector de Seta Reta 92">
            <a:extLst>
              <a:ext uri="{FF2B5EF4-FFF2-40B4-BE49-F238E27FC236}">
                <a16:creationId xmlns:a16="http://schemas.microsoft.com/office/drawing/2014/main" id="{1292FA6A-42C7-A8D7-6001-239F7FBF0F5A}"/>
              </a:ext>
            </a:extLst>
          </p:cNvPr>
          <p:cNvCxnSpPr>
            <a:cxnSpLocks/>
            <a:stCxn id="56" idx="0"/>
            <a:endCxn id="28" idx="2"/>
          </p:cNvCxnSpPr>
          <p:nvPr/>
        </p:nvCxnSpPr>
        <p:spPr>
          <a:xfrm flipV="1">
            <a:off x="4685763" y="4204313"/>
            <a:ext cx="0" cy="289634"/>
          </a:xfrm>
          <a:prstGeom prst="straightConnector1">
            <a:avLst/>
          </a:prstGeom>
          <a:noFill/>
          <a:ln w="2857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ector de Seta Reta 97">
            <a:extLst>
              <a:ext uri="{FF2B5EF4-FFF2-40B4-BE49-F238E27FC236}">
                <a16:creationId xmlns:a16="http://schemas.microsoft.com/office/drawing/2014/main" id="{39AC88BC-959E-092B-600F-6029B7897152}"/>
              </a:ext>
            </a:extLst>
          </p:cNvPr>
          <p:cNvCxnSpPr>
            <a:cxnSpLocks/>
            <a:stCxn id="58" idx="0"/>
            <a:endCxn id="29" idx="2"/>
          </p:cNvCxnSpPr>
          <p:nvPr/>
        </p:nvCxnSpPr>
        <p:spPr>
          <a:xfrm flipV="1">
            <a:off x="8771731" y="4214907"/>
            <a:ext cx="1" cy="278399"/>
          </a:xfrm>
          <a:prstGeom prst="straightConnector1">
            <a:avLst/>
          </a:prstGeom>
          <a:noFill/>
          <a:ln w="2857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97620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6" grpId="0" animBg="1"/>
      <p:bldP spid="57" grpId="0" animBg="1"/>
      <p:bldP spid="58" grpId="0" animBg="1"/>
      <p:bldP spid="27" grpId="0" animBg="1"/>
      <p:bldP spid="28" grpId="0" animBg="1"/>
      <p:bldP spid="29" grpId="0" animBg="1"/>
      <p:bldP spid="30" grpId="0"/>
      <p:bldP spid="31" grpId="0" animBg="1"/>
      <p:bldP spid="32" grpId="0" animBg="1"/>
      <p:bldP spid="33" grpId="0"/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FB266-3035-A2FA-2110-CAF23B29B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C0357E7-674A-A4C6-E76A-14F11B17286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Interpretação dos Pesos de Atenção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42E89F-FB7F-9D87-E8A8-08882FEAF9FE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pesos da SDPA indicam o grau de influência entre os tokens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Valores mais altos refletem maior relevância de um token sobre outro.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interpretação ajuda a entender como o modelo distribui seu foco.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dos pesos revela padrões de atenção aprendidos durante o treinamento.</a:t>
            </a:r>
          </a:p>
        </p:txBody>
      </p:sp>
    </p:spTree>
    <p:extLst>
      <p:ext uri="{BB962C8B-B14F-4D97-AF65-F5344CB8AC3E}">
        <p14:creationId xmlns:p14="http://schemas.microsoft.com/office/powerpoint/2010/main" val="2092165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502BC-4390-51AA-A642-BEB5160DA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2AAB492-7CA5-BE01-C073-3CDCC4AE78C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SDPA em Tradução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D74BDBC-9F39-FBD3-36FF-30A3AB34D1F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SDPA é usada para identificar quais palavras da entrada são mais relevantes na tradução.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mecanismo ajusta o foco do modelo conforme o contexto da frase original.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permite gerar traduções mais precisas e coerentes, mesmo em frases complexas.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SDPA melhora a fluidez e a fidelidade da tradução ao capturar relações entre os tokens.</a:t>
            </a:r>
          </a:p>
        </p:txBody>
      </p:sp>
    </p:spTree>
    <p:extLst>
      <p:ext uri="{BB962C8B-B14F-4D97-AF65-F5344CB8AC3E}">
        <p14:creationId xmlns:p14="http://schemas.microsoft.com/office/powerpoint/2010/main" val="3701168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03362-47CF-FE83-54C2-B3B290617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CD390FC-335C-A5A8-B3DA-8124999A60C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SDPA em Sumarização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FEAD36-B651-C5D5-E9B2-5417C994533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SDPA identifica as partes mais relevantes do texto para compor o resumo.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aprende a focar em frases ou palavras com maior peso informativo.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permite gerar resumos mais precisos e representativos do conteúdo original.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por produto interno escalado melhora a qualidade da sumarização automática.</a:t>
            </a:r>
          </a:p>
        </p:txBody>
      </p:sp>
    </p:spTree>
    <p:extLst>
      <p:ext uri="{BB962C8B-B14F-4D97-AF65-F5344CB8AC3E}">
        <p14:creationId xmlns:p14="http://schemas.microsoft.com/office/powerpoint/2010/main" val="2067358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511A3-3743-0297-A3D0-4B2A5C96C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6C64A67-4B58-0758-4C32-66AE2B3DD97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Vantagens da SDPA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488363-CD12-9007-EFD5-1EFFE2B22E90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SDPA permite que os modelos processem sequências inteiras de forma paralela.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reduz o tempo de treinamento em comparação com métodos recorrentes.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eficiência computacional da SDPA favorece aplicações em larga escala.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mecanismo melhora o desempenho sem comprometer a qualidade da atenção.</a:t>
            </a:r>
          </a:p>
        </p:txBody>
      </p:sp>
    </p:spTree>
    <p:extLst>
      <p:ext uri="{BB962C8B-B14F-4D97-AF65-F5344CB8AC3E}">
        <p14:creationId xmlns:p14="http://schemas.microsoft.com/office/powerpoint/2010/main" val="530503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AEFA9-3581-C213-433D-8CEDC9602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7C53018-FA73-3356-36EC-265F9A70349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Limitações e Desafios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D65E5B6-79AF-6DFD-A073-89F81811EAA7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SDPA pode apresentar sensibilidade ao tamanho da sequência processada.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Sequências muito longas exigem maior capacidade computacional e memória.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escala dos scores influencia diretamente a estabilidade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Ajustes precisos são necessários para manter a eficácia da atenção em diferentes contextos.</a:t>
            </a:r>
          </a:p>
        </p:txBody>
      </p:sp>
    </p:spTree>
    <p:extLst>
      <p:ext uri="{BB962C8B-B14F-4D97-AF65-F5344CB8AC3E}">
        <p14:creationId xmlns:p14="http://schemas.microsoft.com/office/powerpoint/2010/main" val="450216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0BC68-10BD-76A2-16E4-D9109A79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BEA18AD-9118-83A9-AC24-C8208D5178D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Comparação com Atenção Simples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0CF71C0-A4C0-DDCB-15DB-E7BB55651E9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SDPA normaliza os scores do produto interno para evitar valores extremos e instáveis.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Diferente da atenção simples, ela aplica uma normalização que melhora a precisão dos pesos.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não normalizada pode gerar distribuições menos confiáveis em sequências longas.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SDPA oferece maior estabilidade e desempenho em tarefas complexas de linguagem.</a:t>
            </a:r>
          </a:p>
        </p:txBody>
      </p:sp>
    </p:spTree>
    <p:extLst>
      <p:ext uri="{BB962C8B-B14F-4D97-AF65-F5344CB8AC3E}">
        <p14:creationId xmlns:p14="http://schemas.microsoft.com/office/powerpoint/2010/main" val="3709906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D8DA9-6EC1-8D1A-306B-B2307B3E4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D81DAA7-2F87-6099-0CF3-12F51A005B4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CEEA4A5-8D01-4619-F7B1-F1F3C8A8323E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SDPA é um componente essencial para o sucesso dos modelos </a:t>
            </a:r>
            <a:r>
              <a:rPr lang="pt-BR" sz="2800" dirty="0" err="1"/>
              <a:t>Transformer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Seu uso permite capturar relações contextuais com eficiência e precisão.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por produto interno escalado melhora a interpretação e o desempenho.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Compreender a SDPA é fundamental para aplicar redes modernas em PLN e outras áreas.</a:t>
            </a:r>
          </a:p>
        </p:txBody>
      </p:sp>
    </p:spTree>
    <p:extLst>
      <p:ext uri="{BB962C8B-B14F-4D97-AF65-F5344CB8AC3E}">
        <p14:creationId xmlns:p14="http://schemas.microsoft.com/office/powerpoint/2010/main" val="582741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11527</TotalTime>
  <Words>1377</Words>
  <Application>Microsoft Office PowerPoint</Application>
  <PresentationFormat>Widescreen</PresentationFormat>
  <Paragraphs>184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23</vt:i4>
      </vt:variant>
    </vt:vector>
  </HeadingPairs>
  <TitlesOfParts>
    <vt:vector size="37" baseType="lpstr">
      <vt:lpstr>Arial</vt:lpstr>
      <vt:lpstr>Calibri</vt:lpstr>
      <vt:lpstr>Cambria Math</vt:lpstr>
      <vt:lpstr>Symbol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5 - Slide de Tabela ou imagem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105</cp:revision>
  <dcterms:created xsi:type="dcterms:W3CDTF">2020-01-14T17:16:45Z</dcterms:created>
  <dcterms:modified xsi:type="dcterms:W3CDTF">2025-11-28T19:13:45Z</dcterms:modified>
</cp:coreProperties>
</file>