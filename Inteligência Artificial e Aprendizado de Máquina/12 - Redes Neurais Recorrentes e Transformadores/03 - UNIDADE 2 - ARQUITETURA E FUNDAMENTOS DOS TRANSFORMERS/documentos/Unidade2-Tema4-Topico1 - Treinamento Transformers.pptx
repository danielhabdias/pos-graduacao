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28"/>
  </p:notesMasterIdLst>
  <p:handoutMasterIdLst>
    <p:handoutMasterId r:id="rId29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5" r:id="rId26"/>
    <p:sldId id="261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Treinamento de Transformers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de Transformers envolve ajustar milhões de parâmetros para aprender padrões complexos em dados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 grandes conjuntos de dados e técnicas como regularização e otimização para garantir desempenho e generalização.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processo é intensivo em recursos computacionais, exigindo GPUs e estratégias como treinamento distribuído.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de </a:t>
            </a:r>
            <a:r>
              <a:rPr lang="pt-BR" sz="2800" dirty="0" err="1"/>
              <a:t>hiperparâmetros</a:t>
            </a:r>
            <a:r>
              <a:rPr lang="pt-BR" sz="2800" dirty="0"/>
              <a:t> e o uso de validação são essenciais para evitar </a:t>
            </a:r>
            <a:r>
              <a:rPr lang="pt-BR" sz="2800" dirty="0" err="1"/>
              <a:t>overfitting</a:t>
            </a:r>
            <a:r>
              <a:rPr lang="pt-BR" sz="2800" dirty="0"/>
              <a:t> e melhorar a qualidade do modelo.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9B8A-8068-50DE-0784-45F52699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48A490-5946-1562-81AA-143F9598A4C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Pré-processamento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C235A1-21F9-0EF5-E44F-B2FDE7DCF33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pré-processamento começa com a limpeza dos dados, removendo ruídos e inconsistências que possam afetar 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tokenização transforma o texto em unidades menores, como palavras ou </a:t>
            </a:r>
            <a:r>
              <a:rPr lang="pt-BR" sz="2800" dirty="0" err="1"/>
              <a:t>subpalavras</a:t>
            </a:r>
            <a:r>
              <a:rPr lang="pt-BR" sz="2800" dirty="0"/>
              <a:t>, facilitando o processamento.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dados são convertidos em vetores numéricos, permitindo que o modelo compreenda e manipule a informação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truncamento e </a:t>
            </a:r>
            <a:r>
              <a:rPr lang="pt-BR" sz="2800" dirty="0" err="1"/>
              <a:t>padding</a:t>
            </a:r>
            <a:r>
              <a:rPr lang="pt-BR" sz="2800" dirty="0"/>
              <a:t> são aplicadas para padronizar o tamanho das sequências de entrada.</a:t>
            </a:r>
          </a:p>
        </p:txBody>
      </p:sp>
    </p:spTree>
    <p:extLst>
      <p:ext uri="{BB962C8B-B14F-4D97-AF65-F5344CB8AC3E}">
        <p14:creationId xmlns:p14="http://schemas.microsoft.com/office/powerpoint/2010/main" val="38080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AA329-F189-F8AF-A3F0-D0C03491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E0B6E77-A8F8-2825-517C-E8C4D849F2B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Tokenização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23A0E3D-DD0C-578E-2FB6-1437BB263FA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tokenização converte texto em unidades menores, facilitando o processamento por modelos de linguagem.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Algoritmos como </a:t>
            </a:r>
            <a:r>
              <a:rPr lang="pt-BR" sz="2800" dirty="0" err="1"/>
              <a:t>WordPiece</a:t>
            </a:r>
            <a:r>
              <a:rPr lang="pt-BR" sz="2800" dirty="0"/>
              <a:t>, BPE e </a:t>
            </a:r>
            <a:r>
              <a:rPr lang="pt-BR" sz="2800" dirty="0" err="1"/>
              <a:t>SentencePiece</a:t>
            </a:r>
            <a:r>
              <a:rPr lang="pt-BR" sz="2800" dirty="0"/>
              <a:t> segmentam palavras com base em frequência e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é essencial para lidar com vocabulários extensos e palavras raras em grandes corpora.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do </a:t>
            </a:r>
            <a:r>
              <a:rPr lang="pt-BR" sz="2800" dirty="0" err="1"/>
              <a:t>tokenizador</a:t>
            </a:r>
            <a:r>
              <a:rPr lang="pt-BR" sz="2800" dirty="0"/>
              <a:t> impacta diretamente a eficiência e a qualidade do modelo treinado.</a:t>
            </a:r>
          </a:p>
        </p:txBody>
      </p:sp>
    </p:spTree>
    <p:extLst>
      <p:ext uri="{BB962C8B-B14F-4D97-AF65-F5344CB8AC3E}">
        <p14:creationId xmlns:p14="http://schemas.microsoft.com/office/powerpoint/2010/main" val="195304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2C086-4A53-3F4E-3EA9-0F2C6CB4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12A7D7-FB55-8464-64DB-15D26AE0A37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Construção de Vocabulário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60BBEC-3F13-349B-4B87-8D6EC477860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vocabulário é definido a partir dos dados de treinamento, refletindo os padrões linguísticos mais frequentes.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Palavras ou </a:t>
            </a:r>
            <a:r>
              <a:rPr lang="pt-BR" sz="2800" dirty="0" err="1"/>
              <a:t>subpalavras</a:t>
            </a:r>
            <a:r>
              <a:rPr lang="pt-BR" sz="2800" dirty="0"/>
              <a:t> são selecionadas com base em frequência e cobertura, otimizando a representação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Um vocabulário bem construído reduz o número de tokens desconhecidos e melhora a eficiência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entre vocabulário fixo ou dinâmico depende da tarefa e da abordagem de tokenização utilizada.</a:t>
            </a:r>
          </a:p>
        </p:txBody>
      </p:sp>
    </p:spTree>
    <p:extLst>
      <p:ext uri="{BB962C8B-B14F-4D97-AF65-F5344CB8AC3E}">
        <p14:creationId xmlns:p14="http://schemas.microsoft.com/office/powerpoint/2010/main" val="2935427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A932-A751-E7A6-CAE5-1A1E60578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35EB851-E69D-70F6-7DDC-893E933FD46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Posicional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48AFF41-D85B-5607-7936-C62A1EF84BE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insere informações de ordem nos tokens, essencial para tarefas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Sem essa codificação, os Transformers não distinguem a posição dos elementos na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Codificação </a:t>
            </a:r>
            <a:r>
              <a:rPr lang="pt-BR" sz="2800" dirty="0" err="1"/>
              <a:t>senoisal</a:t>
            </a:r>
            <a:r>
              <a:rPr lang="pt-BR" sz="2800" dirty="0"/>
              <a:t> é geralmente usada para gerar padrões únicos por posição.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permite que o modelo aprenda relações temporais mesmo sem estrutura recorrente.</a:t>
            </a:r>
          </a:p>
        </p:txBody>
      </p:sp>
    </p:spTree>
    <p:extLst>
      <p:ext uri="{BB962C8B-B14F-4D97-AF65-F5344CB8AC3E}">
        <p14:creationId xmlns:p14="http://schemas.microsoft.com/office/powerpoint/2010/main" val="2903866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DDED1-1A4F-2D3E-7B9B-01053083B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7CF24F1-9C25-C4CE-F4BE-5FDBAA0A2F7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Inicialização de Pesos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7D18F5-036B-5C61-F769-56EB1F6B98F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inicialização adequada dos pesos é essencial para garantir estabilidade e eficiência no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Métodos como </a:t>
            </a:r>
            <a:r>
              <a:rPr lang="pt-BR" sz="2800" b="1" dirty="0"/>
              <a:t>Xavier</a:t>
            </a:r>
            <a:r>
              <a:rPr lang="pt-BR" sz="2800" dirty="0"/>
              <a:t> e </a:t>
            </a:r>
            <a:r>
              <a:rPr lang="pt-BR" sz="2800" b="1" dirty="0"/>
              <a:t>He</a:t>
            </a:r>
            <a:r>
              <a:rPr lang="pt-BR" sz="2800" dirty="0"/>
              <a:t> são amplamente usados para manter a variância dos sinais ao longo das camadas.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Inicializações mal feitas podem levar a problemas como gradientes nulos ou explosivos.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Transformers, a escolha da estratégia influencia diretamente a convergência e o desempenho final.</a:t>
            </a:r>
          </a:p>
        </p:txBody>
      </p:sp>
    </p:spTree>
    <p:extLst>
      <p:ext uri="{BB962C8B-B14F-4D97-AF65-F5344CB8AC3E}">
        <p14:creationId xmlns:p14="http://schemas.microsoft.com/office/powerpoint/2010/main" val="292748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6577-A028-D559-C165-21F2F5F84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31C57C0-1212-B3A9-8559-76BAE3C213A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Função de Perda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64D90B-4551-14C2-4D13-1CD2C12FE4B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função de perda mede a diferença entre a saída prevista pelo modelo e a resposta correta.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função de entropia cruzada (</a:t>
            </a:r>
            <a:r>
              <a:rPr lang="pt-BR" sz="2800" i="1" dirty="0" err="1"/>
              <a:t>cross-entropy</a:t>
            </a:r>
            <a:r>
              <a:rPr lang="pt-BR" sz="2800" dirty="0"/>
              <a:t>) é amplamente usada em tarefas de linguagem por lidar bem com classificações múltiplas.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Minimizar a perda durante o treinamento é essencial para melhorar a precisão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da função de perda depende da tarefa, como classificação, geração ou tradução.</a:t>
            </a:r>
          </a:p>
        </p:txBody>
      </p:sp>
    </p:spTree>
    <p:extLst>
      <p:ext uri="{BB962C8B-B14F-4D97-AF65-F5344CB8AC3E}">
        <p14:creationId xmlns:p14="http://schemas.microsoft.com/office/powerpoint/2010/main" val="426410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97B47-BC7F-1382-5172-8D7F7A03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B7A48AC-9328-DDE0-8B5E-74B3698F369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Otimizadores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A99706-026C-6B50-06A3-963F9809123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Otimizadores ajustam os pesos do modelo para minimizar a função de perda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Adam é amplamente utilizado por combinar momentos adaptativos com eficiência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Variantes como </a:t>
            </a:r>
            <a:r>
              <a:rPr lang="pt-BR" sz="2800" dirty="0" err="1"/>
              <a:t>AdamW</a:t>
            </a:r>
            <a:r>
              <a:rPr lang="pt-BR" sz="2800" dirty="0"/>
              <a:t> e </a:t>
            </a:r>
            <a:r>
              <a:rPr lang="pt-BR" sz="2800" dirty="0" err="1"/>
              <a:t>AdaFactor</a:t>
            </a:r>
            <a:r>
              <a:rPr lang="pt-BR" sz="2800" dirty="0"/>
              <a:t> oferecem melhorias em regularização e uso de memória.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do otimizador afeta diretamente a velocidade de convergência e o desempenho final.</a:t>
            </a:r>
          </a:p>
        </p:txBody>
      </p:sp>
    </p:spTree>
    <p:extLst>
      <p:ext uri="{BB962C8B-B14F-4D97-AF65-F5344CB8AC3E}">
        <p14:creationId xmlns:p14="http://schemas.microsoft.com/office/powerpoint/2010/main" val="187090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19637-ACD7-8C6E-5317-75D3221EE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0F5DCC-CDB1-A97F-B0B6-21ED431BD36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Taxa de Aprendizado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0D8BCF-210D-5BA8-6BB7-B7FF68360DA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redução da taxa de aprendizado ajusta dinamicamente a velocidade de atualização dos pesos.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</a:t>
            </a:r>
            <a:r>
              <a:rPr lang="pt-BR" sz="2800" i="1" dirty="0" err="1"/>
              <a:t>warm-up</a:t>
            </a:r>
            <a:r>
              <a:rPr lang="pt-BR" sz="2800" dirty="0"/>
              <a:t> ajudam a estabilizar o início do treinamento com taxas mais suaves.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decaimento progressivo reduz a taxa ao longo do tempo, favorecendo a convergência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bem planejadas aceleram o aprendizado e evitam oscilações indesejadas na otimização.</a:t>
            </a:r>
          </a:p>
        </p:txBody>
      </p:sp>
    </p:spTree>
    <p:extLst>
      <p:ext uri="{BB962C8B-B14F-4D97-AF65-F5344CB8AC3E}">
        <p14:creationId xmlns:p14="http://schemas.microsoft.com/office/powerpoint/2010/main" val="25295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617AF-CEFE-B1A0-E0F7-CAEEC6769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297925-123E-73BC-1501-8CE06248CF2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Regularização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1514C7-7EBF-3E73-85A9-59DBE7917E0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regularização ajuda a evitar o </a:t>
            </a:r>
            <a:r>
              <a:rPr lang="pt-BR" sz="2800" dirty="0" err="1"/>
              <a:t>overfitting</a:t>
            </a:r>
            <a:r>
              <a:rPr lang="pt-BR" sz="2800" dirty="0"/>
              <a:t>, permitindo que o modelo generalize melhor para novos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i="1" dirty="0" err="1"/>
              <a:t>dropout</a:t>
            </a:r>
            <a:r>
              <a:rPr lang="pt-BR" sz="2800" dirty="0"/>
              <a:t> desativa aleatoriamente neurônios durante o treinamento, promovendo robustez na aprendizagem.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normalização estabiliza os valores das ativações, acelerando o treinamento e melhorando a performance.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Combinar diferentes técnicas de regularização pode aumentar a eficácia e reduzir a complexidade do modelo.</a:t>
            </a:r>
          </a:p>
        </p:txBody>
      </p:sp>
    </p:spTree>
    <p:extLst>
      <p:ext uri="{BB962C8B-B14F-4D97-AF65-F5344CB8AC3E}">
        <p14:creationId xmlns:p14="http://schemas.microsoft.com/office/powerpoint/2010/main" val="3449668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B71BC-1B32-25F7-4B37-14256EA8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AAB88B6-4DE6-9158-F2B1-BEC99AA34D7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Batching</a:t>
            </a:r>
            <a:r>
              <a:rPr lang="pt-BR" sz="4500" b="1" dirty="0">
                <a:solidFill>
                  <a:schemeClr val="bg1"/>
                </a:solidFill>
              </a:rPr>
              <a:t> e </a:t>
            </a:r>
            <a:r>
              <a:rPr lang="pt-BR" sz="4500" b="1" dirty="0" err="1">
                <a:solidFill>
                  <a:schemeClr val="bg1"/>
                </a:solidFill>
              </a:rPr>
              <a:t>Padding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8E1DFB-B042-4243-4622-AC425DA18C1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</a:t>
            </a:r>
            <a:r>
              <a:rPr lang="pt-BR" sz="2800" i="1" dirty="0" err="1"/>
              <a:t>batching</a:t>
            </a:r>
            <a:r>
              <a:rPr lang="pt-BR" sz="2800" dirty="0"/>
              <a:t> agrupa várias sequências para processamento simultâneo, aumentando a eficiência do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Como as sequências têm tamanhos variados, o </a:t>
            </a:r>
            <a:r>
              <a:rPr lang="pt-BR" sz="2800" i="1" dirty="0" err="1"/>
              <a:t>padding</a:t>
            </a:r>
            <a:r>
              <a:rPr lang="pt-BR" sz="2800" dirty="0"/>
              <a:t> é usado para padronizar o comprimento.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Tokens especiais são adicionados para preencher espaços, sem interferir no aprendizado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combinação permite o uso otimizado de recursos computacionais e acelera o treinamento.</a:t>
            </a:r>
          </a:p>
        </p:txBody>
      </p:sp>
    </p:spTree>
    <p:extLst>
      <p:ext uri="{BB962C8B-B14F-4D97-AF65-F5344CB8AC3E}">
        <p14:creationId xmlns:p14="http://schemas.microsoft.com/office/powerpoint/2010/main" val="3506685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586C0-C1EA-FC4D-1502-85E07E4F9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0EE151C-DC00-56A6-6FE4-584D493459E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Distribuído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05BC2E-50A2-CAFE-CCF2-C330F16BCB3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distribuído utiliza várias GPUs ou </a:t>
            </a:r>
            <a:r>
              <a:rPr lang="pt-BR" sz="2800" dirty="0" err="1"/>
              <a:t>TPUs</a:t>
            </a:r>
            <a:r>
              <a:rPr lang="pt-BR" sz="2800" dirty="0"/>
              <a:t> para processar grandes volumes de dados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reduz o tempo de treinamento e permite lidar com modelos de alta complexidade.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paralelismo de dados e de modelo são aplicadas para dividir o trabalho entre dispositivos.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sincronização eficiente entre unidades é essencial para garantir consistência e desempenho.</a:t>
            </a:r>
          </a:p>
        </p:txBody>
      </p:sp>
    </p:spTree>
    <p:extLst>
      <p:ext uri="{BB962C8B-B14F-4D97-AF65-F5344CB8AC3E}">
        <p14:creationId xmlns:p14="http://schemas.microsoft.com/office/powerpoint/2010/main" val="2047638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3AAD6-7641-79EF-53E9-55A8F0A1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DD5F9B-8B90-0477-C697-771B386B75A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Ponto de Verificação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706D65-49B5-D6D1-174E-A686DD4C4DF0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Um ponto de verificação (</a:t>
            </a:r>
            <a:r>
              <a:rPr lang="pt-BR" sz="2800" i="1" dirty="0" err="1"/>
              <a:t>check-pointing</a:t>
            </a:r>
            <a:r>
              <a:rPr lang="pt-BR" sz="2800" dirty="0"/>
              <a:t>) é uma técnica em que se salva estados intermediários do modelo, permitindo retomar o treinamento em caso de interrupções.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prática evita perda de progresso e facilita ajustes finos sem reiniciar o processo.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arquivos gerados armazenam pesos, configurações e métricas relevantes do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essencial para treinar modelos grandes, garantindo segurança e continuidade em ambientes distribuídos.</a:t>
            </a:r>
          </a:p>
        </p:txBody>
      </p:sp>
    </p:spTree>
    <p:extLst>
      <p:ext uri="{BB962C8B-B14F-4D97-AF65-F5344CB8AC3E}">
        <p14:creationId xmlns:p14="http://schemas.microsoft.com/office/powerpoint/2010/main" val="2270340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177A7-205C-0638-7466-9F70C179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61FDAC2-A2B1-BAA8-1DA5-362B606DBAB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Avaliação Durante o 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65B39B-5469-5C5E-478C-175D484CAC6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contínua monitora o desempenho do modelo enquanto ele aprende, guiando ajustes necessários.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Métricas como perplexidade indicam a capacidade do modelo de prever sequências com coerência.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acurácia mede o percentual de previsões corretas, sendo útil em tarefas de classificação.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análise dessas métricas ajuda a identificar </a:t>
            </a:r>
            <a:r>
              <a:rPr lang="pt-BR" sz="2800" dirty="0" err="1"/>
              <a:t>overfitting</a:t>
            </a:r>
            <a:r>
              <a:rPr lang="pt-BR" sz="2800" dirty="0"/>
              <a:t> e orientar melhorias no treinamento.</a:t>
            </a:r>
          </a:p>
        </p:txBody>
      </p:sp>
    </p:spTree>
    <p:extLst>
      <p:ext uri="{BB962C8B-B14F-4D97-AF65-F5344CB8AC3E}">
        <p14:creationId xmlns:p14="http://schemas.microsoft.com/office/powerpoint/2010/main" val="603945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B0E4-A11B-AC23-8F1A-FD2364A3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E55865-2BA4-BFB8-865B-7ABD093FEB1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Fine-</a:t>
            </a:r>
            <a:r>
              <a:rPr lang="pt-BR" sz="4500" b="1" dirty="0" err="1">
                <a:solidFill>
                  <a:schemeClr val="bg1"/>
                </a:solidFill>
              </a:rPr>
              <a:t>tuning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D94B58-4E23-1923-E9F7-5F87BB43757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fine-</a:t>
            </a:r>
            <a:r>
              <a:rPr lang="pt-BR" sz="2800" dirty="0" err="1"/>
              <a:t>tuning</a:t>
            </a:r>
            <a:r>
              <a:rPr lang="pt-BR" sz="2800" dirty="0"/>
              <a:t> ajusta modelos </a:t>
            </a:r>
            <a:r>
              <a:rPr lang="pt-BR" sz="2800" dirty="0" err="1"/>
              <a:t>pré</a:t>
            </a:r>
            <a:r>
              <a:rPr lang="pt-BR" sz="2800" dirty="0"/>
              <a:t>-treinados para tarefas específicas, aproveitando conhecimento já aprendido.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reduz o tempo de treinamento e melhora o desempenho em contextos personalizados.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Pequenas atualizações nos pesos permitem adaptação sem perder a generalização do modelo base.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amplamente usado em aplicações como classificação de texto, tradução e análise de sentimentos.</a:t>
            </a:r>
          </a:p>
        </p:txBody>
      </p:sp>
    </p:spTree>
    <p:extLst>
      <p:ext uri="{BB962C8B-B14F-4D97-AF65-F5344CB8AC3E}">
        <p14:creationId xmlns:p14="http://schemas.microsoft.com/office/powerpoint/2010/main" val="2275492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D492C-DDBF-5AE0-917C-89C453F53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E6CA58-B8E1-DEAF-2394-57E6C214049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Parada Antecipada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41F06A-236C-BDD0-D37E-D4E1A8BA5CA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parada antecipara (</a:t>
            </a:r>
            <a:r>
              <a:rPr lang="pt-BR" sz="2800" i="1" dirty="0" err="1"/>
              <a:t>early</a:t>
            </a:r>
            <a:r>
              <a:rPr lang="pt-BR" sz="2800" i="1" dirty="0"/>
              <a:t> </a:t>
            </a:r>
            <a:r>
              <a:rPr lang="pt-BR" sz="2800" i="1" dirty="0" err="1"/>
              <a:t>stopping</a:t>
            </a:r>
            <a:r>
              <a:rPr lang="pt-BR" sz="2800" dirty="0"/>
              <a:t>) interrompe o treinamento quando o desempenho de validação deixa de melhorar.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evita o </a:t>
            </a:r>
            <a:r>
              <a:rPr lang="pt-BR" sz="2800" dirty="0" err="1"/>
              <a:t>overfitting</a:t>
            </a:r>
            <a:r>
              <a:rPr lang="pt-BR" sz="2800" dirty="0"/>
              <a:t>, preservando a capacidade de generalização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Monitorar métricas como perda ou acurácia ajuda a definir o momento ideal para parar.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estratégia eficiente para economizar recursos e garantir modelos mais robustos.</a:t>
            </a:r>
          </a:p>
        </p:txBody>
      </p:sp>
    </p:spTree>
    <p:extLst>
      <p:ext uri="{BB962C8B-B14F-4D97-AF65-F5344CB8AC3E}">
        <p14:creationId xmlns:p14="http://schemas.microsoft.com/office/powerpoint/2010/main" val="63369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06D51-00DC-9225-C77C-641D13167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02E233-DDA8-78A8-B2E9-4B624C022AF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Gerenciamento de Recursos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FA759E1-A121-31D6-E60F-ECA9C0100F4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gerenciamento de recursos busca otimizar o uso de memória e processamento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quantização e uso de lotes menores ajudam a reduzir o consumo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Estratégias de alocação dinâmica evitam sobrecarga e melhoram a estabilidade do processo.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Um bom controle de recursos permite treinar modelos maiores mesmo em ambientes limitados.</a:t>
            </a:r>
          </a:p>
        </p:txBody>
      </p:sp>
    </p:spTree>
    <p:extLst>
      <p:ext uri="{BB962C8B-B14F-4D97-AF65-F5344CB8AC3E}">
        <p14:creationId xmlns:p14="http://schemas.microsoft.com/office/powerpoint/2010/main" val="1900970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C4D19-0325-6053-A91A-D2C3D2AB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015FC5C-76FE-2D76-2CC6-EBFF8C96DC7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8DB200-DA73-F6F7-5719-BB06FBDC567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de Transformers exige atenção ao pré-processamento, codificação posicional e escolha do otimizador.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redução da taxa de aprendizado, regularização e parada antecipada ajudam a evitar </a:t>
            </a:r>
            <a:r>
              <a:rPr lang="pt-BR" sz="2800" dirty="0" err="1"/>
              <a:t>overfitting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plataformas eficientes e treinamento distribuído acelera o processo e amplia a escalabilidade.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Avaliar continuamente o modelo e aplicar fine-</a:t>
            </a:r>
            <a:r>
              <a:rPr lang="pt-BR" sz="2800" dirty="0" err="1"/>
              <a:t>tuning</a:t>
            </a:r>
            <a:r>
              <a:rPr lang="pt-BR" sz="2800" dirty="0"/>
              <a:t> são práticas essenciais para obter bons resultados.</a:t>
            </a:r>
          </a:p>
        </p:txBody>
      </p:sp>
    </p:spTree>
    <p:extLst>
      <p:ext uri="{BB962C8B-B14F-4D97-AF65-F5344CB8AC3E}">
        <p14:creationId xmlns:p14="http://schemas.microsoft.com/office/powerpoint/2010/main" val="1145536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11350</TotalTime>
  <Words>1188</Words>
  <Application>Microsoft Office PowerPoint</Application>
  <PresentationFormat>Widescreen</PresentationFormat>
  <Paragraphs>92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20</vt:i4>
      </vt:variant>
    </vt:vector>
  </HeadingPairs>
  <TitlesOfParts>
    <vt:vector size="31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102</cp:revision>
  <dcterms:created xsi:type="dcterms:W3CDTF">2020-01-14T17:16:45Z</dcterms:created>
  <dcterms:modified xsi:type="dcterms:W3CDTF">2025-11-28T19:18:21Z</dcterms:modified>
</cp:coreProperties>
</file>