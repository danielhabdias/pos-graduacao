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88" r:id="rId6"/>
    <p:sldMasterId id="2147483698" r:id="rId7"/>
    <p:sldMasterId id="2147483690" r:id="rId8"/>
  </p:sldMasterIdLst>
  <p:notesMasterIdLst>
    <p:notesMasterId r:id="rId28"/>
  </p:notesMasterIdLst>
  <p:handoutMasterIdLst>
    <p:handoutMasterId r:id="rId29"/>
  </p:handoutMasterIdLst>
  <p:sldIdLst>
    <p:sldId id="266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59" r:id="rId25"/>
    <p:sldId id="283" r:id="rId26"/>
    <p:sldId id="26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0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Comparação: RNN x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Transformer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processam sequências passo a passo, mantendo estados ocultos que evoluem com 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eficazes em tarefas como previsão de séries temporais e reconhecimento de fala.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usam atenção para tratar todos os elementos da entrada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amplamente aplicados em tradução automática, sumarização e geração de texto.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6A845-C714-0E08-1571-90788942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711D4AD-7EEF-1D93-1945-C5AEC0FD737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de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E21F17-48AB-0F95-2F0B-89E3EBAF878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processam dados sequenciais mantendo um estado interno que evolui com 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Utilizam conexões recorrentes para capturar dependências temporais entre os elementos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eficazes em tarefas como previsão de séries temporais, reconhecimento de fala e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Enfrentam desafios como gradientes instáveis em sequências longas, exigindo arquiteturas aprimoradas.</a:t>
            </a:r>
          </a:p>
        </p:txBody>
      </p:sp>
    </p:spTree>
    <p:extLst>
      <p:ext uri="{BB962C8B-B14F-4D97-AF65-F5344CB8AC3E}">
        <p14:creationId xmlns:p14="http://schemas.microsoft.com/office/powerpoint/2010/main" val="94480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CF17-836B-4B00-6DED-11A90A67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E504022-EB4D-697D-1FCB-0DC1B3D3D7E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de </a:t>
            </a:r>
            <a:r>
              <a:rPr lang="pt-BR" sz="4500" b="1" dirty="0" err="1">
                <a:solidFill>
                  <a:schemeClr val="bg1"/>
                </a:solidFill>
              </a:rPr>
              <a:t>Transformer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8DB290-A94D-AD5F-8604-5DCA0D37EC7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processam sequências inteiras simultaneamente usando mecanismos de atenção.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Utilizam codificações posicionais para representar a ordem dos elementos na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altamente paralelizáveis, o que permite treinar modelos maiores com mais eficiência.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incluem tradução automática, geração de texto e sistemas de perguntas e respostas.</a:t>
            </a:r>
          </a:p>
        </p:txBody>
      </p:sp>
    </p:spTree>
    <p:extLst>
      <p:ext uri="{BB962C8B-B14F-4D97-AF65-F5344CB8AC3E}">
        <p14:creationId xmlns:p14="http://schemas.microsoft.com/office/powerpoint/2010/main" val="3155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22E08-5294-5D83-A928-8BA5E03E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18C386-FE42-F283-ACC0-9E01A782E78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Processamento Sequencial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463212-30EB-3E20-149D-AB2103D836D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processam entradas uma de cada vez, mantendo dependência entre os passos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saída depende do estado anterior, o que limita a execução paralela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é adequada para dados temporais, mas pode ser lenta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atualização sequencial dos estados dificulta o uso eficiente de recursos computacionais.</a:t>
            </a:r>
          </a:p>
        </p:txBody>
      </p:sp>
    </p:spTree>
    <p:extLst>
      <p:ext uri="{BB962C8B-B14F-4D97-AF65-F5344CB8AC3E}">
        <p14:creationId xmlns:p14="http://schemas.microsoft.com/office/powerpoint/2010/main" val="378277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D0C9-5207-FEDF-DFFF-AB93249C0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AC6E644-5B18-9693-20E0-C948DA22FB7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Processamento Paralelo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9B70C7-B960-6FA5-5DC8-DEB9CB760AE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processam todos os elementos da sequência simultaneamente, sem depender da ordem.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atenção permite que o modelo analise relações entre tokens em paralelo.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reduz o tempo de treinamento e melhora a escalabilidade dos modelos.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paralelização facilita o uso de hardware moderno, como GPUs e </a:t>
            </a:r>
            <a:r>
              <a:rPr lang="pt-BR" sz="2800" dirty="0" err="1"/>
              <a:t>TPUs</a:t>
            </a:r>
            <a:r>
              <a:rPr lang="pt-BR" sz="2800" dirty="0"/>
              <a:t>, com maior eficiência.</a:t>
            </a:r>
          </a:p>
        </p:txBody>
      </p:sp>
    </p:spTree>
    <p:extLst>
      <p:ext uri="{BB962C8B-B14F-4D97-AF65-F5344CB8AC3E}">
        <p14:creationId xmlns:p14="http://schemas.microsoft.com/office/powerpoint/2010/main" val="306450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5C853-4ED7-C2DE-AF80-E55A3CAC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F7C16A-E39C-975E-71EC-57A0B46709B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Memória de Longo Prazo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C51BBE-CE31-FC9A-0B3F-AC33E7B6BF3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LSTM e GRU são arquiteturas que estendem as </a:t>
            </a:r>
            <a:r>
              <a:rPr lang="pt-BR" sz="2800" dirty="0" err="1"/>
              <a:t>RNNs</a:t>
            </a:r>
            <a:r>
              <a:rPr lang="pt-BR" sz="2800" dirty="0"/>
              <a:t> para lidar com sequências mais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Utilizam mecanismos internos que controlam o fluxo de informação entre os estados.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portas de entrada, esquecimento e saída ajudam a preservar dados relevantes por mais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variantes são eficazes em tarefas que exigem retenção de contexto ao longo da sequência.</a:t>
            </a:r>
          </a:p>
        </p:txBody>
      </p:sp>
    </p:spTree>
    <p:extLst>
      <p:ext uri="{BB962C8B-B14F-4D97-AF65-F5344CB8AC3E}">
        <p14:creationId xmlns:p14="http://schemas.microsoft.com/office/powerpoint/2010/main" val="389104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EB18A-3A5E-1673-673F-9E241709F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50BD2E-B79C-0FA6-4217-69EDCF3F6CE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como Mecanismo de Memória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2A8226-6B62-408B-B348-9095007EDDF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utilizam atenção para identificar relações entre tokens, mesmo distantes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permite capturar dependências de longo alcance sem a necessidade de estados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pondera a relevância de cada elemento da entrada para gerar representações contextuais.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retenção de informações importantes ao longo da sequência.</a:t>
            </a:r>
          </a:p>
        </p:txBody>
      </p:sp>
    </p:spTree>
    <p:extLst>
      <p:ext uri="{BB962C8B-B14F-4D97-AF65-F5344CB8AC3E}">
        <p14:creationId xmlns:p14="http://schemas.microsoft.com/office/powerpoint/2010/main" val="356522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1A78A-4C47-8BDE-B9E7-A9FD7337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CC4DE48-B63E-D90D-42B1-ABBAFAE4408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Escalabilidade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63CA9B-8443-D168-EA73-9698692467D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lidam com grandes volumes de dados de forma eficiente graças ao processamento paralelo.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arquitetura permite treinar modelos com bilhões de parâmetros sem perda significativa de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escalabilidade facilita aplicações em larga escala, como tradução automática e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compatíveis com hardware moderno, aproveitando melhor GPUs e </a:t>
            </a:r>
            <a:r>
              <a:rPr lang="pt-BR" sz="2800" dirty="0" err="1"/>
              <a:t>TPUs</a:t>
            </a:r>
            <a:r>
              <a:rPr lang="pt-BR" sz="2800" dirty="0"/>
              <a:t> em ambientes distribuídos.</a:t>
            </a:r>
          </a:p>
        </p:txBody>
      </p:sp>
    </p:spTree>
    <p:extLst>
      <p:ext uri="{BB962C8B-B14F-4D97-AF65-F5344CB8AC3E}">
        <p14:creationId xmlns:p14="http://schemas.microsoft.com/office/powerpoint/2010/main" val="53289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5465-8483-6C72-8E12-E89BBEDA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897563B-CC1D-8620-0ECE-06A9964A835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Complexidade Computacional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A6ECC2-3127-A112-CF9D-1CDD62E05D4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possuem menor custo computacional por etapa, processando dados de forma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dependência entre passos limita a paralelização, tornando o treinamento mais demorado.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tempo total de execução cresce com o tamanho da sequência, afetando a escalabilidade.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Variantes como LSTM e GRU mantêm essa limitação, apesar de melhorarem o desempenho.</a:t>
            </a:r>
          </a:p>
        </p:txBody>
      </p:sp>
    </p:spTree>
    <p:extLst>
      <p:ext uri="{BB962C8B-B14F-4D97-AF65-F5344CB8AC3E}">
        <p14:creationId xmlns:p14="http://schemas.microsoft.com/office/powerpoint/2010/main" val="1621115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4D12-E642-DB0B-55E0-6FE7A981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416E85-4D9C-18FF-8917-200361687A4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B6C586-CAA4-7D37-9F1E-9170F885CC4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aproveitam o processamento paralelo para acelerar o treinamento em grandes conjuntos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ausência de dependência sequencial permite otimizar o uso de recursos computacionais modernos.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baseados em atenção escalam bem com o aumento de dados e parâmetros.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eficiência torna os Transformers ideais para aplicações em larga escala e tempo reduzido.</a:t>
            </a:r>
          </a:p>
        </p:txBody>
      </p:sp>
    </p:spTree>
    <p:extLst>
      <p:ext uri="{BB962C8B-B14F-4D97-AF65-F5344CB8AC3E}">
        <p14:creationId xmlns:p14="http://schemas.microsoft.com/office/powerpoint/2010/main" val="261375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6F711-4623-44D9-218C-A4E76F84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CCD720-04D7-3324-EDB6-4EE6CBA3D0A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de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2D82E2-079E-20A9-028E-8094CE36B01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são amplamente utilizadas na modelagem de séries temporais, como previsão de demanda e clima.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Aplicam-se ao reconhecimento de fala, convertendo sinais de áudio em texto compreensível.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eficazes em tarefas de processamento de linguagem natural, como análise de sentimentos.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são usadas na geração de texto, mantendo coerência ao longo da sequência produzida.</a:t>
            </a:r>
          </a:p>
        </p:txBody>
      </p:sp>
    </p:spTree>
    <p:extLst>
      <p:ext uri="{BB962C8B-B14F-4D97-AF65-F5344CB8AC3E}">
        <p14:creationId xmlns:p14="http://schemas.microsoft.com/office/powerpoint/2010/main" val="2854663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EF5F-D85B-0E8F-5BD3-B093CEA6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A6C4BAB-8BDB-15E8-D1FF-CB059DB43ED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de </a:t>
            </a:r>
            <a:r>
              <a:rPr lang="pt-BR" sz="4500" b="1" dirty="0" err="1">
                <a:solidFill>
                  <a:schemeClr val="bg1"/>
                </a:solidFill>
              </a:rPr>
              <a:t>Transformer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B5E21F-4046-C77B-6283-8720837420F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são amplamente usados em tradução automática, oferecendo resultados precisos e fluentes.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eficazes na geração de texto, criando conteúdos coerentes e contextualizados.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Aplicam-se à sumarização de documentos, extraindo informações relevantes de forma concisa.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são usados em sistemas de perguntas e respostas e análise de sentimentos em larga escala.</a:t>
            </a:r>
          </a:p>
        </p:txBody>
      </p:sp>
    </p:spTree>
    <p:extLst>
      <p:ext uri="{BB962C8B-B14F-4D97-AF65-F5344CB8AC3E}">
        <p14:creationId xmlns:p14="http://schemas.microsoft.com/office/powerpoint/2010/main" val="37442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94F67-0B0D-9473-6DF3-51281D5B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A02F9A8-EFCA-55DC-33C0-E8E2097EE6F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Desempenho em PLN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447F06-B7B2-852A-6D16-3FD698BA2D5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alcançam resultados superiores em tarefas de linguagem natural como tradução e sumarização.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permite capturar contextos amplos com maior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linguagem como BERT e GPT demonstram alto desempenho em benchmarks de compreensão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paralela dos Transformers contribui para maior eficiência e qualidade nas respostas.</a:t>
            </a:r>
          </a:p>
        </p:txBody>
      </p:sp>
    </p:spTree>
    <p:extLst>
      <p:ext uri="{BB962C8B-B14F-4D97-AF65-F5344CB8AC3E}">
        <p14:creationId xmlns:p14="http://schemas.microsoft.com/office/powerpoint/2010/main" val="1471145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CA2C-F74F-AB84-FB53-5F037BC05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D8FF78-6546-1504-831A-9C1116FF583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de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BA3EB3-654F-1CB7-AD31-42D1DD3B1B8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enfrentam o problema de gradientes que desaparecem ou explodem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capturar dependências distantes é limitada, afetando o desempenho em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processamento sequencial torna o treinamento mais lento e menos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limitações motivaram o desenvolvimento de arquiteturas como LSTM, GRU e Transformers.</a:t>
            </a:r>
          </a:p>
        </p:txBody>
      </p:sp>
    </p:spTree>
    <p:extLst>
      <p:ext uri="{BB962C8B-B14F-4D97-AF65-F5344CB8AC3E}">
        <p14:creationId xmlns:p14="http://schemas.microsoft.com/office/powerpoint/2010/main" val="94128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86E8-E32E-24E5-94DD-98D04FF6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F4D0F4-76E1-0FE4-354F-D3CB863D2E5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de </a:t>
            </a:r>
            <a:r>
              <a:rPr lang="pt-BR" sz="4500" b="1" dirty="0" err="1">
                <a:solidFill>
                  <a:schemeClr val="bg1"/>
                </a:solidFill>
              </a:rPr>
              <a:t>Transformer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8488D7-E50F-1937-E940-E361FFFD8AE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capturam o contexto global da sequência por meio de mecanismos de atenção.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mais robustos em tarefas complexas, mantendo desempenho mesmo com dados extensos.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paralelização permite treinar modelos maiores com maior eficiência e velocidade.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Adaptam-se bem a diferentes tarefas de linguagem natural, como tradução e geração de texto.</a:t>
            </a:r>
          </a:p>
        </p:txBody>
      </p:sp>
    </p:spTree>
    <p:extLst>
      <p:ext uri="{BB962C8B-B14F-4D97-AF65-F5344CB8AC3E}">
        <p14:creationId xmlns:p14="http://schemas.microsoft.com/office/powerpoint/2010/main" val="2806263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336181"/>
              </p:ext>
            </p:extLst>
          </p:nvPr>
        </p:nvGraphicFramePr>
        <p:xfrm>
          <a:off x="1451462" y="1304413"/>
          <a:ext cx="9266664" cy="432031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661532">
                  <a:extLst>
                    <a:ext uri="{9D8B030D-6E8A-4147-A177-3AD203B41FA5}">
                      <a16:colId xmlns:a16="http://schemas.microsoft.com/office/drawing/2014/main" val="3059415648"/>
                    </a:ext>
                  </a:extLst>
                </a:gridCol>
                <a:gridCol w="3802566">
                  <a:extLst>
                    <a:ext uri="{9D8B030D-6E8A-4147-A177-3AD203B41FA5}">
                      <a16:colId xmlns:a16="http://schemas.microsoft.com/office/drawing/2014/main" val="3849346587"/>
                    </a:ext>
                  </a:extLst>
                </a:gridCol>
                <a:gridCol w="3802566">
                  <a:extLst>
                    <a:ext uri="{9D8B030D-6E8A-4147-A177-3AD203B41FA5}">
                      <a16:colId xmlns:a16="http://schemas.microsoft.com/office/drawing/2014/main" val="2901214388"/>
                    </a:ext>
                  </a:extLst>
                </a:gridCol>
              </a:tblGrid>
              <a:tr h="6627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Aspecto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RNN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Transformer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extLst>
                  <a:ext uri="{0D108BD9-81ED-4DB2-BD59-A6C34878D82A}">
                    <a16:rowId xmlns:a16="http://schemas.microsoft.com/office/drawing/2014/main" val="32426272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Arquitetura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Processamento sequencial com estados recorrentes.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Processamento paralelo com mecanismos de atenção.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2481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Desempenho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Menor escalabilidade e dificuldade com sequências longas.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Alto desempenho em tarefas complexas e melhor retenção de contexto.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2249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Aplicações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Séries temporais, reconhecimento de fala, geração de texto simples.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Tradução automática, sumarização, geração de texto e compreensão de linguagem.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73441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Eficiência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Menor custo por etapa, mas treinamento mais lento.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Treinamento acelerado e melhor aproveitamento de recursos computacionais.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784606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45459" y="436914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rgbClr val="01BDC4"/>
                </a:solidFill>
              </a:rPr>
              <a:t>QUADRO COMPARATIVO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56665" y="5707395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i="1" dirty="0">
                <a:solidFill>
                  <a:schemeClr val="bg1">
                    <a:lumMod val="50000"/>
                  </a:schemeClr>
                </a:solidFill>
              </a:rPr>
              <a:t>FONTE: Elaborada pelo autor</a:t>
            </a:r>
          </a:p>
        </p:txBody>
      </p:sp>
    </p:spTree>
    <p:extLst>
      <p:ext uri="{BB962C8B-B14F-4D97-AF65-F5344CB8AC3E}">
        <p14:creationId xmlns:p14="http://schemas.microsoft.com/office/powerpoint/2010/main" val="258817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AE42-10DA-1743-D30D-A76D4286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F8D8B2-E803-32B9-4499-97714633CC0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4CCC01-D61D-7C49-2E3F-C611054769D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se tornaram padrão em muitas tarefas de linguagem natural pela eficiência e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disso, </a:t>
            </a:r>
            <a:r>
              <a:rPr lang="pt-BR" sz="2800" dirty="0" err="1"/>
              <a:t>RNNs</a:t>
            </a:r>
            <a:r>
              <a:rPr lang="pt-BR" sz="2800" dirty="0"/>
              <a:t> ainda são úteis em aplicações específicas, como séries temporais e dados contínuos.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entre modelos depende do tipo de tarefa, volume de dados e requisitos </a:t>
            </a:r>
            <a:r>
              <a:rPr lang="pt-BR" sz="2800" err="1"/>
              <a:t>computacionais</a:t>
            </a:r>
            <a:r>
              <a:rPr lang="pt-BR" sz="280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/>
              <a:t>Ambas </a:t>
            </a:r>
            <a:r>
              <a:rPr lang="pt-BR" sz="2800" dirty="0"/>
              <a:t>as abordagens contribuíram significativamente para a evolução da inteligência artificial.</a:t>
            </a:r>
          </a:p>
        </p:txBody>
      </p:sp>
    </p:spTree>
    <p:extLst>
      <p:ext uri="{BB962C8B-B14F-4D97-AF65-F5344CB8AC3E}">
        <p14:creationId xmlns:p14="http://schemas.microsoft.com/office/powerpoint/2010/main" val="2785648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11360</TotalTime>
  <Words>1071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19</vt:i4>
      </vt:variant>
    </vt:vector>
  </HeadingPairs>
  <TitlesOfParts>
    <vt:vector size="31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5 - Slide de Tabela ou imagem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101</cp:revision>
  <dcterms:created xsi:type="dcterms:W3CDTF">2020-01-14T17:16:45Z</dcterms:created>
  <dcterms:modified xsi:type="dcterms:W3CDTF">2025-11-28T19:18:50Z</dcterms:modified>
</cp:coreProperties>
</file>