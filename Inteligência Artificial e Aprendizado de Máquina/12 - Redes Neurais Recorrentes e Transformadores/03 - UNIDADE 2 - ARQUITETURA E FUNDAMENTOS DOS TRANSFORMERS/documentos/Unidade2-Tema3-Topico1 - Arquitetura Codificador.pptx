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Masters/slideMaster8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slideLayouts/slideLayout3.xml" ContentType="application/vnd.openxmlformats-officedocument.presentationml.slideLayout+xml"/>
  <Override PartName="/ppt/theme/theme3.xml" ContentType="application/vnd.openxmlformats-officedocument.theme+xml"/>
  <Override PartName="/ppt/slideLayouts/slideLayout4.xml" ContentType="application/vnd.openxmlformats-officedocument.presentationml.slideLayout+xml"/>
  <Override PartName="/ppt/theme/theme4.xml" ContentType="application/vnd.openxmlformats-officedocument.theme+xml"/>
  <Override PartName="/ppt/slideLayouts/slideLayout5.xml" ContentType="application/vnd.openxmlformats-officedocument.presentationml.slideLayout+xml"/>
  <Override PartName="/ppt/theme/theme5.xml" ContentType="application/vnd.openxmlformats-officedocument.theme+xml"/>
  <Override PartName="/ppt/slideLayouts/slideLayout6.xml" ContentType="application/vnd.openxmlformats-officedocument.presentationml.slideLayout+xml"/>
  <Override PartName="/ppt/theme/theme6.xml" ContentType="application/vnd.openxmlformats-officedocument.theme+xml"/>
  <Override PartName="/ppt/slideLayouts/slideLayout7.xml" ContentType="application/vnd.openxmlformats-officedocument.presentationml.slideLayout+xml"/>
  <Override PartName="/ppt/theme/theme7.xml" ContentType="application/vnd.openxmlformats-officedocument.theme+xml"/>
  <Override PartName="/ppt/slideLayouts/slideLayout8.xml" ContentType="application/vnd.openxmlformats-officedocument.presentationml.slideLayout+xml"/>
  <Override PartName="/ppt/theme/theme8.xml" ContentType="application/vnd.openxmlformats-officedocument.theme+xml"/>
  <Override PartName="/ppt/theme/theme9.xml" ContentType="application/vnd.openxmlformats-officedocument.theme+xml"/>
  <Override PartName="/ppt/theme/theme10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  <p:sldMasterId id="2147483662" r:id="rId2"/>
    <p:sldMasterId id="2147483686" r:id="rId3"/>
    <p:sldMasterId id="2147483702" r:id="rId4"/>
    <p:sldMasterId id="2147483700" r:id="rId5"/>
    <p:sldMasterId id="2147483698" r:id="rId6"/>
    <p:sldMasterId id="2147483690" r:id="rId7"/>
    <p:sldMasterId id="2147483709" r:id="rId8"/>
  </p:sldMasterIdLst>
  <p:notesMasterIdLst>
    <p:notesMasterId r:id="rId37"/>
  </p:notesMasterIdLst>
  <p:handoutMasterIdLst>
    <p:handoutMasterId r:id="rId38"/>
  </p:handoutMasterIdLst>
  <p:sldIdLst>
    <p:sldId id="266" r:id="rId9"/>
    <p:sldId id="260" r:id="rId10"/>
    <p:sldId id="267" r:id="rId11"/>
    <p:sldId id="268" r:id="rId12"/>
    <p:sldId id="269" r:id="rId13"/>
    <p:sldId id="295" r:id="rId14"/>
    <p:sldId id="270" r:id="rId15"/>
    <p:sldId id="296" r:id="rId16"/>
    <p:sldId id="288" r:id="rId17"/>
    <p:sldId id="271" r:id="rId18"/>
    <p:sldId id="297" r:id="rId19"/>
    <p:sldId id="272" r:id="rId20"/>
    <p:sldId id="298" r:id="rId21"/>
    <p:sldId id="273" r:id="rId22"/>
    <p:sldId id="299" r:id="rId23"/>
    <p:sldId id="274" r:id="rId24"/>
    <p:sldId id="300" r:id="rId25"/>
    <p:sldId id="275" r:id="rId26"/>
    <p:sldId id="276" r:id="rId27"/>
    <p:sldId id="301" r:id="rId28"/>
    <p:sldId id="277" r:id="rId29"/>
    <p:sldId id="279" r:id="rId30"/>
    <p:sldId id="280" r:id="rId31"/>
    <p:sldId id="281" r:id="rId32"/>
    <p:sldId id="282" r:id="rId33"/>
    <p:sldId id="284" r:id="rId34"/>
    <p:sldId id="285" r:id="rId35"/>
    <p:sldId id="261" r:id="rId3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1BDC4"/>
    <a:srgbClr val="0CA4AC"/>
    <a:srgbClr val="0FCAD3"/>
    <a:srgbClr val="53EBF3"/>
    <a:srgbClr val="10DCE6"/>
    <a:srgbClr val="19E5EF"/>
    <a:srgbClr val="7FC25E"/>
    <a:srgbClr val="99CE7E"/>
    <a:srgbClr val="4A6B9E"/>
    <a:srgbClr val="E1B0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98" autoAdjust="0"/>
    <p:restoredTop sz="96433" autoAdjust="0"/>
  </p:normalViewPr>
  <p:slideViewPr>
    <p:cSldViewPr snapToGrid="0">
      <p:cViewPr varScale="1">
        <p:scale>
          <a:sx n="57" d="100"/>
          <a:sy n="57" d="100"/>
        </p:scale>
        <p:origin x="980" y="268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0"/>
    </p:cViewPr>
  </p:sorterViewPr>
  <p:notesViewPr>
    <p:cSldViewPr snapToGrid="0">
      <p:cViewPr varScale="1">
        <p:scale>
          <a:sx n="84" d="100"/>
          <a:sy n="84" d="100"/>
        </p:scale>
        <p:origin x="3828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Master" Target="slideMasters/slideMaster8.xml"/><Relationship Id="rId13" Type="http://schemas.openxmlformats.org/officeDocument/2006/relationships/slide" Target="slides/slide5.xml"/><Relationship Id="rId18" Type="http://schemas.openxmlformats.org/officeDocument/2006/relationships/slide" Target="slides/slide10.xml"/><Relationship Id="rId26" Type="http://schemas.openxmlformats.org/officeDocument/2006/relationships/slide" Target="slides/slide18.xml"/><Relationship Id="rId39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3.xml"/><Relationship Id="rId34" Type="http://schemas.openxmlformats.org/officeDocument/2006/relationships/slide" Target="slides/slide26.xml"/><Relationship Id="rId42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slide" Target="slides/slide4.xml"/><Relationship Id="rId17" Type="http://schemas.openxmlformats.org/officeDocument/2006/relationships/slide" Target="slides/slide9.xml"/><Relationship Id="rId25" Type="http://schemas.openxmlformats.org/officeDocument/2006/relationships/slide" Target="slides/slide17.xml"/><Relationship Id="rId33" Type="http://schemas.openxmlformats.org/officeDocument/2006/relationships/slide" Target="slides/slide25.xml"/><Relationship Id="rId38" Type="http://schemas.openxmlformats.org/officeDocument/2006/relationships/handoutMaster" Target="handoutMasters/handout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8.xml"/><Relationship Id="rId20" Type="http://schemas.openxmlformats.org/officeDocument/2006/relationships/slide" Target="slides/slide12.xml"/><Relationship Id="rId29" Type="http://schemas.openxmlformats.org/officeDocument/2006/relationships/slide" Target="slides/slide21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3.xml"/><Relationship Id="rId24" Type="http://schemas.openxmlformats.org/officeDocument/2006/relationships/slide" Target="slides/slide16.xml"/><Relationship Id="rId32" Type="http://schemas.openxmlformats.org/officeDocument/2006/relationships/slide" Target="slides/slide24.xml"/><Relationship Id="rId37" Type="http://schemas.openxmlformats.org/officeDocument/2006/relationships/notesMaster" Target="notesMasters/notesMaster1.xml"/><Relationship Id="rId40" Type="http://schemas.openxmlformats.org/officeDocument/2006/relationships/viewProps" Target="viewProps.xml"/><Relationship Id="rId5" Type="http://schemas.openxmlformats.org/officeDocument/2006/relationships/slideMaster" Target="slideMasters/slideMaster5.xml"/><Relationship Id="rId15" Type="http://schemas.openxmlformats.org/officeDocument/2006/relationships/slide" Target="slides/slide7.xml"/><Relationship Id="rId23" Type="http://schemas.openxmlformats.org/officeDocument/2006/relationships/slide" Target="slides/slide15.xml"/><Relationship Id="rId28" Type="http://schemas.openxmlformats.org/officeDocument/2006/relationships/slide" Target="slides/slide20.xml"/><Relationship Id="rId36" Type="http://schemas.openxmlformats.org/officeDocument/2006/relationships/slide" Target="slides/slide28.xml"/><Relationship Id="rId10" Type="http://schemas.openxmlformats.org/officeDocument/2006/relationships/slide" Target="slides/slide2.xml"/><Relationship Id="rId19" Type="http://schemas.openxmlformats.org/officeDocument/2006/relationships/slide" Target="slides/slide11.xml"/><Relationship Id="rId31" Type="http://schemas.openxmlformats.org/officeDocument/2006/relationships/slide" Target="slides/slide23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1.xml"/><Relationship Id="rId14" Type="http://schemas.openxmlformats.org/officeDocument/2006/relationships/slide" Target="slides/slide6.xml"/><Relationship Id="rId22" Type="http://schemas.openxmlformats.org/officeDocument/2006/relationships/slide" Target="slides/slide14.xml"/><Relationship Id="rId27" Type="http://schemas.openxmlformats.org/officeDocument/2006/relationships/slide" Target="slides/slide19.xml"/><Relationship Id="rId30" Type="http://schemas.openxmlformats.org/officeDocument/2006/relationships/slide" Target="slides/slide22.xml"/><Relationship Id="rId35" Type="http://schemas.openxmlformats.org/officeDocument/2006/relationships/slide" Target="slides/slide2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10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D9E263-9857-493C-87AB-76AEC73ED1B0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63192C6-D1F8-4636-B20F-65E15941E4FC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05766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9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DECFB7B-FB1E-4DCF-B3DD-69231CD5CE5A}" type="datetimeFigureOut">
              <a:rPr lang="pt-BR" smtClean="0"/>
              <a:t>28/11/2025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997A3D-AC07-440E-861A-1A04F9FB11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0352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8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110324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71530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69653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158263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842005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06264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2235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098558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5.xml"/></Relationships>
</file>

<file path=ppt/slideMasters/_rels/slideMaster6.xml.rels><?xml version="1.0" encoding="UTF-8" standalone="yes"?>
<Relationships xmlns="http://schemas.openxmlformats.org/package/2006/relationships"><Relationship Id="rId2" Type="http://schemas.openxmlformats.org/officeDocument/2006/relationships/theme" Target="../theme/theme6.xml"/><Relationship Id="rId1" Type="http://schemas.openxmlformats.org/officeDocument/2006/relationships/slideLayout" Target="../slideLayouts/slideLayout6.xml"/></Relationships>
</file>

<file path=ppt/slideMasters/_rels/slideMaster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Masters/_rels/slideMaster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theme" Target="../theme/theme8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271D839-9F8D-4166-8A58-6B47D7B5547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225"/>
          <a:stretch/>
        </p:blipFill>
        <p:spPr>
          <a:xfrm>
            <a:off x="5879592" y="-1016"/>
            <a:ext cx="6312408" cy="686003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A9858289-CED5-4C74-A56D-1D4E492C6A4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4662" r="84922"/>
          <a:stretch/>
        </p:blipFill>
        <p:spPr>
          <a:xfrm>
            <a:off x="0" y="4425696"/>
            <a:ext cx="1838325" cy="2424175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712D76B-ED24-4422-88C0-6B7B3C166BD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7021" b="14791"/>
          <a:stretch/>
        </p:blipFill>
        <p:spPr>
          <a:xfrm>
            <a:off x="801046" y="713766"/>
            <a:ext cx="1375226" cy="1147427"/>
          </a:xfrm>
          <a:prstGeom prst="rect">
            <a:avLst/>
          </a:prstGeom>
        </p:spPr>
      </p:pic>
      <p:sp>
        <p:nvSpPr>
          <p:cNvPr id="2" name="Retângulo 1">
            <a:extLst>
              <a:ext uri="{FF2B5EF4-FFF2-40B4-BE49-F238E27FC236}">
                <a16:creationId xmlns:a16="http://schemas.microsoft.com/office/drawing/2014/main" id="{D825A9BF-6ACC-43DF-A1B8-755A546813D6}"/>
              </a:ext>
            </a:extLst>
          </p:cNvPr>
          <p:cNvSpPr/>
          <p:nvPr userDrawn="1"/>
        </p:nvSpPr>
        <p:spPr>
          <a:xfrm>
            <a:off x="0" y="2461486"/>
            <a:ext cx="12192000" cy="22383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47970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619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D41864C-5D31-4832-A9DF-D3CE768EAF8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16"/>
            <a:ext cx="12192000" cy="6860031"/>
          </a:xfrm>
          <a:prstGeom prst="rect">
            <a:avLst/>
          </a:prstGeom>
        </p:spPr>
      </p:pic>
      <p:sp>
        <p:nvSpPr>
          <p:cNvPr id="7" name="Retângulo 6">
            <a:extLst>
              <a:ext uri="{FF2B5EF4-FFF2-40B4-BE49-F238E27FC236}">
                <a16:creationId xmlns:a16="http://schemas.microsoft.com/office/drawing/2014/main" id="{C8AB8969-F6C8-4E34-9E94-3475775C31C1}"/>
              </a:ext>
            </a:extLst>
          </p:cNvPr>
          <p:cNvSpPr/>
          <p:nvPr userDrawn="1"/>
        </p:nvSpPr>
        <p:spPr>
          <a:xfrm>
            <a:off x="-42881" y="1491915"/>
            <a:ext cx="12255676" cy="4236024"/>
          </a:xfrm>
          <a:prstGeom prst="rect">
            <a:avLst/>
          </a:prstGeom>
          <a:noFill/>
          <a:ln w="19050">
            <a:solidFill>
              <a:srgbClr val="CE7FC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8C534-7803-414E-8BA1-6969B51E56A5}"/>
              </a:ext>
            </a:extLst>
          </p:cNvPr>
          <p:cNvSpPr/>
          <p:nvPr userDrawn="1"/>
        </p:nvSpPr>
        <p:spPr>
          <a:xfrm>
            <a:off x="-32080" y="1592300"/>
            <a:ext cx="12244875" cy="4035255"/>
          </a:xfrm>
          <a:prstGeom prst="rect">
            <a:avLst/>
          </a:prstGeom>
          <a:solidFill>
            <a:schemeClr val="bg1"/>
          </a:solidFill>
          <a:ln w="571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1F934283-E523-4C9E-8F73-3053A912931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-1979" b="14654"/>
          <a:stretch/>
        </p:blipFill>
        <p:spPr>
          <a:xfrm>
            <a:off x="10170133" y="233313"/>
            <a:ext cx="1076987" cy="944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59805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m 8">
            <a:extLst>
              <a:ext uri="{FF2B5EF4-FFF2-40B4-BE49-F238E27FC236}">
                <a16:creationId xmlns:a16="http://schemas.microsoft.com/office/drawing/2014/main" id="{A00898C9-9980-4E87-97AC-5E83C2D8FB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C01E83D3-74CC-4611-9013-CE8C448ADC9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11" name="Retângulo 10">
            <a:extLst>
              <a:ext uri="{FF2B5EF4-FFF2-40B4-BE49-F238E27FC236}">
                <a16:creationId xmlns:a16="http://schemas.microsoft.com/office/drawing/2014/main" id="{CDF338D4-311E-44C0-92E4-277579AACB1D}"/>
              </a:ext>
            </a:extLst>
          </p:cNvPr>
          <p:cNvSpPr/>
          <p:nvPr userDrawn="1"/>
        </p:nvSpPr>
        <p:spPr>
          <a:xfrm>
            <a:off x="238125" y="1133475"/>
            <a:ext cx="11715750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4605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BF8A4F7-D892-4805-8A29-0CE7B385A0C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4E3AD4BB-7C89-4B5A-AC2F-1BBBBC701D6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5244"/>
          <a:stretch/>
        </p:blipFill>
        <p:spPr>
          <a:xfrm>
            <a:off x="0" y="1"/>
            <a:ext cx="12192001" cy="101489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92645399-226D-4406-85F8-4E893C4404A7}"/>
              </a:ext>
            </a:extLst>
          </p:cNvPr>
          <p:cNvSpPr/>
          <p:nvPr userDrawn="1"/>
        </p:nvSpPr>
        <p:spPr>
          <a:xfrm>
            <a:off x="238125" y="1133475"/>
            <a:ext cx="6825866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9A5AD9EF-CC3F-4371-8566-84417E4CB4FC}"/>
              </a:ext>
            </a:extLst>
          </p:cNvPr>
          <p:cNvSpPr/>
          <p:nvPr userDrawn="1"/>
        </p:nvSpPr>
        <p:spPr>
          <a:xfrm>
            <a:off x="7154426" y="1126817"/>
            <a:ext cx="4799449" cy="4895850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318419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E3EE433A-86F8-4A74-A106-C929C79F1DD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1" r="32048" b="-5289"/>
          <a:stretch/>
        </p:blipFill>
        <p:spPr>
          <a:xfrm>
            <a:off x="10429388" y="6147910"/>
            <a:ext cx="1449185" cy="524799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732D89E6-11FC-4A9B-A724-0DB3487889EC}"/>
              </a:ext>
            </a:extLst>
          </p:cNvPr>
          <p:cNvSpPr/>
          <p:nvPr userDrawn="1"/>
        </p:nvSpPr>
        <p:spPr>
          <a:xfrm>
            <a:off x="228076" y="249219"/>
            <a:ext cx="11729461" cy="5779791"/>
          </a:xfrm>
          <a:prstGeom prst="rect">
            <a:avLst/>
          </a:prstGeom>
          <a:noFill/>
          <a:ln>
            <a:solidFill>
              <a:srgbClr val="01BD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339507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150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9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4A6B9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479D0E5-4192-4B39-8A4A-8E8E696D586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011"/>
            <a:ext cx="12192000" cy="687802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8CA63F4-93AC-4439-A429-F7459663FB5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9300" t="26070" r="39575" b="41409"/>
          <a:stretch/>
        </p:blipFill>
        <p:spPr>
          <a:xfrm>
            <a:off x="4791456" y="1783080"/>
            <a:ext cx="2575502" cy="2236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0217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8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m 3">
            <a:extLst>
              <a:ext uri="{FF2B5EF4-FFF2-40B4-BE49-F238E27FC236}">
                <a16:creationId xmlns:a16="http://schemas.microsoft.com/office/drawing/2014/main" id="{9E99B992-82EF-49B9-958D-103864F509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0218"/>
            <a:ext cx="12192000" cy="6878022"/>
          </a:xfrm>
          <a:prstGeom prst="rect">
            <a:avLst/>
          </a:prstGeom>
        </p:spPr>
      </p:pic>
      <p:sp>
        <p:nvSpPr>
          <p:cNvPr id="6" name="Retângulo 5"/>
          <p:cNvSpPr/>
          <p:nvPr userDrawn="1"/>
        </p:nvSpPr>
        <p:spPr>
          <a:xfrm>
            <a:off x="628769" y="-63188"/>
            <a:ext cx="10911016" cy="6942005"/>
          </a:xfrm>
          <a:prstGeom prst="rect">
            <a:avLst/>
          </a:prstGeom>
          <a:solidFill>
            <a:srgbClr val="4A6B9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2" name="Imagem 11"/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1884" y="6394749"/>
            <a:ext cx="1606086" cy="144879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A30BD0E4-DA32-42AA-832D-7CA703EA8D73}"/>
              </a:ext>
            </a:extLst>
          </p:cNvPr>
          <p:cNvSpPr/>
          <p:nvPr userDrawn="1"/>
        </p:nvSpPr>
        <p:spPr>
          <a:xfrm>
            <a:off x="628769" y="-68695"/>
            <a:ext cx="10911016" cy="694200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703456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0" presetClass="entr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6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2" dur="6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emf"/><Relationship Id="rId2" Type="http://schemas.openxmlformats.org/officeDocument/2006/relationships/image" Target="../media/image14.emf"/><Relationship Id="rId1" Type="http://schemas.openxmlformats.org/officeDocument/2006/relationships/slideLayout" Target="../slideLayouts/slideLayout8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8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8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3AC71C8-4A67-4A33-A6D5-77E00F8EAEB2}"/>
              </a:ext>
            </a:extLst>
          </p:cNvPr>
          <p:cNvSpPr txBox="1"/>
          <p:nvPr/>
        </p:nvSpPr>
        <p:spPr>
          <a:xfrm>
            <a:off x="-1" y="2917803"/>
            <a:ext cx="1219200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6000" b="1" dirty="0">
                <a:solidFill>
                  <a:srgbClr val="4A6B9E"/>
                </a:solidFill>
                <a:latin typeface="Trebuchet MS" panose="020B0603020202020204" pitchFamily="34" charset="0"/>
              </a:rPr>
              <a:t>Arquitetura do Codificador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8C59E6-C7EF-4B6B-BE4D-D770EE53AB4E}"/>
              </a:ext>
            </a:extLst>
          </p:cNvPr>
          <p:cNvSpPr txBox="1"/>
          <p:nvPr/>
        </p:nvSpPr>
        <p:spPr>
          <a:xfrm>
            <a:off x="-2" y="3907113"/>
            <a:ext cx="1219200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000" dirty="0">
                <a:solidFill>
                  <a:srgbClr val="01BDC4"/>
                </a:solidFill>
                <a:latin typeface="Trebuchet MS" panose="020B0603020202020204" pitchFamily="34" charset="0"/>
              </a:rPr>
              <a:t>Zenilton Patrocínio Jr</a:t>
            </a:r>
          </a:p>
        </p:txBody>
      </p:sp>
    </p:spTree>
    <p:extLst>
      <p:ext uri="{BB962C8B-B14F-4D97-AF65-F5344CB8AC3E}">
        <p14:creationId xmlns:p14="http://schemas.microsoft.com/office/powerpoint/2010/main" val="26239670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/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Introdução</a:t>
            </a:r>
          </a:p>
        </p:txBody>
      </p:sp>
      <p:sp>
        <p:nvSpPr>
          <p:cNvPr id="3" name="CaixaDeTexto 2"/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codificador no </a:t>
            </a:r>
            <a:r>
              <a:rPr lang="pt-BR" sz="2800" dirty="0" err="1"/>
              <a:t>Transformer</a:t>
            </a:r>
            <a:r>
              <a:rPr lang="pt-BR" sz="2800" dirty="0"/>
              <a:t> é responsável por processar a entrada e gerar representações contextuais ricas.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 é composto por blocos empilhados que combinam camadas de atenção e camadas </a:t>
            </a:r>
            <a:r>
              <a:rPr lang="pt-BR" sz="2800" i="1" dirty="0" err="1"/>
              <a:t>feedforward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bloco do codificador aplica atenção </a:t>
            </a:r>
            <a:r>
              <a:rPr lang="pt-BR" sz="2800" dirty="0" err="1"/>
              <a:t>multi-cabeça</a:t>
            </a:r>
            <a:r>
              <a:rPr lang="pt-BR" sz="2800" dirty="0"/>
              <a:t> e normalização para capturar relações entre tokens.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As representações produzidas são passadas ao decodificador ou usadas diretamente em tarefas de compreensão.</a:t>
            </a:r>
          </a:p>
        </p:txBody>
      </p:sp>
    </p:spTree>
    <p:extLst>
      <p:ext uri="{BB962C8B-B14F-4D97-AF65-F5344CB8AC3E}">
        <p14:creationId xmlns:p14="http://schemas.microsoft.com/office/powerpoint/2010/main" val="23005472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C40A5-1AEB-0AAA-2A09-B906AA8ED9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A212B688-2247-29B3-908E-4698BAC54B8D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Função do Codificador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C8C865C-434E-E2FD-5DDA-AFF88E370072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codificador interpreta a sequência de entrada e gera representações que capturam o significado contextual de cada elemento.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Ele permite que o modelo compreenda relações entre palavras, mesmo que estejam distantes na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Suas representações são usadas para alimentar o decodificador ou resolver tarefas diretamente, como classificação.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Também atua como base para transferir conhecimento aprendido em tarefas de pré-treinamento para novos contextos.</a:t>
            </a:r>
          </a:p>
        </p:txBody>
      </p:sp>
    </p:spTree>
    <p:extLst>
      <p:ext uri="{BB962C8B-B14F-4D97-AF65-F5344CB8AC3E}">
        <p14:creationId xmlns:p14="http://schemas.microsoft.com/office/powerpoint/2010/main" val="345072147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4B858-7405-FCBA-C9ED-8B31DBE8C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91578E2-23FD-61B0-E133-23D03E333518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Blocos do Codificador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D9119E3-1E5F-0543-52F5-DB04EA4124BF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bloco do codificador contribui para refinar a representação contextual dos elementos da entrada.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blocos empilhados permitem que o modelo compreenda relações complexas entre diferentes partes da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codificador atua progressivamente, enriquecendo os vetores de entrada com informações relevantes para a tarefa.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repetição dos blocos fortalece a capacidade do modelo de capturar padrões linguísticos profundos.</a:t>
            </a:r>
          </a:p>
        </p:txBody>
      </p:sp>
    </p:spTree>
    <p:extLst>
      <p:ext uri="{BB962C8B-B14F-4D97-AF65-F5344CB8AC3E}">
        <p14:creationId xmlns:p14="http://schemas.microsoft.com/office/powerpoint/2010/main" val="42345450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1E88CD-DFB0-6D7D-C3CF-E75F08CA8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367EA51-57F3-2EBC-1309-D6CE3C6235D2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Componentes do Bloco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20F9F90-9FF2-505A-3C28-90F386538136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bloco do codificador combina atenção </a:t>
            </a:r>
            <a:r>
              <a:rPr lang="pt-BR" sz="2800" dirty="0" err="1"/>
              <a:t>multi-cabeça</a:t>
            </a:r>
            <a:r>
              <a:rPr lang="pt-BR" sz="2800" dirty="0"/>
              <a:t> e uma camada </a:t>
            </a:r>
            <a:r>
              <a:rPr lang="pt-BR" sz="2800" i="1" dirty="0" err="1"/>
              <a:t>feedforward</a:t>
            </a:r>
            <a:r>
              <a:rPr lang="pt-BR" sz="2800" dirty="0"/>
              <a:t> para processar a entrada.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</a:t>
            </a:r>
            <a:r>
              <a:rPr lang="pt-BR" sz="2800" dirty="0" err="1"/>
              <a:t>multi-cabeça</a:t>
            </a:r>
            <a:r>
              <a:rPr lang="pt-BR" sz="2800" dirty="0"/>
              <a:t> permite que o modelo observe diferentes partes da sequência ao mesmo tempo.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camada </a:t>
            </a:r>
            <a:r>
              <a:rPr lang="pt-BR" sz="2800" i="1" dirty="0" err="1"/>
              <a:t>feedforward</a:t>
            </a:r>
            <a:r>
              <a:rPr lang="pt-BR" sz="2800" dirty="0"/>
              <a:t> transforma as representações, enriquecendo o entendimento do conteúdo.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Esses mecanismos trabalham juntos para extrair padrões complexos e manter a coerência contextual.</a:t>
            </a:r>
          </a:p>
        </p:txBody>
      </p:sp>
    </p:spTree>
    <p:extLst>
      <p:ext uri="{BB962C8B-B14F-4D97-AF65-F5344CB8AC3E}">
        <p14:creationId xmlns:p14="http://schemas.microsoft.com/office/powerpoint/2010/main" val="226518628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B2DB7-E504-CC2E-FE15-0E94FA062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F78C30DD-8ED8-7BF4-4795-CB502786530C}"/>
              </a:ext>
            </a:extLst>
          </p:cNvPr>
          <p:cNvSpPr txBox="1"/>
          <p:nvPr/>
        </p:nvSpPr>
        <p:spPr>
          <a:xfrm>
            <a:off x="645459" y="603612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Visualização do Codificador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65F97EA-B42C-2759-C264-F80AC56E88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4"/>
          <a:stretch>
            <a:fillRect/>
          </a:stretch>
        </p:blipFill>
        <p:spPr>
          <a:xfrm>
            <a:off x="4538547" y="1655233"/>
            <a:ext cx="2676292" cy="446547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A3B130A-10EF-CA41-56A0-516EAB92A194}"/>
              </a:ext>
            </a:extLst>
          </p:cNvPr>
          <p:cNvSpPr txBox="1"/>
          <p:nvPr/>
        </p:nvSpPr>
        <p:spPr>
          <a:xfrm>
            <a:off x="645459" y="6182037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VASWANI et al.,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Attention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Need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NIPS, 2017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pt-BR" sz="13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81354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F8027A-4797-8B71-6A3C-52BEB9E71B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9EBAD0C4-995A-BC62-BA17-C42CAF156542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Atenção </a:t>
            </a:r>
            <a:r>
              <a:rPr lang="pt-BR" sz="4500" b="1" dirty="0" err="1">
                <a:solidFill>
                  <a:schemeClr val="bg1"/>
                </a:solidFill>
              </a:rPr>
              <a:t>Multi-Cabeça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C384DAA-EFD3-2E36-1EEF-ECEF0AABBDBA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</a:t>
            </a:r>
            <a:r>
              <a:rPr lang="pt-BR" sz="2800" dirty="0" err="1"/>
              <a:t>multi-cabeça</a:t>
            </a:r>
            <a:r>
              <a:rPr lang="pt-BR" sz="2800" dirty="0"/>
              <a:t> permite que o codificador observe diferentes partes da entrada ao mesmo tempo.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cabeça aprende a focar em aspectos distintos da sequência, enriquecendo a representação.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combinação das cabeças amplia a capacidade do modelo de capturar relações complexas.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abordagem melhora a compreensão do contexto ao integrar múltiplas perspectivas da entrada.</a:t>
            </a:r>
          </a:p>
        </p:txBody>
      </p:sp>
    </p:spTree>
    <p:extLst>
      <p:ext uri="{BB962C8B-B14F-4D97-AF65-F5344CB8AC3E}">
        <p14:creationId xmlns:p14="http://schemas.microsoft.com/office/powerpoint/2010/main" val="36480310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6B881-972A-56A6-2F97-272AE5C4A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C70213C5-A7D9-6B02-4E71-F6E700349231}"/>
              </a:ext>
            </a:extLst>
          </p:cNvPr>
          <p:cNvSpPr txBox="1"/>
          <p:nvPr/>
        </p:nvSpPr>
        <p:spPr>
          <a:xfrm>
            <a:off x="645459" y="603612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Codificador – Atenção </a:t>
            </a:r>
            <a:r>
              <a:rPr kumimoji="0" lang="pt-BR" sz="3500" b="1" i="0" u="none" strike="noStrike" kern="1200" cap="none" spc="0" normalizeH="0" baseline="0" noProof="0" dirty="0" err="1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Multi-Cabeça</a:t>
            </a:r>
            <a:endParaRPr kumimoji="0" lang="pt-BR" sz="3500" b="1" i="0" u="none" strike="noStrike" kern="1200" cap="none" spc="0" normalizeH="0" baseline="0" noProof="0" dirty="0">
              <a:ln>
                <a:noFill/>
              </a:ln>
              <a:solidFill>
                <a:srgbClr val="01BD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64E927DD-5459-0E81-09FE-29352920CC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4"/>
          <a:stretch>
            <a:fillRect/>
          </a:stretch>
        </p:blipFill>
        <p:spPr>
          <a:xfrm>
            <a:off x="4538547" y="1655233"/>
            <a:ext cx="2676292" cy="446547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033F7212-BE01-DEC5-7288-BD82A188B579}"/>
              </a:ext>
            </a:extLst>
          </p:cNvPr>
          <p:cNvSpPr txBox="1"/>
          <p:nvPr/>
        </p:nvSpPr>
        <p:spPr>
          <a:xfrm>
            <a:off x="645459" y="6182037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VASWANI et al.,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Attention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Need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NIPS, 2017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pt-BR" sz="13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eta: para a Esquerda 5">
            <a:extLst>
              <a:ext uri="{FF2B5EF4-FFF2-40B4-BE49-F238E27FC236}">
                <a16:creationId xmlns:a16="http://schemas.microsoft.com/office/drawing/2014/main" id="{B9895726-591C-6760-5AA0-663E78D8016E}"/>
              </a:ext>
            </a:extLst>
          </p:cNvPr>
          <p:cNvSpPr/>
          <p:nvPr/>
        </p:nvSpPr>
        <p:spPr>
          <a:xfrm>
            <a:off x="7041997" y="3176340"/>
            <a:ext cx="747131" cy="54083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59600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B2DB7-E504-CC2E-FE15-0E94FA062A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tângulo: Cantos Arredondados 7">
            <a:extLst>
              <a:ext uri="{FF2B5EF4-FFF2-40B4-BE49-F238E27FC236}">
                <a16:creationId xmlns:a16="http://schemas.microsoft.com/office/drawing/2014/main" id="{BCE66E45-5A15-F539-F0CA-D4D8BD2343F7}"/>
              </a:ext>
            </a:extLst>
          </p:cNvPr>
          <p:cNvSpPr/>
          <p:nvPr/>
        </p:nvSpPr>
        <p:spPr>
          <a:xfrm>
            <a:off x="7527073" y="1483711"/>
            <a:ext cx="2483307" cy="4069596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F78C30DD-8ED8-7BF4-4795-CB502786530C}"/>
              </a:ext>
            </a:extLst>
          </p:cNvPr>
          <p:cNvSpPr txBox="1"/>
          <p:nvPr/>
        </p:nvSpPr>
        <p:spPr>
          <a:xfrm>
            <a:off x="645459" y="603612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Atenção </a:t>
            </a:r>
            <a:r>
              <a:rPr kumimoji="0" lang="pt-BR" sz="3500" b="1" i="0" u="none" strike="noStrike" kern="1200" cap="none" spc="0" normalizeH="0" baseline="0" noProof="0" dirty="0" err="1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Multi-Cabeça</a:t>
            </a:r>
            <a:endParaRPr kumimoji="0" lang="pt-BR" sz="3500" b="1" i="0" u="none" strike="noStrike" kern="1200" cap="none" spc="0" normalizeH="0" baseline="0" noProof="0" dirty="0">
              <a:ln>
                <a:noFill/>
              </a:ln>
              <a:solidFill>
                <a:srgbClr val="01BD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65F97EA-B42C-2759-C264-F80AC56E8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3335" y="1729338"/>
            <a:ext cx="1813458" cy="357834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B210B03C-81A6-15E8-3433-95C63E306F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3199" y="1485056"/>
            <a:ext cx="3402801" cy="5218171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A3B130A-10EF-CA41-56A0-516EAB92A194}"/>
              </a:ext>
            </a:extLst>
          </p:cNvPr>
          <p:cNvSpPr txBox="1"/>
          <p:nvPr/>
        </p:nvSpPr>
        <p:spPr>
          <a:xfrm>
            <a:off x="645459" y="6182037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VASWANI et al.,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Attention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Need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NIPS, 2017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pt-BR" sz="13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id="{533E6D0F-7170-48C7-F951-CD8C1CF3F484}"/>
              </a:ext>
            </a:extLst>
          </p:cNvPr>
          <p:cNvCxnSpPr>
            <a:cxnSpLocks/>
          </p:cNvCxnSpPr>
          <p:nvPr/>
        </p:nvCxnSpPr>
        <p:spPr>
          <a:xfrm flipV="1">
            <a:off x="5475249" y="1611549"/>
            <a:ext cx="2167449" cy="170725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Conector reto 11">
            <a:extLst>
              <a:ext uri="{FF2B5EF4-FFF2-40B4-BE49-F238E27FC236}">
                <a16:creationId xmlns:a16="http://schemas.microsoft.com/office/drawing/2014/main" id="{67542C31-18D7-9B81-CB5B-1A2A0CDF0EE7}"/>
              </a:ext>
            </a:extLst>
          </p:cNvPr>
          <p:cNvCxnSpPr>
            <a:cxnSpLocks/>
          </p:cNvCxnSpPr>
          <p:nvPr/>
        </p:nvCxnSpPr>
        <p:spPr>
          <a:xfrm>
            <a:off x="5475249" y="3947532"/>
            <a:ext cx="2167449" cy="148698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65799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28BB7-E009-B83D-E84A-7B7FAB10E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C4B1FCF-5065-E5F8-C97B-41C15DB05112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Normalização e Conexões Residuais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B331E2C-290F-8A5B-5AD5-AA69FA0C3EBC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codificador utiliza conexões residuais para preservar informações e facilitar o fluxo de gradientes.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normalização em camada ajuda a estabilizar o treinamento e acelerar a convergência do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combinação desses mecanismos reduz o risco de explosão ou desaparecimento de gradientes.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Juntos, eles garantem que o aprendizado ocorra de forma mais eficiente e robusta ao longo das camadas.</a:t>
            </a:r>
          </a:p>
        </p:txBody>
      </p:sp>
    </p:spTree>
    <p:extLst>
      <p:ext uri="{BB962C8B-B14F-4D97-AF65-F5344CB8AC3E}">
        <p14:creationId xmlns:p14="http://schemas.microsoft.com/office/powerpoint/2010/main" val="30835411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950D51-0A0D-CAF5-0072-6E7DBFD2B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7C5A6446-DA4B-22A9-B48C-31A199C1BE6B}"/>
              </a:ext>
            </a:extLst>
          </p:cNvPr>
          <p:cNvSpPr txBox="1"/>
          <p:nvPr/>
        </p:nvSpPr>
        <p:spPr>
          <a:xfrm>
            <a:off x="645459" y="603612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Codificador – Normalização / Conexões Residuais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2FAC47D-8E98-BEAA-485A-24F4096062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4"/>
          <a:stretch>
            <a:fillRect/>
          </a:stretch>
        </p:blipFill>
        <p:spPr>
          <a:xfrm>
            <a:off x="4538547" y="1655233"/>
            <a:ext cx="2676292" cy="446547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C2C3F82F-1885-2A60-56B3-3BAFD917FAC5}"/>
              </a:ext>
            </a:extLst>
          </p:cNvPr>
          <p:cNvSpPr txBox="1"/>
          <p:nvPr/>
        </p:nvSpPr>
        <p:spPr>
          <a:xfrm>
            <a:off x="645459" y="6182037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VASWANI et al.,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Attention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Need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NIPS, 2017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pt-BR" sz="13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eta: para a Esquerda 5">
            <a:extLst>
              <a:ext uri="{FF2B5EF4-FFF2-40B4-BE49-F238E27FC236}">
                <a16:creationId xmlns:a16="http://schemas.microsoft.com/office/drawing/2014/main" id="{EF869E5F-9291-E910-6C61-431805935ABC}"/>
              </a:ext>
            </a:extLst>
          </p:cNvPr>
          <p:cNvSpPr/>
          <p:nvPr/>
        </p:nvSpPr>
        <p:spPr>
          <a:xfrm>
            <a:off x="7041997" y="2782230"/>
            <a:ext cx="747131" cy="54083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Seta: para a Esquerda 1">
            <a:extLst>
              <a:ext uri="{FF2B5EF4-FFF2-40B4-BE49-F238E27FC236}">
                <a16:creationId xmlns:a16="http://schemas.microsoft.com/office/drawing/2014/main" id="{3BC4D23F-C752-FD45-CD1A-B4585461BDC7}"/>
              </a:ext>
            </a:extLst>
          </p:cNvPr>
          <p:cNvSpPr/>
          <p:nvPr/>
        </p:nvSpPr>
        <p:spPr>
          <a:xfrm>
            <a:off x="7041996" y="1593901"/>
            <a:ext cx="747131" cy="54083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05651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C14778-60C6-DD70-BD8A-B927C32783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D8AE6D60-40B1-5324-7BD3-682D5D1FA1D6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Camada </a:t>
            </a:r>
            <a:r>
              <a:rPr lang="pt-BR" sz="4500" b="1" i="1" dirty="0" err="1">
                <a:solidFill>
                  <a:schemeClr val="bg1"/>
                </a:solidFill>
              </a:rPr>
              <a:t>Feedforward</a:t>
            </a:r>
            <a:endParaRPr lang="pt-BR" sz="4500" b="1" i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6AFC59D-A64C-A1B5-D306-B39C4E40056B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camada </a:t>
            </a:r>
            <a:r>
              <a:rPr lang="pt-BR" sz="2800" i="1" dirty="0" err="1"/>
              <a:t>feedforward</a:t>
            </a:r>
            <a:r>
              <a:rPr lang="pt-BR" sz="2800" dirty="0"/>
              <a:t> é aplicada após a atenção para transformar as representações da entrada.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Ela consiste em duas subcamadas lineares separadas por uma função de ativação não linear.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etapa permite ao codificador capturar padrões mais complexos e abstrações úteis.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Sua aplicação individual em cada posição garante processamento paralelo e eficiente.</a:t>
            </a:r>
          </a:p>
        </p:txBody>
      </p:sp>
    </p:spTree>
    <p:extLst>
      <p:ext uri="{BB962C8B-B14F-4D97-AF65-F5344CB8AC3E}">
        <p14:creationId xmlns:p14="http://schemas.microsoft.com/office/powerpoint/2010/main" val="19142034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57EB6-9F92-6F37-F4DC-426D475607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A2241DFE-BB92-4BC1-18F9-876614B88D60}"/>
              </a:ext>
            </a:extLst>
          </p:cNvPr>
          <p:cNvSpPr txBox="1"/>
          <p:nvPr/>
        </p:nvSpPr>
        <p:spPr>
          <a:xfrm>
            <a:off x="645459" y="603612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Codificador – Camada </a:t>
            </a:r>
            <a:r>
              <a:rPr kumimoji="0" lang="pt-BR" sz="3500" b="1" i="1" u="none" strike="noStrike" kern="1200" cap="none" spc="0" normalizeH="0" baseline="0" noProof="0" dirty="0" err="1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Feedforward</a:t>
            </a:r>
            <a:endParaRPr kumimoji="0" lang="pt-BR" sz="3500" b="1" i="1" u="none" strike="noStrike" kern="1200" cap="none" spc="0" normalizeH="0" baseline="0" noProof="0" dirty="0">
              <a:ln>
                <a:noFill/>
              </a:ln>
              <a:solidFill>
                <a:srgbClr val="01BD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4B87BFC8-8848-805D-0F71-320BF60DA6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4"/>
          <a:stretch>
            <a:fillRect/>
          </a:stretch>
        </p:blipFill>
        <p:spPr>
          <a:xfrm>
            <a:off x="4538547" y="1655233"/>
            <a:ext cx="2676292" cy="446547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FB37EFFD-A0D2-9EC3-943F-EFD88CDAB0F4}"/>
              </a:ext>
            </a:extLst>
          </p:cNvPr>
          <p:cNvSpPr txBox="1"/>
          <p:nvPr/>
        </p:nvSpPr>
        <p:spPr>
          <a:xfrm>
            <a:off x="645459" y="6182037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VASWANI et al.,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Attention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Need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NIPS, 2017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pt-BR" sz="13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eta: para a Esquerda 5">
            <a:extLst>
              <a:ext uri="{FF2B5EF4-FFF2-40B4-BE49-F238E27FC236}">
                <a16:creationId xmlns:a16="http://schemas.microsoft.com/office/drawing/2014/main" id="{6906F578-D366-9A9D-4604-6E2136DFFBEF}"/>
              </a:ext>
            </a:extLst>
          </p:cNvPr>
          <p:cNvSpPr/>
          <p:nvPr/>
        </p:nvSpPr>
        <p:spPr>
          <a:xfrm>
            <a:off x="7041997" y="2016613"/>
            <a:ext cx="747131" cy="54083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265509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15CF8-5EFB-5A96-B300-E50943DCDF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5988EF66-7856-69AB-4E18-DF0A54EA592B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Codificação Posicional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A572C1D-1061-52BC-A020-FB49162238D9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codificador utiliza codificação posicional para incorporar a ordem dos elementos na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Como o modelo não é sequencial, essa informação é essencial para entender a posição relativa dos tokens.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vetores posicionais são somados às representações de entrada antes do processamento.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técnica permite que o modelo reconheça padrões dependentes da ordem, como sintaxe e estrutura.</a:t>
            </a:r>
          </a:p>
        </p:txBody>
      </p:sp>
    </p:spTree>
    <p:extLst>
      <p:ext uri="{BB962C8B-B14F-4D97-AF65-F5344CB8AC3E}">
        <p14:creationId xmlns:p14="http://schemas.microsoft.com/office/powerpoint/2010/main" val="296155660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39B722-799D-A87C-B174-EAF6C4D479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01AA6B36-DD1E-03E6-0E52-88B037FF64C8}"/>
              </a:ext>
            </a:extLst>
          </p:cNvPr>
          <p:cNvSpPr txBox="1"/>
          <p:nvPr/>
        </p:nvSpPr>
        <p:spPr>
          <a:xfrm>
            <a:off x="645459" y="603612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Codificador – Codificação Posicional</a:t>
            </a:r>
            <a:endParaRPr kumimoji="0" lang="pt-BR" sz="3500" b="1" i="1" u="none" strike="noStrike" kern="1200" cap="none" spc="0" normalizeH="0" baseline="0" noProof="0" dirty="0">
              <a:ln>
                <a:noFill/>
              </a:ln>
              <a:solidFill>
                <a:srgbClr val="01BD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5BF7B52-3C6C-F626-4EA8-1BF09F06D4B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4"/>
          <a:stretch>
            <a:fillRect/>
          </a:stretch>
        </p:blipFill>
        <p:spPr>
          <a:xfrm>
            <a:off x="4538547" y="1655233"/>
            <a:ext cx="2676292" cy="446547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ADD5A6D7-4352-534A-79FA-AB54D6ACE8FF}"/>
              </a:ext>
            </a:extLst>
          </p:cNvPr>
          <p:cNvSpPr txBox="1"/>
          <p:nvPr/>
        </p:nvSpPr>
        <p:spPr>
          <a:xfrm>
            <a:off x="645459" y="6182037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VASWANI et al.,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Attention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Need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NIPS, 2017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pt-BR" sz="13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eta: para a Esquerda 5">
            <a:extLst>
              <a:ext uri="{FF2B5EF4-FFF2-40B4-BE49-F238E27FC236}">
                <a16:creationId xmlns:a16="http://schemas.microsoft.com/office/drawing/2014/main" id="{D13FDA45-E394-2535-2D64-75E127DEBA14}"/>
              </a:ext>
            </a:extLst>
          </p:cNvPr>
          <p:cNvSpPr/>
          <p:nvPr/>
        </p:nvSpPr>
        <p:spPr>
          <a:xfrm flipH="1">
            <a:off x="3891777" y="4146496"/>
            <a:ext cx="747131" cy="54083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753138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4FFFCC-39C7-42EA-216C-2D8574F83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6F352E8E-DC17-29DA-CF8E-6293858AEC90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Entrada do Codificador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BA25323-D5F4-CE2B-613A-AFBADCAC5FC0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entrada do codificador é formada pela soma dos vetores de tokens com suas codificações posicionais.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combinação permite que o modelo reconheça tanto o conteúdo quanto a ordem dos elementos.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vetores resultantes são enviados para as camadas do codificador para processamento contextual.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passo inicial é essencial para que o modelo compreenda a estrutura sequencial da entrada.</a:t>
            </a:r>
          </a:p>
        </p:txBody>
      </p:sp>
    </p:spTree>
    <p:extLst>
      <p:ext uri="{BB962C8B-B14F-4D97-AF65-F5344CB8AC3E}">
        <p14:creationId xmlns:p14="http://schemas.microsoft.com/office/powerpoint/2010/main" val="75115542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66A40-B787-7EC2-C590-EFFB20D05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2">
            <a:extLst>
              <a:ext uri="{FF2B5EF4-FFF2-40B4-BE49-F238E27FC236}">
                <a16:creationId xmlns:a16="http://schemas.microsoft.com/office/drawing/2014/main" id="{44BA0F29-3563-D69F-22AE-63C7919659D7}"/>
              </a:ext>
            </a:extLst>
          </p:cNvPr>
          <p:cNvSpPr txBox="1"/>
          <p:nvPr/>
        </p:nvSpPr>
        <p:spPr>
          <a:xfrm>
            <a:off x="645459" y="603612"/>
            <a:ext cx="10878670" cy="6309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3500" b="1" i="0" u="none" strike="noStrike" kern="1200" cap="none" spc="0" normalizeH="0" baseline="0" noProof="0" dirty="0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Codificador – Rede </a:t>
            </a:r>
            <a:r>
              <a:rPr kumimoji="0" lang="pt-BR" sz="3500" b="1" i="1" u="none" strike="noStrike" kern="1200" cap="none" spc="0" normalizeH="0" baseline="0" noProof="0" dirty="0" err="1">
                <a:ln>
                  <a:noFill/>
                </a:ln>
                <a:solidFill>
                  <a:srgbClr val="01BDC4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Feedforward</a:t>
            </a:r>
            <a:endParaRPr kumimoji="0" lang="pt-BR" sz="3500" b="1" i="1" u="none" strike="noStrike" kern="1200" cap="none" spc="0" normalizeH="0" baseline="0" noProof="0" dirty="0">
              <a:ln>
                <a:noFill/>
              </a:ln>
              <a:solidFill>
                <a:srgbClr val="01BDC4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2FA1B33-F588-39F4-5EB2-39EEAB9F9BA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4"/>
          <a:stretch>
            <a:fillRect/>
          </a:stretch>
        </p:blipFill>
        <p:spPr>
          <a:xfrm>
            <a:off x="4538547" y="1655233"/>
            <a:ext cx="2676292" cy="4465472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DE6EC3B9-BE0E-2310-03A4-C563FCFACBC6}"/>
              </a:ext>
            </a:extLst>
          </p:cNvPr>
          <p:cNvSpPr txBox="1"/>
          <p:nvPr/>
        </p:nvSpPr>
        <p:spPr>
          <a:xfrm>
            <a:off x="645459" y="6182037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VASWANI et al.,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Attention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Need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NIPS, 2017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pt-BR" sz="13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eta: para a Esquerda 5">
            <a:extLst>
              <a:ext uri="{FF2B5EF4-FFF2-40B4-BE49-F238E27FC236}">
                <a16:creationId xmlns:a16="http://schemas.microsoft.com/office/drawing/2014/main" id="{AC647B8C-EC82-BBF8-9ED2-3A4113EF4094}"/>
              </a:ext>
            </a:extLst>
          </p:cNvPr>
          <p:cNvSpPr/>
          <p:nvPr/>
        </p:nvSpPr>
        <p:spPr>
          <a:xfrm>
            <a:off x="7047573" y="4695386"/>
            <a:ext cx="747131" cy="540834"/>
          </a:xfrm>
          <a:prstGeom prst="leftArrow">
            <a:avLst/>
          </a:prstGeom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518680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6CB321-FBA9-CFC0-3EBC-4540E88F33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BD1347A-3248-4DBF-9DCF-C5E8AC8A639E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Saída do Codificador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49D24C5-C95B-6976-EBED-BAEAAA48DAA2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saída do codificador consiste em vetores que representam cada token com base em seu contexto.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Essas representações capturam relações semânticas e sintáticas aprendidas ao longo das camadas.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vetores podem ser usados diretamente em tarefas como classificação ou passados ao decodificador.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saída é fundamental para que o modelo compreenda e gere linguagem de forma eficaz.</a:t>
            </a:r>
          </a:p>
        </p:txBody>
      </p:sp>
    </p:spTree>
    <p:extLst>
      <p:ext uri="{BB962C8B-B14F-4D97-AF65-F5344CB8AC3E}">
        <p14:creationId xmlns:p14="http://schemas.microsoft.com/office/powerpoint/2010/main" val="6024027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038158-68A6-8F76-29C2-471ACD1B5C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7075B87-926E-A3DC-1515-27B946089CD3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Empilhamento de Blocos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B69BF6-8C74-C0BD-FC1A-C1348356E54F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codificador é formado por vários blocos empilhados que processam a entrada de forma sequencial.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Cada bloco recebe as representações do anterior e as refina com novos níveis de abstração.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empilhamento permite ao modelo capturar padrões cada vez mais complexos na sequência.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profundidade do codificador contribui para uma compreensão mais rica do contexto linguístico.</a:t>
            </a:r>
          </a:p>
        </p:txBody>
      </p:sp>
    </p:spTree>
    <p:extLst>
      <p:ext uri="{BB962C8B-B14F-4D97-AF65-F5344CB8AC3E}">
        <p14:creationId xmlns:p14="http://schemas.microsoft.com/office/powerpoint/2010/main" val="26990649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925C82-C43F-799E-A491-ACFC09904B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D983BD45-A2EA-746B-707D-3A6444F253C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065" r="51643"/>
          <a:stretch/>
        </p:blipFill>
        <p:spPr>
          <a:xfrm>
            <a:off x="5084256" y="2798959"/>
            <a:ext cx="2083795" cy="3530504"/>
          </a:xfrm>
          <a:prstGeom prst="rect">
            <a:avLst/>
          </a:prstGeom>
        </p:spPr>
      </p:pic>
      <p:pic>
        <p:nvPicPr>
          <p:cNvPr id="7" name="Picture 11">
            <a:extLst>
              <a:ext uri="{FF2B5EF4-FFF2-40B4-BE49-F238E27FC236}">
                <a16:creationId xmlns:a16="http://schemas.microsoft.com/office/drawing/2014/main" id="{3D92C8CD-BA31-1832-1548-CE55D0FACB49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37065" r="51643" b="26459"/>
          <a:stretch/>
        </p:blipFill>
        <p:spPr>
          <a:xfrm>
            <a:off x="5084257" y="752770"/>
            <a:ext cx="2083794" cy="2046188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BC519F7B-DC09-AB4D-5727-42F9AD985B26}"/>
              </a:ext>
            </a:extLst>
          </p:cNvPr>
          <p:cNvSpPr txBox="1"/>
          <p:nvPr/>
        </p:nvSpPr>
        <p:spPr>
          <a:xfrm>
            <a:off x="645459" y="6182037"/>
            <a:ext cx="10878670" cy="2923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FONTE: VASWANI et al.,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Attention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is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You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pt-BR" sz="1300" b="0" i="1" u="none" strike="noStrike" kern="1200" cap="none" spc="0" normalizeH="0" baseline="0" noProof="0" dirty="0" err="1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Need</a:t>
            </a:r>
            <a:r>
              <a:rPr kumimoji="0" lang="pt-BR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NIPS, 2017</a:t>
            </a:r>
            <a:r>
              <a:rPr kumimoji="0" lang="en-US" sz="1300" b="0" i="1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50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</a:t>
            </a:r>
            <a:endParaRPr kumimoji="0" lang="pt-BR" sz="1300" b="0" i="1" u="none" strike="noStrike" kern="1200" cap="none" spc="0" normalizeH="0" baseline="0" noProof="0" dirty="0">
              <a:ln>
                <a:noFill/>
              </a:ln>
              <a:solidFill>
                <a:prstClr val="white">
                  <a:lumMod val="50000"/>
                </a:prst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8" name="Retângulo 7">
            <a:extLst>
              <a:ext uri="{FF2B5EF4-FFF2-40B4-BE49-F238E27FC236}">
                <a16:creationId xmlns:a16="http://schemas.microsoft.com/office/drawing/2014/main" id="{913D953C-9042-77AD-68DA-877B5B0D7FFE}"/>
              </a:ext>
            </a:extLst>
          </p:cNvPr>
          <p:cNvSpPr/>
          <p:nvPr/>
        </p:nvSpPr>
        <p:spPr>
          <a:xfrm>
            <a:off x="5207619" y="1650380"/>
            <a:ext cx="412595" cy="4014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2B6A554C-4FA0-0A5A-EF4D-269A89256CB1}"/>
              </a:ext>
            </a:extLst>
          </p:cNvPr>
          <p:cNvSpPr/>
          <p:nvPr/>
        </p:nvSpPr>
        <p:spPr>
          <a:xfrm>
            <a:off x="5207619" y="3609278"/>
            <a:ext cx="412595" cy="40144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E5AF0562-F5E8-A63C-0275-476645504C3D}"/>
                  </a:ext>
                </a:extLst>
              </p:cNvPr>
              <p:cNvSpPr txBox="1"/>
              <p:nvPr/>
            </p:nvSpPr>
            <p:spPr>
              <a:xfrm>
                <a:off x="6266985" y="207246"/>
                <a:ext cx="378629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pt-BR" sz="2800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⋮</m:t>
                      </m:r>
                    </m:oMath>
                  </m:oMathPara>
                </a14:m>
                <a:endParaRPr lang="pt-BR" sz="2800" b="1" dirty="0"/>
              </a:p>
            </p:txBody>
          </p:sp>
        </mc:Choice>
        <mc:Fallback xmlns="">
          <p:sp>
            <p:nvSpPr>
              <p:cNvPr id="10" name="CaixaDeTexto 9">
                <a:extLst>
                  <a:ext uri="{FF2B5EF4-FFF2-40B4-BE49-F238E27FC236}">
                    <a16:creationId xmlns:a16="http://schemas.microsoft.com/office/drawing/2014/main" id="{E5AF0562-F5E8-A63C-0275-476645504C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66985" y="207246"/>
                <a:ext cx="378629" cy="52322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pt-B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Seta: para a Esquerda 2">
            <a:extLst>
              <a:ext uri="{FF2B5EF4-FFF2-40B4-BE49-F238E27FC236}">
                <a16:creationId xmlns:a16="http://schemas.microsoft.com/office/drawing/2014/main" id="{F282C8F3-C740-9E80-4D51-8AD2F970E38C}"/>
              </a:ext>
            </a:extLst>
          </p:cNvPr>
          <p:cNvSpPr/>
          <p:nvPr/>
        </p:nvSpPr>
        <p:spPr>
          <a:xfrm>
            <a:off x="7404412" y="3539583"/>
            <a:ext cx="747131" cy="540834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0E8289DD-6A20-2DEE-795F-DB1EF3414724}"/>
              </a:ext>
            </a:extLst>
          </p:cNvPr>
          <p:cNvSpPr/>
          <p:nvPr/>
        </p:nvSpPr>
        <p:spPr>
          <a:xfrm>
            <a:off x="5486400" y="2798958"/>
            <a:ext cx="1782712" cy="2046188"/>
          </a:xfrm>
          <a:prstGeom prst="roundRect">
            <a:avLst/>
          </a:prstGeom>
          <a:solidFill>
            <a:srgbClr val="FF0000">
              <a:alpha val="28000"/>
            </a:srgbClr>
          </a:solidFill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6" name="Seta: para a Esquerda 5">
            <a:extLst>
              <a:ext uri="{FF2B5EF4-FFF2-40B4-BE49-F238E27FC236}">
                <a16:creationId xmlns:a16="http://schemas.microsoft.com/office/drawing/2014/main" id="{849D95C0-F173-BADA-957E-2A4C2088A602}"/>
              </a:ext>
            </a:extLst>
          </p:cNvPr>
          <p:cNvSpPr/>
          <p:nvPr/>
        </p:nvSpPr>
        <p:spPr>
          <a:xfrm>
            <a:off x="7404412" y="1468270"/>
            <a:ext cx="747131" cy="540834"/>
          </a:xfrm>
          <a:prstGeom prst="lef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tângulo: Cantos Arredondados 10">
            <a:extLst>
              <a:ext uri="{FF2B5EF4-FFF2-40B4-BE49-F238E27FC236}">
                <a16:creationId xmlns:a16="http://schemas.microsoft.com/office/drawing/2014/main" id="{35BF8554-51C9-2A03-9A93-CFAD5733297C}"/>
              </a:ext>
            </a:extLst>
          </p:cNvPr>
          <p:cNvSpPr/>
          <p:nvPr/>
        </p:nvSpPr>
        <p:spPr>
          <a:xfrm>
            <a:off x="5486400" y="727645"/>
            <a:ext cx="1782712" cy="2046188"/>
          </a:xfrm>
          <a:prstGeom prst="roundRect">
            <a:avLst/>
          </a:prstGeom>
          <a:solidFill>
            <a:srgbClr val="FF0000">
              <a:alpha val="28000"/>
            </a:srgbClr>
          </a:solidFill>
          <a:ln w="57150">
            <a:solidFill>
              <a:srgbClr val="FF0000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90219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5" grpId="0" animBg="1"/>
      <p:bldP spid="6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380A4E-3F87-76C1-8797-E70E16AF8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3D74304D-C91A-8A44-401E-E48A8DB553A1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Dimensão dos Vetores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D16ACE3-DDFF-3ADA-FB4E-29AF210379EE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Os vetores usados no codificador possuem dimensão fixa, como 512 ou 768, dependendo do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padronização permite que todas as operações matemáticas sejam realizadas de forma consistente.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dimensão define a capacidade do modelo de representar informações complexas em cada posição.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Vetores com maior dimensão tendem a capturar mais nuances, mas exigem mais recursos computacionais.</a:t>
            </a:r>
          </a:p>
        </p:txBody>
      </p:sp>
    </p:spTree>
    <p:extLst>
      <p:ext uri="{BB962C8B-B14F-4D97-AF65-F5344CB8AC3E}">
        <p14:creationId xmlns:p14="http://schemas.microsoft.com/office/powerpoint/2010/main" val="399882746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CDA43-1AC8-E0F8-A75B-6A40E2E1B4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4382844-37CF-683D-0044-AB45749A328A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Treinamento do Codificador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EB749BF-F582-7596-3A38-4E953B009D3E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codificador é treinado ajustando seus parâmetros por meio do algoritmo de </a:t>
            </a:r>
            <a:r>
              <a:rPr lang="pt-BR" sz="2800" dirty="0" err="1"/>
              <a:t>backpropagation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Durante o treinamento, os erros são propagados para atualizar pesos e melhorar as previsões.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processo envolve otimização contínua para minimizar a função de perda da tarefa.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Esse aprendizado permite ao codificador capturar padrões linguísticos úteis para diversas aplicações.</a:t>
            </a:r>
          </a:p>
        </p:txBody>
      </p:sp>
    </p:spTree>
    <p:extLst>
      <p:ext uri="{BB962C8B-B14F-4D97-AF65-F5344CB8AC3E}">
        <p14:creationId xmlns:p14="http://schemas.microsoft.com/office/powerpoint/2010/main" val="38372524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2BCB9A-41E1-B603-961A-F2F89233E2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F2D9C89-596E-ED96-109F-ED702F04D60A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Codificador no BERT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CC1ED5DB-262D-3303-5A9C-A07FA60BD682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BERT é construído exclusivamente com a parte do codificador da arquitetura </a:t>
            </a:r>
            <a:r>
              <a:rPr lang="pt-BR" sz="2800" dirty="0" err="1"/>
              <a:t>Transformer</a:t>
            </a:r>
            <a:r>
              <a:rPr lang="pt-BR" sz="2800" dirty="0"/>
              <a:t>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escolha permite ao modelo capturar o contexto completo ao considerar a sequência inteira.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codificador no BERT é bidirecional, analisando os tokens à esquerda e à direita simultaneamente.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estrutura é ideal para tarefas de compreensão, como classificação e resposta a perguntas.</a:t>
            </a:r>
          </a:p>
        </p:txBody>
      </p:sp>
    </p:spTree>
    <p:extLst>
      <p:ext uri="{BB962C8B-B14F-4D97-AF65-F5344CB8AC3E}">
        <p14:creationId xmlns:p14="http://schemas.microsoft.com/office/powerpoint/2010/main" val="18861420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A0F04E-33FF-1CD8-FD08-9A4B3F159F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B9C5DB8D-2559-0746-A75F-38516F22AA74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Codificador em Tradução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7D3A88AE-87A2-A323-2835-0345C2FCCD91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codificador transforma a frase de origem em representações vetoriais ricas em contexto.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Essas representações são usadas pelo decodificador para gerar a tradução na língua-alvo.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processo permite que o modelo compreenda o significado completo antes de traduzir.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qualidade da tradução depende da precisão com que o codificador representa a entrada.</a:t>
            </a:r>
          </a:p>
        </p:txBody>
      </p:sp>
    </p:spTree>
    <p:extLst>
      <p:ext uri="{BB962C8B-B14F-4D97-AF65-F5344CB8AC3E}">
        <p14:creationId xmlns:p14="http://schemas.microsoft.com/office/powerpoint/2010/main" val="154468916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88F570-E460-8E58-57B8-B655017790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EE7A5DE3-3DC0-A2CE-465C-37CE355424F4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Vantagens do Codificador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EC39B88-1692-5C6B-7239-9674B6BB63CA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codificador permite paralelizar o processamento dos tokens, acelerando o treinamento do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Suas camadas capturam o contexto completo, enriquecendo a compreensão de cada elemento da entrada.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estrutura modular facilita a escalabilidade para modelos maiores e mais profundos.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Essas vantagens tornam o codificador ideal para tarefas complexas de linguagem natural.</a:t>
            </a:r>
          </a:p>
        </p:txBody>
      </p:sp>
    </p:spTree>
    <p:extLst>
      <p:ext uri="{BB962C8B-B14F-4D97-AF65-F5344CB8AC3E}">
        <p14:creationId xmlns:p14="http://schemas.microsoft.com/office/powerpoint/2010/main" val="12624587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C67B87-F99F-3AAC-E950-5C485E3538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0FCD473-B60C-9E4B-939B-CEC918BB84BF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Comparação com </a:t>
            </a:r>
            <a:r>
              <a:rPr lang="pt-BR" sz="4500" b="1" dirty="0" err="1">
                <a:solidFill>
                  <a:schemeClr val="bg1"/>
                </a:solidFill>
              </a:rPr>
              <a:t>RNNs</a:t>
            </a:r>
            <a:endParaRPr lang="pt-BR" sz="4500" b="1" dirty="0">
              <a:solidFill>
                <a:schemeClr val="bg1"/>
              </a:solidFill>
            </a:endParaRP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93223E5A-4D68-5B7A-CDC6-DA67B14A28F3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codificador processa todos os tokens simultaneamente, enquanto as </a:t>
            </a:r>
            <a:r>
              <a:rPr lang="pt-BR" sz="2800" dirty="0" err="1"/>
              <a:t>RNNs</a:t>
            </a:r>
            <a:r>
              <a:rPr lang="pt-BR" sz="2800" dirty="0"/>
              <a:t> operam de forma sequencial.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Essa paralelização permite maior eficiência e velocidade no treinamento de grandes modelos.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Diferente das </a:t>
            </a:r>
            <a:r>
              <a:rPr lang="pt-BR" sz="2800" dirty="0" err="1"/>
              <a:t>RNNs</a:t>
            </a:r>
            <a:r>
              <a:rPr lang="pt-BR" sz="2800" dirty="0"/>
              <a:t>, o codificador não depende da ordem de processamento para capturar contexto.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atenção permite ao codificador modelar relações de longo alcance com mais precisão e estabilidade.</a:t>
            </a:r>
          </a:p>
        </p:txBody>
      </p:sp>
    </p:spTree>
    <p:extLst>
      <p:ext uri="{BB962C8B-B14F-4D97-AF65-F5344CB8AC3E}">
        <p14:creationId xmlns:p14="http://schemas.microsoft.com/office/powerpoint/2010/main" val="34463675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F046D-C5D3-21DC-3915-9522DDFC50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02DE7DE6-E0D2-E16C-A12D-122E54D429A4}"/>
              </a:ext>
            </a:extLst>
          </p:cNvPr>
          <p:cNvSpPr txBox="1"/>
          <p:nvPr/>
        </p:nvSpPr>
        <p:spPr>
          <a:xfrm>
            <a:off x="443211" y="145344"/>
            <a:ext cx="1113739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500" b="1" dirty="0">
                <a:solidFill>
                  <a:schemeClr val="bg1"/>
                </a:solidFill>
              </a:rPr>
              <a:t>Resumo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270CC17-A580-B41C-1838-4CE5F063D2FB}"/>
              </a:ext>
            </a:extLst>
          </p:cNvPr>
          <p:cNvSpPr txBox="1"/>
          <p:nvPr/>
        </p:nvSpPr>
        <p:spPr>
          <a:xfrm>
            <a:off x="512064" y="1304405"/>
            <a:ext cx="11137392" cy="40278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O codificador é responsável por transformar a entrada em representações contextuais úteis para o modelo.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Seus blocos combinam atenção </a:t>
            </a:r>
            <a:r>
              <a:rPr lang="pt-BR" sz="2800" dirty="0" err="1"/>
              <a:t>multi-cabeça</a:t>
            </a:r>
            <a:r>
              <a:rPr lang="pt-BR" sz="2800" dirty="0"/>
              <a:t>, camada </a:t>
            </a:r>
            <a:r>
              <a:rPr lang="pt-BR" sz="2800" i="1" dirty="0" err="1"/>
              <a:t>feedforward</a:t>
            </a:r>
            <a:r>
              <a:rPr lang="pt-BR" sz="2800" dirty="0"/>
              <a:t>, normalização e conexões residuais para refinar os dados.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A codificação posicional garante que a ordem dos tokens seja considerada no processamento.</a:t>
            </a:r>
          </a:p>
          <a:p>
            <a:pPr marL="342900" indent="-342900">
              <a:lnSpc>
                <a:spcPts val="3400"/>
              </a:lnSpc>
              <a:spcAft>
                <a:spcPts val="1200"/>
              </a:spcAft>
              <a:buFont typeface="Wingdings" panose="05000000000000000000" pitchFamily="2" charset="2"/>
              <a:buChar char="§"/>
            </a:pPr>
            <a:r>
              <a:rPr lang="pt-BR" sz="2800" dirty="0"/>
              <a:t>Com paralelização e profundidade, o codificador oferece eficiência e compreensão semântica avançada.</a:t>
            </a:r>
          </a:p>
        </p:txBody>
      </p:sp>
    </p:spTree>
    <p:extLst>
      <p:ext uri="{BB962C8B-B14F-4D97-AF65-F5344CB8AC3E}">
        <p14:creationId xmlns:p14="http://schemas.microsoft.com/office/powerpoint/2010/main" val="227065189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2772528"/>
      </p:ext>
    </p:extLst>
  </p:cSld>
  <p:clrMapOvr>
    <a:masterClrMapping/>
  </p:clrMapOvr>
</p:sld>
</file>

<file path=ppt/theme/theme1.xml><?xml version="1.0" encoding="utf-8"?>
<a:theme xmlns:a="http://schemas.openxmlformats.org/drawingml/2006/main" name="3_1 - Cap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2 - Subdivisão do assunto princip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3 - Título e text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1_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6 - Final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8.xml><?xml version="1.0" encoding="utf-8"?>
<a:theme xmlns:a="http://schemas.openxmlformats.org/drawingml/2006/main" name="5 - Slide de Tabela ou imagem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9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10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11532</TotalTime>
  <Words>1304</Words>
  <Application>Microsoft Office PowerPoint</Application>
  <PresentationFormat>Widescreen</PresentationFormat>
  <Paragraphs>108</Paragraphs>
  <Slides>28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8</vt:i4>
      </vt:variant>
      <vt:variant>
        <vt:lpstr>Títulos de slides</vt:lpstr>
      </vt:variant>
      <vt:variant>
        <vt:i4>28</vt:i4>
      </vt:variant>
    </vt:vector>
  </HeadingPairs>
  <TitlesOfParts>
    <vt:vector size="41" baseType="lpstr">
      <vt:lpstr>Arial</vt:lpstr>
      <vt:lpstr>Calibri</vt:lpstr>
      <vt:lpstr>Cambria Math</vt:lpstr>
      <vt:lpstr>Trebuchet MS</vt:lpstr>
      <vt:lpstr>Wingdings</vt:lpstr>
      <vt:lpstr>3_1 - Capa</vt:lpstr>
      <vt:lpstr>2 - Subdivisão do assunto principal</vt:lpstr>
      <vt:lpstr>3 - Título e texto</vt:lpstr>
      <vt:lpstr>2_3 - Título e texto</vt:lpstr>
      <vt:lpstr>1_3 - Título e texto</vt:lpstr>
      <vt:lpstr>1_5 - Slide de Tabela ou imagem</vt:lpstr>
      <vt:lpstr>6 - Final</vt:lpstr>
      <vt:lpstr>5 - Slide de Tabela ou imagem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Zenilton Patrocínio Jr.</cp:lastModifiedBy>
  <cp:revision>103</cp:revision>
  <dcterms:created xsi:type="dcterms:W3CDTF">2020-01-14T17:16:45Z</dcterms:created>
  <dcterms:modified xsi:type="dcterms:W3CDTF">2025-11-28T19:16:15Z</dcterms:modified>
</cp:coreProperties>
</file>