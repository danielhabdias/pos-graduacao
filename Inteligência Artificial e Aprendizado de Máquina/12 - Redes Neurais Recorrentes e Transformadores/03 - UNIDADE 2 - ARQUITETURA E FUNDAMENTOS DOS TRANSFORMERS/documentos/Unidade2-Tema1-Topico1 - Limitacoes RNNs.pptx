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88" r:id="rId6"/>
    <p:sldMasterId id="2147483698" r:id="rId7"/>
    <p:sldMasterId id="2147483690" r:id="rId8"/>
  </p:sldMasterIdLst>
  <p:notesMasterIdLst>
    <p:notesMasterId r:id="rId29"/>
  </p:notesMasterIdLst>
  <p:handoutMasterIdLst>
    <p:handoutMasterId r:id="rId30"/>
  </p:handoutMasterIdLst>
  <p:sldIdLst>
    <p:sldId id="266" r:id="rId9"/>
    <p:sldId id="267" r:id="rId10"/>
    <p:sldId id="270" r:id="rId11"/>
    <p:sldId id="269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5" r:id="rId25"/>
    <p:sldId id="259" r:id="rId26"/>
    <p:sldId id="283" r:id="rId27"/>
    <p:sldId id="261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433" autoAdjust="0"/>
  </p:normalViewPr>
  <p:slideViewPr>
    <p:cSldViewPr snapToGrid="0">
      <p:cViewPr varScale="1">
        <p:scale>
          <a:sx n="57" d="100"/>
          <a:sy n="57" d="100"/>
        </p:scale>
        <p:origin x="980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458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E99B992-82EF-49B9-958D-103864F50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18"/>
            <a:ext cx="12192000" cy="6878022"/>
          </a:xfrm>
          <a:prstGeom prst="rect">
            <a:avLst/>
          </a:prstGeom>
        </p:spPr>
      </p:pic>
      <p:sp>
        <p:nvSpPr>
          <p:cNvPr id="6" name="Retângulo 5"/>
          <p:cNvSpPr/>
          <p:nvPr userDrawn="1"/>
        </p:nvSpPr>
        <p:spPr>
          <a:xfrm>
            <a:off x="628769" y="-63188"/>
            <a:ext cx="10911016" cy="6942005"/>
          </a:xfrm>
          <a:prstGeom prst="rect">
            <a:avLst/>
          </a:prstGeom>
          <a:solidFill>
            <a:srgbClr val="4A6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84" y="6394749"/>
            <a:ext cx="1606086" cy="14487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30BD0E4-DA32-42AA-832D-7CA703EA8D73}"/>
              </a:ext>
            </a:extLst>
          </p:cNvPr>
          <p:cNvSpPr/>
          <p:nvPr userDrawn="1"/>
        </p:nvSpPr>
        <p:spPr>
          <a:xfrm>
            <a:off x="628769" y="-68695"/>
            <a:ext cx="10911016" cy="6942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1010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Limitações de </a:t>
            </a:r>
            <a:r>
              <a:rPr lang="pt-BR" sz="6000" b="1" dirty="0" err="1">
                <a:solidFill>
                  <a:srgbClr val="4A6B9E"/>
                </a:solidFill>
                <a:latin typeface="Trebuchet MS" panose="020B0603020202020204" pitchFamily="34" charset="0"/>
              </a:rPr>
              <a:t>RNNs</a:t>
            </a:r>
            <a:endParaRPr lang="pt-BR" sz="6000" b="1" dirty="0">
              <a:solidFill>
                <a:srgbClr val="4A6B9E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8D284-67E3-875A-91C7-828B28B86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92B26A4-6972-D187-33C8-547F097E709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 às </a:t>
            </a:r>
            <a:r>
              <a:rPr lang="pt-BR" sz="4500" b="1" dirty="0" err="1">
                <a:solidFill>
                  <a:schemeClr val="bg1"/>
                </a:solidFill>
              </a:rPr>
              <a:t>RNNs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B4D7648-CC6F-5A8A-EB77-6E3EB8AB2E19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recorrentes foram criadas para lidar com dados sequenciais, mantendo informações ao longo do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Elas permitem modelar dependências temporais, sendo úteis em tarefas como tradução e reconhecimento de fala.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amplamente aplicadas na análise de séries temporais, onde a ordem dos dados é essencial.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mais recentes foram desenvolvidos para superar limitações como o desaparecimento de gradientes.</a:t>
            </a:r>
          </a:p>
        </p:txBody>
      </p:sp>
    </p:spTree>
    <p:extLst>
      <p:ext uri="{BB962C8B-B14F-4D97-AF65-F5344CB8AC3E}">
        <p14:creationId xmlns:p14="http://schemas.microsoft.com/office/powerpoint/2010/main" val="4274246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92DB1-71CE-8CC3-7FED-55E082882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D9FACD5-CDFB-BE37-B579-AFF8FAC130B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das </a:t>
            </a:r>
            <a:r>
              <a:rPr lang="pt-BR" sz="4500" b="1" dirty="0" err="1">
                <a:solidFill>
                  <a:schemeClr val="bg1"/>
                </a:solidFill>
              </a:rPr>
              <a:t>RNNs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61E0F6F-D710-EFFD-3679-E5046209B9DF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recorrentes são amplamente utilizadas em tarefas que envolvem dados sequenciais.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Tradução automática se beneficia da capacidade das </a:t>
            </a:r>
            <a:r>
              <a:rPr lang="pt-BR" sz="2800" dirty="0" err="1"/>
              <a:t>RNNs</a:t>
            </a:r>
            <a:r>
              <a:rPr lang="pt-BR" sz="2800" dirty="0"/>
              <a:t> de manter contexto ao longo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Reconhecimento de fala exige modelagem temporal, algo que as </a:t>
            </a:r>
            <a:r>
              <a:rPr lang="pt-BR" sz="2800" dirty="0" err="1"/>
              <a:t>RNNs</a:t>
            </a:r>
            <a:r>
              <a:rPr lang="pt-BR" sz="2800" dirty="0"/>
              <a:t> realizam com eficiência.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Séries temporais são analisadas com </a:t>
            </a:r>
            <a:r>
              <a:rPr lang="pt-BR" sz="2800" dirty="0" err="1"/>
              <a:t>RNNs</a:t>
            </a:r>
            <a:r>
              <a:rPr lang="pt-BR" sz="2800" dirty="0"/>
              <a:t> por sua habilidade de capturar padrões ao longo do tempo.</a:t>
            </a:r>
          </a:p>
        </p:txBody>
      </p:sp>
    </p:spTree>
    <p:extLst>
      <p:ext uri="{BB962C8B-B14F-4D97-AF65-F5344CB8AC3E}">
        <p14:creationId xmlns:p14="http://schemas.microsoft.com/office/powerpoint/2010/main" val="1927787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6BAB1-4337-D4EF-DB31-8A5DF65DE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E273D3F-89CD-5C78-A3FE-4997F0ED0C2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Funcionamento das </a:t>
            </a:r>
            <a:r>
              <a:rPr lang="pt-BR" sz="4500" b="1" dirty="0" err="1">
                <a:solidFill>
                  <a:schemeClr val="bg1"/>
                </a:solidFill>
              </a:rPr>
              <a:t>RNNs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5249D8B-ABA3-B89A-435E-AFDB41D292D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recorrentes mantêm estados internos que evoluem conforme a sequência é processada.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novo elemento da entrada atualiza o estado oculto, influenciando a saída.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dinâmica permite que o modelo aprenda padrões temporais e contextuais.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fluxo de informação depende da ordem dos dados, o que afeta o desempenho em sequências longas.</a:t>
            </a:r>
          </a:p>
        </p:txBody>
      </p:sp>
    </p:spTree>
    <p:extLst>
      <p:ext uri="{BB962C8B-B14F-4D97-AF65-F5344CB8AC3E}">
        <p14:creationId xmlns:p14="http://schemas.microsoft.com/office/powerpoint/2010/main" val="2894201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10D69-A5E7-2BA9-5BAB-695634D4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8DF289-E1A0-8DDE-6700-63255C56909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Desaparecimento de Gradientes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746F4E5-3643-0112-151B-F39537B18E42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Gradientes que desaparecem comprometem o aprendizado de padrões distantes na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fenômeno limita a capacidade do modelo de manter informações relevantes ao longo do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treinamento se torna ineficiente em tarefas que exigem compreensão de contexto amplo.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Estratégias específicas são necessárias para lidar com esse tipo de degradação no sinal de erro.</a:t>
            </a:r>
          </a:p>
        </p:txBody>
      </p:sp>
    </p:spTree>
    <p:extLst>
      <p:ext uri="{BB962C8B-B14F-4D97-AF65-F5344CB8AC3E}">
        <p14:creationId xmlns:p14="http://schemas.microsoft.com/office/powerpoint/2010/main" val="1153207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57DCC-F52B-98E1-D654-77FB2BBCC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4826737-7A69-F02A-8218-AB1D738F7E3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Explosão de Gradientes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75E2626-DA0A-4DF1-1ADD-1B2242181EB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Gradientes que explodem podem gerar instabilidade durante o processo de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problema afeta a atualização dos pesos, tornando o modelo difícil de otimizar.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redes recorrentes, os valores podem crescer rapidamente e comprometer o aprendizado.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Técnicas como recorte (</a:t>
            </a:r>
            <a:r>
              <a:rPr lang="pt-BR" sz="2800" i="1" dirty="0"/>
              <a:t>clipping</a:t>
            </a:r>
            <a:r>
              <a:rPr lang="pt-BR" sz="2800" dirty="0"/>
              <a:t>) de gradientes ajudam a limitar os efeitos negativos desse fenômeno.</a:t>
            </a:r>
          </a:p>
        </p:txBody>
      </p:sp>
    </p:spTree>
    <p:extLst>
      <p:ext uri="{BB962C8B-B14F-4D97-AF65-F5344CB8AC3E}">
        <p14:creationId xmlns:p14="http://schemas.microsoft.com/office/powerpoint/2010/main" val="631658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7627F-D708-5989-3530-121671BE5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8AA078A-B50B-B1B5-A654-5D9EE02627B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Dependência de Ordem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A7C9519-31C4-1FCA-8F5F-7AC330DBB492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recorrentes processam os dados em sequência, respeitando a ordem temporal.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característica impede que múltiplos elementos sejam tratados simultaneamente.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limitação na paralelização afeta o desempenho em tarefas com grandes volumes de dados.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que exigem rapidez e escalabilidade enfrentam desafios com essa abordagem sequencial.</a:t>
            </a:r>
          </a:p>
        </p:txBody>
      </p:sp>
    </p:spTree>
    <p:extLst>
      <p:ext uri="{BB962C8B-B14F-4D97-AF65-F5344CB8AC3E}">
        <p14:creationId xmlns:p14="http://schemas.microsoft.com/office/powerpoint/2010/main" val="2158256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A2C22-2DE5-A8FC-870E-833EDEB8E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E745BE8-68E8-EC88-4E18-9FE339BCCF3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Tempo de Treinamento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70DAD29-3D6D-B0B5-EBF6-024362C149D8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treinamento de redes recorrentes tende a ser mais lento por depender do processamento sequencial.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elemento da sequência precisa ser tratado em ordem, o que impede paralelização eficiente.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limitação afeta o tempo total de execução em tarefas com grandes volumes de dados.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que exigem rapidez enfrentam desafios ao utilizar arquiteturas sequenciais.</a:t>
            </a:r>
          </a:p>
        </p:txBody>
      </p:sp>
    </p:spTree>
    <p:extLst>
      <p:ext uri="{BB962C8B-B14F-4D97-AF65-F5344CB8AC3E}">
        <p14:creationId xmlns:p14="http://schemas.microsoft.com/office/powerpoint/2010/main" val="216992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447F7-DAB3-62F2-A7EE-2632ED088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917426F-9C00-3C9E-8B7B-017C967D9A8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Dificuldade de Capturar Contexto Global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9EB020-E927-00DE-F2B7-7131D5FD9DDB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recorrentes enfrentam limitações ao tentar compreender relações distantes em uma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capacidade de capturar contexto global é reduzida, especialmente em textos longos e complexos.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Informações relevantes podem se perder ao longo da cadeia de estados ocultos.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limitação afeta a precisão em tarefas que exigem entendimento completo do conteúdo.</a:t>
            </a:r>
          </a:p>
        </p:txBody>
      </p:sp>
    </p:spTree>
    <p:extLst>
      <p:ext uri="{BB962C8B-B14F-4D97-AF65-F5344CB8AC3E}">
        <p14:creationId xmlns:p14="http://schemas.microsoft.com/office/powerpoint/2010/main" val="3355205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568B9-4B61-40A2-6542-16668A088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289873C-66C0-045F-D5E9-D8719172041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Soluções Parciais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C5C2CC0-B8EB-A1FB-542B-5A2D75CDC130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Algumas arquiteturas (como LSTM e GRU) foram propostas para reduzir os efeitos negativos dos gradientes em redes recorrentes.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Essas soluções buscam melhorar a retenção de informações ao longo de sequências extensas.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objetivo é tornar o treinamento mais estável e eficiente em tarefas complexas.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Embora úteis, essas abordagens não resolvem todos os desafios das redes sequenciais.</a:t>
            </a:r>
          </a:p>
        </p:txBody>
      </p:sp>
    </p:spTree>
    <p:extLst>
      <p:ext uri="{BB962C8B-B14F-4D97-AF65-F5344CB8AC3E}">
        <p14:creationId xmlns:p14="http://schemas.microsoft.com/office/powerpoint/2010/main" val="297818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F0D92-6A4A-D691-35EA-109AB7376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5ACAA76-A3A7-4B62-C5EA-B0FE083B87D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Limitações Persistentes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44F8E15-F068-7F05-4F21-636B334E690F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Apesar de avanços em arquiteturas recorrentes, desafios como escalabilidade ainda persistem.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dificuldade em paralelizar o processamento limita o uso eficiente de recursos computacionais.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sequenciais continuam enfrentando barreiras em tarefas com grandes volumes de dados.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busca por soluções mais eficientes levou ao desenvolvimento de abordagens alternativas.</a:t>
            </a:r>
          </a:p>
        </p:txBody>
      </p:sp>
    </p:spTree>
    <p:extLst>
      <p:ext uri="{BB962C8B-B14F-4D97-AF65-F5344CB8AC3E}">
        <p14:creationId xmlns:p14="http://schemas.microsoft.com/office/powerpoint/2010/main" val="2089486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45768-00B1-6627-598B-A83E9CF2D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989DD9B-4327-577D-93C0-1A61E6B1BF4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Motivação para Transformers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BC1A0F2-E84B-5ED3-8224-615CB7683A95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limitações das redes recorrentes impulsionaram a criação de novas arquiteturas mais eficientes.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foram desenvolvidos para lidar melhor com dependências de longo alcance.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processamento paralelo tornou-se possível, acelerando o treinamento em grandes conjuntos de dados.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trouxe avanços significativos para tarefas complexas de linguagem natural.</a:t>
            </a:r>
          </a:p>
        </p:txBody>
      </p:sp>
    </p:spTree>
    <p:extLst>
      <p:ext uri="{BB962C8B-B14F-4D97-AF65-F5344CB8AC3E}">
        <p14:creationId xmlns:p14="http://schemas.microsoft.com/office/powerpoint/2010/main" val="2564012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46CC1-BF6D-B832-9C52-571540BCD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8722283-6455-A068-B867-3CFFC192A38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Atenção como Alternativa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BE79E2C-BF6C-D6E7-CCF1-513595038009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mecanismo de atenção permite que o modelo identifique partes mais relevantes da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distribui o foco de forma dinâmica, ajustando-se ao conteúdo processado.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melhora a compreensão de relações contextuais entre os elementos.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substitui a recorrência ao oferecer uma forma mais flexível de aprendizado sequencial.</a:t>
            </a:r>
          </a:p>
        </p:txBody>
      </p:sp>
    </p:spTree>
    <p:extLst>
      <p:ext uri="{BB962C8B-B14F-4D97-AF65-F5344CB8AC3E}">
        <p14:creationId xmlns:p14="http://schemas.microsoft.com/office/powerpoint/2010/main" val="246320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681A7-7E9C-7B44-7EE5-2B05550F2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36FF6DD-4854-EF3E-12BA-CB7128A44E1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Paralelização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55645C7-AAC6-09E4-33D1-98AACCF89D08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processamento paralelo é uma das principais vantagens dos Transformers sobre modelos sequenciais.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característica permite acelerar significativamente o treinamento em grandes conjuntos de dados.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arquitetura facilita o uso eficiente de recursos computacionais modernos como GPUs.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paralelização contribui para maior escalabilidade e desempenho em aplicações de linguagem natural.</a:t>
            </a:r>
          </a:p>
        </p:txBody>
      </p:sp>
    </p:spTree>
    <p:extLst>
      <p:ext uri="{BB962C8B-B14F-4D97-AF65-F5344CB8AC3E}">
        <p14:creationId xmlns:p14="http://schemas.microsoft.com/office/powerpoint/2010/main" val="1191554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845EA-8E9D-3F50-FC70-2E21DB410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B4117EB-3439-F77A-68D7-5C1D5F9DDBA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Escalabilidade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C16DB0C-3FEE-7BFE-44F3-46AE30A4A8B2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arquitetura dos Transformers permite lidar com grandes volumes de dados de forma eficiente.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Eles mantêm desempenho elevado mesmo com o aumento do tamanho dos modelos.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escalabilidade favorece aplicações em larga escala, como sistemas de linguagem natural.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característica os torna ideais para ambientes que exigem alta capacidade de processamento.</a:t>
            </a:r>
          </a:p>
        </p:txBody>
      </p:sp>
    </p:spTree>
    <p:extLst>
      <p:ext uri="{BB962C8B-B14F-4D97-AF65-F5344CB8AC3E}">
        <p14:creationId xmlns:p14="http://schemas.microsoft.com/office/powerpoint/2010/main" val="2522399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16DD3-CCA7-4A2D-2F54-2B2C1D6CC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4E3A57C-E8EF-2788-6BC4-9DFF17A0CC2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Contexto Global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3F63E98-533D-0AF9-0E4F-BC7D6E07037B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conseguem identificar relações entre elementos distantes em uma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capacidade melhora a compreensão de contexto em tarefas como tradução e sumarização.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avalia a relevância de cada parte da entrada, mesmo que estejam longe entre si.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eficiência na captura de dependências amplia o desempenho em linguagem natural.</a:t>
            </a:r>
          </a:p>
        </p:txBody>
      </p:sp>
    </p:spTree>
    <p:extLst>
      <p:ext uri="{BB962C8B-B14F-4D97-AF65-F5344CB8AC3E}">
        <p14:creationId xmlns:p14="http://schemas.microsoft.com/office/powerpoint/2010/main" val="3328461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B008D-79E8-9865-CD55-7C8EB8E2E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E3FCCF1-2F60-210D-D9E3-13E149F7B21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Impacto dos Transformers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A7C7FC1-C623-F29C-3748-0750DAA1E9F9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introdução dos Transformers marcou uma mudança significativa no processamento de linguagem natural.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arquitetura permitiu avanços em tarefas complexas como tradução, geração e compreensão de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sucesso dos Transformers impulsionou o desenvolvimento dos modelos de linguagem de grande escala.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modelos redefiniram o padrão de desempenho em aplicações modernas de inteligência artificial.</a:t>
            </a:r>
          </a:p>
        </p:txBody>
      </p:sp>
    </p:spTree>
    <p:extLst>
      <p:ext uri="{BB962C8B-B14F-4D97-AF65-F5344CB8AC3E}">
        <p14:creationId xmlns:p14="http://schemas.microsoft.com/office/powerpoint/2010/main" val="162577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390860"/>
              </p:ext>
            </p:extLst>
          </p:nvPr>
        </p:nvGraphicFramePr>
        <p:xfrm>
          <a:off x="1501642" y="1526905"/>
          <a:ext cx="9166303" cy="3804189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408663">
                  <a:extLst>
                    <a:ext uri="{9D8B030D-6E8A-4147-A177-3AD203B41FA5}">
                      <a16:colId xmlns:a16="http://schemas.microsoft.com/office/drawing/2014/main" val="3059415648"/>
                    </a:ext>
                  </a:extLst>
                </a:gridCol>
                <a:gridCol w="3378820">
                  <a:extLst>
                    <a:ext uri="{9D8B030D-6E8A-4147-A177-3AD203B41FA5}">
                      <a16:colId xmlns:a16="http://schemas.microsoft.com/office/drawing/2014/main" val="3849346587"/>
                    </a:ext>
                  </a:extLst>
                </a:gridCol>
                <a:gridCol w="3378820">
                  <a:extLst>
                    <a:ext uri="{9D8B030D-6E8A-4147-A177-3AD203B41FA5}">
                      <a16:colId xmlns:a16="http://schemas.microsoft.com/office/drawing/2014/main" val="2901214388"/>
                    </a:ext>
                  </a:extLst>
                </a:gridCol>
              </a:tblGrid>
              <a:tr h="6361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</a:rPr>
                        <a:t>Aspecto</a:t>
                      </a: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3EBF3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02" marR="94402" marT="47202" marB="4720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</a:rPr>
                        <a:t>RNN</a:t>
                      </a: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3EBF3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02" marR="94402" marT="47202" marB="4720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</a:rPr>
                        <a:t>Transformer</a:t>
                      </a: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3EBF3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02" marR="94402" marT="47202" marB="47202" anchor="ctr"/>
                </a:tc>
                <a:extLst>
                  <a:ext uri="{0D108BD9-81ED-4DB2-BD59-A6C34878D82A}">
                    <a16:rowId xmlns:a16="http://schemas.microsoft.com/office/drawing/2014/main" val="32426272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Processamento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Sequencial, depende da ordem dos dados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Paralelo, permite processamento simultâneo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42481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Captura de contexto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Limitada em sequências longas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Eficiente em dependências de longo alcance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422495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Escalabilidade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Pouco escalável aos grandes volumes de dados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Altamente escalável aos dados e modelos maiores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73441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Aplicabilidade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Útil em tarefas simples e curtas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Padrão em aplicações modernas de PLN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784606"/>
                  </a:ext>
                </a:extLst>
              </a:tr>
            </a:tbl>
          </a:graphicData>
        </a:graphic>
      </p:graphicFrame>
      <p:sp>
        <p:nvSpPr>
          <p:cNvPr id="3" name="CaixaDeTexto 2"/>
          <p:cNvSpPr txBox="1"/>
          <p:nvPr/>
        </p:nvSpPr>
        <p:spPr>
          <a:xfrm>
            <a:off x="645458" y="593031"/>
            <a:ext cx="1087867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 dirty="0">
                <a:solidFill>
                  <a:srgbClr val="01BDC4"/>
                </a:solidFill>
              </a:rPr>
              <a:t>QUADRO COMPARATIVO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656665" y="5372865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00" i="1" dirty="0">
                <a:solidFill>
                  <a:schemeClr val="bg1">
                    <a:lumMod val="50000"/>
                  </a:schemeClr>
                </a:solidFill>
              </a:rPr>
              <a:t>FONTE: Elaborada pelo autor.</a:t>
            </a:r>
          </a:p>
        </p:txBody>
      </p:sp>
    </p:spTree>
    <p:extLst>
      <p:ext uri="{BB962C8B-B14F-4D97-AF65-F5344CB8AC3E}">
        <p14:creationId xmlns:p14="http://schemas.microsoft.com/office/powerpoint/2010/main" val="258817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41B6F-C6D3-BC1A-B1D6-B63CC37C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C91B25C-692C-C8F0-7CF7-D92BAC40FD2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CB125CA-9EBC-FAE3-619D-6727C7B2D58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limitações enfrentadas pelas redes recorrentes impulsionaram a criação de novas arquiteturas – conhecidas como Transformers.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surgiram como resposta aos desafios de escalabilidade e paralelização.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 desempenho superior, eles se destacaram em tarefas de linguagem natural.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Atualmente, eles são amplamente adotados como padrão em aplicações modernas de PLN.</a:t>
            </a:r>
          </a:p>
        </p:txBody>
      </p:sp>
    </p:spTree>
    <p:extLst>
      <p:ext uri="{BB962C8B-B14F-4D97-AF65-F5344CB8AC3E}">
        <p14:creationId xmlns:p14="http://schemas.microsoft.com/office/powerpoint/2010/main" val="2862260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11391</TotalTime>
  <Words>1084</Words>
  <Application>Microsoft Office PowerPoint</Application>
  <PresentationFormat>Widescreen</PresentationFormat>
  <Paragraphs>104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20</vt:i4>
      </vt:variant>
    </vt:vector>
  </HeadingPairs>
  <TitlesOfParts>
    <vt:vector size="32" baseType="lpstr">
      <vt:lpstr>Arial</vt:lpstr>
      <vt:lpstr>Calibri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5 - Slide de Tabela ou imagem</vt:lpstr>
      <vt:lpstr>1_5 - Slide de Tabela ou imagem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Zenilton Patrocínio Jr.</cp:lastModifiedBy>
  <cp:revision>101</cp:revision>
  <dcterms:created xsi:type="dcterms:W3CDTF">2020-01-14T17:16:45Z</dcterms:created>
  <dcterms:modified xsi:type="dcterms:W3CDTF">2025-11-28T19:11:31Z</dcterms:modified>
</cp:coreProperties>
</file>