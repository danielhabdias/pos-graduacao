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0"/>
  </p:notesMasterIdLst>
  <p:handoutMasterIdLst>
    <p:handoutMasterId r:id="rId31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1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99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ao GPT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GPT (</a:t>
            </a:r>
            <a:r>
              <a:rPr lang="pt-BR" sz="2800" i="1" dirty="0" err="1"/>
              <a:t>Generative</a:t>
            </a:r>
            <a:r>
              <a:rPr lang="pt-BR" sz="2800" i="1" dirty="0"/>
              <a:t> </a:t>
            </a:r>
            <a:r>
              <a:rPr lang="pt-BR" sz="2800" i="1" dirty="0" err="1"/>
              <a:t>Pre-trained</a:t>
            </a:r>
            <a:r>
              <a:rPr lang="pt-BR" sz="2800" i="1" dirty="0"/>
              <a:t> </a:t>
            </a:r>
            <a:r>
              <a:rPr lang="pt-BR" sz="2800" i="1" dirty="0" err="1"/>
              <a:t>Transformer</a:t>
            </a:r>
            <a:r>
              <a:rPr lang="pt-BR" sz="2800" dirty="0"/>
              <a:t>) é uma das maiores inovações no campo de Processamento de Linguagem Natural (PLN).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foi projetado para gerar texto de forma fluida e coerente, simulando a escrita humana com alta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abordagem baseada em pré-treinamento e geração </a:t>
            </a:r>
            <a:r>
              <a:rPr lang="pt-BR" sz="2800" dirty="0" err="1"/>
              <a:t>autoregressiva</a:t>
            </a:r>
            <a:r>
              <a:rPr lang="pt-BR" sz="2800" dirty="0"/>
              <a:t> o torna ideal para tarefas criativas e interativas.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amplamente utilizado em aplicações como assistentes virtuais, redação automática e sistemas de diálogo.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3162B-41C9-5102-1421-D1836B7A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FCC452A-A3B2-EACD-A88D-09F060BC6E0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Histórico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4C2413-246F-10AB-4017-2AB6B05206A0}"/>
              </a:ext>
            </a:extLst>
          </p:cNvPr>
          <p:cNvSpPr txBox="1"/>
          <p:nvPr/>
        </p:nvSpPr>
        <p:spPr>
          <a:xfrm>
            <a:off x="512064" y="1226348"/>
            <a:ext cx="11137392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evolução do GPT começou com o GPT-1, que introduziu o conceito de pré-treinamento seguido de fine-</a:t>
            </a:r>
            <a:r>
              <a:rPr lang="pt-BR" sz="2800" dirty="0" err="1"/>
              <a:t>tuning</a:t>
            </a:r>
            <a:r>
              <a:rPr lang="pt-BR" sz="2800" dirty="0"/>
              <a:t>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GPT-2 ampliou significativamente o número de parâmetros e mostrou capacidades impressionantes de geração de texto.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GPT-3 trouxe uma escala massiva, com bilhões de parâmetros, permitindo desempenho em tarefas sem fine-</a:t>
            </a:r>
            <a:r>
              <a:rPr lang="pt-BR" sz="2800" dirty="0" err="1"/>
              <a:t>tuning</a:t>
            </a:r>
            <a:r>
              <a:rPr lang="pt-BR" sz="2800" dirty="0"/>
              <a:t>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GPT-4 refinou ainda mais a arquitetura, com melhorias em segurança, alinhamento e compreensão contextual.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GPT-5 aprimora significativamente o raciocínio, a capacidade de codificação e a precisão, apresentando menos alucinações.</a:t>
            </a:r>
          </a:p>
        </p:txBody>
      </p:sp>
    </p:spTree>
    <p:extLst>
      <p:ext uri="{BB962C8B-B14F-4D97-AF65-F5344CB8AC3E}">
        <p14:creationId xmlns:p14="http://schemas.microsoft.com/office/powerpoint/2010/main" val="317797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3D56-6FED-128C-3276-06B69CB6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023DC27-6149-0F7C-744D-A5206C22A50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Geral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FD9A67-E9E8-F919-335D-1576B0AB399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baseado exclusivamente na arquitetura de decodificador do </a:t>
            </a:r>
            <a:r>
              <a:rPr lang="pt-BR" sz="2800" dirty="0" err="1"/>
              <a:t>Transformer</a:t>
            </a:r>
            <a:r>
              <a:rPr lang="pt-BR" sz="2800" dirty="0"/>
              <a:t>, sem utilizar codificadores.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permite que o modelo gere texto de forma sequencial, prevendo um token por vez.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foco está na geração de conteúdo, diferentemente de modelos como BERT, que se concentram na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simplicidade da arquitetura facilita a escalabilidade e adaptação a diferentes tarefas.</a:t>
            </a:r>
          </a:p>
        </p:txBody>
      </p:sp>
    </p:spTree>
    <p:extLst>
      <p:ext uri="{BB962C8B-B14F-4D97-AF65-F5344CB8AC3E}">
        <p14:creationId xmlns:p14="http://schemas.microsoft.com/office/powerpoint/2010/main" val="384967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CC479-B0B3-3B85-5D0B-6AE6E117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FCF971-0445-432E-7981-92CCFEC85B2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Decoder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Autoregressivo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9382F3-CAC1-5C27-0595-8F7443E9FEDF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funcionamento </a:t>
            </a:r>
            <a:r>
              <a:rPr lang="pt-BR" sz="2800" dirty="0" err="1"/>
              <a:t>autoregressivo</a:t>
            </a:r>
            <a:r>
              <a:rPr lang="pt-BR" sz="2800" dirty="0"/>
              <a:t> significa que o modelo gera texto palavra por palavra, com base nas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novo token é previsto considerando o histórico da sequência já gerada.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garante coerência e continuidade na produção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ideal para tarefas como redação, resposta a perguntas e criação de diálogos.</a:t>
            </a:r>
          </a:p>
        </p:txBody>
      </p:sp>
    </p:spTree>
    <p:extLst>
      <p:ext uri="{BB962C8B-B14F-4D97-AF65-F5344CB8AC3E}">
        <p14:creationId xmlns:p14="http://schemas.microsoft.com/office/powerpoint/2010/main" val="22696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7F60-F236-E666-F51D-228C2549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47DE6B-5C39-AB79-09A0-E2524BE51A7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Blocos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775251-9E80-2499-168C-8F966DCCD0F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é composto por múltiplos blocos que refinam progressivamente a representação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inclui mecanismos de atenção, camadas </a:t>
            </a:r>
            <a:r>
              <a:rPr lang="pt-BR" sz="2800" i="1" dirty="0" err="1"/>
              <a:t>feedforward</a:t>
            </a:r>
            <a:r>
              <a:rPr lang="pt-BR" sz="2800" dirty="0"/>
              <a:t> e normalização.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estrutura modular permite que o modelo aprenda padrões complexos de linguagem.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quantidade e profundidade dos blocos está diretamente relacionada à capacidade de geração do modelo.</a:t>
            </a:r>
          </a:p>
        </p:txBody>
      </p:sp>
    </p:spTree>
    <p:extLst>
      <p:ext uri="{BB962C8B-B14F-4D97-AF65-F5344CB8AC3E}">
        <p14:creationId xmlns:p14="http://schemas.microsoft.com/office/powerpoint/2010/main" val="231426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5A60-E1A2-032C-53D5-1DA27444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3A5428-9E88-D0F1-FED8-7D18BB1A200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Embeddings</a:t>
            </a:r>
            <a:r>
              <a:rPr lang="pt-BR" sz="4500" b="1" dirty="0">
                <a:solidFill>
                  <a:schemeClr val="bg1"/>
                </a:solidFill>
              </a:rPr>
              <a:t> de Entrada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07B346-18FD-F62F-A8FF-B07B996551E0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tokens de entrada são convertidos em vetores contínuos chamados </a:t>
            </a:r>
            <a:r>
              <a:rPr lang="pt-BR" sz="2800" i="1" dirty="0" err="1"/>
              <a:t>embeddings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vetores capturam informações semânticas e posicionais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i="1" dirty="0" err="1"/>
              <a:t>embedding</a:t>
            </a:r>
            <a:r>
              <a:rPr lang="pt-BR" sz="2800" dirty="0"/>
              <a:t> é a primeira etapa do processamento dentro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permite que o GPT compreenda o significado das palavras em diferentes contextos.</a:t>
            </a:r>
          </a:p>
        </p:txBody>
      </p:sp>
    </p:spTree>
    <p:extLst>
      <p:ext uri="{BB962C8B-B14F-4D97-AF65-F5344CB8AC3E}">
        <p14:creationId xmlns:p14="http://schemas.microsoft.com/office/powerpoint/2010/main" val="246124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5F08-E6E0-D35E-E0F5-56F3E054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D7DA076-B65C-8C7D-611D-1E07F46FD52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10CB1E-2FE5-B231-5DBA-D377A12AA18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os Transformers não têm estrutura sequencial nativa, a codificação posicional é essencial.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é somada aos </a:t>
            </a:r>
            <a:r>
              <a:rPr lang="pt-BR" sz="2800" i="1" dirty="0" err="1"/>
              <a:t>embeddings</a:t>
            </a:r>
            <a:r>
              <a:rPr lang="pt-BR" sz="2800" dirty="0"/>
              <a:t> para indicar a posição de cada token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que o modelo reconheça a ordem das palavras, fundamental para a coerência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pode ser fixa ou aprendida durante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2967294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1E445-00F6-ED37-664F-70807A11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F6FCB65-AF33-733D-B242-A8DF0CC15C5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Mascarada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787991-D584-D279-4674-A31C6436BE75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impede que o modelo acesse tokens futuros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garante que a geração seja feita de forma causal, respeitando a ordem natural da linguagem.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só pode considerar os tokens anteriores ao prever o próximo.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é crucial para manter a integridade da geração </a:t>
            </a:r>
            <a:r>
              <a:rPr lang="pt-BR" sz="2800" dirty="0" err="1"/>
              <a:t>autoregressiva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301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CA1EF-78D7-875E-31AC-A1EEA352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C1095B3-B7D8-16B2-F55C-67E3E5225BD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</a:t>
            </a:r>
            <a:r>
              <a:rPr lang="pt-BR" sz="4500" b="1" dirty="0" err="1">
                <a:solidFill>
                  <a:schemeClr val="bg1"/>
                </a:solidFill>
              </a:rPr>
              <a:t>Multi-Cabeça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06C76D-341D-2E70-0E80-952D3C19853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é dividido em múltiplas cabeças que operam em paralelo.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foca em diferentes aspectos da sequência, como sintaxe ou semântica.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que o modelo capture padrões variados e complexos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combinação das cabeças resulta em uma representação rica e detalhada.</a:t>
            </a:r>
          </a:p>
        </p:txBody>
      </p:sp>
    </p:spTree>
    <p:extLst>
      <p:ext uri="{BB962C8B-B14F-4D97-AF65-F5344CB8AC3E}">
        <p14:creationId xmlns:p14="http://schemas.microsoft.com/office/powerpoint/2010/main" val="397727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8140-823E-809D-FDC5-CD9DAB6F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712DCA-586F-3C1D-A2CC-0A1F24FD1A9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Camadas </a:t>
            </a:r>
            <a:r>
              <a:rPr lang="pt-BR" sz="4500" b="1" i="1" dirty="0" err="1">
                <a:solidFill>
                  <a:schemeClr val="bg1"/>
                </a:solidFill>
              </a:rPr>
              <a:t>Feedforward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790B58-72C3-5154-A16D-262B6E8EBB2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a atenção, os dados passam por camadas totalmente conectadas chamadas </a:t>
            </a:r>
            <a:r>
              <a:rPr lang="pt-BR" sz="2800" i="1" dirty="0" err="1"/>
              <a:t>feedforward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camadas aplicam transformações não lineares para refinar as representações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composta por 2 subcamadas densas com funções de ativação entre elas como </a:t>
            </a:r>
            <a:r>
              <a:rPr lang="pt-BR" sz="2800" dirty="0" err="1"/>
              <a:t>ReLU</a:t>
            </a:r>
            <a:r>
              <a:rPr lang="pt-BR" sz="2800" dirty="0"/>
              <a:t> ou GELU.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Elas contribuem para a capacidade do modelo de aprender relações mais abstratas.</a:t>
            </a:r>
          </a:p>
        </p:txBody>
      </p:sp>
    </p:spTree>
    <p:extLst>
      <p:ext uri="{BB962C8B-B14F-4D97-AF65-F5344CB8AC3E}">
        <p14:creationId xmlns:p14="http://schemas.microsoft.com/office/powerpoint/2010/main" val="95783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7776-E2D3-2D80-2FB0-A713F10B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87F99E-2ADC-B899-68CE-421374ADACD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Conexões Residuais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C8BF9C-7F46-92C0-3C7E-EC5AD608F24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conexões residuais permitem que informações fluam diretamente entre camadas.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ajuda a evitar o problema de gradientes desaparecendo em redes profundas.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 o treinamento de modelos com muitas camadas, mantendo a estabilidade.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melhora a capacidade de aprendizado ao preservar informações importantes.</a:t>
            </a:r>
          </a:p>
        </p:txBody>
      </p:sp>
    </p:spTree>
    <p:extLst>
      <p:ext uri="{BB962C8B-B14F-4D97-AF65-F5344CB8AC3E}">
        <p14:creationId xmlns:p14="http://schemas.microsoft.com/office/powerpoint/2010/main" val="3717553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D1BF-3B83-4A13-3911-D6099980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1ED3CC-01C1-2E6F-0287-A43708B866D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Normalização em Camada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4FA5FE-8549-547F-D70E-865C680151DA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em camada estabiliza os valores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Reduz variações extremas e acelera a convergência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aplicada após cada camada de atenção e também depois da camada </a:t>
            </a:r>
            <a:r>
              <a:rPr lang="pt-BR" sz="2800" i="1" dirty="0" err="1"/>
              <a:t>feedforward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contribui para um treinamento mais eficiente e robusto.</a:t>
            </a:r>
          </a:p>
        </p:txBody>
      </p:sp>
    </p:spTree>
    <p:extLst>
      <p:ext uri="{BB962C8B-B14F-4D97-AF65-F5344CB8AC3E}">
        <p14:creationId xmlns:p14="http://schemas.microsoft.com/office/powerpoint/2010/main" val="1411986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474E-BAB7-631C-A1D4-55E9B71B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EA15B1D-499C-EDD1-4099-27B906CCDA2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Saída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5648DE-B3D5-D521-6027-BCACB93F151F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saída do decodificador é uma distribuição de probabilidade sobre o vocabulário.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escolhe o token com maior probabilidade como próximo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escolha pode também ser ajustada com técnicas como amostragem.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é repetido até que a sequência desejada seja concluída.</a:t>
            </a:r>
          </a:p>
        </p:txBody>
      </p:sp>
    </p:spTree>
    <p:extLst>
      <p:ext uri="{BB962C8B-B14F-4D97-AF65-F5344CB8AC3E}">
        <p14:creationId xmlns:p14="http://schemas.microsoft.com/office/powerpoint/2010/main" val="1992435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53FDD-2A69-2F55-177E-9479C089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7251A39-DDDF-7B81-D549-FE948E13D39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</a:t>
            </a:r>
            <a:r>
              <a:rPr lang="pt-BR" sz="4500" b="1" dirty="0" err="1">
                <a:solidFill>
                  <a:schemeClr val="bg1"/>
                </a:solidFill>
              </a:rPr>
              <a:t>Autoregressivo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085194-1950-FD33-4B3B-95A01F196D12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treinado para prever o próximo token com base nos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tarefa é realizada em grandes conjuntos de texto não rotulado.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padrões linguísticos, estilo e estrutura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é supervisionado indiretamente, com base na sequência correta.</a:t>
            </a:r>
          </a:p>
        </p:txBody>
      </p:sp>
    </p:spTree>
    <p:extLst>
      <p:ext uri="{BB962C8B-B14F-4D97-AF65-F5344CB8AC3E}">
        <p14:creationId xmlns:p14="http://schemas.microsoft.com/office/powerpoint/2010/main" val="1060090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D0BC-0B4B-C417-4A6F-06C8986F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55696C-55D1-8855-71F8-F8FC9988E9F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Função de Perda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231CE1-AE32-887B-536D-5B36E2CEEAAD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função de perda utilizada para guiar o processo de treinamento é a entropia cruzada (</a:t>
            </a:r>
            <a:r>
              <a:rPr lang="pt-BR" sz="2800" i="1" dirty="0" err="1"/>
              <a:t>cross</a:t>
            </a:r>
            <a:r>
              <a:rPr lang="pt-BR" sz="2800" i="1" dirty="0"/>
              <a:t> </a:t>
            </a:r>
            <a:r>
              <a:rPr lang="pt-BR" sz="2800" i="1" dirty="0" err="1"/>
              <a:t>entropy</a:t>
            </a:r>
            <a:r>
              <a:rPr lang="pt-BR" sz="2800" dirty="0"/>
              <a:t>), que mede a diferença entre as distribuições previstas e a desejada.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penaliza previsões incorretas e recompensa acertos.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aplicada em cada etapa da geração, token por token.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otimização da perda é feita com algoritmos otimizadores como Adam ou seus variantes.</a:t>
            </a:r>
          </a:p>
        </p:txBody>
      </p:sp>
    </p:spTree>
    <p:extLst>
      <p:ext uri="{BB962C8B-B14F-4D97-AF65-F5344CB8AC3E}">
        <p14:creationId xmlns:p14="http://schemas.microsoft.com/office/powerpoint/2010/main" val="1245586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47F9B-9CFE-24EA-B847-87F5CC4C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D06FCA-FD22-99D4-85ED-43F103EC011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Escalabilidade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3FE55C-E749-2E54-89CA-823FC67523AB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pode ser escalado com mais dados, parâmetros e camadas.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maiores tendem a ter melhor desempenho em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escalabilidade permite adaptação a novos domínios e linguagens.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aumenta a capacidade de generalização e criatividade.</a:t>
            </a:r>
          </a:p>
        </p:txBody>
      </p:sp>
    </p:spTree>
    <p:extLst>
      <p:ext uri="{BB962C8B-B14F-4D97-AF65-F5344CB8AC3E}">
        <p14:creationId xmlns:p14="http://schemas.microsoft.com/office/powerpoint/2010/main" val="2112542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B719-8EE7-B513-0A42-36E189FB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86148C6-ED3C-0266-ADB6-004F00E68CB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do Decodificador </a:t>
            </a:r>
            <a:r>
              <a:rPr lang="pt-BR" sz="4500" b="1" dirty="0" err="1">
                <a:solidFill>
                  <a:schemeClr val="bg1"/>
                </a:solidFill>
              </a:rPr>
              <a:t>Autoregressivo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58818E-D161-72B5-ACF8-23991081B328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sequencial pode causar latência em aplicações em tempo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depende fortemente da ordem dos tokens, o que limita paralelismo.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Erros iniciais podem se propagar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compreensão de contexto longo pode ser desafiadora sem mecanismos adicionais.</a:t>
            </a:r>
          </a:p>
        </p:txBody>
      </p:sp>
    </p:spTree>
    <p:extLst>
      <p:ext uri="{BB962C8B-B14F-4D97-AF65-F5344CB8AC3E}">
        <p14:creationId xmlns:p14="http://schemas.microsoft.com/office/powerpoint/2010/main" val="2507114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27BC-51CC-EF25-A18F-B31123E7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1FA6CF-D788-9F74-89F1-300250AE381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712E2B-AB0E-0200-8783-40ED30C88E6E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utiliza apenas decodificadores, enquanto o BERT é baseado em codificadores.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voltado para geração de texto, e o BERT para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</a:t>
            </a:r>
            <a:r>
              <a:rPr lang="pt-BR" sz="2800" dirty="0" err="1"/>
              <a:t>autoregressivo</a:t>
            </a:r>
            <a:r>
              <a:rPr lang="pt-BR" sz="2800" dirty="0"/>
              <a:t>, e o BERT é bidirecional.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que cada um desses modelos tem vantagens específicas conforme a tarefa desejada.</a:t>
            </a:r>
          </a:p>
        </p:txBody>
      </p:sp>
    </p:spTree>
    <p:extLst>
      <p:ext uri="{BB962C8B-B14F-4D97-AF65-F5344CB8AC3E}">
        <p14:creationId xmlns:p14="http://schemas.microsoft.com/office/powerpoint/2010/main" val="677467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9C92-BECC-9F77-8D66-B4B5A2236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50D934-1F86-B17B-1A17-D42A5321AAF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B62912-9FAC-1DD7-BE4A-B2EAA932A8EF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usado em geração de texto criativo, como histórias, artigos e diálogos.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atua em tradução automática, resumo de textos e resposta a perguntas.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aplicado em assistentes virtuais, sistemas de recomendação e </a:t>
            </a:r>
            <a:r>
              <a:rPr lang="pt-BR" sz="2800" dirty="0" err="1"/>
              <a:t>chatbots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flexibilidade permite uso em diversos setores, como educação, saúde e negócios.</a:t>
            </a:r>
          </a:p>
        </p:txBody>
      </p:sp>
    </p:spTree>
    <p:extLst>
      <p:ext uri="{BB962C8B-B14F-4D97-AF65-F5344CB8AC3E}">
        <p14:creationId xmlns:p14="http://schemas.microsoft.com/office/powerpoint/2010/main" val="3901069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4BEC7-73A4-2764-8137-36FD95FC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BF2B89F-9CC3-92CA-DEEB-9FE4F402E59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9CF619-A2A4-C846-1D8B-6424FDE121AA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combina </a:t>
            </a:r>
            <a:r>
              <a:rPr lang="pt-BR" sz="2800" i="1" dirty="0" err="1"/>
              <a:t>embeddings</a:t>
            </a:r>
            <a:r>
              <a:rPr lang="pt-BR" sz="2800" dirty="0"/>
              <a:t>, atenção mascarada, camadas </a:t>
            </a:r>
            <a:r>
              <a:rPr lang="pt-BR" sz="2800" i="1" dirty="0" err="1"/>
              <a:t>feedforward</a:t>
            </a:r>
            <a:r>
              <a:rPr lang="pt-BR" sz="2800" dirty="0"/>
              <a:t> e normalização.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estrutura </a:t>
            </a:r>
            <a:r>
              <a:rPr lang="pt-BR" sz="2800" dirty="0" err="1"/>
              <a:t>autoregressiva</a:t>
            </a:r>
            <a:r>
              <a:rPr lang="pt-BR" sz="2800" dirty="0"/>
              <a:t> permite geração sequencial e coerente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é escalável e adaptável a diferentes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representa uma das ferramentas mais poderosas da IA moderna.</a:t>
            </a:r>
          </a:p>
        </p:txBody>
      </p:sp>
    </p:spTree>
    <p:extLst>
      <p:ext uri="{BB962C8B-B14F-4D97-AF65-F5344CB8AC3E}">
        <p14:creationId xmlns:p14="http://schemas.microsoft.com/office/powerpoint/2010/main" val="2684000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11352</TotalTime>
  <Words>1187</Words>
  <Application>Microsoft Office PowerPoint</Application>
  <PresentationFormat>Widescreen</PresentationFormat>
  <Paragraphs>104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100</cp:revision>
  <dcterms:created xsi:type="dcterms:W3CDTF">2020-01-14T17:16:45Z</dcterms:created>
  <dcterms:modified xsi:type="dcterms:W3CDTF">2025-11-14T14:51:52Z</dcterms:modified>
</cp:coreProperties>
</file>