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30"/>
  </p:notesMasterIdLst>
  <p:handoutMasterIdLst>
    <p:handoutMasterId r:id="rId31"/>
  </p:handoutMasterIdLst>
  <p:sldIdLst>
    <p:sldId id="266" r:id="rId8"/>
    <p:sldId id="260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61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Masked</a:t>
            </a:r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 </a:t>
            </a:r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Language</a:t>
            </a:r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 </a:t>
            </a:r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Modeling</a:t>
            </a:r>
            <a:endParaRPr lang="pt-BR" sz="6000" b="1" dirty="0">
              <a:solidFill>
                <a:srgbClr val="4A6B9E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Masked</a:t>
            </a:r>
            <a:r>
              <a:rPr lang="pt-BR" sz="4500" b="1" dirty="0">
                <a:solidFill>
                  <a:schemeClr val="bg1"/>
                </a:solidFill>
              </a:rPr>
              <a:t> </a:t>
            </a:r>
            <a:r>
              <a:rPr lang="pt-BR" sz="4500" b="1" dirty="0" err="1">
                <a:solidFill>
                  <a:schemeClr val="bg1"/>
                </a:solidFill>
              </a:rPr>
              <a:t>Language</a:t>
            </a:r>
            <a:r>
              <a:rPr lang="pt-BR" sz="4500" b="1" dirty="0">
                <a:solidFill>
                  <a:schemeClr val="bg1"/>
                </a:solidFill>
              </a:rPr>
              <a:t> </a:t>
            </a:r>
            <a:r>
              <a:rPr lang="pt-BR" sz="4500" b="1" dirty="0" err="1">
                <a:solidFill>
                  <a:schemeClr val="bg1"/>
                </a:solidFill>
              </a:rPr>
              <a:t>Modeling</a:t>
            </a:r>
            <a:r>
              <a:rPr lang="pt-BR" sz="4500" b="1" dirty="0">
                <a:solidFill>
                  <a:schemeClr val="bg1"/>
                </a:solidFill>
              </a:rPr>
              <a:t> (MLM)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dirty="0" err="1"/>
              <a:t>Masked</a:t>
            </a:r>
            <a:r>
              <a:rPr lang="pt-BR" sz="2800" dirty="0"/>
              <a:t> </a:t>
            </a:r>
            <a:r>
              <a:rPr lang="pt-BR" sz="2800" dirty="0" err="1"/>
              <a:t>Language</a:t>
            </a:r>
            <a:r>
              <a:rPr lang="pt-BR" sz="2800" dirty="0"/>
              <a:t> </a:t>
            </a:r>
            <a:r>
              <a:rPr lang="pt-BR" sz="2800" dirty="0" err="1"/>
              <a:t>Modeling</a:t>
            </a:r>
            <a:r>
              <a:rPr lang="pt-BR" sz="2800" dirty="0"/>
              <a:t> é uma técnica usada no pré-treinamento do modelo BERT.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Consiste em ocultar palavras em uma frase para que o modelo aprenda a prever os termos ausentes.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permite que o modelo desenvolva uma compreensão profunda do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uma das principais inovações que tornam o BERT eficaz em tarefas de linguagem natural.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297E4-F283-FD41-C56E-7AC8E401A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6EDD1E-140F-6F7C-D8B5-78FBE17A792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Objetivo do MLM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930048-DA47-4209-9894-44AF6C56933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objetivo do MLM é ensinar o modelo a prever palavras ocultas com base no contexto completo.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considera tanto o que vem antes quanto o que vem depois da palavra mascarada.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promove uma compreensão bidirecional da linguagem, essencial para tarefas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técnica ajuda o modelo a aprender relações semânticas e sintáticas entre palavras.</a:t>
            </a:r>
          </a:p>
        </p:txBody>
      </p:sp>
    </p:spTree>
    <p:extLst>
      <p:ext uri="{BB962C8B-B14F-4D97-AF65-F5344CB8AC3E}">
        <p14:creationId xmlns:p14="http://schemas.microsoft.com/office/powerpoint/2010/main" val="4059093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502FA-8E1D-8068-C569-39BF259D2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5703E99-13EA-681B-A20A-E913E2D4587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Funcionamento do MLM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DC1F0F-A483-2E21-E9A2-528F0A71601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Durante o treinamento, algumas palavras em uma frase são substituídas por um token especial [MASK].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é então treinado para prever qual palavra foi mascarada com base no restante da frase.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é repetido em milhões de exemplos para que o modelo aprenda padrões linguísticos.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substituição é feita de forma aleatória e controlada para garantir diversidade no aprendizado.</a:t>
            </a:r>
          </a:p>
        </p:txBody>
      </p:sp>
    </p:spTree>
    <p:extLst>
      <p:ext uri="{BB962C8B-B14F-4D97-AF65-F5344CB8AC3E}">
        <p14:creationId xmlns:p14="http://schemas.microsoft.com/office/powerpoint/2010/main" val="40436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4DC1A-655C-A5D3-40F1-96100D0C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A10D6E4-6D16-FED6-B8ED-0ECDC6F328D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 de MLM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06C15CF-7BEE-1EBA-C251-EC59B220F9F0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Frase original: “O gato está no telhado”.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Frase mascarada: “O [MASK] está no telhado”.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deve prever que a palavra oculta é “gato”, usando o contexto da frase.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Amostras como essa são usadas para treinar o modelo a entender o significado das palavras.</a:t>
            </a:r>
          </a:p>
        </p:txBody>
      </p:sp>
    </p:spTree>
    <p:extLst>
      <p:ext uri="{BB962C8B-B14F-4D97-AF65-F5344CB8AC3E}">
        <p14:creationId xmlns:p14="http://schemas.microsoft.com/office/powerpoint/2010/main" val="1975377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D23F3-3560-8C13-4305-A4E3076B2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490A57E-3521-B4FC-D558-829978E32A0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Token [MASK]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D4B553-3F32-68AA-6C5E-0A0A9CC5FC6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token [MASK] é um marcador especial que indica a posição da palavra a ser prevista.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é utilizado apenas durante o pré-treinamento e não aparece em aplicações reais.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Serve como uma indicação clara para o modelo focar naquela posição específica.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essencial para o funcionamento da tarefa de </a:t>
            </a:r>
            <a:r>
              <a:rPr lang="pt-BR" sz="2800" dirty="0" err="1"/>
              <a:t>Masked</a:t>
            </a:r>
            <a:r>
              <a:rPr lang="pt-BR" sz="2800" dirty="0"/>
              <a:t> </a:t>
            </a:r>
            <a:r>
              <a:rPr lang="pt-BR" sz="2800" dirty="0" err="1"/>
              <a:t>Language</a:t>
            </a:r>
            <a:r>
              <a:rPr lang="pt-BR" sz="2800" dirty="0"/>
              <a:t> </a:t>
            </a:r>
            <a:r>
              <a:rPr lang="pt-BR" sz="2800" dirty="0" err="1"/>
              <a:t>Modeling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2969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ABDFD-66F8-E625-B5E8-97DE96E4E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D980CC5-C673-152B-1CAD-3781459417F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Probabilidade de Substituição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EF0A67-6205-7185-B8EB-E8738A82375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Nem todas as palavras são mascaradas durante o treinamento, apenas uma porcentagem definida.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evita que o modelo dependa excessivamente do token [MASK] para aprender.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seleção é feita de forma aleatória para garantir variedade nos exemplos.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Normalmente, cerca de 15% dos tokens são escolhidos para mascaramento.</a:t>
            </a:r>
          </a:p>
        </p:txBody>
      </p:sp>
    </p:spTree>
    <p:extLst>
      <p:ext uri="{BB962C8B-B14F-4D97-AF65-F5344CB8AC3E}">
        <p14:creationId xmlns:p14="http://schemas.microsoft.com/office/powerpoint/2010/main" val="3271732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3F03D-A960-ED42-712E-B6961AB61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454E5C5-DE53-331C-EB7B-5526FB734E3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Distribuição de Substituições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662343-386B-EB33-42BC-7B90EA609908}"/>
              </a:ext>
            </a:extLst>
          </p:cNvPr>
          <p:cNvSpPr txBox="1"/>
          <p:nvPr/>
        </p:nvSpPr>
        <p:spPr>
          <a:xfrm>
            <a:off x="512064" y="1304405"/>
            <a:ext cx="11137392" cy="3309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Dos tokens selecionados para mascaramento: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80% são substituídos por [MASK].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10% são trocados por uma palavra aleatória.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10% permanecem inalterados.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distribuição ajuda o modelo a lidar com diferentes tipos de ruído e variações.</a:t>
            </a:r>
          </a:p>
        </p:txBody>
      </p:sp>
    </p:spTree>
    <p:extLst>
      <p:ext uri="{BB962C8B-B14F-4D97-AF65-F5344CB8AC3E}">
        <p14:creationId xmlns:p14="http://schemas.microsoft.com/office/powerpoint/2010/main" val="349841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6356E-DD72-0D57-F473-77726CAA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F90631C-7CEF-D49B-2984-2F6B9F61532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Contexto Bidirecional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71C7464-2BE6-8708-F306-BABEE56F6E7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considera simultaneamente o lado esquerdo e o lado direito da palavra mascarada.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permite que o modelo compreenda o significado da palavra com base no contexto completo.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Diferente de modelos unidirecionais, essa abordagem melhora a precisão das previsões.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uma das principais razões para o sucesso do BERT em tarefas de compreensão textual.</a:t>
            </a:r>
          </a:p>
        </p:txBody>
      </p:sp>
    </p:spTree>
    <p:extLst>
      <p:ext uri="{BB962C8B-B14F-4D97-AF65-F5344CB8AC3E}">
        <p14:creationId xmlns:p14="http://schemas.microsoft.com/office/powerpoint/2010/main" val="8113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EE788-B291-AB04-EEC8-20260D50E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4B939AF-E273-6D28-F7B7-52F579C0516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Diferença entre BERT e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00A0B2E-4CC4-816B-1A32-715B68BEBE6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é um modelo </a:t>
            </a:r>
            <a:r>
              <a:rPr lang="pt-BR" sz="2800" dirty="0" err="1"/>
              <a:t>autoregressivo</a:t>
            </a:r>
            <a:r>
              <a:rPr lang="pt-BR" sz="2800" dirty="0"/>
              <a:t>, que prevê a próxima palavra com base nas anteriores.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Já o BERT é bidirecional e utiliza o MLM para prever palavras no meio da frase.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diferença torna o BERT mais adequado para tarefas de compreensão.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Enquanto o GPT é forte em geração de texto, o BERT se destaca em análise e interpretação.</a:t>
            </a:r>
          </a:p>
        </p:txBody>
      </p:sp>
    </p:spTree>
    <p:extLst>
      <p:ext uri="{BB962C8B-B14F-4D97-AF65-F5344CB8AC3E}">
        <p14:creationId xmlns:p14="http://schemas.microsoft.com/office/powerpoint/2010/main" val="1690970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321F5-80B5-F9E1-21E6-0342E816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01B2B29-3F17-DD9C-74BF-91673FF0F7C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Vantagens do MLM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DBD1DE3-2B22-0460-CD40-3348D879C523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MLM permite que o modelo aprenda relações semânticas mais profundas entre palavras.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Melhora a capacidade de entender o contexto completo de uma sentença.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Contribui para representações mais precisas e úteis em tarefas de NLP.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uma técnica eficaz para treinar modelos com compreensão avançada da linguagem.</a:t>
            </a:r>
          </a:p>
        </p:txBody>
      </p:sp>
    </p:spTree>
    <p:extLst>
      <p:ext uri="{BB962C8B-B14F-4D97-AF65-F5344CB8AC3E}">
        <p14:creationId xmlns:p14="http://schemas.microsoft.com/office/powerpoint/2010/main" val="4065976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C73C9-AFC6-3B49-FF9E-ED1FACBF7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6905FF7-CDFE-BD5A-A61C-B5EB828B410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Desvantagens do MLM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971827C-BE91-43CE-C8C0-1B08C9CC25D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token [MASK] não aparece em aplicações reais, o que pode gerar discrepâncias.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pode afetar o desempenho do modelo quando ele é usado em tarefas práticas.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pode se tornar dependente de um sinal que não existe fora do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limitação levou ao desenvolvimento de alternativas como o modelo de linguagem </a:t>
            </a:r>
            <a:r>
              <a:rPr lang="pt-BR" sz="2800" dirty="0" err="1"/>
              <a:t>XLNet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3621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F1A0E-942E-233B-2EAA-9CD6705E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CF5E354-86DE-0D4A-B20E-E1BD6ADE2BB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Alternativas ao MLM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02B5D26-9417-969A-17A0-19053F44079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de linguagem como o </a:t>
            </a:r>
            <a:r>
              <a:rPr lang="pt-BR" sz="2800" dirty="0" err="1"/>
              <a:t>XLNet</a:t>
            </a:r>
            <a:r>
              <a:rPr lang="pt-BR" sz="2800" dirty="0"/>
              <a:t> usam permutação de sequência como alternativa ao MLM.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evita o uso do token [MASK], tornando o treinamento mais próximo da realidade.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 que o modelo aprenda com diferentes ordens de palavras, aumentando a flexibilidade.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Outras abordagens também buscam superar as limitações do MLM tradicional.</a:t>
            </a:r>
          </a:p>
        </p:txBody>
      </p:sp>
    </p:spTree>
    <p:extLst>
      <p:ext uri="{BB962C8B-B14F-4D97-AF65-F5344CB8AC3E}">
        <p14:creationId xmlns:p14="http://schemas.microsoft.com/office/powerpoint/2010/main" val="2554742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11339-10E0-C74C-F29A-BEDD9E23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D4AF1B7-D624-D95D-7A3B-561AF8E7B8F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Pré-processamento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1130AFF-B9EE-1F77-6102-615781CE3260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Antes do treinamento, os textos são tokenizados e preparados para mascaramento.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Palavras são selecionadas aleatoriamente para serem ocultadas com base em regras definidas.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garante que o modelo receba dados variados e representativos.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pré-processamento é uma etapa crítica para o sucesso do treinamento.</a:t>
            </a:r>
          </a:p>
        </p:txBody>
      </p:sp>
    </p:spTree>
    <p:extLst>
      <p:ext uri="{BB962C8B-B14F-4D97-AF65-F5344CB8AC3E}">
        <p14:creationId xmlns:p14="http://schemas.microsoft.com/office/powerpoint/2010/main" val="524988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03051-9E3F-642C-1B00-A0E820864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63E8E61-BC1C-172B-1138-C672442401E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Tokenização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0CDD24-FAE0-A86B-EA40-9E1D1919E72C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utiliza a tokenização </a:t>
            </a:r>
            <a:r>
              <a:rPr lang="pt-BR" sz="2800" dirty="0" err="1"/>
              <a:t>WordPiece</a:t>
            </a:r>
            <a:r>
              <a:rPr lang="pt-BR" sz="2800" dirty="0"/>
              <a:t>, que divide palavras em subcomponentes.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permite lidar com palavras raras ou desconhecidas de forma eficiente.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Ajuda o modelo a aprender partes comuns entre palavras diferentes.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tokenização é essencial para representar o texto de forma compreensível para o modelo.</a:t>
            </a:r>
          </a:p>
        </p:txBody>
      </p:sp>
    </p:spTree>
    <p:extLst>
      <p:ext uri="{BB962C8B-B14F-4D97-AF65-F5344CB8AC3E}">
        <p14:creationId xmlns:p14="http://schemas.microsoft.com/office/powerpoint/2010/main" val="1940747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BC32A-170B-F9E8-2E86-5A8153AE1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AC4856-3B90-D098-3E04-F760BF23181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 de Tokenização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6971A5C-4289-80A9-298F-C36DAB67E30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palavra “transformador” pode ser dividida em: [“trans”, “##</a:t>
            </a:r>
            <a:r>
              <a:rPr lang="pt-BR" sz="2800" dirty="0" err="1"/>
              <a:t>form</a:t>
            </a:r>
            <a:r>
              <a:rPr lang="pt-BR" sz="2800" dirty="0"/>
              <a:t>”, “##</a:t>
            </a:r>
            <a:r>
              <a:rPr lang="pt-BR" sz="2800" dirty="0" err="1"/>
              <a:t>ador</a:t>
            </a:r>
            <a:r>
              <a:rPr lang="pt-BR" sz="2800" dirty="0"/>
              <a:t>”].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prefixos “##” indicam que os subcomponentes pertencem à mesma palavra original.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permite que o modelo reconheça padrões mesmo em palavras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tokenização </a:t>
            </a:r>
            <a:r>
              <a:rPr lang="pt-BR" sz="2800" dirty="0" err="1"/>
              <a:t>WordPiece</a:t>
            </a:r>
            <a:r>
              <a:rPr lang="pt-BR" sz="2800" dirty="0"/>
              <a:t> melhora a cobertura do vocabulário com menos tokens.</a:t>
            </a:r>
          </a:p>
        </p:txBody>
      </p:sp>
    </p:spTree>
    <p:extLst>
      <p:ext uri="{BB962C8B-B14F-4D97-AF65-F5344CB8AC3E}">
        <p14:creationId xmlns:p14="http://schemas.microsoft.com/office/powerpoint/2010/main" val="3475717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FB033-078C-D152-3A4D-DC7D600E9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DFBD295-1545-56C3-7C23-2E715A5FE3D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Cálculo de Perda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33FCF64-A438-72E7-AA0D-8182A4DEB54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função de perda (</a:t>
            </a:r>
            <a:r>
              <a:rPr lang="pt-BR" sz="2800" i="1" dirty="0" err="1"/>
              <a:t>loss</a:t>
            </a:r>
            <a:r>
              <a:rPr lang="pt-BR" sz="2800" i="1" dirty="0"/>
              <a:t> </a:t>
            </a:r>
            <a:r>
              <a:rPr lang="pt-BR" sz="2800" i="1" dirty="0" err="1"/>
              <a:t>function</a:t>
            </a:r>
            <a:r>
              <a:rPr lang="pt-BR" sz="2800" dirty="0"/>
              <a:t>), utilizada para calcular o erros do modelo e guiar seu treinamento, é calculada apenas nas posições onde há palavras mascaradas.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foca o aprendizado do modelo nas previsões que realmente importam.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demais posições não contribuem para o cálculo da perda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torna o processo mais eficiente e direcionado.</a:t>
            </a:r>
          </a:p>
        </p:txBody>
      </p:sp>
    </p:spTree>
    <p:extLst>
      <p:ext uri="{BB962C8B-B14F-4D97-AF65-F5344CB8AC3E}">
        <p14:creationId xmlns:p14="http://schemas.microsoft.com/office/powerpoint/2010/main" val="409787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3BC1-75C6-AAD3-27B4-CB7F12E1F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A77C90B-C28B-4E75-E3CC-EE541609F2D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Supervisionado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F4C9FF1-AD8D-40B4-B034-D823FC48E14E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aprende a prever as palavras mascaradas com base em exemplos rotulados.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exemplo fornece o contexto e a palavra correta que foi ocultada.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supervisionado permite que o modelo aprenda com precisão.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uma forma eficaz de ensinar o modelo a entender linguagem natural.</a:t>
            </a:r>
          </a:p>
        </p:txBody>
      </p:sp>
    </p:spTree>
    <p:extLst>
      <p:ext uri="{BB962C8B-B14F-4D97-AF65-F5344CB8AC3E}">
        <p14:creationId xmlns:p14="http://schemas.microsoft.com/office/powerpoint/2010/main" val="1155437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DCBC3-7289-D567-DE64-7C853CB34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B6CD61A-CC3F-3FD7-AFD0-BC4D8FDFC29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Uso em Tarefas Específicas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21620E-635B-AC70-A9E0-AF17FE2610F2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Após o pré-treinamento com MLM, o BERT pode ser ajustado para tarefas específicas.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inclui classificação de texto, resposta a perguntas, reconhecimento de entidades, entre outros.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conhecimento adquirido no pré-treinamento é reutilizado e refinado.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adaptação torna o modelo útil em aplicações reais e práticas.</a:t>
            </a:r>
          </a:p>
        </p:txBody>
      </p:sp>
    </p:spTree>
    <p:extLst>
      <p:ext uri="{BB962C8B-B14F-4D97-AF65-F5344CB8AC3E}">
        <p14:creationId xmlns:p14="http://schemas.microsoft.com/office/powerpoint/2010/main" val="733624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B2355-A07B-31C3-2CF6-FEE7A60D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9C64885-E413-F4B3-ECA0-1A98CD0ABD0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Impacto do MLM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A76C09-92EA-286C-5C4B-B80D273F3374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uso do MLM melhora significativamente a capacidade do modelo de compreender linguagem.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aprende a identificar padrões, relações e significados com maior precisão.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contribui para o sucesso do BERT em benchmarks de NLP.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impacto é visível em tarefas como análise de sentimentos e compreensão de texto.</a:t>
            </a:r>
          </a:p>
        </p:txBody>
      </p:sp>
    </p:spTree>
    <p:extLst>
      <p:ext uri="{BB962C8B-B14F-4D97-AF65-F5344CB8AC3E}">
        <p14:creationId xmlns:p14="http://schemas.microsoft.com/office/powerpoint/2010/main" val="4150451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22F8E-6584-032A-B030-91DA6E8C4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0EFCA85-624E-B43B-024D-8CD4D168F46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7EAD15-FA1E-53FF-67BC-49DD800125F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dirty="0" err="1"/>
              <a:t>Masked</a:t>
            </a:r>
            <a:r>
              <a:rPr lang="pt-BR" sz="2800" dirty="0"/>
              <a:t> </a:t>
            </a:r>
            <a:r>
              <a:rPr lang="pt-BR" sz="2800" dirty="0" err="1"/>
              <a:t>Language</a:t>
            </a:r>
            <a:r>
              <a:rPr lang="pt-BR" sz="2800" dirty="0"/>
              <a:t> </a:t>
            </a:r>
            <a:r>
              <a:rPr lang="pt-BR" sz="2800" dirty="0" err="1"/>
              <a:t>Modeling</a:t>
            </a:r>
            <a:r>
              <a:rPr lang="pt-BR" sz="2800" dirty="0"/>
              <a:t> (MLM) é uma técnica essencial no pré-treinamento do BERT.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 que o modelo desenvolva uma compreensão profunda e bidirecional da linguagem.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Apesar de suas limitações, é altamente eficaz em tarefas de compreensão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MLM representa um dos pilares que sustentam o desempenho avançado do BERT </a:t>
            </a:r>
            <a:r>
              <a:rPr lang="pt-BR" sz="2800"/>
              <a:t>em PLN.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598372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11361</TotalTime>
  <Words>1210</Words>
  <Application>Microsoft Office PowerPoint</Application>
  <PresentationFormat>Widescreen</PresentationFormat>
  <Paragraphs>103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22</vt:i4>
      </vt:variant>
    </vt:vector>
  </HeadingPairs>
  <TitlesOfParts>
    <vt:vector size="33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100</cp:revision>
  <dcterms:created xsi:type="dcterms:W3CDTF">2020-01-14T17:16:45Z</dcterms:created>
  <dcterms:modified xsi:type="dcterms:W3CDTF">2025-11-14T14:31:18Z</dcterms:modified>
</cp:coreProperties>
</file>