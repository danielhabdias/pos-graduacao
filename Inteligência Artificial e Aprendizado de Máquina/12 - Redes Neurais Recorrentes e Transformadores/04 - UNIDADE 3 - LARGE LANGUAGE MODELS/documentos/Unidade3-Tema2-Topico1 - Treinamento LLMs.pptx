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31"/>
  </p:notesMasterIdLst>
  <p:handoutMasterIdLst>
    <p:handoutMasterId r:id="rId32"/>
  </p:handoutMasterIdLst>
  <p:sldIdLst>
    <p:sldId id="266" r:id="rId9"/>
    <p:sldId id="260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59" r:id="rId24"/>
    <p:sldId id="281" r:id="rId25"/>
    <p:sldId id="282" r:id="rId26"/>
    <p:sldId id="283" r:id="rId27"/>
    <p:sldId id="284" r:id="rId28"/>
    <p:sldId id="285" r:id="rId29"/>
    <p:sldId id="261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7F8799-3F30-9B36-779A-AF1FD58CD808}" v="1" dt="2025-12-02T14:34:42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591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9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Treinamento de LLM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de LLM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de linguagem de grande porte (</a:t>
            </a:r>
            <a:r>
              <a:rPr lang="pt-BR" sz="2800" dirty="0" err="1"/>
              <a:t>LLMs</a:t>
            </a:r>
            <a:r>
              <a:rPr lang="pt-BR" sz="2800" dirty="0"/>
              <a:t>) passam por duas etapas principais de treinamento que são fundamentais para seu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pré-treinamento é responsável por fornecer ao modelo uma compreensão ampla e geral da linguagem humana.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fine-</a:t>
            </a:r>
            <a:r>
              <a:rPr lang="pt-BR" sz="2800" dirty="0" err="1"/>
              <a:t>tuning</a:t>
            </a:r>
            <a:r>
              <a:rPr lang="pt-BR" sz="2800" dirty="0"/>
              <a:t>, por sua vez, ajusta esse conhecimento para tarefas específicas, utilizando dados rotulados e objetivos bem definidos.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integração dessas duas fases torna os </a:t>
            </a:r>
            <a:r>
              <a:rPr lang="pt-BR" sz="2800" dirty="0" err="1"/>
              <a:t>LLMs</a:t>
            </a:r>
            <a:r>
              <a:rPr lang="pt-BR" sz="2800" dirty="0"/>
              <a:t> altamente adaptáveis e eficazes em diferentes contextos e aplicações.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1275-9058-83AF-4B73-37DA6453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BB502F4-AE78-4723-1EB7-28A7E724105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 que é Pré-treinamento?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49452F-6BAC-8A86-6563-85E7FCFC46E4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pré-treinamento é a primeira etapa do desenvolvimento de um modelo de linguagem, onde ele aprende com grandes volumes de texto não rotulado.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fase tem como objetivo fazer com que o modelo reconheça padrões linguísticos, estruturas sintáticas e contextos de forma autônoma.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Ao aprender com dados diversos, o modelo constrói uma base sólida de conhecimento que será útil em tarefas futuras.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Nessa etapa, o modelo ainda não está direcionado para nenhuma tarefa específica, apenas desenvolve uma compreensão geral da linguagem.</a:t>
            </a:r>
          </a:p>
        </p:txBody>
      </p:sp>
    </p:spTree>
    <p:extLst>
      <p:ext uri="{BB962C8B-B14F-4D97-AF65-F5344CB8AC3E}">
        <p14:creationId xmlns:p14="http://schemas.microsoft.com/office/powerpoint/2010/main" val="3725387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5DE2-FC9E-390F-AB9F-96B5BB31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269A8E-C20C-513E-47C8-1EC5C0C1981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Objetivos do Pré-treinamento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48418A-11BD-D22C-0CE4-6E909DEE3A2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principal objetivo é ensinar o modelo a identificar e compreender estruturas e relações presentes na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representações internas que são úteis para uma ampla gama de tarefas de processamento de linguagem natural (NLP).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base de conhecimento pode ser reutilizada em diferentes contextos, facilitando a adaptação para novas aplicações.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pré-treinamento prepara o modelo para ser refinado posteriormente com dados rotulados, tornando-o mais eficaz em tarefas específicas.</a:t>
            </a:r>
          </a:p>
        </p:txBody>
      </p:sp>
    </p:spTree>
    <p:extLst>
      <p:ext uri="{BB962C8B-B14F-4D97-AF65-F5344CB8AC3E}">
        <p14:creationId xmlns:p14="http://schemas.microsoft.com/office/powerpoint/2010/main" val="2263733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C40B-1F4D-79BA-C2D2-B24123EAE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AAEC3B0-A2A4-B972-749F-5BBBBD20BFD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Técnicas de Pré-treinamento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CF1B685-20F2-9CA1-E489-3C1F92816BE3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dirty="0" err="1"/>
              <a:t>Masked</a:t>
            </a:r>
            <a:r>
              <a:rPr lang="pt-BR" sz="2800" dirty="0"/>
              <a:t> </a:t>
            </a:r>
            <a:r>
              <a:rPr lang="pt-BR" sz="2800" dirty="0" err="1"/>
              <a:t>Language</a:t>
            </a:r>
            <a:r>
              <a:rPr lang="pt-BR" sz="2800" dirty="0"/>
              <a:t> </a:t>
            </a:r>
            <a:r>
              <a:rPr lang="pt-BR" sz="2800" dirty="0" err="1"/>
              <a:t>Modeling</a:t>
            </a:r>
            <a:r>
              <a:rPr lang="pt-BR" sz="2800" dirty="0"/>
              <a:t> (MLM) oculta palavras em uma frase e treina o modelo para prever os termos ausentes, promovendo compreensão bidirecional.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Causal </a:t>
            </a:r>
            <a:r>
              <a:rPr lang="pt-BR" sz="2800" dirty="0" err="1"/>
              <a:t>Language</a:t>
            </a:r>
            <a:r>
              <a:rPr lang="pt-BR" sz="2800" dirty="0"/>
              <a:t> </a:t>
            </a:r>
            <a:r>
              <a:rPr lang="pt-BR" sz="2800" dirty="0" err="1"/>
              <a:t>Modeling</a:t>
            </a:r>
            <a:r>
              <a:rPr lang="pt-BR" sz="2800" dirty="0"/>
              <a:t> (CLM) prevê a próxima palavra com base nas anteriores, como acontece nos modelos da família GPT.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dirty="0" err="1"/>
              <a:t>Permuted</a:t>
            </a:r>
            <a:r>
              <a:rPr lang="pt-BR" sz="2800" dirty="0"/>
              <a:t> </a:t>
            </a:r>
            <a:r>
              <a:rPr lang="pt-BR" sz="2800" dirty="0" err="1"/>
              <a:t>Language</a:t>
            </a:r>
            <a:r>
              <a:rPr lang="pt-BR" sz="2800" dirty="0"/>
              <a:t> </a:t>
            </a:r>
            <a:r>
              <a:rPr lang="pt-BR" sz="2800" dirty="0" err="1"/>
              <a:t>Modeling</a:t>
            </a:r>
            <a:r>
              <a:rPr lang="pt-BR" sz="2800" dirty="0"/>
              <a:t> embaralha a ordem das palavras, forçando o modelo a lidar com diferentes sequências e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técnica contribui para o desenvolvimento de diferentes habilidades linguísticas, como previsão, contexto e flexibilidade textual.</a:t>
            </a:r>
          </a:p>
        </p:txBody>
      </p:sp>
    </p:spTree>
    <p:extLst>
      <p:ext uri="{BB962C8B-B14F-4D97-AF65-F5344CB8AC3E}">
        <p14:creationId xmlns:p14="http://schemas.microsoft.com/office/powerpoint/2010/main" val="1966563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08EC-7955-2621-87AA-3844FE54F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8DA2E3D-3A19-CCFB-DEB9-92D1F20116E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Exemplos de Pré-treinamento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0A74A8-3F9A-33FB-6705-1C61210382B6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BERT utiliza a técnica de MLM para aprender representações bidirecionais da linguagem, capturando contexto antes e depois de cada palavra.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aplica CLM para gerar texto de forma sequencial, mantendo coerência e fluidez na produção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dirty="0" err="1"/>
              <a:t>XLNet</a:t>
            </a:r>
            <a:r>
              <a:rPr lang="pt-BR" sz="2800" dirty="0"/>
              <a:t> combina elementos de MLM e CLM, além de permutações, para capturar dependências complexas entre palavras.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modelo adota estratégias específicas de pré-treinamento, alinhadas aos seus objetivos e arquitetura.</a:t>
            </a:r>
          </a:p>
        </p:txBody>
      </p:sp>
    </p:spTree>
    <p:extLst>
      <p:ext uri="{BB962C8B-B14F-4D97-AF65-F5344CB8AC3E}">
        <p14:creationId xmlns:p14="http://schemas.microsoft.com/office/powerpoint/2010/main" val="1981631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008A1-575C-2168-3E76-5AB29FAE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F5AA26D-755E-3F30-72C8-F4DD51AA186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Corpus de Dados para Pré-treinamento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D92C6D1-EC45-29BC-6E51-84615CE6E31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modelos são treinados com corpora extensos e variados, como Wikipedia, livros, artigos científicos e outros textos públicos.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Common Crawl é uma fonte importante, oferecendo dados da web em larga escala e com grande diversidade temática.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variedade de fontes permite que o modelo aprenda a generalizar melhor, reconhecendo diferentes estilos e vocabulários.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qualidade e a curadoria do corpus são fatores decisivos para o desempenho final do modelo em tarefas reais.</a:t>
            </a:r>
          </a:p>
        </p:txBody>
      </p:sp>
    </p:spTree>
    <p:extLst>
      <p:ext uri="{BB962C8B-B14F-4D97-AF65-F5344CB8AC3E}">
        <p14:creationId xmlns:p14="http://schemas.microsoft.com/office/powerpoint/2010/main" val="1349542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F6A5-05E5-CD8B-D282-B89321FE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82BACB4-B345-7CE6-67A4-0E984C62666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no Pré-treinamento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262662-16D8-FD39-EF23-FE8A2EA7B6B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pré-treinamento exige alto poder computacional, devido ao grande volume de dados e à complexidade dos modelos.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dados utilizados podem conter vieses sociais, culturais ou políticos, que afetam a imparcialidade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Nem todo corpus disponível é adequado para aprendizado de qualidade, podendo introduzir ruído ou informações irrelevantes.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curadoria cuidadosa dos dados é essencial para garantir que o modelo aprenda de forma ética e eficaz.</a:t>
            </a:r>
          </a:p>
        </p:txBody>
      </p:sp>
    </p:spTree>
    <p:extLst>
      <p:ext uri="{BB962C8B-B14F-4D97-AF65-F5344CB8AC3E}">
        <p14:creationId xmlns:p14="http://schemas.microsoft.com/office/powerpoint/2010/main" val="80481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45124-122D-4DA8-4AFA-13E5C31F5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38AC577-D3C9-B9E4-F70A-245C98D8DAC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 que é 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r>
              <a:rPr lang="pt-BR" sz="45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234D1A-C2D5-134E-B92E-8E5FF2B738D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fine-</a:t>
            </a:r>
            <a:r>
              <a:rPr lang="pt-BR" sz="2800" dirty="0" err="1"/>
              <a:t>tuning</a:t>
            </a:r>
            <a:r>
              <a:rPr lang="pt-BR" sz="2800" dirty="0"/>
              <a:t> é a etapa em que o modelo é ajustado para tarefas específicas, utilizando conjuntos de dados rotulados.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fase permite que o modelo aprenda nuances e detalhes de uma aplicação concreta, como classificação ou tradução.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conhecimento geral adquirido no pré-treinamento serve como base para essa especialização.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resultado é um modelo mais útil, preciso e adaptado a contextos práticos e direcionados.</a:t>
            </a:r>
          </a:p>
        </p:txBody>
      </p:sp>
    </p:spTree>
    <p:extLst>
      <p:ext uri="{BB962C8B-B14F-4D97-AF65-F5344CB8AC3E}">
        <p14:creationId xmlns:p14="http://schemas.microsoft.com/office/powerpoint/2010/main" val="11729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92F3-5358-3D0F-5080-4B9C96E3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A8499F7-2379-3700-971D-F428396A12C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Objetivos do 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76FE7A-84CA-E9A9-F692-28A82B0307C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fine-</a:t>
            </a:r>
            <a:r>
              <a:rPr lang="pt-BR" sz="2800" dirty="0" err="1"/>
              <a:t>tuning</a:t>
            </a:r>
            <a:r>
              <a:rPr lang="pt-BR" sz="2800" dirty="0"/>
              <a:t> tem como objetivo especializar o modelo em tarefas específicas, como análise de sentimentos ou geração de resumos.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melhora o desempenho do modelo ao trabalhar com dados reais e rotulados, mais próximos das aplicações desejadas.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 adaptar o modelo a domínios técnicos, linguagens especializadas ou contextos empresariais.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etapa também ajuda a reduzir erros e aumentar a precisão em tarefas definidas e mensuráveis.</a:t>
            </a:r>
          </a:p>
        </p:txBody>
      </p:sp>
    </p:spTree>
    <p:extLst>
      <p:ext uri="{BB962C8B-B14F-4D97-AF65-F5344CB8AC3E}">
        <p14:creationId xmlns:p14="http://schemas.microsoft.com/office/powerpoint/2010/main" val="1335555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A2A84-6FDD-FB33-7BBE-DEF7379A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5A2268F-A0D1-7DF1-DCBF-1C5EB84CD18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Técnicas de 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138650-07EC-AFE5-270C-FCCD2A2C0BF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pode receber camadas adicionais específicas para a nova tarefa, como classificadores ou decodificadores.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Hiperparâmetros</a:t>
            </a:r>
            <a:r>
              <a:rPr lang="pt-BR" sz="2800" dirty="0"/>
              <a:t> como taxa de aprendizado, número de épocas e tamanho do batch são ajustados para otimizar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Algumas camadas do modelo podem ser congeladas para preservar o conhecimento adquirido no pré-treinamento.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objetivo é encontrar um equilíbrio entre adaptação à nova tarefa e manutenção da estabilidade do modelo.</a:t>
            </a:r>
          </a:p>
        </p:txBody>
      </p:sp>
    </p:spTree>
    <p:extLst>
      <p:ext uri="{BB962C8B-B14F-4D97-AF65-F5344CB8AC3E}">
        <p14:creationId xmlns:p14="http://schemas.microsoft.com/office/powerpoint/2010/main" val="3070036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93E0-73D1-008B-F10F-5D639530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100FD7E-48AE-71DA-EC33-0FC29038625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Exemplos de 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0BFCFE-641C-A459-5DBE-DED54902045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podem ser ajustados para identificar sentimentos em avaliações de produtos, como positivo, neutro ou negativo.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Sistemas de perguntas e respostas são refinados para oferecer respostas precisas e contextualizadas.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de sumarização automática permitem condensar textos longos em versões mais curtas e informativas.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exemplos mostram como o fine-</a:t>
            </a:r>
            <a:r>
              <a:rPr lang="pt-BR" sz="2800" dirty="0" err="1"/>
              <a:t>tuning</a:t>
            </a:r>
            <a:r>
              <a:rPr lang="pt-BR" sz="2800" dirty="0"/>
              <a:t> torna os modelos úteis em diferentes demandas e setores.</a:t>
            </a:r>
          </a:p>
        </p:txBody>
      </p:sp>
    </p:spTree>
    <p:extLst>
      <p:ext uri="{BB962C8B-B14F-4D97-AF65-F5344CB8AC3E}">
        <p14:creationId xmlns:p14="http://schemas.microsoft.com/office/powerpoint/2010/main" val="775389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998A-6FEA-FE4E-9365-851EE20A8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C116371-ED89-8235-30E5-9DEC91C2216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Transferência de Aprendizado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1189D6-1B52-B3E7-C950-642A70AF69B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transferência de aprendizado permite reutilizar o conhecimento adquirido no pré-treinamento em novas tarefas.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evita a necessidade de treinar modelos do zero, economizando tempo, recursos e energia computacional.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menos dados rotulados, é possível adaptar o modelo rapidamente a diferentes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capacidade é uma das maiores vantagens dos </a:t>
            </a:r>
            <a:r>
              <a:rPr lang="pt-BR" sz="2800" dirty="0" err="1"/>
              <a:t>LLMs</a:t>
            </a:r>
            <a:r>
              <a:rPr lang="pt-BR" sz="2800" dirty="0"/>
              <a:t> modernos, promovendo flexibilidade e eficiência.</a:t>
            </a:r>
          </a:p>
        </p:txBody>
      </p:sp>
    </p:spTree>
    <p:extLst>
      <p:ext uri="{BB962C8B-B14F-4D97-AF65-F5344CB8AC3E}">
        <p14:creationId xmlns:p14="http://schemas.microsoft.com/office/powerpoint/2010/main" val="2027820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91C5-76D8-E67B-8413-E42454B5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7D9F1F-94DC-CF1D-7035-9359F6FE233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do 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700395-B89A-E747-4A00-4416F8984D8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fine-</a:t>
            </a:r>
            <a:r>
              <a:rPr lang="pt-BR" sz="2800" dirty="0" err="1"/>
              <a:t>tuning</a:t>
            </a:r>
            <a:r>
              <a:rPr lang="pt-BR" sz="2800" dirty="0"/>
              <a:t> permite aproveitar modelos já treinados, economizando tempo e recursos computacionais.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melhora significativamente o desempenho em tarefas específicas, tornando a IA mais eficaz.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personalização do modelo para diferentes setores, como saúde, educação ou comércio, é facilitada.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etapa torna a inteligência artificial mais acessível e aplicável em ambientes reais e comerciais.</a:t>
            </a:r>
          </a:p>
        </p:txBody>
      </p:sp>
    </p:spTree>
    <p:extLst>
      <p:ext uri="{BB962C8B-B14F-4D97-AF65-F5344CB8AC3E}">
        <p14:creationId xmlns:p14="http://schemas.microsoft.com/office/powerpoint/2010/main" val="118420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732D-DCAF-6AD5-EE09-C2B6CEFE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0D5D5B9-5918-C806-6E19-4DF4AD3E9BD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do 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7C4114-ED97-D82D-0C01-DA047194FF3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pode sofrer </a:t>
            </a:r>
            <a:r>
              <a:rPr lang="pt-BR" sz="2800" dirty="0" err="1"/>
              <a:t>overfitting</a:t>
            </a:r>
            <a:r>
              <a:rPr lang="pt-BR" sz="2800" dirty="0"/>
              <a:t>, ou seja, se adaptar demais aos dados de treinamento e perder capacidade de generalização.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disponibilidade de dados rotulados é limitada em muitos domínios, dificultando o ajuste fino.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Adaptar o modelo a linguagens técnicas ou contextos específicos pode exigir conhecimento especializado.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necessário cuidado para manter o equilíbrio entre especialização e flexibilidade do modelo.</a:t>
            </a:r>
          </a:p>
        </p:txBody>
      </p:sp>
    </p:spTree>
    <p:extLst>
      <p:ext uri="{BB962C8B-B14F-4D97-AF65-F5344CB8AC3E}">
        <p14:creationId xmlns:p14="http://schemas.microsoft.com/office/powerpoint/2010/main" val="2362315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615817"/>
              </p:ext>
            </p:extLst>
          </p:nvPr>
        </p:nvGraphicFramePr>
        <p:xfrm>
          <a:off x="1451462" y="1304413"/>
          <a:ext cx="9266664" cy="4320312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771240">
                  <a:extLst>
                    <a:ext uri="{9D8B030D-6E8A-4147-A177-3AD203B41FA5}">
                      <a16:colId xmlns:a16="http://schemas.microsoft.com/office/drawing/2014/main" val="3059415648"/>
                    </a:ext>
                  </a:extLst>
                </a:gridCol>
                <a:gridCol w="3646449">
                  <a:extLst>
                    <a:ext uri="{9D8B030D-6E8A-4147-A177-3AD203B41FA5}">
                      <a16:colId xmlns:a16="http://schemas.microsoft.com/office/drawing/2014/main" val="3849346587"/>
                    </a:ext>
                  </a:extLst>
                </a:gridCol>
                <a:gridCol w="3848975">
                  <a:extLst>
                    <a:ext uri="{9D8B030D-6E8A-4147-A177-3AD203B41FA5}">
                      <a16:colId xmlns:a16="http://schemas.microsoft.com/office/drawing/2014/main" val="2901214388"/>
                    </a:ext>
                  </a:extLst>
                </a:gridCol>
              </a:tblGrid>
              <a:tr h="6627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Aspecto 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Pré-treinamento</a:t>
                      </a: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Fine-</a:t>
                      </a:r>
                      <a:r>
                        <a:rPr kumimoji="0" lang="pt-BR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tuning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extLst>
                  <a:ext uri="{0D108BD9-81ED-4DB2-BD59-A6C34878D82A}">
                    <a16:rowId xmlns:a16="http://schemas.microsoft.com/office/drawing/2014/main" val="32426272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 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Construir uma base de conhecimento linguístico geral.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Especializar o modelo para tarefas ou domínios específicos.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42481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Conjuntos de dados massivos e, muitas vezes, não rotulados.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Conjuntos de dados menores, específicos da tarefa e rotulados.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42249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Recursos  Computacionais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Requer recursos computacionais extremamente altos (caro).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Requer recursos computacionais moderados (relativamente mais leve).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73441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 Resultado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Um modelo generalista com ampla compreensão da linguagem.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Um modelo especialista, preciso em um nicho de aplicação.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784606"/>
                  </a:ext>
                </a:extLst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645459" y="436914"/>
            <a:ext cx="108786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QUADRO COMPARATIVO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56665" y="5707395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Elaborada pelo autor</a:t>
            </a:r>
          </a:p>
        </p:txBody>
      </p:sp>
    </p:spTree>
    <p:extLst>
      <p:ext uri="{BB962C8B-B14F-4D97-AF65-F5344CB8AC3E}">
        <p14:creationId xmlns:p14="http://schemas.microsoft.com/office/powerpoint/2010/main" val="258817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DF660-7667-05E3-1712-4B0C7295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EA043E1-04E1-2425-FD0B-5966CBDA804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BERT para Classificação de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4B2621-0DC0-1E81-EBDB-FC7212AE087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BERT pode ser ajustado para identificar categorias em textos, como spam, sentimentos ou tópicos.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arquitetura bidirecional permite compreender o contexto completo de cada frase, melhorando a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fine-</a:t>
            </a:r>
            <a:r>
              <a:rPr lang="pt-BR" sz="2800" dirty="0" err="1"/>
              <a:t>tuning</a:t>
            </a:r>
            <a:r>
              <a:rPr lang="pt-BR" sz="2800" dirty="0"/>
              <a:t> adiciona camadas específicas para tarefas de classificação, como </a:t>
            </a:r>
            <a:r>
              <a:rPr lang="pt-BR" sz="2800" dirty="0" err="1"/>
              <a:t>softmax</a:t>
            </a:r>
            <a:r>
              <a:rPr lang="pt-BR" sz="2800" dirty="0"/>
              <a:t> ou redes densas.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a reconhecer padrões relevantes e tomar decisões baseadas no conteúdo textual.</a:t>
            </a:r>
          </a:p>
        </p:txBody>
      </p:sp>
    </p:spTree>
    <p:extLst>
      <p:ext uri="{BB962C8B-B14F-4D97-AF65-F5344CB8AC3E}">
        <p14:creationId xmlns:p14="http://schemas.microsoft.com/office/powerpoint/2010/main" val="398693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4368D-203E-7E0B-51EE-95ED9297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EC06F31-116A-178D-0C19-50CCAAD5841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GPT para Geração de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02E8B2-32CA-4310-061E-7465B5A340F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pode ser ajustado para gerar textos criativos, como histórias, descrições ou respostas em diálogos.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a manter fluidez, coerência e estilo conforme o contexto e o objetivo da aplicação.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fine-</a:t>
            </a:r>
            <a:r>
              <a:rPr lang="pt-BR" sz="2800" dirty="0" err="1"/>
              <a:t>tuning</a:t>
            </a:r>
            <a:r>
              <a:rPr lang="pt-BR" sz="2800" dirty="0"/>
              <a:t> permite controlar o tom, o vocabulário e o conteúdo gerado, tornando-o mais adequado ao público.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capacidade é usada em assistentes virtuais, ferramentas de escrita e sistemas de recomendação.</a:t>
            </a:r>
          </a:p>
        </p:txBody>
      </p:sp>
    </p:spTree>
    <p:extLst>
      <p:ext uri="{BB962C8B-B14F-4D97-AF65-F5344CB8AC3E}">
        <p14:creationId xmlns:p14="http://schemas.microsoft.com/office/powerpoint/2010/main" val="2085203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EF434-5C4B-497A-2159-2FCF980A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10AB5E-3155-D71B-9B21-916E844B3DB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Avaliação após 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993F0D-9BA6-7757-F53B-D05D2B5E3FE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acurácia mede o percentual de acertos em tarefas classificatórias, como identificação de categorias.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F1-score equilibra precisão e recall, sendo útil em tarefas com classes desbalanceadas.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BLEU avalia a qualidade de traduções, comparando o texto gerado com referências humanas.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ROUGE mede a similaridade entre resumos gerados e originais, útil em tarefas de sumarização.</a:t>
            </a:r>
          </a:p>
        </p:txBody>
      </p:sp>
    </p:spTree>
    <p:extLst>
      <p:ext uri="{BB962C8B-B14F-4D97-AF65-F5344CB8AC3E}">
        <p14:creationId xmlns:p14="http://schemas.microsoft.com/office/powerpoint/2010/main" val="2717930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C478-80BC-D490-159C-CF6F16919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5A1A02-5A8D-8BDC-E1F5-19C5E287831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Boas Práticas no 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D2C713-0A00-82C2-828E-BA9EE7C316A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validação cruzada ajuda a testar a capacidade de generalização do modelo e evitar </a:t>
            </a:r>
            <a:r>
              <a:rPr lang="pt-BR" sz="2800" dirty="0" err="1"/>
              <a:t>overfitting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de regularização, como </a:t>
            </a:r>
            <a:r>
              <a:rPr lang="pt-BR" sz="2800" i="1" dirty="0" err="1"/>
              <a:t>dropout</a:t>
            </a:r>
            <a:r>
              <a:rPr lang="pt-BR" sz="2800" dirty="0"/>
              <a:t> ou </a:t>
            </a:r>
            <a:r>
              <a:rPr lang="pt-BR" sz="2800" i="1" dirty="0"/>
              <a:t>Ridge</a:t>
            </a:r>
            <a:r>
              <a:rPr lang="pt-BR" sz="2800" dirty="0"/>
              <a:t> (L2), controlam a complexidade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Monitorar métricas de desempenho durante o treinamento garante que o modelo esteja evoluindo corretamente.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Testes contínuos em ambientes reais ajudam a manter a eficácia do modelo em produção.</a:t>
            </a:r>
          </a:p>
        </p:txBody>
      </p:sp>
    </p:spTree>
    <p:extLst>
      <p:ext uri="{BB962C8B-B14F-4D97-AF65-F5344CB8AC3E}">
        <p14:creationId xmlns:p14="http://schemas.microsoft.com/office/powerpoint/2010/main" val="3455850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90930-A766-8A06-2731-947FD86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B2A764B-1556-1F2C-40BD-E7E4225E532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BB4F2A6-FA21-6CAE-5701-2403492F01B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pré-treinamento fornece ao modelo uma base ampla e robusta de conhecimento linguístico.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fine-</a:t>
            </a:r>
            <a:r>
              <a:rPr lang="pt-BR" sz="2800" dirty="0" err="1"/>
              <a:t>tuning</a:t>
            </a:r>
            <a:r>
              <a:rPr lang="pt-BR" sz="2800" dirty="0"/>
              <a:t> adapta esse conhecimento para tarefas específicas, tornando o modelo mais útil e preciso.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combinação dessas etapas é o que torna os </a:t>
            </a:r>
            <a:r>
              <a:rPr lang="pt-BR" sz="2800" dirty="0" err="1"/>
              <a:t>LLMs</a:t>
            </a:r>
            <a:r>
              <a:rPr lang="pt-BR" sz="2800" dirty="0"/>
              <a:t> modernos tão poderosos e versáteis.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Elas são fundamentais para o sucesso de </a:t>
            </a:r>
            <a:r>
              <a:rPr lang="pt-BR" sz="2800" dirty="0" err="1"/>
              <a:t>LLMs</a:t>
            </a:r>
            <a:r>
              <a:rPr lang="pt-BR" sz="2800"/>
              <a:t> em </a:t>
            </a:r>
            <a:r>
              <a:rPr lang="pt-BR" sz="2800" dirty="0"/>
              <a:t>aplicações práticas e comerciais.</a:t>
            </a:r>
          </a:p>
        </p:txBody>
      </p:sp>
    </p:spTree>
    <p:extLst>
      <p:ext uri="{BB962C8B-B14F-4D97-AF65-F5344CB8AC3E}">
        <p14:creationId xmlns:p14="http://schemas.microsoft.com/office/powerpoint/2010/main" val="2569186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11376</TotalTime>
  <Words>1603</Words>
  <Application>Microsoft Office PowerPoint</Application>
  <PresentationFormat>Widescreen</PresentationFormat>
  <Paragraphs>119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8</vt:i4>
      </vt:variant>
      <vt:variant>
        <vt:lpstr>Títulos de slides</vt:lpstr>
      </vt:variant>
      <vt:variant>
        <vt:i4>22</vt:i4>
      </vt:variant>
    </vt:vector>
  </HeadingPairs>
  <TitlesOfParts>
    <vt:vector size="30" baseType="lpstr"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105</cp:revision>
  <dcterms:created xsi:type="dcterms:W3CDTF">2020-01-14T17:16:45Z</dcterms:created>
  <dcterms:modified xsi:type="dcterms:W3CDTF">2025-12-02T14:35:02Z</dcterms:modified>
</cp:coreProperties>
</file>