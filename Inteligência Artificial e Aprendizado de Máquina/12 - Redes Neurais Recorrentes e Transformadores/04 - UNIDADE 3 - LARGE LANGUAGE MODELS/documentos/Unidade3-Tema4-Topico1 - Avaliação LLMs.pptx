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28"/>
  </p:notesMasterIdLst>
  <p:handoutMasterIdLst>
    <p:handoutMasterId r:id="rId29"/>
  </p:handoutMasterIdLst>
  <p:sldIdLst>
    <p:sldId id="266" r:id="rId8"/>
    <p:sldId id="260" r:id="rId9"/>
    <p:sldId id="267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81" r:id="rId22"/>
    <p:sldId id="282" r:id="rId23"/>
    <p:sldId id="283" r:id="rId24"/>
    <p:sldId id="284" r:id="rId25"/>
    <p:sldId id="285" r:id="rId26"/>
    <p:sldId id="261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B025F4-966B-2092-21DC-1F8EF672D304}" v="2" dt="2025-12-02T14:43:59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microsoft.com/office/2015/10/relationships/revisionInfo" Target="revisionInfo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presProps" Target="presProps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Avaliação de </a:t>
            </a:r>
            <a:r>
              <a:rPr lang="pt-BR" sz="6000" b="1" dirty="0" err="1">
                <a:solidFill>
                  <a:srgbClr val="4A6B9E"/>
                </a:solidFill>
                <a:latin typeface="Trebuchet MS" panose="020B0603020202020204" pitchFamily="34" charset="0"/>
              </a:rPr>
              <a:t>LLMs</a:t>
            </a:r>
            <a:endParaRPr lang="pt-BR" sz="6000" b="1" dirty="0">
              <a:solidFill>
                <a:srgbClr val="4A6B9E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Avaliação de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avaliação de modelos de linguagem de grande escala (</a:t>
            </a:r>
            <a:r>
              <a:rPr lang="pt-BR" sz="2800" dirty="0" err="1"/>
              <a:t>LLMs</a:t>
            </a:r>
            <a:r>
              <a:rPr lang="pt-BR" sz="2800" dirty="0"/>
              <a:t>) é essencial para entender sua eficácia.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 permite medir o desempenho em tarefas como geração, tradução e sumarização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Avaliar corretamente um LLM ajuda a identificar pontos fortes e limitações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uso de métricas adequadas garante comparações justas entre diferentes arquiteturas.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4B814-87ED-2151-27A9-9A7DB2791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28D4592-625E-DFD9-B6F0-5403DC528A9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Importância da Avaliação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9F802AB-6737-5018-9912-22DE3F11DD73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Avaliar </a:t>
            </a:r>
            <a:r>
              <a:rPr lang="pt-BR" sz="2800" dirty="0" err="1"/>
              <a:t>LLMs</a:t>
            </a:r>
            <a:r>
              <a:rPr lang="pt-BR" sz="2800" dirty="0"/>
              <a:t> é fundamental para validar sua utilidade em aplicações reais.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Métricas ajudam a monitorar a evolução dos modelos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avaliação orienta ajustes e melhorias durante o desenvolvimento.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Sem avaliação, é difícil garantir qualidade, segurança e confiabilidade na geração de texto.</a:t>
            </a:r>
          </a:p>
        </p:txBody>
      </p:sp>
    </p:spTree>
    <p:extLst>
      <p:ext uri="{BB962C8B-B14F-4D97-AF65-F5344CB8AC3E}">
        <p14:creationId xmlns:p14="http://schemas.microsoft.com/office/powerpoint/2010/main" val="1853902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FB612-59AC-2E05-315A-94336D33C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5E3A3A9-BE1E-BC5F-5700-A3A5BD212AB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Tipos de Métricas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C7329B-69CB-56A0-584C-B375EF3B7D6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métricas de avaliação podem ser divididas em intrínsecas e extrínsecas.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Métricas intrínsecas, como perplexidade, avaliam o modelo com base em sua própria saída.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Métricas extrínsecas, como BLEU e ROUGE, comparam o texto gerado com referências humanas.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Existem uma variedade grande de métricas </a:t>
            </a:r>
            <a:r>
              <a:rPr lang="pt-BR" sz="2800"/>
              <a:t>e a </a:t>
            </a:r>
            <a:r>
              <a:rPr lang="pt-BR" sz="2800" dirty="0"/>
              <a:t>escolha entre elas depende da tarefa e do objetivo da avaliação.</a:t>
            </a:r>
          </a:p>
        </p:txBody>
      </p:sp>
    </p:spTree>
    <p:extLst>
      <p:ext uri="{BB962C8B-B14F-4D97-AF65-F5344CB8AC3E}">
        <p14:creationId xmlns:p14="http://schemas.microsoft.com/office/powerpoint/2010/main" val="559687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9DBB-0AE9-2F88-13C2-76F6E874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98E812-37A0-8C0B-23EF-3FC94C6213E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 que é Perplexidade?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4C9BB0-E068-E2E3-637F-454011153516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Perplexidade é uma métrica que mede a incerteza do modelo ao prever a próxima palavra.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Quanto menor a perplexidade, mais confiante e preciso é 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amplamente usada em tarefas de modelagem de linguagem e geração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Serve como indicador da capacidade do modelo de aprender padrões linguísticos.</a:t>
            </a:r>
          </a:p>
        </p:txBody>
      </p:sp>
    </p:spTree>
    <p:extLst>
      <p:ext uri="{BB962C8B-B14F-4D97-AF65-F5344CB8AC3E}">
        <p14:creationId xmlns:p14="http://schemas.microsoft.com/office/powerpoint/2010/main" val="4123273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D3947-A768-9BCA-F02C-2ECD2B3A9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4E3A610-6444-2FA1-D679-CF8939F4AF7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Interpretação da Perplexidade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092A07-DF30-C1E9-8406-409C5B90ABEE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Valores baixos indicam que o modelo está prevendo palavras com alta confiança.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Valores altos sugerem que o modelo está incerto ou mal treinado.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perplexidade não depende diretamente da tarefa, mas da capacidade de previsão.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útil para comparar modelos em estágios iniciais de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75096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2DB4-20FC-2402-3F5F-BE746690D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E6CC72C-27F8-4955-E7C8-3EB3B1B5638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Limitações da Perplexidade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361BF7-C736-7229-38BF-E4AA313D0A90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perplexidade não avalia a qualidade semântica ou a fluidez do texto gerado.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ser enganosa em modelos que geram texto gramaticalmente correto, mas incoerente.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Não considera variações válidas de linguagem ou estilo.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Deve ser complementada com outras métricas para uma avaliação completa.</a:t>
            </a:r>
          </a:p>
        </p:txBody>
      </p:sp>
    </p:spTree>
    <p:extLst>
      <p:ext uri="{BB962C8B-B14F-4D97-AF65-F5344CB8AC3E}">
        <p14:creationId xmlns:p14="http://schemas.microsoft.com/office/powerpoint/2010/main" val="4136363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0BDC-7C46-B3DE-BD04-52A6B6410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34F6D3-0F27-2A4F-3D3B-672EEE9783D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 que é BLEU?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02BAE87-2F77-E459-25CF-3C9FEBF8ED5C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BLEU (</a:t>
            </a:r>
            <a:r>
              <a:rPr lang="pt-BR" sz="2800" i="1" dirty="0" err="1"/>
              <a:t>Bilingual</a:t>
            </a:r>
            <a:r>
              <a:rPr lang="pt-BR" sz="2800" i="1" dirty="0"/>
              <a:t> </a:t>
            </a:r>
            <a:r>
              <a:rPr lang="pt-BR" sz="2800" i="1" dirty="0" err="1"/>
              <a:t>Evaluation</a:t>
            </a:r>
            <a:r>
              <a:rPr lang="pt-BR" sz="2800" i="1" dirty="0"/>
              <a:t> </a:t>
            </a:r>
            <a:r>
              <a:rPr lang="pt-BR" sz="2800" i="1" dirty="0" err="1"/>
              <a:t>Understudy</a:t>
            </a:r>
            <a:r>
              <a:rPr lang="pt-BR" sz="2800" dirty="0"/>
              <a:t>) é uma métrica usada para avaliar tradução automática.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Compara n-gramas do texto gerado com os de uma referência humana.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Mede a precisão das palavras e frases geradas em relação ao esperado.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uma das métricas mais utilizadas em benchmarks de PLN.</a:t>
            </a:r>
          </a:p>
        </p:txBody>
      </p:sp>
    </p:spTree>
    <p:extLst>
      <p:ext uri="{BB962C8B-B14F-4D97-AF65-F5344CB8AC3E}">
        <p14:creationId xmlns:p14="http://schemas.microsoft.com/office/powerpoint/2010/main" val="4252308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AA47-6004-65D9-1D2C-CE4795D18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9609604-D22F-A675-686F-E3EEEA5F707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Cálculo do BLEU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B6478C3-DA04-B585-DEED-68C3BF30614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BLEU calcula a precisão de n-gramas e aplica uma penalidade de comprimento.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penalidade evita que textos curtos demais recebam pontuação alta injustamente.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média geométrica das precisões é usada para compor a pontuação final.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resultado varia de 0 a 1, sendo valores mais altos indicativos de maior similaridade.</a:t>
            </a:r>
          </a:p>
        </p:txBody>
      </p:sp>
    </p:spTree>
    <p:extLst>
      <p:ext uri="{BB962C8B-B14F-4D97-AF65-F5344CB8AC3E}">
        <p14:creationId xmlns:p14="http://schemas.microsoft.com/office/powerpoint/2010/main" val="1546372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07545-D953-D752-246E-05870FB4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A6EB50E-FF3C-11BC-87C7-9171C8DD615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Vantagens do BLEU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E1B3AC-56F4-425F-B3CF-4F9CB451DAA3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uma métrica simples, rápida e fácil de implementar.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Funciona bem em tarefas de tradução e outras com referência textual clara.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Permite comparações objetivas entre diferentes modelos.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amplamente aceita na comunidade de PLN como padrão de avaliação.</a:t>
            </a:r>
          </a:p>
        </p:txBody>
      </p:sp>
    </p:spTree>
    <p:extLst>
      <p:ext uri="{BB962C8B-B14F-4D97-AF65-F5344CB8AC3E}">
        <p14:creationId xmlns:p14="http://schemas.microsoft.com/office/powerpoint/2010/main" val="3420080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9957-1374-0721-4EF0-5C08F704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49F92A-1E61-77EC-D99F-3048CD31828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Limitações do BLEU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A3BE99-E78A-13DB-B6B0-E5088E826AC9}"/>
              </a:ext>
            </a:extLst>
          </p:cNvPr>
          <p:cNvSpPr txBox="1"/>
          <p:nvPr/>
        </p:nvSpPr>
        <p:spPr>
          <a:xfrm>
            <a:off x="512064" y="1304405"/>
            <a:ext cx="11137392" cy="2283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BLEU não considera sinônimos ou variações válidas de expressão.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penalizar textos criativos ou com estilo diferente da referência.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Não avalia fluidez nem coerência global do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mais eficaz em tarefas com vocabulário técnico ou previsível.</a:t>
            </a:r>
          </a:p>
        </p:txBody>
      </p:sp>
    </p:spTree>
    <p:extLst>
      <p:ext uri="{BB962C8B-B14F-4D97-AF65-F5344CB8AC3E}">
        <p14:creationId xmlns:p14="http://schemas.microsoft.com/office/powerpoint/2010/main" val="1308767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DFFA2-7A3A-43A1-936C-EE5EFC20F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064A226-362D-515A-80F9-C8DDCD076DC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 que é ROUGE?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BE4A120-9FCA-C74D-8115-9AE4572DFBA3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ROUGE (</a:t>
            </a:r>
            <a:r>
              <a:rPr lang="pt-BR" sz="2800" i="1" dirty="0"/>
              <a:t>Recall-</a:t>
            </a:r>
            <a:r>
              <a:rPr lang="pt-BR" sz="2800" i="1" dirty="0" err="1"/>
              <a:t>Oriented</a:t>
            </a:r>
            <a:r>
              <a:rPr lang="pt-BR" sz="2800" i="1" dirty="0"/>
              <a:t> </a:t>
            </a:r>
            <a:r>
              <a:rPr lang="pt-BR" sz="2800" i="1" dirty="0" err="1"/>
              <a:t>Understudy</a:t>
            </a:r>
            <a:r>
              <a:rPr lang="pt-BR" sz="2800" i="1" dirty="0"/>
              <a:t> for </a:t>
            </a:r>
            <a:r>
              <a:rPr lang="pt-BR" sz="2800" i="1" dirty="0" err="1"/>
              <a:t>Gisting</a:t>
            </a:r>
            <a:r>
              <a:rPr lang="pt-BR" sz="2800" i="1" dirty="0"/>
              <a:t> </a:t>
            </a:r>
            <a:r>
              <a:rPr lang="pt-BR" sz="2800" i="1" dirty="0" err="1"/>
              <a:t>Evaluation</a:t>
            </a:r>
            <a:r>
              <a:rPr lang="pt-BR" sz="2800" dirty="0"/>
              <a:t>) é usado para avaliar sumarização.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Foca na recuperação de n-gramas presentes na referência.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Mede o quanto do conteúdo esperado foi incluído no texto gerado.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útil para tarefas onde a cobertura de informação é mais importante que a precisão.</a:t>
            </a:r>
          </a:p>
        </p:txBody>
      </p:sp>
    </p:spTree>
    <p:extLst>
      <p:ext uri="{BB962C8B-B14F-4D97-AF65-F5344CB8AC3E}">
        <p14:creationId xmlns:p14="http://schemas.microsoft.com/office/powerpoint/2010/main" val="1563308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1F5F2-E085-1B5A-B85C-A6982C3E5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41CF3B1-5D82-ADC5-7367-862718D143A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 Tipos de ROUGE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BC8E885-F220-40DA-580E-32265FF5424A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ROUGE-N avalia n-gramas exatos entre os 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ROUGE-L considera a sequência mais longa comum entre os 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ROUGE-W pondera a importância de n-gramas com base em sua posição.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variante oferece uma perspectiva diferente sobre a qualidade da geração.</a:t>
            </a:r>
          </a:p>
        </p:txBody>
      </p:sp>
    </p:spTree>
    <p:extLst>
      <p:ext uri="{BB962C8B-B14F-4D97-AF65-F5344CB8AC3E}">
        <p14:creationId xmlns:p14="http://schemas.microsoft.com/office/powerpoint/2010/main" val="148694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0593F-61CD-B8AA-6E37-E4D27E326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4CAFF36-D989-B7EF-BA3E-33F2162D6FB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Vantagens do ROUGE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EE236D0-2DFF-D465-A57B-F66367B89FF2}"/>
              </a:ext>
            </a:extLst>
          </p:cNvPr>
          <p:cNvSpPr txBox="1"/>
          <p:nvPr/>
        </p:nvSpPr>
        <p:spPr>
          <a:xfrm>
            <a:off x="512064" y="1304405"/>
            <a:ext cx="11137392" cy="2283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Captura similaridade estrutural entre textos, além de conteúdo.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eficaz em tarefas de sumarização e geração de respostas.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Permite avaliação mais flexível que o BLEU em textos variados.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ser adaptado para diferentes níveis de granularidade.</a:t>
            </a:r>
          </a:p>
        </p:txBody>
      </p:sp>
    </p:spTree>
    <p:extLst>
      <p:ext uri="{BB962C8B-B14F-4D97-AF65-F5344CB8AC3E}">
        <p14:creationId xmlns:p14="http://schemas.microsoft.com/office/powerpoint/2010/main" val="3278260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D580D-1BEF-0EF3-D944-644AB172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69C5305-1D4E-377D-218B-32AFB09E4AE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Limitações do ROUGE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DE49A67-3FD1-8C9A-6BE6-BDADAF7CBC2B}"/>
              </a:ext>
            </a:extLst>
          </p:cNvPr>
          <p:cNvSpPr txBox="1"/>
          <p:nvPr/>
        </p:nvSpPr>
        <p:spPr>
          <a:xfrm>
            <a:off x="512064" y="1304405"/>
            <a:ext cx="11137392" cy="2283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ROUGE não avalia a qualidade semântica ou a naturalidade do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favorecer textos que repetem palavras da referência sem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Não considera sinônimos nem variações estilísticas.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Deve ser usado em conjunto com outras métricas para melhor avaliação.</a:t>
            </a:r>
          </a:p>
        </p:txBody>
      </p:sp>
    </p:spTree>
    <p:extLst>
      <p:ext uri="{BB962C8B-B14F-4D97-AF65-F5344CB8AC3E}">
        <p14:creationId xmlns:p14="http://schemas.microsoft.com/office/powerpoint/2010/main" val="2651339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DDC64-9F85-0C80-A0E9-CF57387B0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31F083B-75C2-CC7F-DD91-92B0DD1F284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Comparando Métricas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58FCEE-E15B-494D-2730-19692C8A6525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BLEU foca em precisão, medindo o que foi corretamente gerado.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ROUGE foca em recall, medindo o quanto do conteúdo esperado foi recuperado.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Perplexidade avalia a probabilidade de geração, sem comparação com referência.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métrica oferece uma visão complementar sobre o desempenho do modelo.</a:t>
            </a:r>
          </a:p>
        </p:txBody>
      </p:sp>
    </p:spTree>
    <p:extLst>
      <p:ext uri="{BB962C8B-B14F-4D97-AF65-F5344CB8AC3E}">
        <p14:creationId xmlns:p14="http://schemas.microsoft.com/office/powerpoint/2010/main" val="1061514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14E53-8331-B1E7-B73D-72EBA759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FCA4205-1EEF-9C2A-68A5-89B66104489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Escolha da Métrica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8A40FF-E160-C7FC-31F9-F97CA4B9269E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da métrica depende da natureza da tarefa e do objetivo da avaliação.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Tradução automática favorece BLEU; sumarização prefere ROUGE.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Perplexidade é útil em estágios iniciais ou para modelos sem referência.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Avaliações robustas combinam múltiplas métricas para maior precisão.</a:t>
            </a:r>
          </a:p>
        </p:txBody>
      </p:sp>
    </p:spTree>
    <p:extLst>
      <p:ext uri="{BB962C8B-B14F-4D97-AF65-F5344CB8AC3E}">
        <p14:creationId xmlns:p14="http://schemas.microsoft.com/office/powerpoint/2010/main" val="3954412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338F5-F3A0-4B07-1B7E-C31CD8C54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E6DDB52-BD1C-3EBF-0303-82A67FD8542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Avaliação Humana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022951-B43D-9282-9ECA-4CFF6334C878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avaliação humana complementa métricas automáticas com julgamento subjetivo.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Avaliadores analisam fluidez, coerência, relevância e naturalidade do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essencial em tarefas criativas ou com múltiplas respostas válidas.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ser usada para calibrar ou validar métricas automáticas.</a:t>
            </a:r>
          </a:p>
        </p:txBody>
      </p:sp>
    </p:spTree>
    <p:extLst>
      <p:ext uri="{BB962C8B-B14F-4D97-AF65-F5344CB8AC3E}">
        <p14:creationId xmlns:p14="http://schemas.microsoft.com/office/powerpoint/2010/main" val="899609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BB3DA-B5AE-8BF1-0B94-941F25254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CA385A-10C6-992F-C751-D88D1A7B3AA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18EF25-6DC3-B920-8398-275C2E66B5B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Avaliar </a:t>
            </a:r>
            <a:r>
              <a:rPr lang="pt-BR" sz="2800" dirty="0" err="1"/>
              <a:t>LLMs</a:t>
            </a:r>
            <a:r>
              <a:rPr lang="pt-BR" sz="2800" dirty="0"/>
              <a:t> exige uma abordagem multifacetada, combinando métricas e julgamento humano.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Nenhuma métrica isolada é suficiente para capturar todos os aspectos da qualidade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cuidadosa das métricas garante resultados mais confiáveis e </a:t>
            </a:r>
            <a:r>
              <a:rPr lang="pt-BR" sz="2800" err="1"/>
              <a:t>úteis</a:t>
            </a:r>
            <a:r>
              <a:rPr lang="pt-BR" sz="280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/>
              <a:t>A </a:t>
            </a:r>
            <a:r>
              <a:rPr lang="pt-BR" sz="2800" dirty="0"/>
              <a:t>avaliação contínua é fundamental para o avanço da inteligência artificial em linguagem.</a:t>
            </a:r>
          </a:p>
        </p:txBody>
      </p:sp>
    </p:spTree>
    <p:extLst>
      <p:ext uri="{BB962C8B-B14F-4D97-AF65-F5344CB8AC3E}">
        <p14:creationId xmlns:p14="http://schemas.microsoft.com/office/powerpoint/2010/main" val="2798930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11334</TotalTime>
  <Words>1073</Words>
  <Application>Microsoft Office PowerPoint</Application>
  <PresentationFormat>Widescreen</PresentationFormat>
  <Paragraphs>102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7</vt:i4>
      </vt:variant>
      <vt:variant>
        <vt:lpstr>Títulos de slides</vt:lpstr>
      </vt:variant>
      <vt:variant>
        <vt:i4>20</vt:i4>
      </vt:variant>
    </vt:vector>
  </HeadingPairs>
  <TitlesOfParts>
    <vt:vector size="27" baseType="lpstr"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104</cp:revision>
  <dcterms:created xsi:type="dcterms:W3CDTF">2020-01-14T17:16:45Z</dcterms:created>
  <dcterms:modified xsi:type="dcterms:W3CDTF">2025-12-02T14:44:11Z</dcterms:modified>
</cp:coreProperties>
</file>