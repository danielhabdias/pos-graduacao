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  <p:sldMasterId id="2147483662" r:id="rId2"/>
    <p:sldMasterId id="2147483686" r:id="rId3"/>
    <p:sldMasterId id="2147483702" r:id="rId4"/>
    <p:sldMasterId id="2147483700" r:id="rId5"/>
    <p:sldMasterId id="2147483688" r:id="rId6"/>
    <p:sldMasterId id="2147483698" r:id="rId7"/>
    <p:sldMasterId id="2147483690" r:id="rId8"/>
  </p:sldMasterIdLst>
  <p:notesMasterIdLst>
    <p:notesMasterId r:id="rId31"/>
  </p:notesMasterIdLst>
  <p:handoutMasterIdLst>
    <p:handoutMasterId r:id="rId32"/>
  </p:handoutMasterIdLst>
  <p:sldIdLst>
    <p:sldId id="266" r:id="rId9"/>
    <p:sldId id="260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59" r:id="rId28"/>
    <p:sldId id="284" r:id="rId29"/>
    <p:sldId id="261" r:id="rId3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BDC4"/>
    <a:srgbClr val="0CA4AC"/>
    <a:srgbClr val="0FCAD3"/>
    <a:srgbClr val="53EBF3"/>
    <a:srgbClr val="10DCE6"/>
    <a:srgbClr val="19E5EF"/>
    <a:srgbClr val="7FC25E"/>
    <a:srgbClr val="99CE7E"/>
    <a:srgbClr val="4A6B9E"/>
    <a:srgbClr val="E1B0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BEF2F3-E8E7-EB4E-4607-D10EF9CBF967}" v="1" dt="2025-12-02T14:42:01.281"/>
  </p1510:revLst>
</p1510:revInfo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8" autoAdjust="0"/>
    <p:restoredTop sz="96433" autoAdjust="0"/>
  </p:normalViewPr>
  <p:slideViewPr>
    <p:cSldViewPr snapToGrid="0">
      <p:cViewPr varScale="1">
        <p:scale>
          <a:sx n="57" d="100"/>
          <a:sy n="57" d="100"/>
        </p:scale>
        <p:origin x="980" y="2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handoutMaster" Target="handoutMasters/handoutMaster1.xml"/><Relationship Id="rId37" Type="http://schemas.microsoft.com/office/2015/10/relationships/revisionInfo" Target="revisionInfo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theme" Target="theme/theme1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9E263-9857-493C-87AB-76AEC73ED1B0}" type="datetimeFigureOut">
              <a:rPr lang="pt-BR" smtClean="0"/>
              <a:t>02/12/2025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3192C6-D1F8-4636-B20F-65E15941E4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05766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CFB7B-FB1E-4DCF-B3DD-69231CD5CE5A}" type="datetimeFigureOut">
              <a:rPr lang="pt-BR" smtClean="0"/>
              <a:t>02/12/2025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997A3D-AC07-440E-861A-1A04F9FB11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520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1032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153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965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826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4200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4458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626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2235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271D839-9F8D-4166-8A58-6B47D7B554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25"/>
          <a:stretch/>
        </p:blipFill>
        <p:spPr>
          <a:xfrm>
            <a:off x="5879592" y="-1016"/>
            <a:ext cx="6312408" cy="686003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9858289-CED5-4C74-A56D-1D4E492C6A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662" r="84922"/>
          <a:stretch/>
        </p:blipFill>
        <p:spPr>
          <a:xfrm>
            <a:off x="0" y="4425696"/>
            <a:ext cx="1838325" cy="242417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712D76B-ED24-4422-88C0-6B7B3C166B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7021" b="14791"/>
          <a:stretch/>
        </p:blipFill>
        <p:spPr>
          <a:xfrm>
            <a:off x="801046" y="713766"/>
            <a:ext cx="1375226" cy="1147427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D825A9BF-6ACC-43DF-A1B8-755A546813D6}"/>
              </a:ext>
            </a:extLst>
          </p:cNvPr>
          <p:cNvSpPr/>
          <p:nvPr userDrawn="1"/>
        </p:nvSpPr>
        <p:spPr>
          <a:xfrm>
            <a:off x="0" y="2461486"/>
            <a:ext cx="12192000" cy="2238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4797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61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D41864C-5D31-4832-A9DF-D3CE768EAF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16"/>
            <a:ext cx="12192000" cy="6860031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C8AB8969-F6C8-4E34-9E94-3475775C31C1}"/>
              </a:ext>
            </a:extLst>
          </p:cNvPr>
          <p:cNvSpPr/>
          <p:nvPr userDrawn="1"/>
        </p:nvSpPr>
        <p:spPr>
          <a:xfrm>
            <a:off x="-42881" y="1491915"/>
            <a:ext cx="12255676" cy="4236024"/>
          </a:xfrm>
          <a:prstGeom prst="rect">
            <a:avLst/>
          </a:prstGeom>
          <a:noFill/>
          <a:ln w="19050">
            <a:solidFill>
              <a:srgbClr val="CE7F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B68C534-7803-414E-8BA1-6969B51E56A5}"/>
              </a:ext>
            </a:extLst>
          </p:cNvPr>
          <p:cNvSpPr/>
          <p:nvPr userDrawn="1"/>
        </p:nvSpPr>
        <p:spPr>
          <a:xfrm>
            <a:off x="-32080" y="1592300"/>
            <a:ext cx="12244875" cy="4035255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F934283-E523-4C9E-8F73-3053A91293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979" b="14654"/>
          <a:stretch/>
        </p:blipFill>
        <p:spPr>
          <a:xfrm>
            <a:off x="10170133" y="233313"/>
            <a:ext cx="1076987" cy="94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80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A00898C9-9980-4E87-97AC-5E83C2D8FB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01E83D3-74CC-4611-9013-CE8C448ADC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CDF338D4-311E-44C0-92E4-277579AACB1D}"/>
              </a:ext>
            </a:extLst>
          </p:cNvPr>
          <p:cNvSpPr/>
          <p:nvPr userDrawn="1"/>
        </p:nvSpPr>
        <p:spPr>
          <a:xfrm>
            <a:off x="238125" y="1133475"/>
            <a:ext cx="11715750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4605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BF8A4F7-D892-4805-8A29-0CE7B385A0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E3AD4BB-7C89-4B5A-AC2F-1BBBBC701D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92645399-226D-4406-85F8-4E893C4404A7}"/>
              </a:ext>
            </a:extLst>
          </p:cNvPr>
          <p:cNvSpPr/>
          <p:nvPr userDrawn="1"/>
        </p:nvSpPr>
        <p:spPr>
          <a:xfrm>
            <a:off x="238125" y="1133475"/>
            <a:ext cx="6825866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A5AD9EF-CC3F-4371-8566-84417E4CB4FC}"/>
              </a:ext>
            </a:extLst>
          </p:cNvPr>
          <p:cNvSpPr/>
          <p:nvPr userDrawn="1"/>
        </p:nvSpPr>
        <p:spPr>
          <a:xfrm>
            <a:off x="7154426" y="1126817"/>
            <a:ext cx="4799449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1841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3EE433A-86F8-4A74-A106-C929C79F1D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732D89E6-11FC-4A9B-A724-0DB3487889EC}"/>
              </a:ext>
            </a:extLst>
          </p:cNvPr>
          <p:cNvSpPr/>
          <p:nvPr userDrawn="1"/>
        </p:nvSpPr>
        <p:spPr>
          <a:xfrm>
            <a:off x="228076" y="249219"/>
            <a:ext cx="11729461" cy="5779791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3950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E99B992-82EF-49B9-958D-103864F509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218"/>
            <a:ext cx="12192000" cy="6878022"/>
          </a:xfrm>
          <a:prstGeom prst="rect">
            <a:avLst/>
          </a:prstGeom>
        </p:spPr>
      </p:pic>
      <p:sp>
        <p:nvSpPr>
          <p:cNvPr id="6" name="Retângulo 5"/>
          <p:cNvSpPr/>
          <p:nvPr userDrawn="1"/>
        </p:nvSpPr>
        <p:spPr>
          <a:xfrm>
            <a:off x="628769" y="-63188"/>
            <a:ext cx="10911016" cy="6942005"/>
          </a:xfrm>
          <a:prstGeom prst="rect">
            <a:avLst/>
          </a:prstGeom>
          <a:solidFill>
            <a:srgbClr val="4A6B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1884" y="6394749"/>
            <a:ext cx="1606086" cy="144879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A30BD0E4-DA32-42AA-832D-7CA703EA8D73}"/>
              </a:ext>
            </a:extLst>
          </p:cNvPr>
          <p:cNvSpPr/>
          <p:nvPr userDrawn="1"/>
        </p:nvSpPr>
        <p:spPr>
          <a:xfrm>
            <a:off x="628769" y="-68695"/>
            <a:ext cx="10911016" cy="6942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1010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15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479D0E5-4192-4B39-8A4A-8E8E696D58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011"/>
            <a:ext cx="12192000" cy="687802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8CA63F4-93AC-4439-A429-F7459663FB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00" t="26070" r="39575" b="41409"/>
          <a:stretch/>
        </p:blipFill>
        <p:spPr>
          <a:xfrm>
            <a:off x="4791456" y="1783080"/>
            <a:ext cx="2575502" cy="223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7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3AC71C8-4A67-4A33-A6D5-77E00F8EAEB2}"/>
              </a:ext>
            </a:extLst>
          </p:cNvPr>
          <p:cNvSpPr txBox="1"/>
          <p:nvPr/>
        </p:nvSpPr>
        <p:spPr>
          <a:xfrm>
            <a:off x="-1" y="2917803"/>
            <a:ext cx="121920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solidFill>
                  <a:srgbClr val="4A6B9E"/>
                </a:solidFill>
                <a:latin typeface="Trebuchet MS" panose="020B0603020202020204" pitchFamily="34" charset="0"/>
              </a:rPr>
              <a:t>Comparação entre </a:t>
            </a:r>
            <a:r>
              <a:rPr lang="pt-BR" sz="6000" b="1" dirty="0" err="1">
                <a:solidFill>
                  <a:srgbClr val="4A6B9E"/>
                </a:solidFill>
                <a:latin typeface="Trebuchet MS" panose="020B0603020202020204" pitchFamily="34" charset="0"/>
              </a:rPr>
              <a:t>LLMs</a:t>
            </a:r>
            <a:endParaRPr lang="pt-BR" sz="6000" b="1" dirty="0">
              <a:solidFill>
                <a:srgbClr val="4A6B9E"/>
              </a:solidFill>
              <a:latin typeface="Trebuchet MS" panose="020B0603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58C59E6-C7EF-4B6B-BE4D-D770EE53AB4E}"/>
              </a:ext>
            </a:extLst>
          </p:cNvPr>
          <p:cNvSpPr txBox="1"/>
          <p:nvPr/>
        </p:nvSpPr>
        <p:spPr>
          <a:xfrm>
            <a:off x="-2" y="3907113"/>
            <a:ext cx="12192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>
                <a:solidFill>
                  <a:srgbClr val="01BDC4"/>
                </a:solidFill>
                <a:latin typeface="Trebuchet MS" panose="020B0603020202020204" pitchFamily="34" charset="0"/>
              </a:rPr>
              <a:t>Zenilton Patrocínio Jr</a:t>
            </a:r>
          </a:p>
        </p:txBody>
      </p:sp>
    </p:spTree>
    <p:extLst>
      <p:ext uri="{BB962C8B-B14F-4D97-AF65-F5344CB8AC3E}">
        <p14:creationId xmlns:p14="http://schemas.microsoft.com/office/powerpoint/2010/main" val="2623967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Comparações entre </a:t>
            </a:r>
            <a:r>
              <a:rPr lang="pt-BR" sz="4500" b="1" dirty="0" err="1">
                <a:solidFill>
                  <a:schemeClr val="bg1"/>
                </a:solidFill>
              </a:rPr>
              <a:t>LLMs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Os modelos de linguagem BERT, GPT e </a:t>
            </a:r>
            <a:r>
              <a:rPr lang="pt-BR" sz="2800" dirty="0" err="1"/>
              <a:t>XLNet</a:t>
            </a:r>
            <a:r>
              <a:rPr lang="pt-BR" sz="2800" dirty="0"/>
              <a:t> representam diferentes abordagens na modelagem de linguagem natural.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Cada um possui características arquiteturais e funcionais que os tornam mais adequados para tarefas específicas.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comparação entre eles ajuda a entender suas vantagens, limitações e aplicações práticas.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análise é essencial para escolher o modelo mais apropriado conforme o objetivo da aplicação.</a:t>
            </a:r>
          </a:p>
        </p:txBody>
      </p:sp>
    </p:spTree>
    <p:extLst>
      <p:ext uri="{BB962C8B-B14F-4D97-AF65-F5344CB8AC3E}">
        <p14:creationId xmlns:p14="http://schemas.microsoft.com/office/powerpoint/2010/main" val="2300547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0FC80-942D-0D3D-5CBE-E1F55A5AC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5EDA5C7-E7D3-382E-ADEF-00388F230D00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Visão Geral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4CF1C3B-B579-83AC-3339-8A45D2DCF08E}"/>
              </a:ext>
            </a:extLst>
          </p:cNvPr>
          <p:cNvSpPr txBox="1"/>
          <p:nvPr/>
        </p:nvSpPr>
        <p:spPr>
          <a:xfrm>
            <a:off x="512064" y="1304405"/>
            <a:ext cx="11137392" cy="3591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BERT é voltado para compreensão textual profunda, utilizando codificação bidirecional.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GPT é especializado em geração de texto, com foco na sequência e fluidez.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XLNet</a:t>
            </a:r>
            <a:r>
              <a:rPr lang="pt-BR" sz="2800" dirty="0"/>
              <a:t> combina elementos de ambos, oferecendo flexibilidade e desempenho em tarefas mistas.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Juntos, esses modelos cobrem uma ampla gama de aplicações em PLN.</a:t>
            </a:r>
          </a:p>
        </p:txBody>
      </p:sp>
    </p:spTree>
    <p:extLst>
      <p:ext uri="{BB962C8B-B14F-4D97-AF65-F5344CB8AC3E}">
        <p14:creationId xmlns:p14="http://schemas.microsoft.com/office/powerpoint/2010/main" val="4022247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53A6E-9167-2853-5F39-12B072611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52A8292-6B27-6AE8-DCFC-B2E0CAFFCE83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Arquitetura do BERT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54D4692-B362-4DBE-7C8F-DF9E8384B5EE}"/>
              </a:ext>
            </a:extLst>
          </p:cNvPr>
          <p:cNvSpPr txBox="1"/>
          <p:nvPr/>
        </p:nvSpPr>
        <p:spPr>
          <a:xfrm>
            <a:off x="512064" y="1304405"/>
            <a:ext cx="11137392" cy="3591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BERT utiliza codificadores baseados na arquitetura </a:t>
            </a:r>
            <a:r>
              <a:rPr lang="pt-BR" sz="2800" dirty="0" err="1"/>
              <a:t>Transformer</a:t>
            </a:r>
            <a:r>
              <a:rPr lang="pt-BR" sz="2800" dirty="0"/>
              <a:t>, com atenção bidirecional.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estrutura permite que o modelo compreenda o contexto completo de cada palavra.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ideal para tarefas como classificação de texto, análise de sentimentos e QA.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arquitetura favorece a interpretação precisa de relações semânticas.</a:t>
            </a:r>
          </a:p>
        </p:txBody>
      </p:sp>
    </p:spTree>
    <p:extLst>
      <p:ext uri="{BB962C8B-B14F-4D97-AF65-F5344CB8AC3E}">
        <p14:creationId xmlns:p14="http://schemas.microsoft.com/office/powerpoint/2010/main" val="2647886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6110B-E7D7-E3B7-1F8F-5B4F7B1A7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F52B96A-E7CE-00F9-502D-6E90C2E7AE2F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Arquitetura do GPT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5CC7F67-E0CA-5249-B892-EC3F86007362}"/>
              </a:ext>
            </a:extLst>
          </p:cNvPr>
          <p:cNvSpPr txBox="1"/>
          <p:nvPr/>
        </p:nvSpPr>
        <p:spPr>
          <a:xfrm>
            <a:off x="512064" y="1304405"/>
            <a:ext cx="11137392" cy="3591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GPT é baseado em decodificadores </a:t>
            </a:r>
            <a:r>
              <a:rPr lang="pt-BR" sz="2800" dirty="0" err="1"/>
              <a:t>autoregressivos</a:t>
            </a:r>
            <a:r>
              <a:rPr lang="pt-BR" sz="2800" dirty="0"/>
              <a:t>, que geram texto token por token.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modelo prevê cada palavra com base nas anteriores, mantendo coerência na sequência.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estrutura é eficaz para tarefas de geração, como redação automática e diálogos.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simplicidade da arquitetura facilita a escalabilidade e adaptação.</a:t>
            </a:r>
          </a:p>
        </p:txBody>
      </p:sp>
    </p:spTree>
    <p:extLst>
      <p:ext uri="{BB962C8B-B14F-4D97-AF65-F5344CB8AC3E}">
        <p14:creationId xmlns:p14="http://schemas.microsoft.com/office/powerpoint/2010/main" val="3173476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BC840-770D-6EF4-E486-4C25D94AB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41D20AF-5FA2-C2D3-E09D-C5F64454BE25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Arquitetura do </a:t>
            </a:r>
            <a:r>
              <a:rPr lang="pt-BR" sz="4500" b="1" dirty="0" err="1">
                <a:solidFill>
                  <a:schemeClr val="bg1"/>
                </a:solidFill>
              </a:rPr>
              <a:t>XLNet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EEF03C6-B231-0317-6C83-58A72F70C545}"/>
              </a:ext>
            </a:extLst>
          </p:cNvPr>
          <p:cNvSpPr txBox="1"/>
          <p:nvPr/>
        </p:nvSpPr>
        <p:spPr>
          <a:xfrm>
            <a:off x="512064" y="1304405"/>
            <a:ext cx="11137392" cy="3155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XLNet</a:t>
            </a:r>
            <a:r>
              <a:rPr lang="pt-BR" sz="2800" dirty="0"/>
              <a:t> combina codificadores com permutação de sequência e </a:t>
            </a:r>
            <a:r>
              <a:rPr lang="pt-BR" sz="2800" dirty="0" err="1"/>
              <a:t>autoregressividade</a:t>
            </a:r>
            <a:r>
              <a:rPr lang="pt-BR" sz="2800" dirty="0"/>
              <a:t>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abordagem permite capturar dependências contextuais mais ricas.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modelo é capaz de lidar com múltiplas ordens de entrada, ampliando a compreensão.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eficaz tanto para tarefas de compreensão quanto de geração.</a:t>
            </a:r>
          </a:p>
        </p:txBody>
      </p:sp>
    </p:spTree>
    <p:extLst>
      <p:ext uri="{BB962C8B-B14F-4D97-AF65-F5344CB8AC3E}">
        <p14:creationId xmlns:p14="http://schemas.microsoft.com/office/powerpoint/2010/main" val="3572507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F16DD-28B6-0644-A084-408BAA077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8D6A630-A2D1-E5DB-2A50-50694CB17951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Pré-treinamento do BERT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03F8AA8-DF48-03E1-F084-3A4537090F81}"/>
              </a:ext>
            </a:extLst>
          </p:cNvPr>
          <p:cNvSpPr txBox="1"/>
          <p:nvPr/>
        </p:nvSpPr>
        <p:spPr>
          <a:xfrm>
            <a:off x="512064" y="1304405"/>
            <a:ext cx="11137392" cy="2719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BERT é </a:t>
            </a:r>
            <a:r>
              <a:rPr lang="pt-BR" sz="2800" dirty="0" err="1"/>
              <a:t>pré</a:t>
            </a:r>
            <a:r>
              <a:rPr lang="pt-BR" sz="2800" dirty="0"/>
              <a:t>-treinado com a técnica de </a:t>
            </a:r>
            <a:r>
              <a:rPr lang="pt-BR" sz="2800" dirty="0" err="1"/>
              <a:t>Masked</a:t>
            </a:r>
            <a:r>
              <a:rPr lang="pt-BR" sz="2800" dirty="0"/>
              <a:t> </a:t>
            </a:r>
            <a:r>
              <a:rPr lang="pt-BR" sz="2800" dirty="0" err="1"/>
              <a:t>Language</a:t>
            </a:r>
            <a:r>
              <a:rPr lang="pt-BR" sz="2800" dirty="0"/>
              <a:t> </a:t>
            </a:r>
            <a:r>
              <a:rPr lang="pt-BR" sz="2800" dirty="0" err="1"/>
              <a:t>Modeling</a:t>
            </a:r>
            <a:r>
              <a:rPr lang="pt-BR" sz="2800" dirty="0"/>
              <a:t> (MLM).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Palavras são ocultadas e o modelo aprende a prever os termos ausentes.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abordagem promove aprendizado bidirecional e contextual.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pré-treinamento é seguido de fine-</a:t>
            </a:r>
            <a:r>
              <a:rPr lang="pt-BR" sz="2800" dirty="0" err="1"/>
              <a:t>tuning</a:t>
            </a:r>
            <a:r>
              <a:rPr lang="pt-BR" sz="2800" dirty="0"/>
              <a:t> para tarefas específicas.</a:t>
            </a:r>
          </a:p>
        </p:txBody>
      </p:sp>
    </p:spTree>
    <p:extLst>
      <p:ext uri="{BB962C8B-B14F-4D97-AF65-F5344CB8AC3E}">
        <p14:creationId xmlns:p14="http://schemas.microsoft.com/office/powerpoint/2010/main" val="2630451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A6FE6-B1F9-D25C-C81B-FE931001E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8355FEC-9BDC-34B8-CF91-6E33C2E09DE8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Pré-treinamento do GPT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559E594-191B-E9F2-853D-82182ED14FA1}"/>
              </a:ext>
            </a:extLst>
          </p:cNvPr>
          <p:cNvSpPr txBox="1"/>
          <p:nvPr/>
        </p:nvSpPr>
        <p:spPr>
          <a:xfrm>
            <a:off x="512064" y="1304405"/>
            <a:ext cx="11137392" cy="2719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GPT utiliza modelagem de linguagem </a:t>
            </a:r>
            <a:r>
              <a:rPr lang="pt-BR" sz="2800" dirty="0" err="1"/>
              <a:t>autoregressiva</a:t>
            </a:r>
            <a:r>
              <a:rPr lang="pt-BR" sz="2800" dirty="0"/>
              <a:t> durante o pré-treinamento.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modelo aprende a prever o próximo token com base nos anteriores.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técnica favorece a geração sequencial e fluida de texto.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treinamento é feito com grandes volumes de texto não rotulado.</a:t>
            </a:r>
          </a:p>
        </p:txBody>
      </p:sp>
    </p:spTree>
    <p:extLst>
      <p:ext uri="{BB962C8B-B14F-4D97-AF65-F5344CB8AC3E}">
        <p14:creationId xmlns:p14="http://schemas.microsoft.com/office/powerpoint/2010/main" val="359339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0FE68-87C7-AB2A-6E02-D4CD98C1B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7DCCAA8-D4AD-77C6-48A7-9D95710DEAE0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Pré-treinamento do </a:t>
            </a:r>
            <a:r>
              <a:rPr lang="pt-BR" sz="4500" b="1" dirty="0" err="1">
                <a:solidFill>
                  <a:schemeClr val="bg1"/>
                </a:solidFill>
              </a:rPr>
              <a:t>XLNet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5C3CE8A-52CD-1144-538E-C9AC3D0B6B73}"/>
              </a:ext>
            </a:extLst>
          </p:cNvPr>
          <p:cNvSpPr txBox="1"/>
          <p:nvPr/>
        </p:nvSpPr>
        <p:spPr>
          <a:xfrm>
            <a:off x="512064" y="1304405"/>
            <a:ext cx="11137392" cy="3155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XLNet</a:t>
            </a:r>
            <a:r>
              <a:rPr lang="pt-BR" sz="2800" dirty="0"/>
              <a:t> é treinado com permutação de sequência, evitando o uso de máscaras estáticas.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modelo aprende a prever tokens em diferentes ordens, simulando múltiplos contextos.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técnica melhora a capacidade de generalização e compreensão.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pré-treinamento é mais complexo, mas resulta em maior flexibilidade.</a:t>
            </a:r>
          </a:p>
        </p:txBody>
      </p:sp>
    </p:spTree>
    <p:extLst>
      <p:ext uri="{BB962C8B-B14F-4D97-AF65-F5344CB8AC3E}">
        <p14:creationId xmlns:p14="http://schemas.microsoft.com/office/powerpoint/2010/main" val="2859476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BAA8F-6ED1-F296-2B5A-2AE43B15B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7C4F013-B4AD-B31C-624D-A88F81F5D450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Direcionalidade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0A384F1-EB7F-4FCC-CD63-1AF4A3FEE296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BERT é bidirecional, analisando o contexto à esquerda e à direita simultaneamente.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GPT é unidirecional, considerando apenas os tokens anteriores na geração.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XLNet</a:t>
            </a:r>
            <a:r>
              <a:rPr lang="pt-BR" sz="2800" dirty="0"/>
              <a:t> é </a:t>
            </a:r>
            <a:r>
              <a:rPr lang="pt-BR" sz="2800" dirty="0" err="1"/>
              <a:t>permutacional</a:t>
            </a:r>
            <a:r>
              <a:rPr lang="pt-BR" sz="2800" dirty="0"/>
              <a:t>, combinando diferentes ordens para capturar dependências.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direcionalidade influencia diretamente o tipo de tarefa em que cada modelo se destaca.</a:t>
            </a:r>
          </a:p>
        </p:txBody>
      </p:sp>
    </p:spTree>
    <p:extLst>
      <p:ext uri="{BB962C8B-B14F-4D97-AF65-F5344CB8AC3E}">
        <p14:creationId xmlns:p14="http://schemas.microsoft.com/office/powerpoint/2010/main" val="12945521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31BFD-80EE-CA43-7471-57A4A84D5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C88D4C6-6C61-B84F-FB1B-B49D24B151D2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Capacidade de Geração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038CC2F-D501-13DF-A139-96EAA40211D5}"/>
              </a:ext>
            </a:extLst>
          </p:cNvPr>
          <p:cNvSpPr txBox="1"/>
          <p:nvPr/>
        </p:nvSpPr>
        <p:spPr>
          <a:xfrm>
            <a:off x="512064" y="1304405"/>
            <a:ext cx="11137392" cy="3155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GPT é o mais adequado para geração de texto criativo e fluido.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BERT não é projetado para gerar texto, mas sim para compreender e classificar.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XLNet</a:t>
            </a:r>
            <a:r>
              <a:rPr lang="pt-BR" sz="2800" dirty="0"/>
              <a:t> pode gerar texto, mas com maior complexidade e custo computacional.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escolha depende do foco: produção ou interpretação de linguagem.</a:t>
            </a:r>
          </a:p>
        </p:txBody>
      </p:sp>
    </p:spTree>
    <p:extLst>
      <p:ext uri="{BB962C8B-B14F-4D97-AF65-F5344CB8AC3E}">
        <p14:creationId xmlns:p14="http://schemas.microsoft.com/office/powerpoint/2010/main" val="24871779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A964C-9810-7565-5A4A-E731FAB06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0C1FEB7-21C5-BA07-A3BE-5F2D8D34ADF2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Desempenho em Tarefas de PLN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3F45951-B1E6-A22E-493D-6F2E08BC28D7}"/>
              </a:ext>
            </a:extLst>
          </p:cNvPr>
          <p:cNvSpPr txBox="1"/>
          <p:nvPr/>
        </p:nvSpPr>
        <p:spPr>
          <a:xfrm>
            <a:off x="512064" y="1304405"/>
            <a:ext cx="11137392" cy="3155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BERT se destaca em tarefas de classificação, QA e reconhecimento de entidades.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GPT é superior em geração de texto, diálogos e escrita automática.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XLNet</a:t>
            </a:r>
            <a:r>
              <a:rPr lang="pt-BR" sz="2800" dirty="0"/>
              <a:t> apresenta bom desempenho em tarefas mistas, combinando compreensão e geração.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desempenho varia conforme o tipo de entrada e objetivo da tarefa.</a:t>
            </a:r>
          </a:p>
        </p:txBody>
      </p:sp>
    </p:spTree>
    <p:extLst>
      <p:ext uri="{BB962C8B-B14F-4D97-AF65-F5344CB8AC3E}">
        <p14:creationId xmlns:p14="http://schemas.microsoft.com/office/powerpoint/2010/main" val="2283055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365F0-CFB3-F35B-820F-FD0E71B58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9A94A62-EA42-A10D-186B-ADE7BB0C51D8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Eficiência Computacional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C801A7E-5482-7E1A-8753-49543ABACACE}"/>
              </a:ext>
            </a:extLst>
          </p:cNvPr>
          <p:cNvSpPr txBox="1"/>
          <p:nvPr/>
        </p:nvSpPr>
        <p:spPr>
          <a:xfrm>
            <a:off x="512064" y="1304405"/>
            <a:ext cx="11137392" cy="3591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BERT e </a:t>
            </a:r>
            <a:r>
              <a:rPr lang="pt-BR" sz="2800" dirty="0" err="1"/>
              <a:t>XLNet</a:t>
            </a:r>
            <a:r>
              <a:rPr lang="pt-BR" sz="2800" dirty="0"/>
              <a:t> exigem mais recursos computacionais durante a inferência.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GPT é mais leve em tempo de execução, especialmente em geração contínua.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eficiência depende da arquitetura e do tamanho da versão do modelo utilizado.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Modelos maiores oferecem mais precisão, mas com maior custo operacional.</a:t>
            </a:r>
          </a:p>
        </p:txBody>
      </p:sp>
    </p:spTree>
    <p:extLst>
      <p:ext uri="{BB962C8B-B14F-4D97-AF65-F5344CB8AC3E}">
        <p14:creationId xmlns:p14="http://schemas.microsoft.com/office/powerpoint/2010/main" val="4089180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B0F38-F499-596C-6FFC-44567601D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B7A7B82-8A43-7E94-F925-E39B5F73742A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Tamanho dos Modelos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96A77A2-E520-0DEE-5257-365D8B00A7FF}"/>
              </a:ext>
            </a:extLst>
          </p:cNvPr>
          <p:cNvSpPr txBox="1"/>
          <p:nvPr/>
        </p:nvSpPr>
        <p:spPr>
          <a:xfrm>
            <a:off x="512064" y="1304405"/>
            <a:ext cx="11137392" cy="3155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Geralmente, todos os modelos possuem versões pequenas, médias e grandes.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GPT-5 e o </a:t>
            </a:r>
            <a:r>
              <a:rPr lang="pt-BR" sz="2800" dirty="0" err="1"/>
              <a:t>Llama</a:t>
            </a:r>
            <a:r>
              <a:rPr lang="pt-BR" sz="2800" dirty="0"/>
              <a:t> 4 </a:t>
            </a:r>
            <a:r>
              <a:rPr lang="pt-BR" sz="2800" dirty="0" err="1"/>
              <a:t>Behemoth</a:t>
            </a:r>
            <a:r>
              <a:rPr lang="pt-BR" sz="2800" dirty="0"/>
              <a:t> são os maiores já desenvolvidos, com 1,5 a 2 trilhões de parâmetros.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Modelos menores são usados em aplicações com restrições de hardware.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tamanho impacta diretamente a capacidade de aprendizado e geração.</a:t>
            </a:r>
          </a:p>
        </p:txBody>
      </p:sp>
    </p:spTree>
    <p:extLst>
      <p:ext uri="{BB962C8B-B14F-4D97-AF65-F5344CB8AC3E}">
        <p14:creationId xmlns:p14="http://schemas.microsoft.com/office/powerpoint/2010/main" val="8879805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30F74-9C95-1A59-982E-407CA4D09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F4421BB-7DB3-16A6-90EC-4625D45FCA78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Fine-</a:t>
            </a:r>
            <a:r>
              <a:rPr lang="pt-BR" sz="4500" b="1" dirty="0" err="1">
                <a:solidFill>
                  <a:schemeClr val="bg1"/>
                </a:solidFill>
              </a:rPr>
              <a:t>tuning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A130D5A-EC30-FAD4-CF9E-115C7EC7FCC3}"/>
              </a:ext>
            </a:extLst>
          </p:cNvPr>
          <p:cNvSpPr txBox="1"/>
          <p:nvPr/>
        </p:nvSpPr>
        <p:spPr>
          <a:xfrm>
            <a:off x="512064" y="1304405"/>
            <a:ext cx="11137392" cy="2719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BERT e </a:t>
            </a:r>
            <a:r>
              <a:rPr lang="pt-BR" sz="2800" dirty="0" err="1"/>
              <a:t>XLNet</a:t>
            </a:r>
            <a:r>
              <a:rPr lang="pt-BR" sz="2800" dirty="0"/>
              <a:t> são facilmente adaptáveis a tarefas específicas por meio de fine-</a:t>
            </a:r>
            <a:r>
              <a:rPr lang="pt-BR" sz="2800" dirty="0" err="1"/>
              <a:t>tuning</a:t>
            </a:r>
            <a:r>
              <a:rPr lang="pt-BR" sz="2800" dirty="0"/>
              <a:t>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técnica permite especializar o modelo com dados rotulados.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GPT também pode ser ajustado, mas com foco em controle de geração.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fine-</a:t>
            </a:r>
            <a:r>
              <a:rPr lang="pt-BR" sz="2800" dirty="0" err="1"/>
              <a:t>tuning</a:t>
            </a:r>
            <a:r>
              <a:rPr lang="pt-BR" sz="2800" dirty="0"/>
              <a:t> melhora a precisão e a relevância das respostas.</a:t>
            </a:r>
          </a:p>
        </p:txBody>
      </p:sp>
    </p:spTree>
    <p:extLst>
      <p:ext uri="{BB962C8B-B14F-4D97-AF65-F5344CB8AC3E}">
        <p14:creationId xmlns:p14="http://schemas.microsoft.com/office/powerpoint/2010/main" val="41000562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0EF5C-3077-6ABD-7C8B-507876744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2E6D896-009B-F649-BBC3-642A2E01B85D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Transferência de Aprendizado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05C9464-6C34-854E-E4FB-25CCB2951064}"/>
              </a:ext>
            </a:extLst>
          </p:cNvPr>
          <p:cNvSpPr txBox="1"/>
          <p:nvPr/>
        </p:nvSpPr>
        <p:spPr>
          <a:xfrm>
            <a:off x="512064" y="1304405"/>
            <a:ext cx="11137392" cy="3155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Todos os modelos permitem transferência de aprendizado para novas tarefas.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conhecimento adquirido no pré-treinamento é reutilizado em contextos específicos.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Isso reduz a necessidade de treinar modelos do zero.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transferência é uma das principais vantagens dos </a:t>
            </a:r>
            <a:r>
              <a:rPr lang="pt-BR" sz="2800" dirty="0" err="1"/>
              <a:t>LLMs</a:t>
            </a:r>
            <a:r>
              <a:rPr lang="pt-BR" sz="2800" dirty="0"/>
              <a:t> modernos.</a:t>
            </a:r>
          </a:p>
        </p:txBody>
      </p:sp>
    </p:spTree>
    <p:extLst>
      <p:ext uri="{BB962C8B-B14F-4D97-AF65-F5344CB8AC3E}">
        <p14:creationId xmlns:p14="http://schemas.microsoft.com/office/powerpoint/2010/main" val="31293612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1EEC8-BBA3-F3D5-AEE5-273B84256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76E5E11-BC58-FC2C-891E-AE91C59046F6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Benchmarking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46BC995-A27D-14A3-5B60-2E2FE83B8D79}"/>
              </a:ext>
            </a:extLst>
          </p:cNvPr>
          <p:cNvSpPr txBox="1"/>
          <p:nvPr/>
        </p:nvSpPr>
        <p:spPr>
          <a:xfrm>
            <a:off x="512064" y="1304405"/>
            <a:ext cx="11137392" cy="2719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Os modelos são avaliados em benchmarks como GLUE, </a:t>
            </a:r>
            <a:r>
              <a:rPr lang="pt-BR" sz="2800" dirty="0" err="1"/>
              <a:t>SQuAD</a:t>
            </a:r>
            <a:r>
              <a:rPr lang="pt-BR" sz="2800" dirty="0"/>
              <a:t> e </a:t>
            </a:r>
            <a:r>
              <a:rPr lang="pt-BR" sz="2800" dirty="0" err="1"/>
              <a:t>SuperGLUE</a:t>
            </a:r>
            <a:r>
              <a:rPr lang="pt-BR" sz="2800" dirty="0"/>
              <a:t>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BERT e </a:t>
            </a:r>
            <a:r>
              <a:rPr lang="pt-BR" sz="2800" dirty="0" err="1"/>
              <a:t>XLNet</a:t>
            </a:r>
            <a:r>
              <a:rPr lang="pt-BR" sz="2800" dirty="0"/>
              <a:t> apresentam alto desempenho em tarefas de compreensão.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GPT se destaca em benchmarks de geração e criatividade textual.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As métricas ajudam a comparar modelos e orientar escolhas técnicas.</a:t>
            </a:r>
          </a:p>
        </p:txBody>
      </p:sp>
    </p:spTree>
    <p:extLst>
      <p:ext uri="{BB962C8B-B14F-4D97-AF65-F5344CB8AC3E}">
        <p14:creationId xmlns:p14="http://schemas.microsoft.com/office/powerpoint/2010/main" val="6109634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35603-3961-325F-61CA-928959605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490B9F9-0C8C-D5A7-E40D-5A2B8CFAF3DB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Aplicações Reais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FFDF1B8-29E4-8BD3-803B-CA73623BF01A}"/>
              </a:ext>
            </a:extLst>
          </p:cNvPr>
          <p:cNvSpPr txBox="1"/>
          <p:nvPr/>
        </p:nvSpPr>
        <p:spPr>
          <a:xfrm>
            <a:off x="512064" y="1304405"/>
            <a:ext cx="11137392" cy="3155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BERT é usado em motores de busca, análise de sentimentos e classificação jurídica.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GPT é aplicado em assistentes virtuais, redação automática e sistemas de diálogo.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XLNet</a:t>
            </a:r>
            <a:r>
              <a:rPr lang="pt-BR" sz="2800" dirty="0"/>
              <a:t> atua em tarefas híbridas, como QA com geração de explicações.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Cada modelo tem aplicações práticas em diferentes setores da indústria.</a:t>
            </a:r>
          </a:p>
        </p:txBody>
      </p:sp>
    </p:spTree>
    <p:extLst>
      <p:ext uri="{BB962C8B-B14F-4D97-AF65-F5344CB8AC3E}">
        <p14:creationId xmlns:p14="http://schemas.microsoft.com/office/powerpoint/2010/main" val="20325260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8DE79-FE87-0CF1-7DB4-2EA5BC574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29A1D78-FB55-DDC8-F33F-601685147E66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Limitações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8FADB2B-5489-DADD-BF9F-94E8D3906F33}"/>
              </a:ext>
            </a:extLst>
          </p:cNvPr>
          <p:cNvSpPr txBox="1"/>
          <p:nvPr/>
        </p:nvSpPr>
        <p:spPr>
          <a:xfrm>
            <a:off x="512064" y="1304405"/>
            <a:ext cx="11137392" cy="3155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BERT não é adequado para geração de texto, limitando seu uso criativo.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GPT pode gerar informações imprecisas ou incoerentes sem controle adequado.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XLNet</a:t>
            </a:r>
            <a:r>
              <a:rPr lang="pt-BR" sz="2800" dirty="0"/>
              <a:t> é mais complexo e exige maior poder computacional.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escolha do modelo deve considerar essas limitações conforme o contexto.</a:t>
            </a:r>
          </a:p>
        </p:txBody>
      </p:sp>
    </p:spTree>
    <p:extLst>
      <p:ext uri="{BB962C8B-B14F-4D97-AF65-F5344CB8AC3E}">
        <p14:creationId xmlns:p14="http://schemas.microsoft.com/office/powerpoint/2010/main" val="35786612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9084035"/>
              </p:ext>
            </p:extLst>
          </p:nvPr>
        </p:nvGraphicFramePr>
        <p:xfrm>
          <a:off x="1287241" y="1192747"/>
          <a:ext cx="9595105" cy="4929978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2014357">
                  <a:extLst>
                    <a:ext uri="{9D8B030D-6E8A-4147-A177-3AD203B41FA5}">
                      <a16:colId xmlns:a16="http://schemas.microsoft.com/office/drawing/2014/main" val="3059415648"/>
                    </a:ext>
                  </a:extLst>
                </a:gridCol>
                <a:gridCol w="2526916">
                  <a:extLst>
                    <a:ext uri="{9D8B030D-6E8A-4147-A177-3AD203B41FA5}">
                      <a16:colId xmlns:a16="http://schemas.microsoft.com/office/drawing/2014/main" val="3849346587"/>
                    </a:ext>
                  </a:extLst>
                </a:gridCol>
                <a:gridCol w="2526916">
                  <a:extLst>
                    <a:ext uri="{9D8B030D-6E8A-4147-A177-3AD203B41FA5}">
                      <a16:colId xmlns:a16="http://schemas.microsoft.com/office/drawing/2014/main" val="2901214388"/>
                    </a:ext>
                  </a:extLst>
                </a:gridCol>
                <a:gridCol w="2526916">
                  <a:extLst>
                    <a:ext uri="{9D8B030D-6E8A-4147-A177-3AD203B41FA5}">
                      <a16:colId xmlns:a16="http://schemas.microsoft.com/office/drawing/2014/main" val="2936326293"/>
                    </a:ext>
                  </a:extLst>
                </a:gridCol>
              </a:tblGrid>
              <a:tr h="6361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3EBF3"/>
                          </a:solidFill>
                          <a:effectLst/>
                          <a:uLnTx/>
                          <a:uFillTx/>
                        </a:rPr>
                        <a:t>Aspecto</a:t>
                      </a:r>
                      <a:endParaRPr kumimoji="0" lang="pt-BR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3EBF3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4402" marR="94402" marT="47202" marB="4720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3EBF3"/>
                          </a:solidFill>
                          <a:effectLst/>
                          <a:uLnTx/>
                          <a:uFillTx/>
                        </a:rPr>
                        <a:t>BERT</a:t>
                      </a:r>
                      <a:endParaRPr kumimoji="0" lang="pt-BR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3EBF3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4402" marR="94402" marT="47202" marB="4720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3EBF3"/>
                          </a:solidFill>
                          <a:effectLst/>
                          <a:uLnTx/>
                          <a:uFillTx/>
                        </a:rPr>
                        <a:t>GPT</a:t>
                      </a:r>
                      <a:endParaRPr kumimoji="0" lang="pt-BR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3EBF3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4402" marR="94402" marT="47202" marB="4720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53EBF3"/>
                          </a:solidFill>
                          <a:effectLst/>
                          <a:uLnTx/>
                          <a:uFillTx/>
                        </a:rPr>
                        <a:t>XLNet</a:t>
                      </a:r>
                      <a:endParaRPr kumimoji="0" lang="pt-BR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3EBF3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4402" marR="94402" marT="47202" marB="47202" anchor="ctr"/>
                </a:tc>
                <a:extLst>
                  <a:ext uri="{0D108BD9-81ED-4DB2-BD59-A6C34878D82A}">
                    <a16:rowId xmlns:a16="http://schemas.microsoft.com/office/drawing/2014/main" val="324262726"/>
                  </a:ext>
                </a:extLst>
              </a:tr>
              <a:tr h="6361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/>
                        <a:t>Arquitetura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Codificador bidirecional baseado em </a:t>
                      </a:r>
                      <a:r>
                        <a:rPr lang="pt-BR" dirty="0" err="1"/>
                        <a:t>Transformer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Decodificador </a:t>
                      </a:r>
                      <a:r>
                        <a:rPr lang="pt-BR" dirty="0" err="1"/>
                        <a:t>autoregressivo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Codificador com permutação de sequência e </a:t>
                      </a:r>
                      <a:r>
                        <a:rPr lang="pt-BR" dirty="0" err="1"/>
                        <a:t>autoregressividade</a:t>
                      </a:r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5424814"/>
                  </a:ext>
                </a:extLst>
              </a:tr>
              <a:tr h="6361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/>
                        <a:t>Direcionalidade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Bidirecional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Unidirecional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 err="1"/>
                        <a:t>Permutacional</a:t>
                      </a:r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5422495"/>
                  </a:ext>
                </a:extLst>
              </a:tr>
              <a:tr h="6361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/>
                        <a:t>Capacidade de Geração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Limitada, não projetado para geração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Alta, ideal para geração de texto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Boa, com maior complexidade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0734414"/>
                  </a:ext>
                </a:extLst>
              </a:tr>
              <a:tr h="6361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Aplicações</a:t>
                      </a:r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Motores de busca, análise de sentimentos, classificação jurídica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Assistentes virtuais, redação automática, sistemas de diálogo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QA com geração de explicações, tarefas híbridas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3784606"/>
                  </a:ext>
                </a:extLst>
              </a:tr>
              <a:tr h="6361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Limitações</a:t>
                      </a:r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Não gera texto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Pode gerar conteúdo impreciso ou incoerente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Mais complexo e computacionalmente intensivo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8935811"/>
                  </a:ext>
                </a:extLst>
              </a:tr>
            </a:tbl>
          </a:graphicData>
        </a:graphic>
      </p:graphicFrame>
      <p:sp>
        <p:nvSpPr>
          <p:cNvPr id="3" name="CaixaDeTexto 2"/>
          <p:cNvSpPr txBox="1"/>
          <p:nvPr/>
        </p:nvSpPr>
        <p:spPr>
          <a:xfrm>
            <a:off x="645459" y="436914"/>
            <a:ext cx="1087867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500" b="1" dirty="0">
                <a:solidFill>
                  <a:srgbClr val="01BDC4"/>
                </a:solidFill>
              </a:rPr>
              <a:t>QUADRO COMPARATIVO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656665" y="6168393"/>
            <a:ext cx="108786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300" i="1" dirty="0">
                <a:solidFill>
                  <a:schemeClr val="bg1">
                    <a:lumMod val="50000"/>
                  </a:schemeClr>
                </a:solidFill>
              </a:rPr>
              <a:t>FONTE: Elaborado pelo autor</a:t>
            </a:r>
          </a:p>
        </p:txBody>
      </p:sp>
    </p:spTree>
    <p:extLst>
      <p:ext uri="{BB962C8B-B14F-4D97-AF65-F5344CB8AC3E}">
        <p14:creationId xmlns:p14="http://schemas.microsoft.com/office/powerpoint/2010/main" val="2588173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C3A82-49F1-92AF-351F-9482E258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959F714-F579-B5F5-8FB7-FE841206E61F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Resumo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62C70D0-D36E-BFFA-67E2-06A3B21EE2D1}"/>
              </a:ext>
            </a:extLst>
          </p:cNvPr>
          <p:cNvSpPr txBox="1"/>
          <p:nvPr/>
        </p:nvSpPr>
        <p:spPr>
          <a:xfrm>
            <a:off x="512064" y="1304405"/>
            <a:ext cx="11137392" cy="44639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BERT: codificador bidirecional, forte em compreensão, limitado em geração.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GPT: decodificador </a:t>
            </a:r>
            <a:r>
              <a:rPr lang="pt-BR" sz="2800" dirty="0" err="1"/>
              <a:t>autoregressivo</a:t>
            </a:r>
            <a:r>
              <a:rPr lang="pt-BR" sz="2800" dirty="0"/>
              <a:t>, excelente em geração, menos preciso em compreensão.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XLNet</a:t>
            </a:r>
            <a:r>
              <a:rPr lang="pt-BR" sz="2800" dirty="0"/>
              <a:t>: modelo híbrido com permutação, versátil, mas mais exigente computacionalmente.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seleção do modelo ideal, portanto, exige um equilíbrio cuidadoso entre a necessidade de desempenho em tarefas específicas e os recursos computacionais disponíveis.</a:t>
            </a:r>
          </a:p>
        </p:txBody>
      </p:sp>
    </p:spTree>
    <p:extLst>
      <p:ext uri="{BB962C8B-B14F-4D97-AF65-F5344CB8AC3E}">
        <p14:creationId xmlns:p14="http://schemas.microsoft.com/office/powerpoint/2010/main" val="13117571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2772528"/>
      </p:ext>
    </p:extLst>
  </p:cSld>
  <p:clrMapOvr>
    <a:masterClrMapping/>
  </p:clrMapOvr>
</p:sld>
</file>

<file path=ppt/theme/theme1.xml><?xml version="1.0" encoding="utf-8"?>
<a:theme xmlns:a="http://schemas.openxmlformats.org/drawingml/2006/main" name="3_1 - Cap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 - Subdivisão do assunto princip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 - Slide de Tabela ou image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5 - Slide de Tabela ou image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6 - Fin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11349</TotalTime>
  <Words>1188</Words>
  <Application>Microsoft Office PowerPoint</Application>
  <PresentationFormat>Widescreen</PresentationFormat>
  <Paragraphs>128</Paragraphs>
  <Slides>22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8</vt:i4>
      </vt:variant>
      <vt:variant>
        <vt:lpstr>Títulos de slides</vt:lpstr>
      </vt:variant>
      <vt:variant>
        <vt:i4>22</vt:i4>
      </vt:variant>
    </vt:vector>
  </HeadingPairs>
  <TitlesOfParts>
    <vt:vector size="30" baseType="lpstr">
      <vt:lpstr>3_1 - Capa</vt:lpstr>
      <vt:lpstr>2 - Subdivisão do assunto principal</vt:lpstr>
      <vt:lpstr>3 - Título e texto</vt:lpstr>
      <vt:lpstr>2_3 - Título e texto</vt:lpstr>
      <vt:lpstr>1_3 - Título e texto</vt:lpstr>
      <vt:lpstr>5 - Slide de Tabela ou imagem</vt:lpstr>
      <vt:lpstr>1_5 - Slide de Tabela ou imagem</vt:lpstr>
      <vt:lpstr>6 - Final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Zenilton Patrocínio Jr.</cp:lastModifiedBy>
  <cp:revision>105</cp:revision>
  <dcterms:created xsi:type="dcterms:W3CDTF">2020-01-14T17:16:45Z</dcterms:created>
  <dcterms:modified xsi:type="dcterms:W3CDTF">2025-12-02T14:42:18Z</dcterms:modified>
</cp:coreProperties>
</file>