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672" r:id="rId5"/>
    <p:sldMasterId id="2147483675" r:id="rId6"/>
    <p:sldMasterId id="2147483677" r:id="rId7"/>
  </p:sldMasterIdLst>
  <p:notesMasterIdLst>
    <p:notesMasterId r:id="rId19"/>
  </p:notesMasterIdLst>
  <p:sldIdLst>
    <p:sldId id="268" r:id="rId8"/>
    <p:sldId id="279" r:id="rId9"/>
    <p:sldId id="280" r:id="rId10"/>
    <p:sldId id="275" r:id="rId11"/>
    <p:sldId id="281" r:id="rId12"/>
    <p:sldId id="274" r:id="rId13"/>
    <p:sldId id="276" r:id="rId14"/>
    <p:sldId id="282" r:id="rId15"/>
    <p:sldId id="277" r:id="rId16"/>
    <p:sldId id="278" r:id="rId17"/>
    <p:sldId id="264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ronos Pro" panose="020C0502030403020304" pitchFamily="34" charset="0"/>
      <p:regular r:id="rId24"/>
      <p:bold r:id="rId25"/>
      <p:italic r:id="rId26"/>
    </p:embeddedFont>
    <p:embeddedFont>
      <p:font typeface="Montserrat" panose="00000500000000000000" pitchFamily="50" charset="0"/>
      <p:regular r:id="rId27"/>
      <p:bold r:id="rId28"/>
      <p:italic r:id="rId29"/>
      <p:boldItalic r:id="rId3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30"/>
    <a:srgbClr val="2087C6"/>
    <a:srgbClr val="379FDE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84816" autoAdjust="0"/>
  </p:normalViewPr>
  <p:slideViewPr>
    <p:cSldViewPr snapToGrid="0">
      <p:cViewPr varScale="1">
        <p:scale>
          <a:sx n="92" d="100"/>
          <a:sy n="92" d="100"/>
        </p:scale>
        <p:origin x="2634" y="102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5A95-A2DF-4770-B285-FE21F924055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2A541-A226-4611-A5F2-C8546E102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4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04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17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psych209/Readings/SuttonBartoIPRLBook2ndEd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hyperlink" Target="https://sites.ualberta.ca/~szepesva/papers/RLAlgsInMDPs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www.cognub.com/index.php/cognitive-platfor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publication/323178749_A_Concise_Introduction_to_Reinforcement_Learning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88814"/>
            <a:ext cx="9831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Introdução ao RL</a:t>
            </a:r>
            <a:endParaRPr lang="en-ID" sz="54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E7AF4-967E-3896-9EB1-E3CE0A8D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C0C44F3F-796B-6272-E7A5-322122C26F28}"/>
              </a:ext>
            </a:extLst>
          </p:cNvPr>
          <p:cNvSpPr txBox="1"/>
          <p:nvPr/>
        </p:nvSpPr>
        <p:spPr>
          <a:xfrm>
            <a:off x="833161" y="1682323"/>
            <a:ext cx="6370279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Principais livros sobre aprendizado por reforço: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SUTTON, Richard; BARTO, Andrew G. </a:t>
            </a:r>
            <a:r>
              <a:rPr lang="en-US" sz="2400" b="1" dirty="0"/>
              <a:t>Reinforcement Learning</a:t>
            </a:r>
            <a:r>
              <a:rPr lang="en-US" sz="2400" dirty="0"/>
              <a:t>: An Introduction.         2. ed. 1998.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Disponível </a:t>
            </a:r>
            <a:r>
              <a:rPr lang="en-US" sz="2400" dirty="0">
                <a:hlinkClick r:id="rId3"/>
              </a:rPr>
              <a:t>online</a:t>
            </a:r>
            <a:r>
              <a:rPr lang="en-US" sz="2400" dirty="0"/>
              <a:t>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SZEPESVÁRI, Csaba. </a:t>
            </a:r>
            <a:r>
              <a:rPr lang="en-US" sz="2400" b="1" dirty="0"/>
              <a:t>Algorithms for Reinforcement Learning</a:t>
            </a:r>
            <a:r>
              <a:rPr lang="en-US" sz="2400" dirty="0"/>
              <a:t>. 2010.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Disponível </a:t>
            </a:r>
            <a:r>
              <a:rPr lang="en-US" sz="2400" dirty="0">
                <a:hlinkClick r:id="rId4"/>
              </a:rPr>
              <a:t>online</a:t>
            </a:r>
            <a:r>
              <a:rPr lang="en-US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8AD4FACF-8BE7-959B-1F6A-0E23640B14E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Livros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E9AB1A-FE71-28F4-F05B-4C5B9A9435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764" y="1326978"/>
            <a:ext cx="2195059" cy="30239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D68C48-76CB-1A72-B951-89E08D0C59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823" y="3449640"/>
            <a:ext cx="2195136" cy="270660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EE1060F-5E3F-449E-AFA9-F9190788EC92}"/>
              </a:ext>
            </a:extLst>
          </p:cNvPr>
          <p:cNvSpPr txBox="1"/>
          <p:nvPr/>
        </p:nvSpPr>
        <p:spPr>
          <a:xfrm>
            <a:off x="8491328" y="4350900"/>
            <a:ext cx="729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/>
              <a:t>Amazon.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AFEFC45-8980-40B4-9176-97617D6955BB}"/>
              </a:ext>
            </a:extLst>
          </p:cNvPr>
          <p:cNvSpPr txBox="1"/>
          <p:nvPr/>
        </p:nvSpPr>
        <p:spPr>
          <a:xfrm>
            <a:off x="10753129" y="6156244"/>
            <a:ext cx="729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/>
              <a:t>Amazon.</a:t>
            </a:r>
          </a:p>
        </p:txBody>
      </p:sp>
    </p:spTree>
    <p:extLst>
      <p:ext uri="{BB962C8B-B14F-4D97-AF65-F5344CB8AC3E}">
        <p14:creationId xmlns:p14="http://schemas.microsoft.com/office/powerpoint/2010/main" val="1530034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8118-FB53-4D43-9C26-6F69F58B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69F5B64-6542-BA31-2634-410B886A572A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Os pilares do aprendizado de máquina podem ser categorizados em três paradigmas principais: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Aprendizado Supervisionado;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Aprendizado Não Supervisionado;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Aprendizado por Reforço.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BE71B21-1BC2-F131-95F3-E0702391DA7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Introdução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948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5BD2-5321-FA79-BFA8-6BEFD55CA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DD5A8BBA-993D-8DC9-FFFB-0EF2BC68516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Introdução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1A484-28AE-DB92-62BB-CD9C1AB8859E}"/>
              </a:ext>
            </a:extLst>
          </p:cNvPr>
          <p:cNvSpPr txBox="1"/>
          <p:nvPr/>
        </p:nvSpPr>
        <p:spPr>
          <a:xfrm>
            <a:off x="4315520" y="6303544"/>
            <a:ext cx="3714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linkClick r:id="rId2"/>
              </a:rPr>
              <a:t>http://www.cognub.com/index.php/cognitive-platform/</a:t>
            </a:r>
            <a:r>
              <a:rPr lang="en-US" sz="1200" dirty="0"/>
              <a:t>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2DA6E1D-2276-F5A1-A854-F437F9D21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013" y="1360419"/>
            <a:ext cx="7299974" cy="49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880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B869A-A080-90AC-F40B-F22321956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663E33BF-1FCC-6185-5F8D-7BDC8AADE51F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Principais características que diferenciam o Aprendizado por Reforço:</a:t>
            </a:r>
          </a:p>
          <a:p>
            <a:pPr marL="1257300" lvl="2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Não tem um “supervisor”, apenas uma recomensa;</a:t>
            </a:r>
          </a:p>
          <a:p>
            <a:pPr marL="1257300" lvl="2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O feedback pode ser futuro e não instantâneo;</a:t>
            </a:r>
          </a:p>
          <a:p>
            <a:pPr marL="1257300" lvl="2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Sequência de tomada de decisões (sistema é dinâmico);</a:t>
            </a:r>
          </a:p>
          <a:p>
            <a:pPr marL="1257300" lvl="2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O agente realiza ações que influenciam os dados.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0DDFC1D-656E-F8C7-B1EB-60EE312EC80A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Introdução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32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F12C-FB2B-1AD3-0E37-D643F36DF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14600F5A-9EC3-2C03-267F-9CDC7DF70881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Aprendizado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F92902-1552-3773-231B-2C36F9E90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054" y="1283698"/>
            <a:ext cx="5594910" cy="48467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3CEA0C8-89CE-A8E0-E2B8-8C3A4693763A}"/>
              </a:ext>
            </a:extLst>
          </p:cNvPr>
          <p:cNvSpPr txBox="1"/>
          <p:nvPr/>
        </p:nvSpPr>
        <p:spPr>
          <a:xfrm>
            <a:off x="4318598" y="6130499"/>
            <a:ext cx="37082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linkClick r:id="rId4"/>
              </a:rPr>
              <a:t>(PDF) A Concise Introduction to Reinforcement Learning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4974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FC60-9039-8110-A02D-D27388F6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243C2A5C-4CC6-87CB-4F54-E85995B687C0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Definição do Aprendizado por Reforço, segundo Richard S. Sutton e Andrew G. Barto: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“O Aprendizado por Reforço (RL) é fundamentalmente o problema de um agente aprender a tomar ações em um ambiente para maximizar uma recompensa numérica cumulativa. Este aprendizado ocorre através de interações diretas e de tentativa e erro, e é formalizado como o controle ótimo de Processos de Decisão de Markov (MDPs)” (Sutton e Barto, 1998).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559C442A-AC2D-1BED-FF29-66124ECE371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Definição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943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DEC30-0DBD-BD74-FBEC-3C8A8774E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B0D4DC5F-1B0A-5C6F-AA42-4E61E79E47B5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Definição do Aprendizado por Reforço, segundo Richard S. Sutton e Andrew G. Barto: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“O Aprendizado por Reforço (RL) é fundamentalmente o problema de um </a:t>
            </a:r>
            <a:r>
              <a:rPr lang="pt-BR" sz="2400" b="1" dirty="0"/>
              <a:t>agente</a:t>
            </a:r>
            <a:r>
              <a:rPr lang="pt-BR" sz="2400" dirty="0"/>
              <a:t> aprender a tomar </a:t>
            </a:r>
            <a:r>
              <a:rPr lang="pt-BR" sz="2400" b="1" dirty="0"/>
              <a:t>ações</a:t>
            </a:r>
            <a:r>
              <a:rPr lang="pt-BR" sz="2400" dirty="0"/>
              <a:t> em um </a:t>
            </a:r>
            <a:r>
              <a:rPr lang="pt-BR" sz="2400" b="1" dirty="0"/>
              <a:t>ambiente</a:t>
            </a:r>
            <a:r>
              <a:rPr lang="pt-BR" sz="2400" dirty="0"/>
              <a:t> para maximizar uma </a:t>
            </a:r>
            <a:r>
              <a:rPr lang="pt-BR" sz="2400" b="1" dirty="0"/>
              <a:t>recompensa</a:t>
            </a:r>
            <a:r>
              <a:rPr lang="pt-BR" sz="2400" dirty="0"/>
              <a:t> numérica cumulativa. Este aprendizado ocorre através de interações diretas e de tentativa e erro, e é formalizado como o controle ótimo de Processos de Decisão de Markov (MDPs)” (Sutton e Barto, 1998).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9970103-59D2-0532-FAC2-8EF0940DFCC5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Definição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904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0B249-25BC-A470-787C-C89170C7E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BA899DB0-9803-D478-0BB9-3EE1C210C7BC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O Aprendizado por Reforço é uma área de Machine Learning em que um agente aprende a tomar decisões sequenciais em um ambiente, para maximizar uma recompensa acumulada.</a:t>
            </a:r>
          </a:p>
          <a:p>
            <a:pPr marL="800100" lvl="1" indent="-342900" algn="just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Agente;</a:t>
            </a:r>
          </a:p>
          <a:p>
            <a:pPr marL="800100" lvl="1" indent="-342900" algn="just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Ações/Decisões;</a:t>
            </a:r>
          </a:p>
          <a:p>
            <a:pPr marL="800100" lvl="1" indent="-342900" algn="just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Ambiente;</a:t>
            </a:r>
          </a:p>
          <a:p>
            <a:pPr marL="800100" lvl="1" indent="-342900" algn="just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Estado;</a:t>
            </a:r>
          </a:p>
          <a:p>
            <a:pPr marL="800100" lvl="1" indent="-342900" algn="just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Recompensa.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E9B13B7-8C0F-8CC9-7E8C-E78287A6B740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Introdução – cont.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075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6303A-3394-6F69-4B05-44462620E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54F72B06-A435-EA43-551E-F189FB269301}"/>
              </a:ext>
            </a:extLst>
          </p:cNvPr>
          <p:cNvSpPr txBox="1"/>
          <p:nvPr/>
        </p:nvSpPr>
        <p:spPr>
          <a:xfrm>
            <a:off x="833161" y="1682323"/>
            <a:ext cx="10563992" cy="44481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Imagine um treinamento de um cachorro.</a:t>
            </a:r>
          </a:p>
          <a:p>
            <a:pPr marL="800100" lvl="1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Agente: cachorro.</a:t>
            </a:r>
          </a:p>
          <a:p>
            <a:pPr marL="800100" lvl="1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Ações/Decisões:</a:t>
            </a:r>
          </a:p>
          <a:p>
            <a:pPr marL="1257300" lvl="2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Quando ele obedece e senta, você dá um petisco (recompensa positiva);</a:t>
            </a:r>
          </a:p>
          <a:p>
            <a:pPr marL="1257300" lvl="2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Quando ele pula no sofá, você o ignora ou o repreende (recompensa negativa).</a:t>
            </a:r>
          </a:p>
          <a:p>
            <a:pPr marL="800100" lvl="1" indent="-342900" algn="just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Ambiente: todo o mundo ao redor do cachorro.</a:t>
            </a:r>
          </a:p>
          <a:p>
            <a:pPr marL="800100" lvl="1" indent="-342900" algn="just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Estado: a situação atual percebida pelo cachorro.</a:t>
            </a:r>
          </a:p>
          <a:p>
            <a:pPr marL="800100" lvl="1" indent="-342900" algn="just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Recompensa: petisco.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393A2FC6-0C2F-93CA-B5AC-22C3C7A904C5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Introdução – cont.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394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04B47F9-8EDF-4438-A74A-952D4CD264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29B610-883E-4365-B70F-402C034017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5ec7-aacc-4a5b-a58b-71e198b95712"/>
    <ds:schemaRef ds:uri="dd515b78-c394-4c68-913b-64702d1b4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2B8706-B71D-4735-A4AF-6AFB2649CEAB}">
  <ds:schemaRefs>
    <ds:schemaRef ds:uri="http://schemas.microsoft.com/office/2006/metadata/properties"/>
    <ds:schemaRef ds:uri="http://schemas.microsoft.com/office/infopath/2007/PartnerControls"/>
    <ds:schemaRef ds:uri="dd515b78-c394-4c68-913b-64702d1b471e"/>
    <ds:schemaRef ds:uri="942d5ec7-aacc-4a5b-a58b-71e198b9571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12714</TotalTime>
  <Words>438</Words>
  <Application>Microsoft Office PowerPoint</Application>
  <PresentationFormat>Widescreen</PresentationFormat>
  <Paragraphs>51</Paragraphs>
  <Slides>11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11</vt:i4>
      </vt:variant>
    </vt:vector>
  </HeadingPairs>
  <TitlesOfParts>
    <vt:vector size="21" baseType="lpstr">
      <vt:lpstr>Cronos Pro</vt:lpstr>
      <vt:lpstr>Wingdings</vt:lpstr>
      <vt:lpstr>Calibri</vt:lpstr>
      <vt:lpstr>Aptos</vt:lpstr>
      <vt:lpstr>Montserrat</vt:lpstr>
      <vt:lpstr>Arial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Fernando José Ferreira</cp:lastModifiedBy>
  <cp:revision>86</cp:revision>
  <dcterms:created xsi:type="dcterms:W3CDTF">2025-06-11T21:44:24Z</dcterms:created>
  <dcterms:modified xsi:type="dcterms:W3CDTF">2025-12-09T13:18:30Z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