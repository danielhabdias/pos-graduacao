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4"/>
    <p:sldMasterId id="2147483672" r:id="rId5"/>
    <p:sldMasterId id="2147483675" r:id="rId6"/>
    <p:sldMasterId id="2147483677" r:id="rId7"/>
  </p:sldMasterIdLst>
  <p:notesMasterIdLst>
    <p:notesMasterId r:id="rId21"/>
  </p:notesMasterIdLst>
  <p:sldIdLst>
    <p:sldId id="268" r:id="rId8"/>
    <p:sldId id="274" r:id="rId9"/>
    <p:sldId id="288" r:id="rId10"/>
    <p:sldId id="276" r:id="rId11"/>
    <p:sldId id="277" r:id="rId12"/>
    <p:sldId id="292" r:id="rId13"/>
    <p:sldId id="278" r:id="rId14"/>
    <p:sldId id="279" r:id="rId15"/>
    <p:sldId id="286" r:id="rId16"/>
    <p:sldId id="275" r:id="rId17"/>
    <p:sldId id="290" r:id="rId18"/>
    <p:sldId id="291" r:id="rId19"/>
    <p:sldId id="264" r:id="rId20"/>
  </p:sldIdLst>
  <p:sldSz cx="12192000" cy="6858000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ambria Math" panose="02040503050406030204" pitchFamily="18" charset="0"/>
      <p:regular r:id="rId26"/>
    </p:embeddedFont>
    <p:embeddedFont>
      <p:font typeface="Cronos Pro" panose="020C0502030403020304" pitchFamily="34" charset="0"/>
      <p:regular r:id="rId27"/>
      <p:bold r:id="rId28"/>
      <p:italic r:id="rId29"/>
    </p:embeddedFont>
    <p:embeddedFont>
      <p:font typeface="Montserrat" panose="00000500000000000000" pitchFamily="50" charset="0"/>
      <p:regular r:id="rId30"/>
      <p:bold r:id="rId31"/>
      <p:italic r:id="rId32"/>
      <p:boldItalic r:id="rId3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597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9FDE"/>
    <a:srgbClr val="2087C6"/>
    <a:srgbClr val="FFD230"/>
    <a:srgbClr val="4BA8DE"/>
    <a:srgbClr val="E6E6E6"/>
    <a:srgbClr val="43A9E7"/>
    <a:srgbClr val="56B6F1"/>
    <a:srgbClr val="FFD639"/>
    <a:srgbClr val="1772A5"/>
    <a:srgbClr val="3CA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77778" autoAdjust="0"/>
  </p:normalViewPr>
  <p:slideViewPr>
    <p:cSldViewPr snapToGrid="0">
      <p:cViewPr varScale="1">
        <p:scale>
          <a:sx n="84" d="100"/>
          <a:sy n="84" d="100"/>
        </p:scale>
        <p:origin x="2952" y="90"/>
      </p:cViewPr>
      <p:guideLst>
        <p:guide orient="horz" pos="3725"/>
        <p:guide pos="597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E4C0A-29D8-439D-8689-2797A1137BCB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E202B3-56FF-4DF6-9757-1D642C173A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017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E202B3-56FF-4DF6-9757-1D642C173A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655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E202B3-56FF-4DF6-9757-1D642C173A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234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pFooter">
            <a:extLst>
              <a:ext uri="{FF2B5EF4-FFF2-40B4-BE49-F238E27FC236}">
                <a16:creationId xmlns:a16="http://schemas.microsoft.com/office/drawing/2014/main" id="{3811FE2C-F4C3-42BF-A394-5DCBACE4206D}"/>
              </a:ext>
            </a:extLst>
          </p:cNvPr>
          <p:cNvSpPr txBox="1"/>
          <p:nvPr/>
        </p:nvSpPr>
        <p:spPr bwMode="auto">
          <a:xfrm>
            <a:off x="957294" y="6373144"/>
            <a:ext cx="60753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defTabSz="4571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D" sz="1000" dirty="0">
                <a:solidFill>
                  <a:srgbClr val="3CA3E1"/>
                </a:solidFill>
                <a:latin typeface="Cronos Pro" panose="020C0502030403020304" pitchFamily="34" charset="0"/>
              </a:rPr>
              <a:t>PUC MINAS</a:t>
            </a:r>
            <a:endParaRPr lang="en-ID" sz="1100" b="1" dirty="0">
              <a:solidFill>
                <a:srgbClr val="3CA3E1"/>
              </a:solidFill>
              <a:latin typeface="Cronos Pro" panose="020C0502030403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66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researchgate.net/publication/371953230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researchgate.net/publication/37195323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988814"/>
            <a:ext cx="98319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Definições do RL</a:t>
            </a:r>
            <a:endParaRPr lang="en-ID" sz="54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730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EF12C-FB2B-1AD3-0E37-D643F36DF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A33D7FE3-8B0D-47FC-60E5-9FCCABFA566E}"/>
              </a:ext>
            </a:extLst>
          </p:cNvPr>
          <p:cNvSpPr txBox="1"/>
          <p:nvPr/>
        </p:nvSpPr>
        <p:spPr>
          <a:xfrm>
            <a:off x="833161" y="1682323"/>
            <a:ext cx="10563992" cy="429393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Termos fundamentais do Aprendizado por Reforço (RL):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Agente (Agent);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Ambiente (Environment);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Estado (State, S);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Observação (Observation, O);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Ação (Action, A);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Recompensa (Reward, R);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Episódio (Episode);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14600F5A-9EC3-2C03-267F-9CDC7DF70881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 err="1">
                <a:latin typeface="Montserrat" panose="00000500000000000000" pitchFamily="50" charset="0"/>
                <a:cs typeface="Poppins" panose="02000000000000000000" pitchFamily="2" charset="0"/>
              </a:rPr>
              <a:t>Definições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974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E886A-09CD-45EA-7EBC-24E10B8F1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2DDC0EB-8F23-1A36-A633-4EE8EC36335F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Definição</a:t>
            </a:r>
            <a:r>
              <a:rPr lang="pt-BR" sz="2400" dirty="0"/>
              <a:t>: é o aprendiz, quem toma decisões e interage com o ambiente.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Exemplos</a:t>
            </a:r>
            <a:r>
              <a:rPr lang="pt-BR" sz="2400" dirty="0"/>
              <a:t>: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Cachorro treinado (decide sentar ou pular no sofá);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Carro autônomo (decide acelerar, frear, virar);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Jogador de xadrez (decide mover a peça);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Robô aspirador (decide virar à direita ou à esquerda para limpar).</a:t>
            </a:r>
            <a:endParaRPr lang="el-G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534E41E0-6EEE-D70F-F5B4-FD56DBD2C2BC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Agente (Agent)</a:t>
            </a:r>
          </a:p>
        </p:txBody>
      </p:sp>
    </p:spTree>
    <p:extLst>
      <p:ext uri="{BB962C8B-B14F-4D97-AF65-F5344CB8AC3E}">
        <p14:creationId xmlns:p14="http://schemas.microsoft.com/office/powerpoint/2010/main" val="402950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0173B-9609-8866-DCBA-4BA08F919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E6AF08C7-3A1B-F2D5-EE43-E83E98939050}"/>
              </a:ext>
            </a:extLst>
          </p:cNvPr>
          <p:cNvSpPr txBox="1"/>
          <p:nvPr/>
        </p:nvSpPr>
        <p:spPr>
          <a:xfrm>
            <a:off x="833161" y="1682323"/>
            <a:ext cx="10563992" cy="43265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Definição</a:t>
            </a:r>
            <a:r>
              <a:rPr lang="pt-BR" sz="2400" dirty="0"/>
              <a:t>: o mundo no qual o agente está inserido, responsável por reagir às ações do agente, atualizar o estado e fornecer recompensas.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Exemplos</a:t>
            </a:r>
            <a:r>
              <a:rPr lang="pt-BR" sz="2400" dirty="0"/>
              <a:t>: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Cachorro: a casa onde o cachorro está;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Carro: as ruas e o trânsito para o carro autônomo;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Xadrez: o tabuleiro de xadrez;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Robô aspirador: o chão da sala.</a:t>
            </a:r>
            <a:endParaRPr lang="el-G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1C56B68A-935E-CA1D-B149-745012F7BE1F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Ambiente (Environment)</a:t>
            </a:r>
          </a:p>
        </p:txBody>
      </p:sp>
    </p:spTree>
    <p:extLst>
      <p:ext uri="{BB962C8B-B14F-4D97-AF65-F5344CB8AC3E}">
        <p14:creationId xmlns:p14="http://schemas.microsoft.com/office/powerpoint/2010/main" val="4052963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34DD0-AA55-A3EB-633E-F261DC6E4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D6D4E098-19DB-7104-E7A6-0365B0436E08}"/>
              </a:ext>
            </a:extLst>
          </p:cNvPr>
          <p:cNvSpPr txBox="1"/>
          <p:nvPr/>
        </p:nvSpPr>
        <p:spPr>
          <a:xfrm>
            <a:off x="833161" y="1682323"/>
            <a:ext cx="10563992" cy="42857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Definição</a:t>
            </a:r>
            <a:r>
              <a:rPr lang="pt-BR" sz="2400" dirty="0"/>
              <a:t>: a representação das possíveis situações do ambiente observada pelo agente.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Exemplos</a:t>
            </a:r>
            <a:r>
              <a:rPr lang="pt-BR" sz="2400" dirty="0"/>
              <a:t>: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Cachorro: sentado/em pé/no sofá;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Carro: está a 50 km/h, faixa livre à frente;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Xadrez: todas as posições das peças em certo momento;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Robô aspirador: canto sujo da sala.</a:t>
            </a:r>
            <a:endParaRPr lang="el-G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8146F0A0-0002-9DE6-8925-06AE9FB3646A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Estado (State, S)</a:t>
            </a:r>
          </a:p>
        </p:txBody>
      </p:sp>
    </p:spTree>
    <p:extLst>
      <p:ext uri="{BB962C8B-B14F-4D97-AF65-F5344CB8AC3E}">
        <p14:creationId xmlns:p14="http://schemas.microsoft.com/office/powerpoint/2010/main" val="2228450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D6D5A-B13A-C60F-6AFA-DBF6F5E10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2FF23229-3EE0-0426-27CF-C4A4C6EC476C}"/>
              </a:ext>
            </a:extLst>
          </p:cNvPr>
          <p:cNvSpPr txBox="1"/>
          <p:nvPr/>
        </p:nvSpPr>
        <p:spPr>
          <a:xfrm>
            <a:off x="833160" y="1682323"/>
            <a:ext cx="11149573" cy="42857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Definição</a:t>
            </a:r>
            <a:r>
              <a:rPr lang="pt-BR" sz="2400" dirty="0"/>
              <a:t>: informações parciais ou completas que o agente recebe sobre o estado do ambiente a cada interação.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Exemplos</a:t>
            </a:r>
            <a:r>
              <a:rPr lang="pt-BR" sz="2400" dirty="0"/>
              <a:t>: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Cachorro: sente cheiro de comida, vê o dono se aproximando, ouve um comando;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Carro: detecta a presença de pedestres, sinal vermelho no semáforo, distância de outros veículos;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Xadrez: enxerga a posição atual das peças no tabuleiro;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Robô aspirador: percebe se há sujeira no chão, se há obstáculos, ou se a bateria está baixa.</a:t>
            </a:r>
            <a:endParaRPr lang="el-G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1C8EA008-1B7E-A345-AA8B-113DFF4CF798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Observação (Observation, O)</a:t>
            </a:r>
          </a:p>
        </p:txBody>
      </p:sp>
    </p:spTree>
    <p:extLst>
      <p:ext uri="{BB962C8B-B14F-4D97-AF65-F5344CB8AC3E}">
        <p14:creationId xmlns:p14="http://schemas.microsoft.com/office/powerpoint/2010/main" val="3905690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26FD1-47E0-865E-A3DD-AFAA51AAB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782D9442-DA34-6F33-7C67-59F6EE8C22F6}"/>
              </a:ext>
            </a:extLst>
          </p:cNvPr>
          <p:cNvSpPr txBox="1"/>
          <p:nvPr/>
        </p:nvSpPr>
        <p:spPr>
          <a:xfrm>
            <a:off x="833161" y="1682323"/>
            <a:ext cx="10563992" cy="42857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Definição</a:t>
            </a:r>
            <a:r>
              <a:rPr lang="pt-BR" sz="2400" dirty="0"/>
              <a:t>: as escolhas possíveis que o agente pode tomar a partir de um estado.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Exemplos</a:t>
            </a:r>
            <a:r>
              <a:rPr lang="pt-BR" sz="2400" dirty="0"/>
              <a:t>: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Cachorro: sentar, deitar, pular, latir;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Carro: acelerar, frear, virar esquerda/direita;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Xadrez: mover torre, mover cavalo;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Robô aspirador: andar para frente, virar à esquerda, parar.</a:t>
            </a:r>
            <a:endParaRPr lang="el-G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41BAD9DA-D285-5806-8216-EE5922C66550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Ação (Action, A)</a:t>
            </a:r>
          </a:p>
        </p:txBody>
      </p:sp>
    </p:spTree>
    <p:extLst>
      <p:ext uri="{BB962C8B-B14F-4D97-AF65-F5344CB8AC3E}">
        <p14:creationId xmlns:p14="http://schemas.microsoft.com/office/powerpoint/2010/main" val="191001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E4E42-02D8-AE87-1F13-C5C868B4E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61C67912-9502-DBAA-4654-E91C4480A5BB}"/>
              </a:ext>
            </a:extLst>
          </p:cNvPr>
          <p:cNvSpPr txBox="1"/>
          <p:nvPr/>
        </p:nvSpPr>
        <p:spPr>
          <a:xfrm>
            <a:off x="833161" y="1682323"/>
            <a:ext cx="10563992" cy="42857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Definição</a:t>
            </a:r>
            <a:r>
              <a:rPr lang="pt-BR" sz="2400" dirty="0"/>
              <a:t>: o feedback imediato que o agente recebe após executar uma ação no ambiente.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Exemplos</a:t>
            </a:r>
            <a:r>
              <a:rPr lang="pt-BR" sz="2400" dirty="0"/>
              <a:t>: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Cachorro: ganha petisco (+1) ou bronca (1);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Carro: evita colisão (+10), bate no obstáculo (100);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Xadrez: capturar peça (+5), ser colocado em xeque-mate (100);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Robô aspirador: aspira sujeira (+1), fica preso no tapete (10).</a:t>
            </a:r>
            <a:endParaRPr lang="el-G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85FC71EF-55D8-3FAC-52D4-AFCAF94DB378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 dirty="0" err="1">
                <a:latin typeface="Montserrat" panose="00000500000000000000" pitchFamily="50" charset="0"/>
                <a:cs typeface="Poppins" panose="02000000000000000000" pitchFamily="2" charset="0"/>
              </a:rPr>
              <a:t>Recompensa</a:t>
            </a:r>
            <a:r>
              <a:rPr lang="en-ID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 (Reward, R)</a:t>
            </a:r>
          </a:p>
        </p:txBody>
      </p:sp>
    </p:spTree>
    <p:extLst>
      <p:ext uri="{BB962C8B-B14F-4D97-AF65-F5344CB8AC3E}">
        <p14:creationId xmlns:p14="http://schemas.microsoft.com/office/powerpoint/2010/main" val="1116334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FD5EB-8EB6-C832-CFBC-AA8514A6C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00628548-DDCA-1DAB-EBB5-90E0FF7D25C5}"/>
              </a:ext>
            </a:extLst>
          </p:cNvPr>
          <p:cNvSpPr txBox="1"/>
          <p:nvPr/>
        </p:nvSpPr>
        <p:spPr>
          <a:xfrm>
            <a:off x="833161" y="1682323"/>
            <a:ext cx="10563992" cy="42857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Definição</a:t>
            </a:r>
            <a:r>
              <a:rPr lang="pt-BR" sz="2400" dirty="0"/>
              <a:t>: uma sequência completa de interações entre agente e ambiente, do início até um estado terminal.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Exemplos</a:t>
            </a:r>
            <a:r>
              <a:rPr lang="pt-BR" sz="2400" dirty="0"/>
              <a:t>: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Cachorro: um treino (ex.: aprender a sentar) até ele cansar;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Carro: uma viagem do ponto A ao B;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Xadrez: uma partida completa até xeque-mate;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Robô aspirador: sessão de limpeza até descarregar a bateria.</a:t>
            </a:r>
            <a:endParaRPr lang="el-G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BF2AC53-12C2-6577-92D1-9163FCA3D6E1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Episódio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636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9F310-A3EA-D860-2023-872AACBED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E76FD850-7108-10CB-167F-D87690386781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No contexto do aprendizado por reforço, o</a:t>
            </a:r>
            <a:r>
              <a:rPr lang="pt-BR" sz="2400" b="1" dirty="0"/>
              <a:t> objetivo</a:t>
            </a:r>
            <a:r>
              <a:rPr lang="pt-BR" sz="2400" dirty="0"/>
              <a:t> do agente é maximizar a recompensa acumulada ao interagir com o ambiente: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Ações tem consequências futuras;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 recompensa pode ter um delay.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11B286AA-19F7-9964-C915-50A077C4856F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Objetivo do Agente</a:t>
            </a:r>
          </a:p>
        </p:txBody>
      </p:sp>
    </p:spTree>
    <p:extLst>
      <p:ext uri="{BB962C8B-B14F-4D97-AF65-F5344CB8AC3E}">
        <p14:creationId xmlns:p14="http://schemas.microsoft.com/office/powerpoint/2010/main" val="1686825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85BD2-5321-FA79-BFA8-6BEFD55CA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DD5A8BBA-993D-8DC9-FFFB-0EF2BC68516F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Agente e Ambiente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E1A484-28AE-DB92-62BB-CD9C1AB8859E}"/>
              </a:ext>
            </a:extLst>
          </p:cNvPr>
          <p:cNvSpPr txBox="1"/>
          <p:nvPr/>
        </p:nvSpPr>
        <p:spPr>
          <a:xfrm>
            <a:off x="4277841" y="6328036"/>
            <a:ext cx="3636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hlinkClick r:id="rId2"/>
              </a:rPr>
              <a:t>https://www.researchgate.net/publication/371953230</a:t>
            </a:r>
            <a:r>
              <a:rPr lang="en-US" sz="1200" dirty="0"/>
              <a:t>.</a:t>
            </a:r>
          </a:p>
        </p:txBody>
      </p:sp>
      <p:pic>
        <p:nvPicPr>
          <p:cNvPr id="3" name="Picture 2" descr="A diagram of a brain and earth&#10;&#10;AI-generated content may be incorrect.">
            <a:extLst>
              <a:ext uri="{FF2B5EF4-FFF2-40B4-BE49-F238E27FC236}">
                <a16:creationId xmlns:a16="http://schemas.microsoft.com/office/drawing/2014/main" id="{96123F52-1E01-24E1-2934-5A033CB8BF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7346" y="1281910"/>
            <a:ext cx="4417307" cy="504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880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7F81D-A907-3EC9-45B7-83D286A58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302DDC54-AD0C-9B63-2418-6658BB0D001F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Agente e Ambiente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F9E036-F626-CF2A-2020-2B22FA470978}"/>
              </a:ext>
            </a:extLst>
          </p:cNvPr>
          <p:cNvSpPr txBox="1"/>
          <p:nvPr/>
        </p:nvSpPr>
        <p:spPr>
          <a:xfrm>
            <a:off x="6596498" y="6328036"/>
            <a:ext cx="3636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hlinkClick r:id="rId2"/>
              </a:rPr>
              <a:t>https://www.researchgate.net/publication/371953230</a:t>
            </a:r>
            <a:r>
              <a:rPr lang="en-US" sz="1200" dirty="0"/>
              <a:t>.</a:t>
            </a:r>
          </a:p>
        </p:txBody>
      </p:sp>
      <p:pic>
        <p:nvPicPr>
          <p:cNvPr id="3" name="Picture 2" descr="A diagram of a brain and earth&#10;&#10;AI-generated content may be incorrect.">
            <a:extLst>
              <a:ext uri="{FF2B5EF4-FFF2-40B4-BE49-F238E27FC236}">
                <a16:creationId xmlns:a16="http://schemas.microsoft.com/office/drawing/2014/main" id="{6C0AE513-ADE8-5ACD-6A61-AB4D448EF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003" y="1281910"/>
            <a:ext cx="4417307" cy="5046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B7F905-A637-4BA0-7389-A1001EF865ED}"/>
                  </a:ext>
                </a:extLst>
              </p:cNvPr>
              <p:cNvSpPr txBox="1"/>
              <p:nvPr/>
            </p:nvSpPr>
            <p:spPr>
              <a:xfrm>
                <a:off x="1159329" y="1698516"/>
                <a:ext cx="4417307" cy="4431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Em cada estado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400" i="1" dirty="0"/>
                  <a:t>:</a:t>
                </a:r>
              </a:p>
              <a:p>
                <a:endParaRPr lang="pt-BR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O agente: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Observa o ambiente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400" b="0" dirty="0"/>
                  <a:t>;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Executa ação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400" b="0" dirty="0"/>
                  <a:t>;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Recebe a recompense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400" b="0" dirty="0"/>
                  <a:t>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pt-BR" sz="24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O ambiente: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Recebe a ação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400" b="0" dirty="0"/>
                  <a:t>;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Emite a observação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pt-BR" sz="2400" b="0" dirty="0"/>
                  <a:t>;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Emite a recompense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400" b="0" dirty="0"/>
                  <a:t>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B7F905-A637-4BA0-7389-A1001EF86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329" y="1698516"/>
                <a:ext cx="4417307" cy="4431983"/>
              </a:xfrm>
              <a:prstGeom prst="rect">
                <a:avLst/>
              </a:prstGeom>
              <a:blipFill>
                <a:blip r:embed="rId4"/>
                <a:stretch>
                  <a:fillRect l="-2069" t="-11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6166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A49C00-F07A-41A6-9321-A14A12B1181E}">
  <ds:schemaRefs>
    <ds:schemaRef ds:uri="http://schemas.microsoft.com/office/2006/metadata/properties"/>
    <ds:schemaRef ds:uri="http://schemas.microsoft.com/office/infopath/2007/PartnerControls"/>
    <ds:schemaRef ds:uri="dd515b78-c394-4c68-913b-64702d1b471e"/>
    <ds:schemaRef ds:uri="942d5ec7-aacc-4a5b-a58b-71e198b95712"/>
  </ds:schemaRefs>
</ds:datastoreItem>
</file>

<file path=customXml/itemProps2.xml><?xml version="1.0" encoding="utf-8"?>
<ds:datastoreItem xmlns:ds="http://schemas.openxmlformats.org/officeDocument/2006/customXml" ds:itemID="{8568EF10-752B-449B-9310-751CE2B7DFA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9F6E1F-1180-41D2-AA2C-68D3E62627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2d5ec7-aacc-4a5b-a58b-71e198b95712"/>
    <ds:schemaRef ds:uri="dd515b78-c394-4c68-913b-64702d1b47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6746</TotalTime>
  <Words>685</Words>
  <Application>Microsoft Office PowerPoint</Application>
  <PresentationFormat>Widescreen</PresentationFormat>
  <Paragraphs>80</Paragraphs>
  <Slides>13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13</vt:i4>
      </vt:variant>
    </vt:vector>
  </HeadingPairs>
  <TitlesOfParts>
    <vt:vector size="24" baseType="lpstr">
      <vt:lpstr>Cronos Pro</vt:lpstr>
      <vt:lpstr>Montserrat</vt:lpstr>
      <vt:lpstr>Wingdings</vt:lpstr>
      <vt:lpstr>Calibri</vt:lpstr>
      <vt:lpstr>Aptos</vt:lpstr>
      <vt:lpstr>Cambria Math</vt:lpstr>
      <vt:lpstr>Arial</vt:lpstr>
      <vt:lpstr>10_Personalizar design</vt:lpstr>
      <vt:lpstr>5_Personalizar design</vt:lpstr>
      <vt:lpstr>6_Personalizar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Fernando José Ferreira</cp:lastModifiedBy>
  <cp:revision>84</cp:revision>
  <dcterms:created xsi:type="dcterms:W3CDTF">2025-06-11T21:44:24Z</dcterms:created>
  <dcterms:modified xsi:type="dcterms:W3CDTF">2025-12-09T13:21:03Z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