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4"/>
    <p:sldMasterId id="2147483672" r:id="rId5"/>
    <p:sldMasterId id="2147483675" r:id="rId6"/>
    <p:sldMasterId id="2147483677" r:id="rId7"/>
  </p:sldMasterIdLst>
  <p:notesMasterIdLst>
    <p:notesMasterId r:id="rId22"/>
  </p:notesMasterIdLst>
  <p:sldIdLst>
    <p:sldId id="268" r:id="rId8"/>
    <p:sldId id="281" r:id="rId9"/>
    <p:sldId id="284" r:id="rId10"/>
    <p:sldId id="285" r:id="rId11"/>
    <p:sldId id="286" r:id="rId12"/>
    <p:sldId id="287" r:id="rId13"/>
    <p:sldId id="288" r:id="rId14"/>
    <p:sldId id="289" r:id="rId15"/>
    <p:sldId id="291" r:id="rId16"/>
    <p:sldId id="290" r:id="rId17"/>
    <p:sldId id="293" r:id="rId18"/>
    <p:sldId id="294" r:id="rId19"/>
    <p:sldId id="295" r:id="rId20"/>
    <p:sldId id="264" r:id="rId21"/>
  </p:sldIdLst>
  <p:sldSz cx="12192000" cy="6858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ronos Pro" panose="020C0502030403020304" pitchFamily="34" charset="0"/>
      <p:regular r:id="rId27"/>
      <p:bold r:id="rId28"/>
      <p:italic r:id="rId29"/>
    </p:embeddedFont>
    <p:embeddedFont>
      <p:font typeface="Montserrat" panose="00000500000000000000" pitchFamily="50" charset="0"/>
      <p:regular r:id="rId30"/>
      <p:bold r:id="rId31"/>
      <p:italic r:id="rId32"/>
      <p:boldItalic r:id="rId3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30"/>
    <a:srgbClr val="2087C6"/>
    <a:srgbClr val="379FDE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162" autoAdjust="0"/>
  </p:normalViewPr>
  <p:slideViewPr>
    <p:cSldViewPr snapToGrid="0">
      <p:cViewPr varScale="1">
        <p:scale>
          <a:sx n="109" d="100"/>
          <a:sy n="109" d="100"/>
        </p:scale>
        <p:origin x="1992" y="198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4.fntdata"/><Relationship Id="rId21" Type="http://schemas.openxmlformats.org/officeDocument/2006/relationships/slide" Target="slides/slide14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5A95-A2DF-4770-B285-FE21F9240552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2A541-A226-4611-A5F2-C8546E102C6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54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324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381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23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8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645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519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836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B2F17-80C5-A2D2-A293-0D8C9C90B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B469F-8A72-8DFF-CCC4-AC4200766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126D1-24B9-1E02-2997-0102C6BB8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51A5A-FF86-2B30-218A-663C398FF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161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293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07/relationships/media" Target="../media/media2.mp4"/><Relationship Id="rId7" Type="http://schemas.openxmlformats.org/officeDocument/2006/relationships/image" Target="../media/image1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10" Type="http://schemas.openxmlformats.org/officeDocument/2006/relationships/hyperlink" Target="https://urldefense.com/v3/__https:/www.youtube.com/watch?v=W2CAghUiofY__;!!JIxYRhv5VAAbgw!OF3P1fAa_-4RGN7W5vf-hr1CjcFLXtQVTZrIoy9jTVS3YrUc8W-7qPAlOsdOOOZ-TbI5YQ2itS3yR-0OpakYTNqZrwSH$" TargetMode="External"/><Relationship Id="rId4" Type="http://schemas.openxmlformats.org/officeDocument/2006/relationships/video" Target="../media/media2.mp4"/><Relationship Id="rId9" Type="http://schemas.openxmlformats.org/officeDocument/2006/relationships/hyperlink" Target="https://urldefense.com/v3/__https:/www.youtube.com/watch?v=V1eYniJ0Rnk__;!!JIxYRhv5VAAbgw!OF3P1fAa_-4RGN7W5vf-hr1CjcFLXtQVTZrIoy9jTVS3YrUc8W-7qPAlOsdOOOZ-TbI5YQ2itS3yR-0OpakYTPAfahCD$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bc.com/news/technology-3578587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ai.com/index/openai-five-defeats-dota-2-world-champion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pt-BR/index/solving-rubiks-cube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ai.com/index/emergent-tool-use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epmind-google.translate.goog/discover/blog/alphastar-mastering-the-real-time-strategy-game-starcraft-ii/?_x_tr_sl=en&amp;_x_tr_tl=pt&amp;_x_tr_hl=pt&amp;_x_tr_pto=tc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boutamazon.com/news/operations/amazon-introduces-new-robotics-solution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ernardmarr.com/how-tesla-is-using-artificial-intelligence-to-create-the-autonomous-cars-of-the-future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88814"/>
            <a:ext cx="9831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Exemplos de RL</a:t>
            </a:r>
            <a:endParaRPr lang="en-ID" sz="54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B869A-A080-90AC-F40B-F22321956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20DDFC1D-656E-F8C7-B1EB-60EE312EC80A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Atari – Deep Mind (2013)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pic>
        <p:nvPicPr>
          <p:cNvPr id="2" name="Atari">
            <a:hlinkClick r:id="" action="ppaction://media"/>
            <a:extLst>
              <a:ext uri="{FF2B5EF4-FFF2-40B4-BE49-F238E27FC236}">
                <a16:creationId xmlns:a16="http://schemas.microsoft.com/office/drawing/2014/main" id="{7CF44C27-B468-25A6-A779-1CB1A19D864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475423" y="1766645"/>
            <a:ext cx="3429000" cy="4229100"/>
          </a:xfrm>
          <a:prstGeom prst="rect">
            <a:avLst/>
          </a:prstGeom>
        </p:spPr>
      </p:pic>
      <p:pic>
        <p:nvPicPr>
          <p:cNvPr id="4" name="Space Invaders">
            <a:hlinkClick r:id="" action="ppaction://media"/>
            <a:extLst>
              <a:ext uri="{FF2B5EF4-FFF2-40B4-BE49-F238E27FC236}">
                <a16:creationId xmlns:a16="http://schemas.microsoft.com/office/drawing/2014/main" id="{C6EE2491-D92D-44A6-D677-75625AFCCD3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570429" y="2286619"/>
            <a:ext cx="4572000" cy="3429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C5453EB-66D8-4679-90C3-25392C497B95}"/>
              </a:ext>
            </a:extLst>
          </p:cNvPr>
          <p:cNvSpPr txBox="1"/>
          <p:nvPr/>
        </p:nvSpPr>
        <p:spPr>
          <a:xfrm>
            <a:off x="2402006" y="6059605"/>
            <a:ext cx="371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Fonte</a:t>
            </a:r>
            <a:r>
              <a:rPr lang="pt-BR" sz="1200" dirty="0"/>
              <a:t>: </a:t>
            </a:r>
            <a:r>
              <a:rPr lang="pt-BR" sz="1200" u="sng" dirty="0">
                <a:solidFill>
                  <a:srgbClr val="0000FF"/>
                </a:solidFill>
                <a:effectLst/>
                <a:ea typeface="Calibri" panose="020F0502020204030204" pitchFamily="34" charset="0"/>
                <a:hlinkClick r:id="rId9"/>
              </a:rPr>
              <a:t>https://www.youtube.com/watch?v=V1eYniJ0Rnk</a:t>
            </a:r>
            <a:endParaRPr lang="pt-BR" sz="1200" dirty="0">
              <a:effectLst/>
              <a:ea typeface="Calibri" panose="020F0502020204030204" pitchFamily="34" charset="0"/>
            </a:endParaRPr>
          </a:p>
          <a:p>
            <a:endParaRPr lang="pt-BR" sz="1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D1057D3-51EB-4CAA-8905-94DA2797069C}"/>
              </a:ext>
            </a:extLst>
          </p:cNvPr>
          <p:cNvSpPr txBox="1"/>
          <p:nvPr/>
        </p:nvSpPr>
        <p:spPr>
          <a:xfrm>
            <a:off x="7108678" y="5745707"/>
            <a:ext cx="380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</a:t>
            </a:r>
            <a:r>
              <a:rPr lang="pt-BR" sz="1200" u="sng" dirty="0">
                <a:solidFill>
                  <a:srgbClr val="0000FF"/>
                </a:solidFill>
                <a:effectLst/>
                <a:ea typeface="Calibri" panose="020F0502020204030204" pitchFamily="34" charset="0"/>
                <a:hlinkClick r:id="rId10"/>
              </a:rPr>
              <a:t>https://www.youtube.com/watch?v=W2CAghUiofY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8943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77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31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142A0-F5C8-2223-4D1E-B250A4D4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D53AB4D7-9B58-5CD4-B883-6FCA1B72D3A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Alpha Go – Deep Mind (2016)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pic>
        <p:nvPicPr>
          <p:cNvPr id="4" name="Picture 3" descr="A game board with black and white round pieces&#10;&#10;AI-generated content may be incorrect.">
            <a:extLst>
              <a:ext uri="{FF2B5EF4-FFF2-40B4-BE49-F238E27FC236}">
                <a16:creationId xmlns:a16="http://schemas.microsoft.com/office/drawing/2014/main" id="{02A2410A-96F3-FF66-9146-2E0B861AD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07" y="1511595"/>
            <a:ext cx="8211385" cy="46189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6D7A38-7785-A074-0244-DE7EDE8DFB5A}"/>
              </a:ext>
            </a:extLst>
          </p:cNvPr>
          <p:cNvSpPr txBox="1"/>
          <p:nvPr/>
        </p:nvSpPr>
        <p:spPr>
          <a:xfrm>
            <a:off x="4390500" y="6206707"/>
            <a:ext cx="34109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linkClick r:id="rId4"/>
              </a:rPr>
              <a:t>https://www.bbc.com/news/technology-35785875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5876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46821-9BE3-5D44-769F-437A55F72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646E911C-D4C5-760E-2C87-3B1F5535EC34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Dota 2 – Open AI (2018)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pic>
        <p:nvPicPr>
          <p:cNvPr id="4" name="Picture 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28649065-4801-9549-2C48-CF013D671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051" y="1409307"/>
            <a:ext cx="8495898" cy="47789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8680B9-B4F7-CBBB-3776-4BDD4825B6FD}"/>
              </a:ext>
            </a:extLst>
          </p:cNvPr>
          <p:cNvSpPr txBox="1"/>
          <p:nvPr/>
        </p:nvSpPr>
        <p:spPr>
          <a:xfrm>
            <a:off x="3722850" y="6188250"/>
            <a:ext cx="4746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linkClick r:id="rId4"/>
              </a:rPr>
              <a:t>https://openai.com/index/openai-five-defeats-dota-2-world-champions/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7062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D4D65-1DD7-43D5-3943-C3312AE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81FCFFD8-AAE3-35B9-7ED2-DB07913E23AA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Rubik’s Cube – Open AI (2018)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9CD1E0-B4A8-949D-BCF5-800732966F15}"/>
              </a:ext>
            </a:extLst>
          </p:cNvPr>
          <p:cNvSpPr txBox="1"/>
          <p:nvPr/>
        </p:nvSpPr>
        <p:spPr>
          <a:xfrm>
            <a:off x="4297878" y="5483986"/>
            <a:ext cx="3596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linkClick r:id="rId3"/>
              </a:rPr>
              <a:t>https://openai.com/pt-BR/index/solving-rubiks-cube/</a:t>
            </a:r>
            <a:r>
              <a:rPr lang="en-US" sz="1200" dirty="0"/>
              <a:t> .</a:t>
            </a:r>
          </a:p>
        </p:txBody>
      </p:sp>
      <p:pic>
        <p:nvPicPr>
          <p:cNvPr id="5" name="Picture 4" descr="A robot holding a rubik's cube&#10;&#10;AI-generated content may be incorrect.">
            <a:extLst>
              <a:ext uri="{FF2B5EF4-FFF2-40B4-BE49-F238E27FC236}">
                <a16:creationId xmlns:a16="http://schemas.microsoft.com/office/drawing/2014/main" id="{2799A473-F44C-C6CE-BC33-74FAE800F3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284" y="2197402"/>
            <a:ext cx="6487430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353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C0E8B-57D7-982A-0C97-18EA96A54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667ED0B4-A5CA-692E-1794-1C63B74A54B9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Hide and Seek – Open AI (2019)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pic>
        <p:nvPicPr>
          <p:cNvPr id="4" name="Picture 3" descr="Cartoon characters with faces and a cube&#10;&#10;AI-generated content may be incorrect.">
            <a:extLst>
              <a:ext uri="{FF2B5EF4-FFF2-40B4-BE49-F238E27FC236}">
                <a16:creationId xmlns:a16="http://schemas.microsoft.com/office/drawing/2014/main" id="{141A79B6-C6EB-D71B-DBF4-8CC796058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935" y="2255991"/>
            <a:ext cx="5782127" cy="32122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AFDEBB-188D-2D37-2921-02DC1EE95DA8}"/>
              </a:ext>
            </a:extLst>
          </p:cNvPr>
          <p:cNvSpPr txBox="1"/>
          <p:nvPr/>
        </p:nvSpPr>
        <p:spPr>
          <a:xfrm>
            <a:off x="4521079" y="5468283"/>
            <a:ext cx="314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linkClick r:id="rId4"/>
              </a:rPr>
              <a:t>https://openai.com/index/emergent-tool-use/</a:t>
            </a:r>
            <a:r>
              <a:rPr lang="en-US" sz="1200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3058298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A4643-D8B8-CF73-8038-C3CB28266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44C7AD38-6672-6130-4096-C03314D6C014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AlphaStar – Deep Mind (2019)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pic>
        <p:nvPicPr>
          <p:cNvPr id="4" name="Picture 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4E794CA-8D13-AF92-9D40-AF81283A6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434" y="1435387"/>
            <a:ext cx="8051132" cy="45222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421541-A09C-3065-5DE4-CE7EF456CC71}"/>
              </a:ext>
            </a:extLst>
          </p:cNvPr>
          <p:cNvSpPr txBox="1"/>
          <p:nvPr/>
        </p:nvSpPr>
        <p:spPr>
          <a:xfrm>
            <a:off x="4885540" y="5991999"/>
            <a:ext cx="24209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linkClick r:id="rId4"/>
              </a:rPr>
              <a:t>https://deepmind-google/alphastar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0085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A83C0-E4F1-7BF0-E1DA-A5D95F20A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6A059B01-346A-E0A0-88BA-70997DD1261B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Robôs logísticos autônomos (2021)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62D1EE-DB1C-70F5-108F-686E76446B99}"/>
              </a:ext>
            </a:extLst>
          </p:cNvPr>
          <p:cNvSpPr txBox="1"/>
          <p:nvPr/>
        </p:nvSpPr>
        <p:spPr>
          <a:xfrm>
            <a:off x="3057636" y="5963159"/>
            <a:ext cx="6076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hlinkClick r:id="rId3"/>
              </a:rPr>
              <a:t>https://www.aboutamazon.com/news/operations/amazon-introduces-new-robotics-solutions</a:t>
            </a:r>
            <a:r>
              <a:rPr lang="en-US" sz="1200" dirty="0"/>
              <a:t>.</a:t>
            </a:r>
          </a:p>
        </p:txBody>
      </p:sp>
      <p:pic>
        <p:nvPicPr>
          <p:cNvPr id="5" name="Picture 4" descr="A warehouse with blue crates&#10;&#10;AI-generated content may be incorrect.">
            <a:extLst>
              <a:ext uri="{FF2B5EF4-FFF2-40B4-BE49-F238E27FC236}">
                <a16:creationId xmlns:a16="http://schemas.microsoft.com/office/drawing/2014/main" id="{C5B137BC-941F-D06E-9ED7-37EE14CCF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94" y="1455293"/>
            <a:ext cx="8082868" cy="44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9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6520A-0DC0-D5C8-7C72-09A4323DA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03E2788A-C813-4383-D206-BD56BB2EE721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Carros autônomos (2022)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FED518-6B1C-CFDA-FE7C-FA3BE94ADFFF}"/>
              </a:ext>
            </a:extLst>
          </p:cNvPr>
          <p:cNvSpPr txBox="1"/>
          <p:nvPr/>
        </p:nvSpPr>
        <p:spPr>
          <a:xfrm>
            <a:off x="486620" y="5945833"/>
            <a:ext cx="11372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Fonte: </a:t>
            </a:r>
            <a:r>
              <a:rPr lang="en-US" dirty="0">
                <a:hlinkClick r:id="rId3"/>
              </a:rPr>
              <a:t>https://bernardmarr.com/how-tesla-is-using-artificial-intelligence-to-create-the-autonomous-cars-of-the-future/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1963B9-3417-DC61-E58C-EED7560AA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5" y="1435387"/>
            <a:ext cx="6842550" cy="442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44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CBBD2-3FD2-DEFE-2534-5D5ADD8D0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0455AC55-2755-2F24-D71E-7103E6C3AAE8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Exemplos de aplicações de RL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27736B3-C27B-8F8D-13B0-47583E3DF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642933"/>
              </p:ext>
            </p:extLst>
          </p:nvPr>
        </p:nvGraphicFramePr>
        <p:xfrm>
          <a:off x="987803" y="1664357"/>
          <a:ext cx="10369849" cy="4428864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1636541">
                  <a:extLst>
                    <a:ext uri="{9D8B030D-6E8A-4147-A177-3AD203B41FA5}">
                      <a16:colId xmlns:a16="http://schemas.microsoft.com/office/drawing/2014/main" val="2201884075"/>
                    </a:ext>
                  </a:extLst>
                </a:gridCol>
                <a:gridCol w="5374091">
                  <a:extLst>
                    <a:ext uri="{9D8B030D-6E8A-4147-A177-3AD203B41FA5}">
                      <a16:colId xmlns:a16="http://schemas.microsoft.com/office/drawing/2014/main" val="3787264359"/>
                    </a:ext>
                  </a:extLst>
                </a:gridCol>
                <a:gridCol w="3359217">
                  <a:extLst>
                    <a:ext uri="{9D8B030D-6E8A-4147-A177-3AD203B41FA5}">
                      <a16:colId xmlns:a16="http://schemas.microsoft.com/office/drawing/2014/main" val="3950904046"/>
                    </a:ext>
                  </a:extLst>
                </a:gridCol>
              </a:tblGrid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Ano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Exemplo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Domínio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740205601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2013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Atari (DeepMind)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Jogos clássicos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07281937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2016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AlphaGo (DeepMind)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Jogo de tabuleiro (Go)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648733396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2016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Google Data Center Cooling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Eficiência energética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59228816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2016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/>
                        <a:t>Sistemas de recomendação (Netflix, YouTube, Spotify, Amazon)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Recomendação / Engajamento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6195715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2017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Ms. Pac-Man (Microsoft)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Jogos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2139796448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2017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AlphaZero (DeepMind)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/>
                        <a:t>Jogos de tabuleiro (Go, Xadrez, Shogi)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089461643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2017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DeepTraffic (MIT)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Simulação de tráfego urbano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563241764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2018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Dota 2 (OpenAI Five)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eSports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879868729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2018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Rubik’s Cube (OpenAI)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Robótica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496063698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2018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Radioterapia personalizada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Saúde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68302535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Ano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Exemplo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Domínio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532807282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2013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Atari (DeepMind)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Jogos clássicos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13352495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2016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AlphaGo (DeepMind)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Jogo de tabuleiro (Go)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851056509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2016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Google Data Center Cooling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Eficiência energética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497867113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2016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/>
                        <a:t>Sistemas de recomendação (Netflix, YouTube, Spotify, Amazon)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Recomendação / Engajamento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906256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114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236E3-0083-7779-63AC-46CFC4F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DA416F97-13DB-2888-84B6-211BB7615B70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Exemplos de aplicações de RL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973DAA2-6AC9-1452-4511-726FE2516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442523"/>
              </p:ext>
            </p:extLst>
          </p:nvPr>
        </p:nvGraphicFramePr>
        <p:xfrm>
          <a:off x="987803" y="1664357"/>
          <a:ext cx="10369849" cy="4428864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1636541">
                  <a:extLst>
                    <a:ext uri="{9D8B030D-6E8A-4147-A177-3AD203B41FA5}">
                      <a16:colId xmlns:a16="http://schemas.microsoft.com/office/drawing/2014/main" val="2201884075"/>
                    </a:ext>
                  </a:extLst>
                </a:gridCol>
                <a:gridCol w="5374091">
                  <a:extLst>
                    <a:ext uri="{9D8B030D-6E8A-4147-A177-3AD203B41FA5}">
                      <a16:colId xmlns:a16="http://schemas.microsoft.com/office/drawing/2014/main" val="3787264359"/>
                    </a:ext>
                  </a:extLst>
                </a:gridCol>
                <a:gridCol w="3359217">
                  <a:extLst>
                    <a:ext uri="{9D8B030D-6E8A-4147-A177-3AD203B41FA5}">
                      <a16:colId xmlns:a16="http://schemas.microsoft.com/office/drawing/2014/main" val="3950904046"/>
                    </a:ext>
                  </a:extLst>
                </a:gridCol>
              </a:tblGrid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Ano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Exemplo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Domínio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740205601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2018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OpenAI Gym Retro (Sonic, etc.)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Jogos clássicos de console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07281937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2019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Hide and Seek (OpenAI)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Jogos multiagente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648733396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2019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AlphaStar (DeepMind)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eSports (StarCraft II)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59228816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2019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Libratus / Pluribus (CMU &amp; Meta)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Pôquer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6195715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2020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MuZero (DeepMind)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Jogos sem regras explícitas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2139796448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2020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Descoberta de moléculas (MolDQN)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Ciências / Saúde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089461643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2020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AlphaFold (DeepMind)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Biologia / Estrutura de proteínas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563241764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2020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Controle de tráfego urbano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Mobilidade urbana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879868729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2021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Robôs logísticos autônomos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Robótica / Logística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496063698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2021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Controle de foguetes (simulado)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Aeroespacial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68302535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2018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OpenAI Gym Retro (Sonic, etc.)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Jogos clássicos de console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532807282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2019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Hide and Seek (OpenAI)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Jogos multiagente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13352495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2019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AlphaStar (DeepMind)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eSports (StarCraft II)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851056509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2019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Libratus / Pluribus (CMU &amp; Meta)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Pôquer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497867113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2020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MuZero (DeepMind)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Jogos sem regras explícitas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906256950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DE83BC81-98AF-485A-869C-20CC8C8CDDA0}"/>
              </a:ext>
            </a:extLst>
          </p:cNvPr>
          <p:cNvSpPr txBox="1"/>
          <p:nvPr/>
        </p:nvSpPr>
        <p:spPr>
          <a:xfrm>
            <a:off x="5334830" y="6093221"/>
            <a:ext cx="15223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Elaborado pelo autor.</a:t>
            </a:r>
          </a:p>
        </p:txBody>
      </p:sp>
    </p:spTree>
    <p:extLst>
      <p:ext uri="{BB962C8B-B14F-4D97-AF65-F5344CB8AC3E}">
        <p14:creationId xmlns:p14="http://schemas.microsoft.com/office/powerpoint/2010/main" val="1256503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2C85D-9D5E-DDB9-32BD-A438623AF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8FE4153D-D2FF-70C0-856D-C562709356B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Exemplos de aplicações de RL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C36201B-5786-BA15-ACE4-4BA9A4CAF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23011"/>
              </p:ext>
            </p:extLst>
          </p:nvPr>
        </p:nvGraphicFramePr>
        <p:xfrm>
          <a:off x="987803" y="1664357"/>
          <a:ext cx="10369849" cy="4428864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1636541">
                  <a:extLst>
                    <a:ext uri="{9D8B030D-6E8A-4147-A177-3AD203B41FA5}">
                      <a16:colId xmlns:a16="http://schemas.microsoft.com/office/drawing/2014/main" val="2201884075"/>
                    </a:ext>
                  </a:extLst>
                </a:gridCol>
                <a:gridCol w="5374091">
                  <a:extLst>
                    <a:ext uri="{9D8B030D-6E8A-4147-A177-3AD203B41FA5}">
                      <a16:colId xmlns:a16="http://schemas.microsoft.com/office/drawing/2014/main" val="3787264359"/>
                    </a:ext>
                  </a:extLst>
                </a:gridCol>
                <a:gridCol w="3359217">
                  <a:extLst>
                    <a:ext uri="{9D8B030D-6E8A-4147-A177-3AD203B41FA5}">
                      <a16:colId xmlns:a16="http://schemas.microsoft.com/office/drawing/2014/main" val="3950904046"/>
                    </a:ext>
                  </a:extLst>
                </a:gridCol>
              </a:tblGrid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Ano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Exemplo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Domínio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740205601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2021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Dexterous Manipulation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Robótica (manipulação fina)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07281937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2022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Carros autônomos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Transporte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648733396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2022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Robôs quadrúpedes (ANYmal, Spot)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Robótica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59228816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2022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Minecraft (MineRL)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Jogos abertos / Sandbox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6195715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2022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Assistentes de voz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IA conversacional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2139796448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2023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Portfólio de investimentos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Finanças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089461643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2023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Trading de energia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Energia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563241764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2023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AlphaDev (DeepMind)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Ciência da Computação / Algoritmos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879868729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2024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Educação personalizada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Educação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496063698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2021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Dexterous Manipulation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Robótica (manipulação fina)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68302535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2022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Carros autônomos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Transporte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532807282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2022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Robôs quadrúpedes (ANYmal, Spot)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Robótica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13352495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2022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Minecraft (MineRL)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Jogos abertos / Sandbox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851056509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2022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Assistentes de voz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IA conversacional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497867113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2023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Portfólio de investimentos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Finanças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906256950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AF9B4207-08ED-446F-BA6C-8DDD3A56DBD6}"/>
              </a:ext>
            </a:extLst>
          </p:cNvPr>
          <p:cNvSpPr txBox="1"/>
          <p:nvPr/>
        </p:nvSpPr>
        <p:spPr>
          <a:xfrm>
            <a:off x="5334830" y="6093221"/>
            <a:ext cx="15223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Elaborado pelo autor.</a:t>
            </a:r>
          </a:p>
        </p:txBody>
      </p:sp>
    </p:spTree>
    <p:extLst>
      <p:ext uri="{BB962C8B-B14F-4D97-AF65-F5344CB8AC3E}">
        <p14:creationId xmlns:p14="http://schemas.microsoft.com/office/powerpoint/2010/main" val="3231513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3EC99-EFB5-878D-3DA4-E4B51A7BF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2FFEE8AB-10B5-866D-31AD-9FA93C5B989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Exemplos de aplicações de RL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4E32B41-1851-A580-FC92-51CCC5366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014786"/>
              </p:ext>
            </p:extLst>
          </p:nvPr>
        </p:nvGraphicFramePr>
        <p:xfrm>
          <a:off x="987803" y="2117118"/>
          <a:ext cx="10369849" cy="2288484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1636541">
                  <a:extLst>
                    <a:ext uri="{9D8B030D-6E8A-4147-A177-3AD203B41FA5}">
                      <a16:colId xmlns:a16="http://schemas.microsoft.com/office/drawing/2014/main" val="2201884075"/>
                    </a:ext>
                  </a:extLst>
                </a:gridCol>
                <a:gridCol w="4835235">
                  <a:extLst>
                    <a:ext uri="{9D8B030D-6E8A-4147-A177-3AD203B41FA5}">
                      <a16:colId xmlns:a16="http://schemas.microsoft.com/office/drawing/2014/main" val="3787264359"/>
                    </a:ext>
                  </a:extLst>
                </a:gridCol>
                <a:gridCol w="3898073">
                  <a:extLst>
                    <a:ext uri="{9D8B030D-6E8A-4147-A177-3AD203B41FA5}">
                      <a16:colId xmlns:a16="http://schemas.microsoft.com/office/drawing/2014/main" val="3950904046"/>
                    </a:ext>
                  </a:extLst>
                </a:gridCol>
              </a:tblGrid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Ano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Exemplo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Domínio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740205601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RLHF (Reinforcement Learning from Human Feedback)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Alinhamento de LLMs (ChatGPT, Claude,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81937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highlight>
                            <a:srgbClr val="FFFF00"/>
                          </a:highlight>
                        </a:rPr>
                        <a:t>RL para raciocínio em LLMs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highlight>
                            <a:srgbClr val="FFFF00"/>
                          </a:highlight>
                        </a:rPr>
                        <a:t>Otimização de respostas e raciocínio lógico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733396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Marvel (Offline → Online RL seguro)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/>
                        <a:t>Aprendizado seguro em ambientes críticos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28816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/>
                        <a:t>Controle de fluxo (fluid dynamics)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Indústria / Aerodinâmica / Engenharia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57150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Escalonamento de produção industrial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Manufatura / Supply Chain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796448"/>
                  </a:ext>
                </a:extLst>
              </a:tr>
              <a:tr h="24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Agricultura inteligente (gêmeos digitais)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AgroTech / Uso eficiente de recursos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9461643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A6EBFD48-1E93-49AA-BE70-B1E25D5F155B}"/>
              </a:ext>
            </a:extLst>
          </p:cNvPr>
          <p:cNvSpPr txBox="1"/>
          <p:nvPr/>
        </p:nvSpPr>
        <p:spPr>
          <a:xfrm>
            <a:off x="5334830" y="4405602"/>
            <a:ext cx="15223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Elaborado pelo autor.</a:t>
            </a:r>
          </a:p>
        </p:txBody>
      </p:sp>
    </p:spTree>
    <p:extLst>
      <p:ext uri="{BB962C8B-B14F-4D97-AF65-F5344CB8AC3E}">
        <p14:creationId xmlns:p14="http://schemas.microsoft.com/office/powerpoint/2010/main" val="2117155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68C2F3-641B-4D8F-91A9-8A8F70EB079F}">
  <ds:schemaRefs>
    <ds:schemaRef ds:uri="http://schemas.microsoft.com/office/2006/metadata/properties"/>
    <ds:schemaRef ds:uri="http://schemas.microsoft.com/office/infopath/2007/PartnerControls"/>
    <ds:schemaRef ds:uri="dd515b78-c394-4c68-913b-64702d1b471e"/>
    <ds:schemaRef ds:uri="942d5ec7-aacc-4a5b-a58b-71e198b95712"/>
  </ds:schemaRefs>
</ds:datastoreItem>
</file>

<file path=customXml/itemProps2.xml><?xml version="1.0" encoding="utf-8"?>
<ds:datastoreItem xmlns:ds="http://schemas.openxmlformats.org/officeDocument/2006/customXml" ds:itemID="{76BDB66A-170E-4A9D-8689-B7F58284E2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0647EB-E375-4B3C-AE87-D24EE14659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5ec7-aacc-4a5b-a58b-71e198b95712"/>
    <ds:schemaRef ds:uri="dd515b78-c394-4c68-913b-64702d1b47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12621</TotalTime>
  <Words>681</Words>
  <Application>Microsoft Office PowerPoint</Application>
  <PresentationFormat>Widescreen</PresentationFormat>
  <Paragraphs>199</Paragraphs>
  <Slides>14</Slides>
  <Notes>9</Notes>
  <HiddenSlides>0</HiddenSlides>
  <MMClips>2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14</vt:i4>
      </vt:variant>
    </vt:vector>
  </HeadingPairs>
  <TitlesOfParts>
    <vt:vector size="23" baseType="lpstr">
      <vt:lpstr>Calibri</vt:lpstr>
      <vt:lpstr>Aptos</vt:lpstr>
      <vt:lpstr>Cronos Pro</vt:lpstr>
      <vt:lpstr>Montserrat</vt:lpstr>
      <vt:lpstr>Arial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Fernando José Ferreira</cp:lastModifiedBy>
  <cp:revision>89</cp:revision>
  <dcterms:created xsi:type="dcterms:W3CDTF">2025-06-11T21:44:24Z</dcterms:created>
  <dcterms:modified xsi:type="dcterms:W3CDTF">2025-12-09T13:20:28Z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