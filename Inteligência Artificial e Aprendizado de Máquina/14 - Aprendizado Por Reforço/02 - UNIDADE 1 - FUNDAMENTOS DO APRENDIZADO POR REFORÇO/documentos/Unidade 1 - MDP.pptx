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18"/>
  </p:notesMasterIdLst>
  <p:sldIdLst>
    <p:sldId id="268" r:id="rId8"/>
    <p:sldId id="275" r:id="rId9"/>
    <p:sldId id="290" r:id="rId10"/>
    <p:sldId id="291" r:id="rId11"/>
    <p:sldId id="293" r:id="rId12"/>
    <p:sldId id="294" r:id="rId13"/>
    <p:sldId id="276" r:id="rId14"/>
    <p:sldId id="296" r:id="rId15"/>
    <p:sldId id="295" r:id="rId16"/>
    <p:sldId id="264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 Math" panose="02040503050406030204" pitchFamily="18" charset="0"/>
      <p:regular r:id="rId23"/>
    </p:embeddedFont>
    <p:embeddedFont>
      <p:font typeface="Cronos Pro" panose="020C0502030403020304" pitchFamily="34" charset="0"/>
      <p:regular r:id="rId24"/>
      <p:bold r:id="rId25"/>
      <p:italic r:id="rId26"/>
    </p:embeddedFont>
    <p:embeddedFont>
      <p:font typeface="Montserrat" panose="00000500000000000000" pitchFamily="50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FDE"/>
    <a:srgbClr val="2087C6"/>
    <a:srgbClr val="FFD230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7" autoAdjust="0"/>
    <p:restoredTop sz="88087" autoAdjust="0"/>
  </p:normalViewPr>
  <p:slideViewPr>
    <p:cSldViewPr snapToGrid="0">
      <p:cViewPr varScale="1">
        <p:scale>
          <a:sx n="96" d="100"/>
          <a:sy n="96" d="100"/>
        </p:scale>
        <p:origin x="2484" y="78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3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02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1817 0 24575,'-19'2'0,"2"1"0,-2 1 0,0 1 0,1 0 0,0 1 0,1 1 0,-1 1 0,2 0 0,-1 1 0,2 1 0,-19 13 0,11-7 0,-2-1 0,0-2 0,-47 20 0,-19 5 0,71-28 0,-1 0 0,1-2 0,-1-1 0,-29 7 0,-271 60 0,282-66 0,-2-3 0,0-2 0,-2-1 0,-67-6 0,2 0 0,79 3 0,2-2 0,-1 0 0,1-2 0,-1 0 0,1-3 0,0 0 0,1-1 0,-25-13 0,16 7 0,24 11 0,-1 0 0,1-1 0,0 0 0,1-1 0,-1 0 0,1 0 0,-12-12 0,-19-17 35,28 27-385,1-2 0,1 0 0,-17-19 0,17 15-6476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0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32 346 24575,'-25'-84'0,"20"42"0,4-1 0,5-71 0,-4 112 0,0-2 0,0 2 0,0-1 0,0 1 0,1-1 0,-1 1 0,1-1 0,0 1 0,-1-1 0,2 1 0,-1-1 0,0 1 0,0-1 0,1 2 0,0-1 0,-1-1 0,1 2 0,0-2 0,1 2 0,-2-1 0,1 0 0,0 1 0,0 0 0,1 0 0,-1-1 0,1 1 0,-1 0 0,1 0 0,-1-1 0,0 2 0,1-1 0,-1 1 0,1 0 0,-1-1 0,1 1 0,-1 0 0,2 0 0,-1 0 0,-1 1 0,1-1 0,-1 0 0,1 1 0,-1-1 0,4 3 0,4 1 0,1-1 0,-1 1 0,0 1 0,0 0 0,0 0 0,-1 1 0,0 1 0,-1-1 0,13 12 0,18 12 0,-34-27 0,0 0 0,1 1 0,-1 0 0,0 0 0,-1-1 0,1 2 0,0 0 0,-1 0 0,-1 0 0,5 6 0,-8-8 4,0-2 1,0 2-1,0-1 0,0-1 0,-2 2 0,2-1 0,-1 0 0,1 0 0,-1-1 1,0 2-1,1-2 0,-1 2 0,-1-2 0,1 1 0,0 0 0,0-1 0,-1 0 1,1 2-1,-1-2 0,0 0 0,1 0 0,-1 0 0,0 1 0,1-1 0,-1-1 1,0 1-1,0 0 0,-3 1 0,-56 24-1489,41-20-5341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09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1817 0 24575,'-19'2'0,"2"1"0,-2 1 0,0 1 0,1 0 0,0 1 0,1 1 0,-1 1 0,2 0 0,-1 1 0,2 1 0,-19 13 0,11-7 0,-2-1 0,0-2 0,-47 20 0,-19 5 0,71-28 0,-1 0 0,1-2 0,-1-1 0,-29 7 0,-271 60 0,282-66 0,-2-3 0,0-2 0,-2-1 0,-67-6 0,2 0 0,79 3 0,2-2 0,-1 0 0,1-2 0,-1 0 0,1-3 0,0 0 0,1-1 0,-25-13 0,16 7 0,24 11 0,-1 0 0,1-1 0,0 0 0,1-1 0,-1 0 0,1 0 0,-12-12 0,-19-17 35,28 27-385,1-2 0,1 0 0,-17-19 0,17 15-6476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09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32 346 24575,'-25'-84'0,"20"42"0,4-1 0,5-71 0,-4 112 0,0-2 0,0 2 0,0-1 0,0 1 0,1-1 0,-1 1 0,1-1 0,0 1 0,-1-1 0,2 1 0,-1-1 0,0 1 0,0-1 0,1 2 0,0-1 0,-1-1 0,1 2 0,0-2 0,1 2 0,-2-1 0,1 0 0,0 1 0,0 0 0,1 0 0,-1-1 0,1 1 0,-1 0 0,1 0 0,-1-1 0,0 2 0,1-1 0,-1 1 0,1 0 0,-1-1 0,1 1 0,-1 0 0,2 0 0,-1 0 0,-1 1 0,1-1 0,-1 0 0,1 1 0,-1-1 0,4 3 0,4 1 0,1-1 0,-1 1 0,0 1 0,0 0 0,0 0 0,-1 1 0,0 1 0,-1-1 0,13 12 0,18 12 0,-34-27 0,0 0 0,1 1 0,-1 0 0,0 0 0,-1-1 0,1 2 0,0 0 0,-1 0 0,-1 0 0,5 6 0,-8-8 4,0-2 1,0 2-1,0-1 0,0-1 0,-2 2 0,2-1 0,-1 0 0,1 0 0,-1-1 1,0 2-1,1-2 0,-1 2 0,-1-2 0,1 1 0,0 0 0,0-1 0,-1 0 1,1 2-1,-1-2 0,0 0 0,1 0 0,-1 0 0,0 1 0,1-1 0,-1-1 1,0 1-1,0 0 0,-3 1 0,-56 24-1489,41-20-5341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13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1817 0 24575,'-19'2'0,"2"1"0,-2 1 0,0 1 0,1 0 0,0 1 0,1 1 0,-1 1 0,2 0 0,-1 1 0,2 1 0,-19 13 0,11-7 0,-2-1 0,0-2 0,-47 20 0,-19 5 0,71-28 0,-1 0 0,1-2 0,-1-1 0,-29 7 0,-271 60 0,282-66 0,-2-3 0,0-2 0,-2-1 0,-67-6 0,2 0 0,79 3 0,2-2 0,-1 0 0,1-2 0,-1 0 0,1-3 0,0 0 0,1-1 0,-25-13 0,16 7 0,24 11 0,-1 0 0,1-1 0,0 0 0,1-1 0,-1 0 0,1 0 0,-12-12 0,-19-17 35,28 27-385,1-2 0,1 0 0,-17-19 0,17 15-6476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13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32 346 24575,'-25'-84'0,"20"42"0,4-1 0,5-71 0,-4 112 0,0-2 0,0 2 0,0-1 0,0 1 0,1-1 0,-1 1 0,1-1 0,0 1 0,-1-1 0,2 1 0,-1-1 0,0 1 0,0-1 0,1 2 0,0-1 0,-1-1 0,1 2 0,0-2 0,1 2 0,-2-1 0,1 0 0,0 1 0,0 0 0,1 0 0,-1-1 0,1 1 0,-1 0 0,1 0 0,-1-1 0,0 2 0,1-1 0,-1 1 0,1 0 0,-1-1 0,1 1 0,-1 0 0,2 0 0,-1 0 0,-1 1 0,1-1 0,-1 0 0,1 1 0,-1-1 0,4 3 0,4 1 0,1-1 0,-1 1 0,0 1 0,0 0 0,0 0 0,-1 1 0,0 1 0,-1-1 0,13 12 0,18 12 0,-34-27 0,0 0 0,1 1 0,-1 0 0,0 0 0,-1-1 0,1 2 0,0 0 0,-1 0 0,-1 0 0,5 6 0,-8-8 4,0-2 1,0 2-1,0-1 0,0-1 0,-2 2 0,2-1 0,-1 0 0,1 0 0,-1-1 1,0 2-1,1-2 0,-1 2 0,-1-2 0,1 1 0,0 0 0,0-1 0,-1 0 1,1 2-1,-1-2 0,0 0 0,1 0 0,-1 0 0,0 1 0,1-1 0,-1-1 1,0 1-1,0 0 0,-3 1 0,-56 24-1489,41-20-5341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23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1817 0 24575,'-19'2'0,"2"1"0,-2 1 0,0 1 0,1 0 0,0 1 0,1 1 0,-1 1 0,2 0 0,-1 1 0,2 1 0,-19 13 0,11-7 0,-2-1 0,0-2 0,-47 20 0,-19 5 0,71-28 0,-1 0 0,1-2 0,-1-1 0,-29 7 0,-271 60 0,282-66 0,-2-3 0,0-2 0,-2-1 0,-67-6 0,2 0 0,79 3 0,2-2 0,-1 0 0,1-2 0,-1 0 0,1-3 0,0 0 0,1-1 0,-25-13 0,16 7 0,24 11 0,-1 0 0,1-1 0,0 0 0,1-1 0,-1 0 0,1 0 0,-12-12 0,-19-17 35,28 27-385,1-2 0,1 0 0,-17-19 0,17 15-6476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2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32 346 24575,'-25'-84'0,"20"42"0,4-1 0,5-71 0,-4 112 0,0-2 0,0 2 0,0-1 0,0 1 0,1-1 0,-1 1 0,1-1 0,0 1 0,-1-1 0,2 1 0,-1-1 0,0 1 0,0-1 0,1 2 0,0-1 0,-1-1 0,1 2 0,0-2 0,1 2 0,-2-1 0,1 0 0,0 1 0,0 0 0,1 0 0,-1-1 0,1 1 0,-1 0 0,1 0 0,-1-1 0,0 2 0,1-1 0,-1 1 0,1 0 0,-1-1 0,1 1 0,-1 0 0,2 0 0,-1 0 0,-1 1 0,1-1 0,-1 0 0,1 1 0,-1-1 0,4 3 0,4 1 0,1-1 0,-1 1 0,0 1 0,0 0 0,0 0 0,-1 1 0,0 1 0,-1-1 0,13 12 0,18 12 0,-34-27 0,0 0 0,1 1 0,-1 0 0,0 0 0,-1-1 0,1 2 0,0 0 0,-1 0 0,-1 0 0,5 6 0,-8-8 4,0-2 1,0 2-1,0-1 0,0-1 0,-2 2 0,2-1 0,-1 0 0,1 0 0,-1-1 1,0 2-1,1-2 0,-1 2 0,-1-2 0,1 1 0,0 0 0,0-1 0,-1 0 1,1 2-1,-1-2 0,0 0 0,1 0 0,-1 0 0,0 1 0,1-1 0,-1-1 1,0 1-1,0 0 0,-3 1 0,-56 24-1489,41-20-5341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34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24575,'14'1'0,"-2"2"0,1-1 0,-1 2 0,0-2 0,1 3 0,-1 0 0,-1 0 0,1 0 0,0 3 0,-2-2 0,12 10 0,-4-6 0,-2 1 0,1-2 0,33 13 0,12 5 0,-48-20 0,1-1 0,-1 0 0,1-1 0,18 4 0,187 42 0,-192-46 0,0-1 0,1-2 0,-2-1 0,50-3 0,-2 0 0,-57 0 0,1 1 0,1-1 0,-1-2 0,-1 0 0,1-1 0,0-1 0,-2 0 0,18-9 0,-10 5 0,-18 7 0,1 1 0,-1-2 0,1 0 0,-1 1 0,0-2 0,0 1 0,9-8 0,12-12 35,-20 18-385,1-1 0,-2 0 0,12-13 0,-12 11-6476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34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178 237 24575,'17'-57'0,"-13"27"0,-3 2 0,-3-50 0,2 75 0,0 2 0,0-2 0,0 2 0,-2 0 0,2-2 0,0 2 0,-1-1 0,1 0 0,-1 1 0,1-1 0,-1 0 0,-1 1 0,2-1 0,-1 0 0,0 1 0,0 0 0,0 0 0,-1-1 0,1 1 0,0 0 0,0 0 0,-1-1 0,0 1 0,1 0 0,-1 1 0,0-1 0,1 1 0,-1-2 0,0 2 0,1-1 0,-1 1 0,0 0 0,1-1 0,-2 1 0,2 0 0,-2 0 0,2 0 0,-1 0 0,0 0 0,1 1 0,-1-1 0,0 0 0,0 1 0,-2 1 0,-3 0 0,-1 1 0,2-1 0,-1 2 0,0-2 0,1 2 0,-1 0 0,1 1 0,1-1 0,-10 8 0,-11 9 0,22-18 0,0-1 0,0-1 0,1 3 0,0-1 0,-1-1 0,2 2 0,-2-2 0,2 2 0,-1 0 0,-3 3 0,6-6 4,0 1 1,1 0-1,-1-1 0,0 1 0,0-1 0,0 0 0,1 0 0,-1 1 0,2-1 1,-2 0-1,1 0 0,-1 1 0,1-1 0,-1 0 0,1 0 0,1 1 0,-1-1 1,-1 0-1,1 0 0,0-1 0,1 2 0,-1-1 0,0-1 0,0 1 0,1-1 1,-1 1-1,0-1 0,3 2 0,38 15-1489,-28-12-5341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5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24575,'14'1'0,"-2"2"0,1-1 0,-1 2 0,0-2 0,1 3 0,-1 0 0,-1 0 0,1 0 0,0 3 0,-2-2 0,12 10 0,-4-6 0,-2 1 0,1-2 0,33 13 0,12 5 0,-48-20 0,1-1 0,-1 0 0,1-1 0,18 4 0,187 42 0,-192-46 0,0-1 0,1-2 0,-2-1 0,50-3 0,-2 0 0,-57 0 0,1 1 0,1-1 0,-1-2 0,-1 0 0,1-1 0,0-1 0,-2 0 0,18-9 0,-10 5 0,-18 7 0,1 1 0,-1-2 0,1 0 0,-1 1 0,0-2 0,0 1 0,9-8 0,12-12 35,-20 18-385,1-1 0,-2 0 0,12-13 0,-12 11-6476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7:53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178 237 24575,'17'-57'0,"-13"27"0,-3 2 0,-3-50 0,2 75 0,0 2 0,0-2 0,0 2 0,-2 0 0,2-2 0,0 2 0,-1-1 0,1 0 0,-1 1 0,1-1 0,-1 0 0,-1 1 0,2-1 0,-1 0 0,0 1 0,0 0 0,0 0 0,-1-1 0,1 1 0,0 0 0,0 0 0,-1-1 0,0 1 0,1 0 0,-1 1 0,0-1 0,1 1 0,-1-2 0,0 2 0,1-1 0,-1 1 0,0 0 0,1-1 0,-2 1 0,2 0 0,-2 0 0,2 0 0,-1 0 0,0 0 0,1 1 0,-1-1 0,0 0 0,0 1 0,-2 1 0,-3 0 0,-1 1 0,2-1 0,-1 2 0,0-2 0,1 2 0,-1 0 0,1 1 0,1-1 0,-10 8 0,-11 9 0,22-18 0,0-1 0,0-1 0,1 3 0,0-1 0,-1-1 0,2 2 0,-2-2 0,2 2 0,-1 0 0,-3 3 0,6-6 4,0 1 1,1 0-1,-1-1 0,0 1 0,0-1 0,0 0 0,1 0 0,-1 1 0,2-1 1,-2 0-1,1 0 0,-1 1 0,1-1 0,-1 0 0,1 0 0,1 1 0,-1-1 1,-1 0-1,1 0 0,0-1 0,1 2 0,-1-1 0,0-1 0,0 1 0,1-1 1,-1 1-1,0-1 0,3 2 0,38 15-1489,-28-12-5341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8:0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24575,'14'1'0,"-2"2"0,1-1 0,-1 2 0,0-2 0,1 3 0,-1 0 0,-1 0 0,1 0 0,0 3 0,-2-2 0,12 10 0,-4-6 0,-2 1 0,1-2 0,33 13 0,12 5 0,-48-20 0,1-1 0,-1 0 0,1-1 0,18 4 0,187 42 0,-192-46 0,0-1 0,1-2 0,-2 0 0,50-5 0,-2 1 0,-57 0 0,1 1 0,1-1 0,-1-2 0,-1 0 0,1-1 0,0-1 0,-2 0 0,18-9 0,-10 5 0,-18 7 0,1 1 0,-1-2 0,1 0 0,-1 1 0,0-2 0,0 1 0,9-8 0,12-12 35,-20 18-385,1-1 0,-2 0 0,12-13 0,-12 11-6476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8:0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178 237 24575,'17'-57'0,"-13"27"0,-3 2 0,-3-50 0,2 75 0,0 2 0,0-2 0,0 2 0,-2 0 0,2-2 0,0 2 0,-1-1 0,1 0 0,-1 1 0,1-1 0,-1 0 0,-1 1 0,2-1 0,-1 0 0,0 1 0,0 0 0,0 0 0,-1-1 0,1 1 0,0 0 0,0 0 0,-1-1 0,0 1 0,1 0 0,-1 1 0,0-1 0,1 1 0,-1-2 0,0 2 0,1-1 0,-1 1 0,0 0 0,1-1 0,-2 1 0,2 0 0,-2 0 0,2 0 0,-1 0 0,0 0 0,1 1 0,-1-1 0,0 0 0,0 1 0,-2 1 0,-3 0 0,-1 1 0,2-1 0,-1 2 0,0-2 0,1 2 0,-1 0 0,1 1 0,1-1 0,-10 8 0,-11 9 0,22-18 0,0-1 0,0-1 0,1 3 0,0-1 0,-1-1 0,2 2 0,-2-2 0,2 2 0,-1 0 0,-3 3 0,6-6 4,0 1 1,1 0-1,-1-1 0,0 1 0,0-1 0,0 0 0,1 0 0,-1 1 0,2-1 1,-2 0-1,1 0 0,-1 1 0,1-1 0,-1 0 0,1 0 0,1 1 0,-1-1 1,-1 0-1,1 0 0,0-1 0,1 2 0,-1-1 0,0-1 0,0 1 0,1-1 1,-1 1-1,0-1 0,3 2 0,38 15-1489,-28-12-5341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8:09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24575,'14'1'0,"-2"2"0,1-1 0,-1 2 0,0-2 0,1 3 0,-1 0 0,-1 0 0,1 0 0,0 3 0,-2-2 0,12 10 0,-4-6 0,-2 1 0,1-2 0,33 13 0,12 5 0,-48-20 0,1-1 0,-1 0 0,1-1 0,18 4 0,187 42 0,-192-46 0,0-1 0,1-2 0,-2-1 0,50-3 0,-2 0 0,-57 0 0,1 1 0,1-1 0,-1-2 0,-1 0 0,1-1 0,0-1 0,-2 0 0,18-9 0,-10 5 0,-18 7 0,1 1 0,-1-2 0,1 0 0,-1 1 0,0-2 0,0 1 0,9-8 0,12-12 35,-20 18-385,1-1 0,-2 0 0,12-13 0,-12 11-6476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23:18:09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178 237 24575,'17'-57'0,"-13"27"0,-3 2 0,-3-50 0,2 75 0,0 2 0,0-2 0,0 2 0,-2 0 0,2-2 0,0 2 0,-1-1 0,1 0 0,-1 1 0,1-1 0,-1 0 0,-1 1 0,2-1 0,-1 0 0,0 1 0,0 0 0,0 0 0,-1-1 0,1 1 0,0 0 0,0 0 0,-1-1 0,0 1 0,1 0 0,-1 1 0,0-1 0,1 1 0,-1-2 0,0 2 0,1-1 0,-1 1 0,0 0 0,1-1 0,-2 1 0,2 0 0,-2 0 0,2 0 0,-1 0 0,0 0 0,1 1 0,-1-1 0,0 0 0,0 1 0,-2 1 0,-3 0 0,-1 1 0,2-1 0,-1 2 0,0-2 0,1 2 0,-1 0 0,1 1 0,1-1 0,-10 8 0,-11 9 0,22-18 0,0-1 0,0-1 0,1 3 0,0-1 0,-1-1 0,2 2 0,-2-2 0,2 2 0,-1 0 0,-3 3 0,6-6 4,0 1 1,1 0-1,-1-1 0,0 1 0,0-1 0,0 0 0,1 0 0,-1 1 0,2-1 1,-2 0-1,1 0 0,-1 1 0,1-1 0,-1 0 0,1 0 0,1 1 0,-1-1 1,-1 0-1,1 0 0,0-1 0,1 2 0,-1-1 0,0-1 0,0 1 0,1-1 1,-1 1-1,0-1 0,3 2 0,38 15-1489,-28-12-5341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E8B8B-AFF3-4E58-9DD4-B9F1B17FB866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BA71E-BEC8-4570-A91C-8F756AF635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7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R:</a:t>
                </a:r>
                <a:r>
                  <a:rPr lang="pt-BR" dirty="0"/>
                  <a:t> função (regra geral do ambiente).</a:t>
                </a:r>
              </a:p>
              <a:p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pt-BR" b="1" dirty="0"/>
                  <a:t>:</a:t>
                </a:r>
                <a:r>
                  <a:rPr lang="pt-BR" dirty="0"/>
                  <a:t> valor específico recebido em um momento da interação.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BA71E-BEC8-4570-A91C-8F756AF6351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93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BC91-5E9B-E871-5E74-3650EC4C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F9A17-4DC4-366E-7548-B760B68D0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E757A-59CF-16AF-58A6-D02428F75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9B704-DC2F-B356-3305-827380D76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BA71E-BEC8-4570-A91C-8F756AF6351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85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BE04C-C2FD-5F86-45FA-940C04E0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F6A42-E341-85CA-E972-77FED63CD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5A5D-F203-DDE5-DBE9-2B50C6BFE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C4A93-9589-80A1-7CDD-77ADD56CD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BA71E-BEC8-4570-A91C-8F756AF6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395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BA71E-BEC8-4570-A91C-8F756AF6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75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researchgate.net/publication/371953230_An_Alternative_to_Cognitivism_Computational_Phenomenology_for_Deep_Learn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medium.com/mdp-markov-decision-process-rl-reinforcement-learn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image" Target="../media/image17.png"/><Relationship Id="rId21" Type="http://schemas.openxmlformats.org/officeDocument/2006/relationships/customXml" Target="../ink/ink14.xml"/><Relationship Id="rId7" Type="http://schemas.openxmlformats.org/officeDocument/2006/relationships/image" Target="../media/image19.png"/><Relationship Id="rId12" Type="http://schemas.openxmlformats.org/officeDocument/2006/relationships/customXml" Target="../ink/ink7.xm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0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8.png"/><Relationship Id="rId15" Type="http://schemas.openxmlformats.org/officeDocument/2006/relationships/image" Target="../media/image20.png"/><Relationship Id="rId23" Type="http://schemas.openxmlformats.org/officeDocument/2006/relationships/customXml" Target="../ink/ink16.xml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researchgate.net/publication/37195323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researchgate.net/publication/313469674_Towards_Knowledge_Transfer_in_Deep_Reinforcement_Learn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Markov Decision Process</a:t>
            </a: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F310-A3EA-D860-2023-872AACBE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76FD850-7108-10CB-167F-D87690386781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64383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200" dirty="0"/>
                  <a:t>Um Processo de Decisão de Markov (Markov Decision Process – MDP) é um modelo matemático usado para descrever problemas de decisão sequenciais.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S → conjunto de estados possíveis;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s → o estado atual do ambiente (s ∈ S);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A → conjunto de ações possíveis;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a → a ação escolhida pelo agente no estado s (a ∈ A);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 → probabilidades de transição entre estados dado uma ação;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R → função de recompensa recebida após transição;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r → recompensa imediata recebida em uma transação de estado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;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dirty="0"/>
                  <a:t>γ → fator de desconto que controla a importância das recompensas futuras.</a:t>
                </a:r>
                <a:endParaRPr lang="el-GR" sz="22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76FD850-7108-10CB-167F-D8769038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643832"/>
              </a:xfrm>
              <a:prstGeom prst="rect">
                <a:avLst/>
              </a:prstGeom>
              <a:blipFill>
                <a:blip r:embed="rId3"/>
                <a:stretch>
                  <a:fillRect l="-750" t="-919" b="-30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11B286AA-19F7-9964-C915-50A077C4856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Processo de Decisão de Markov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2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5BD2-5321-FA79-BFA8-6BEFD55C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D5A8BBA-993D-8DC9-FFFB-0EF2BC68516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Processo de Decisão de Markov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1A484-28AE-DB92-62BB-CD9C1AB8859E}"/>
              </a:ext>
            </a:extLst>
          </p:cNvPr>
          <p:cNvSpPr txBox="1"/>
          <p:nvPr/>
        </p:nvSpPr>
        <p:spPr>
          <a:xfrm>
            <a:off x="4277841" y="6328036"/>
            <a:ext cx="3636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https://www.researchgate.net/publication/371953230</a:t>
            </a:r>
            <a:r>
              <a:rPr lang="en-US" sz="1200" dirty="0"/>
              <a:t>.</a:t>
            </a:r>
          </a:p>
        </p:txBody>
      </p:sp>
      <p:pic>
        <p:nvPicPr>
          <p:cNvPr id="3" name="Picture 2" descr="A diagram of a brain and earth&#10;&#10;AI-generated content may be incorrect.">
            <a:extLst>
              <a:ext uri="{FF2B5EF4-FFF2-40B4-BE49-F238E27FC236}">
                <a16:creationId xmlns:a16="http://schemas.microsoft.com/office/drawing/2014/main" id="{96123F52-1E01-24E1-2934-5A033CB8B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346" y="1281910"/>
            <a:ext cx="4417307" cy="50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8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71F2-73D6-E6A9-27DA-BE66BBFA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1D5068F9-E6B7-EF3C-BFB7-9235E33FFCB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Processo de Decisão de Markov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4F6A1E-2C82-4CF8-A9DE-9645C5791444}"/>
              </a:ext>
            </a:extLst>
          </p:cNvPr>
          <p:cNvSpPr txBox="1"/>
          <p:nvPr/>
        </p:nvSpPr>
        <p:spPr>
          <a:xfrm>
            <a:off x="3547770" y="6130499"/>
            <a:ext cx="5096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https://medium.com/mdp-markov-decision-process-rl-reinforcement-learning</a:t>
            </a:r>
            <a:r>
              <a:rPr lang="en-US" sz="1200" dirty="0"/>
              <a:t>.</a:t>
            </a:r>
          </a:p>
        </p:txBody>
      </p:sp>
      <p:pic>
        <p:nvPicPr>
          <p:cNvPr id="4" name="Picture 3" descr="A diagram of a person's process&#10;&#10;AI-generated content may be incorrect.">
            <a:extLst>
              <a:ext uri="{FF2B5EF4-FFF2-40B4-BE49-F238E27FC236}">
                <a16:creationId xmlns:a16="http://schemas.microsoft.com/office/drawing/2014/main" id="{A7DDD482-E743-ED8A-8A92-930FEE592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21" y="1647243"/>
            <a:ext cx="11530158" cy="444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5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7360-6391-196B-A3BE-349A3232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2F1DBEE-4DD5-B79F-1894-B1E10C4328CE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pt-BR" sz="2400" dirty="0"/>
                  <a:t>Um Processo de Decisão de Markov (Markov Decision Process – MDP) é um modelo matemático usado para tomada de decisão sequencial, em que um agente interage com um ambiente, escolhendo ações em estados para maximizar recompensas ao longo do tempo.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000" dirty="0"/>
              </a:p>
              <a:p>
                <a:pPr>
                  <a:spcAft>
                    <a:spcPts val="1200"/>
                  </a:spcAft>
                </a:pPr>
                <a:endParaRPr lang="pt-BR" sz="20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>
                  <a:spcAft>
                    <a:spcPts val="1200"/>
                  </a:spcAft>
                </a:pPr>
                <a:endParaRPr lang="el-GR" sz="20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2F1DBEE-4DD5-B79F-1894-B1E10C43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blipFill>
                <a:blip r:embed="rId3"/>
                <a:stretch>
                  <a:fillRect l="-923" t="-1060" r="-8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ED84CF35-6670-BB70-845E-A5B93C742E1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Processo de Decisão de Markov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B13E07-E757-8522-065F-902B701ACE3A}"/>
              </a:ext>
            </a:extLst>
          </p:cNvPr>
          <p:cNvGrpSpPr/>
          <p:nvPr/>
        </p:nvGrpSpPr>
        <p:grpSpPr>
          <a:xfrm>
            <a:off x="3778897" y="4648052"/>
            <a:ext cx="702347" cy="147721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24C0030-1B55-CC19-3567-52EBC5752499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24C0030-1B55-CC19-3567-52EBC57524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6534" y="4297606"/>
                  <a:ext cx="536163" cy="110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D0CB119-A58F-0699-F4D6-8C682C198769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D0CB119-A58F-0699-F4D6-8C682C1987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77994" y="4279246"/>
                  <a:ext cx="94485" cy="1102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605B69F-460F-0133-6FE6-895BEA1FC888}"/>
              </a:ext>
            </a:extLst>
          </p:cNvPr>
          <p:cNvGrpSpPr/>
          <p:nvPr/>
        </p:nvGrpSpPr>
        <p:grpSpPr>
          <a:xfrm>
            <a:off x="5131094" y="4699082"/>
            <a:ext cx="702347" cy="147721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13D56F-3A47-8078-31DB-5D33A421B825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13D56F-3A47-8078-31DB-5D33A421B8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6534" y="4297606"/>
                  <a:ext cx="536163" cy="110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D0AE2B-1D70-F602-BFA8-8596CD5596DC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D0AE2B-1D70-F602-BFA8-8596CD5596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77994" y="4279246"/>
                  <a:ext cx="94485" cy="1102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2C66-199B-9F32-DB45-7B0DE8937324}"/>
              </a:ext>
            </a:extLst>
          </p:cNvPr>
          <p:cNvGrpSpPr/>
          <p:nvPr/>
        </p:nvGrpSpPr>
        <p:grpSpPr>
          <a:xfrm>
            <a:off x="6482802" y="4699082"/>
            <a:ext cx="702347" cy="147721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8F6619-BCB2-327B-0945-E78F0050D110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8F6619-BCB2-327B-0945-E78F0050D1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6534" y="4297606"/>
                  <a:ext cx="536163" cy="110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5F59C9-6A60-1651-16E1-968013343B85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5F59C9-6A60-1651-16E1-968013343B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77994" y="4279246"/>
                  <a:ext cx="94485" cy="1102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64AC38-E7FD-D524-419A-1A3B41854411}"/>
              </a:ext>
            </a:extLst>
          </p:cNvPr>
          <p:cNvGrpSpPr/>
          <p:nvPr/>
        </p:nvGrpSpPr>
        <p:grpSpPr>
          <a:xfrm>
            <a:off x="8096585" y="4706839"/>
            <a:ext cx="702347" cy="147721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5D7FBD-F055-2FA2-FD17-E8E9815C60B7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5D7FBD-F055-2FA2-FD17-E8E9815C60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6534" y="4297606"/>
                  <a:ext cx="536163" cy="110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A335B3-1E63-1870-39E4-B45AF2C80A4E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A335B3-1E63-1870-39E4-B45AF2C80A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77994" y="4279246"/>
                  <a:ext cx="94485" cy="1102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B226F-DA1D-3680-2F36-5B907E2BB3D5}"/>
              </a:ext>
            </a:extLst>
          </p:cNvPr>
          <p:cNvGrpSpPr/>
          <p:nvPr/>
        </p:nvGrpSpPr>
        <p:grpSpPr>
          <a:xfrm flipH="1">
            <a:off x="4314333" y="5294155"/>
            <a:ext cx="482176" cy="101414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37C772-49B9-12DA-56C8-0FD2FF661097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37C772-49B9-12DA-56C8-0FD2FF6610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4287" y="4295353"/>
                  <a:ext cx="540659" cy="1147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EE46A2-5924-6055-D307-2F7712E40B3B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EE46A2-5924-6055-D307-2F7712E40B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5781" y="4276993"/>
                  <a:ext cx="98910" cy="1147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52F184-BEFD-8769-EDE0-5A0A34EABB30}"/>
              </a:ext>
            </a:extLst>
          </p:cNvPr>
          <p:cNvGrpSpPr/>
          <p:nvPr/>
        </p:nvGrpSpPr>
        <p:grpSpPr>
          <a:xfrm flipH="1">
            <a:off x="5690552" y="5301992"/>
            <a:ext cx="482176" cy="101414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467BB6-1E3A-F79E-8395-9C565D2FA060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467BB6-1E3A-F79E-8395-9C565D2FA0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4287" y="4295353"/>
                  <a:ext cx="540659" cy="1147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EDCC64-80B2-00BE-278E-EF4F35E2C0B0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EDCC64-80B2-00BE-278E-EF4F35E2C0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5781" y="4276993"/>
                  <a:ext cx="98910" cy="1147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66911F-561A-39CE-F130-97B86C3F199E}"/>
              </a:ext>
            </a:extLst>
          </p:cNvPr>
          <p:cNvGrpSpPr/>
          <p:nvPr/>
        </p:nvGrpSpPr>
        <p:grpSpPr>
          <a:xfrm flipH="1">
            <a:off x="7022668" y="5286709"/>
            <a:ext cx="482176" cy="101414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1A8010-26FA-4CEF-D928-8C219D508B54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1A8010-26FA-4CEF-D928-8C219D508B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4287" y="4295383"/>
                  <a:ext cx="540659" cy="114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9D3E98-5CF0-3C72-2E94-1BEB9F4CF8FA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9D3E98-5CF0-3C72-2E94-1BEB9F4CF8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5781" y="4276993"/>
                  <a:ext cx="98910" cy="1147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55FB71-F8B2-9F30-0F0A-D14B0DE53E3B}"/>
              </a:ext>
            </a:extLst>
          </p:cNvPr>
          <p:cNvGrpSpPr/>
          <p:nvPr/>
        </p:nvGrpSpPr>
        <p:grpSpPr>
          <a:xfrm flipH="1">
            <a:off x="8937152" y="5302382"/>
            <a:ext cx="482176" cy="101414"/>
            <a:chOff x="4382936" y="4284167"/>
            <a:chExt cx="56484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37DBCB-D904-864B-3177-64A9725DCF9E}"/>
                    </a:ext>
                  </a:extLst>
                </p14:cNvPr>
                <p14:cNvContentPartPr/>
                <p14:nvPr/>
              </p14:nvContentPartPr>
              <p14:xfrm>
                <a:off x="4421456" y="4302527"/>
                <a:ext cx="526320" cy="10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37DBCB-D904-864B-3177-64A9725DCF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4287" y="4295353"/>
                  <a:ext cx="540659" cy="1147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19CC0A-7C22-7430-DBB4-79F8A953402B}"/>
                    </a:ext>
                  </a:extLst>
                </p14:cNvPr>
                <p14:cNvContentPartPr/>
                <p14:nvPr/>
              </p14:nvContentPartPr>
              <p14:xfrm>
                <a:off x="4382936" y="4284167"/>
                <a:ext cx="84600" cy="10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19CC0A-7C22-7430-DBB4-79F8A95340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5781" y="4276993"/>
                  <a:ext cx="98910" cy="11478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49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142C-672C-6BD9-F749-769F4E44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328B70C-1501-EA72-BE6C-38D7AB495B19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400" dirty="0"/>
                  <a:t>O histórico é a sequência de estados, ações e recompensas observados pelo agente até o momento atual.</a:t>
                </a:r>
              </a:p>
              <a:p>
                <a:pPr>
                  <a:spcAft>
                    <a:spcPts val="1200"/>
                  </a:spcAft>
                </a:pPr>
                <a:endParaRPr lang="pt-BR" sz="20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000" dirty="0"/>
              </a:p>
              <a:p>
                <a:pPr>
                  <a:spcAft>
                    <a:spcPts val="1200"/>
                  </a:spcAft>
                </a:pPr>
                <a:endParaRPr lang="pt-BR" sz="2000" dirty="0"/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Todas as variáveis observadas (problemas parcialmente observáveis);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Construir um “mapeamento” do histórico para escolher a próxima ação;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Não é muito útil, pois, normalmente, é enorme.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328B70C-1501-EA72-BE6C-38D7AB49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blipFill>
                <a:blip r:embed="rId3"/>
                <a:stretch>
                  <a:fillRect l="-923" t="-1060" r="-5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878DFE1D-B3EC-0971-2123-9C98B0EC268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Histórico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6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C38F-A915-F8AC-9105-3C8E0B07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A3BD133-52EC-C0A4-E981-03FC1699C953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400" dirty="0"/>
                  <a:t>Propriedade de Markov é matematicamente definida por: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400" dirty="0"/>
              </a:p>
              <a:p>
                <a:pPr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spcAft>
                    <a:spcPts val="1200"/>
                  </a:spcAft>
                </a:pPr>
                <a:r>
                  <a:rPr lang="pt-BR" sz="2400" dirty="0"/>
                  <a:t>O futuro depende apenas do estado atual, não do </a:t>
                </a:r>
                <a:r>
                  <a:rPr lang="en-US" sz="2400" dirty="0"/>
                  <a:t>histórico</a:t>
                </a:r>
                <a:r>
                  <a:rPr lang="pt-BR" sz="2400" dirty="0"/>
                  <a:t> de estados passados, ou seja, o estado atual é suficiente para decidir a próxima ação, sem precisar do histórico completo.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0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+1:∞</m:t>
                          </m:r>
                        </m:sub>
                      </m:sSub>
                    </m:oMath>
                  </m:oMathPara>
                </a14:m>
                <a:endParaRPr lang="pt-BR" sz="2000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000" dirty="0"/>
              </a:p>
              <a:p>
                <a:pPr>
                  <a:spcAft>
                    <a:spcPts val="1200"/>
                  </a:spcAft>
                </a:pPr>
                <a:endParaRPr lang="el-GR" sz="20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A3BD133-52EC-C0A4-E981-03FC1699C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604177"/>
              </a:xfrm>
              <a:prstGeom prst="rect">
                <a:avLst/>
              </a:prstGeom>
              <a:blipFill>
                <a:blip r:embed="rId3"/>
                <a:stretch>
                  <a:fillRect l="-923" t="-1060" r="-11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C1B747E5-EB63-E153-E1BB-74E91AF3713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Propriedade de Markov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8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AE33-7CB4-2C13-0FE3-B6A84FE4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CAFE5F5-2415-2928-C1F7-34433F8A471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468D6-947C-AC62-87AE-E43682346352}"/>
              </a:ext>
            </a:extLst>
          </p:cNvPr>
          <p:cNvSpPr txBox="1"/>
          <p:nvPr/>
        </p:nvSpPr>
        <p:spPr>
          <a:xfrm>
            <a:off x="4354570" y="6328036"/>
            <a:ext cx="3636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https://www.researchgate.net/publication/371953230</a:t>
            </a:r>
            <a:r>
              <a:rPr lang="en-US" sz="1200" dirty="0"/>
              <a:t>.</a:t>
            </a:r>
          </a:p>
        </p:txBody>
      </p:sp>
      <p:pic>
        <p:nvPicPr>
          <p:cNvPr id="3" name="Picture 2" descr="A diagram of a brain and earth&#10;&#10;AI-generated content may be incorrect.">
            <a:extLst>
              <a:ext uri="{FF2B5EF4-FFF2-40B4-BE49-F238E27FC236}">
                <a16:creationId xmlns:a16="http://schemas.microsoft.com/office/drawing/2014/main" id="{776295F6-5567-4E85-C396-6DA5926B7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346" y="1281910"/>
            <a:ext cx="4417307" cy="50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2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A000-0E56-0665-FA7A-6733AC27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D6E312D-B859-6F1D-7512-C99F807F956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93DE8-5E5A-049B-D575-3F8FDF0EAA7A}"/>
              </a:ext>
            </a:extLst>
          </p:cNvPr>
          <p:cNvSpPr txBox="1"/>
          <p:nvPr/>
        </p:nvSpPr>
        <p:spPr>
          <a:xfrm>
            <a:off x="4277842" y="6130499"/>
            <a:ext cx="3636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https://www.researchgate.net/publication/313469674</a:t>
            </a:r>
            <a:r>
              <a:rPr lang="en-US" sz="1200" dirty="0"/>
              <a:t>.</a:t>
            </a:r>
          </a:p>
        </p:txBody>
      </p:sp>
      <p:pic>
        <p:nvPicPr>
          <p:cNvPr id="8" name="Picture 7" descr="A diagram of a brain&#10;&#10;AI-generated content may be incorrect.">
            <a:extLst>
              <a:ext uri="{FF2B5EF4-FFF2-40B4-BE49-F238E27FC236}">
                <a16:creationId xmlns:a16="http://schemas.microsoft.com/office/drawing/2014/main" id="{896325E0-23ED-4F34-16BF-4AFFDB636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22" y="1282032"/>
            <a:ext cx="6221090" cy="474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8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D5C71C4-ECE8-4D28-861F-577CBF2C8B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7DFDC4-B5AA-46F0-B1F2-FD95866254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F0FB6A-D6BE-4BC6-B79E-5942595AE15D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7025</TotalTime>
  <Words>424</Words>
  <Application>Microsoft Office PowerPoint</Application>
  <PresentationFormat>Widescreen</PresentationFormat>
  <Paragraphs>45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Calibri</vt:lpstr>
      <vt:lpstr>Cambria Math</vt:lpstr>
      <vt:lpstr>Montserrat</vt:lpstr>
      <vt:lpstr>Cronos Pro</vt:lpstr>
      <vt:lpstr>Aptos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89</cp:revision>
  <dcterms:created xsi:type="dcterms:W3CDTF">2025-06-11T21:44:24Z</dcterms:created>
  <dcterms:modified xsi:type="dcterms:W3CDTF">2025-12-09T13:21:37Z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