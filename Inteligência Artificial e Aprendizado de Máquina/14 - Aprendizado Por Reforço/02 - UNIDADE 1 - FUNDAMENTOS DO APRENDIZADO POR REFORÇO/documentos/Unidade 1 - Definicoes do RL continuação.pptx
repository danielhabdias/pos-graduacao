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4"/>
    <p:sldMasterId id="2147483672" r:id="rId5"/>
    <p:sldMasterId id="2147483675" r:id="rId6"/>
    <p:sldMasterId id="2147483677" r:id="rId7"/>
  </p:sldMasterIdLst>
  <p:sldIdLst>
    <p:sldId id="268" r:id="rId8"/>
    <p:sldId id="287" r:id="rId9"/>
    <p:sldId id="280" r:id="rId10"/>
    <p:sldId id="288" r:id="rId11"/>
    <p:sldId id="291" r:id="rId12"/>
    <p:sldId id="283" r:id="rId13"/>
    <p:sldId id="281" r:id="rId14"/>
    <p:sldId id="289" r:id="rId15"/>
    <p:sldId id="282" r:id="rId16"/>
    <p:sldId id="284" r:id="rId17"/>
    <p:sldId id="290" r:id="rId18"/>
    <p:sldId id="285" r:id="rId19"/>
    <p:sldId id="293" r:id="rId20"/>
    <p:sldId id="294" r:id="rId21"/>
    <p:sldId id="264" r:id="rId22"/>
  </p:sldIdLst>
  <p:sldSz cx="12192000" cy="6858000"/>
  <p:notesSz cx="6858000" cy="9144000"/>
  <p:embeddedFontLs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Cambria Math" panose="02040503050406030204" pitchFamily="18" charset="0"/>
      <p:regular r:id="rId27"/>
    </p:embeddedFont>
    <p:embeddedFont>
      <p:font typeface="Cronos Pro" panose="020C0502030403020304" pitchFamily="34" charset="0"/>
      <p:regular r:id="rId28"/>
      <p:bold r:id="rId29"/>
      <p:italic r:id="rId30"/>
    </p:embeddedFont>
    <p:embeddedFont>
      <p:font typeface="Montserrat" panose="00000500000000000000" pitchFamily="50" charset="0"/>
      <p:regular r:id="rId31"/>
      <p:bold r:id="rId32"/>
      <p:italic r:id="rId33"/>
      <p:boldItalic r:id="rId34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597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9FDE"/>
    <a:srgbClr val="2087C6"/>
    <a:srgbClr val="FFD230"/>
    <a:srgbClr val="4BA8DE"/>
    <a:srgbClr val="E6E6E6"/>
    <a:srgbClr val="43A9E7"/>
    <a:srgbClr val="56B6F1"/>
    <a:srgbClr val="FFD639"/>
    <a:srgbClr val="1772A5"/>
    <a:srgbClr val="3CA3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2232" y="108"/>
      </p:cViewPr>
      <p:guideLst>
        <p:guide orient="horz" pos="3725"/>
        <p:guide pos="597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font" Target="fonts/font4.fntdata"/><Relationship Id="rId21" Type="http://schemas.openxmlformats.org/officeDocument/2006/relationships/slide" Target="slides/slide14.xml"/><Relationship Id="rId34" Type="http://schemas.openxmlformats.org/officeDocument/2006/relationships/font" Target="fonts/font12.fntdata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font" Target="fonts/font9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presProps" Target="presProps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pFooter">
            <a:extLst>
              <a:ext uri="{FF2B5EF4-FFF2-40B4-BE49-F238E27FC236}">
                <a16:creationId xmlns:a16="http://schemas.microsoft.com/office/drawing/2014/main" id="{3811FE2C-F4C3-42BF-A394-5DCBACE4206D}"/>
              </a:ext>
            </a:extLst>
          </p:cNvPr>
          <p:cNvSpPr txBox="1"/>
          <p:nvPr/>
        </p:nvSpPr>
        <p:spPr bwMode="auto">
          <a:xfrm>
            <a:off x="957294" y="6373144"/>
            <a:ext cx="607538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defTabSz="45712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D" sz="1000" dirty="0">
                <a:solidFill>
                  <a:srgbClr val="3CA3E1"/>
                </a:solidFill>
                <a:latin typeface="Cronos Pro" panose="020C0502030403020304" pitchFamily="34" charset="0"/>
              </a:rPr>
              <a:t>PUC MINAS</a:t>
            </a:r>
            <a:endParaRPr lang="en-ID" sz="1100" b="1" dirty="0">
              <a:solidFill>
                <a:srgbClr val="3CA3E1"/>
              </a:solidFill>
              <a:latin typeface="Cronos Pro" panose="020C05020304030203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666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dworldonline.com/slip-and-slide-into-reinforcement-learning-with-the-frozen-lake-challenge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gi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FD478C7-31D7-4DCB-B3BC-9B1090C6B445}"/>
              </a:ext>
            </a:extLst>
          </p:cNvPr>
          <p:cNvSpPr/>
          <p:nvPr/>
        </p:nvSpPr>
        <p:spPr>
          <a:xfrm>
            <a:off x="1180011" y="2485756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5BA4B-DC22-4207-ABC8-3B491F765609}"/>
              </a:ext>
            </a:extLst>
          </p:cNvPr>
          <p:cNvSpPr txBox="1"/>
          <p:nvPr/>
        </p:nvSpPr>
        <p:spPr>
          <a:xfrm>
            <a:off x="1180010" y="2988814"/>
            <a:ext cx="98319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b="1" kern="0" dirty="0">
                <a:solidFill>
                  <a:schemeClr val="bg1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Definições do RL</a:t>
            </a:r>
            <a:endParaRPr lang="en-ID" sz="5400" b="1" kern="0" dirty="0">
              <a:solidFill>
                <a:schemeClr val="bg1"/>
              </a:solidFill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730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32BB4-37AB-8CE7-977A-D89B9142F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E0BA2AEC-432C-1FA3-561B-888B7F3819B7}"/>
              </a:ext>
            </a:extLst>
          </p:cNvPr>
          <p:cNvSpPr txBox="1"/>
          <p:nvPr/>
        </p:nvSpPr>
        <p:spPr>
          <a:xfrm>
            <a:off x="833161" y="1682323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Continuação dos termos fundamentais do Aprendizado por Reforço (RL):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Política (Policy, </a:t>
            </a:r>
            <a:r>
              <a:rPr lang="el-GR" sz="2400" dirty="0"/>
              <a:t>π)</a:t>
            </a:r>
            <a:r>
              <a:rPr lang="en-US" sz="2400" dirty="0"/>
              <a:t>;</a:t>
            </a:r>
            <a:endParaRPr lang="pt-BR" sz="2400" dirty="0"/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Função de Retorno (Return, G)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Fator de Desconto (Discount Factor, </a:t>
            </a:r>
            <a:r>
              <a:rPr lang="el-GR" sz="2400" dirty="0"/>
              <a:t>γ);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Exploração vs. Exploitação (Exploration vs. Exploitation);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Função de Valor (Value Function, V );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Função de Valor-Ação (Q-Function, Q).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569340F5-AE87-4A36-BB5A-A105BD48CE48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Definições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564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480F7-CBB7-9B72-2929-DA7A76C6D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B659774A-9737-7387-60E3-B41323904FEE}"/>
              </a:ext>
            </a:extLst>
          </p:cNvPr>
          <p:cNvSpPr txBox="1"/>
          <p:nvPr/>
        </p:nvSpPr>
        <p:spPr>
          <a:xfrm>
            <a:off x="833161" y="1682323"/>
            <a:ext cx="10563992" cy="42857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b="1" dirty="0"/>
              <a:t>Definição</a:t>
            </a:r>
            <a:r>
              <a:rPr lang="pt-BR" sz="2400" dirty="0"/>
              <a:t>: a estratégia do agente, ou seja, a regra de decisão que define qual ação tomar em cada estado.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b="1" dirty="0"/>
              <a:t>Exemplos</a:t>
            </a:r>
            <a:r>
              <a:rPr lang="pt-BR" sz="2400" dirty="0"/>
              <a:t>:</a:t>
            </a:r>
          </a:p>
          <a:p>
            <a:pPr lvl="1">
              <a:spcAft>
                <a:spcPts val="1200"/>
              </a:spcAft>
            </a:pPr>
            <a:r>
              <a:rPr lang="pt-BR" sz="2400" dirty="0"/>
              <a:t>• Cachorro: se o dono levanta a mão → sentar;</a:t>
            </a:r>
          </a:p>
          <a:p>
            <a:pPr lvl="1">
              <a:spcAft>
                <a:spcPts val="1200"/>
              </a:spcAft>
            </a:pPr>
            <a:r>
              <a:rPr lang="pt-BR" sz="2400" dirty="0"/>
              <a:t>• Carro: se o semáforo está vermelho → parar;</a:t>
            </a:r>
          </a:p>
          <a:p>
            <a:pPr lvl="1">
              <a:spcAft>
                <a:spcPts val="1200"/>
              </a:spcAft>
            </a:pPr>
            <a:r>
              <a:rPr lang="pt-BR" sz="2400" dirty="0"/>
              <a:t>• Xadrez: se o rei está em perigo → mover peça de proteção;</a:t>
            </a:r>
          </a:p>
          <a:p>
            <a:pPr lvl="1">
              <a:spcAft>
                <a:spcPts val="1200"/>
              </a:spcAft>
            </a:pPr>
            <a:r>
              <a:rPr lang="pt-BR" sz="2400" dirty="0"/>
              <a:t>• Robô aspirador: se detecta sujeira → andar para frente.</a:t>
            </a:r>
            <a:endParaRPr lang="el-G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738CF97F-C8D5-7C85-329C-5761688FDBC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Política (Policy, </a:t>
            </a:r>
            <a:r>
              <a:rPr lang="el-G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π)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927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0B3D1-16D8-9582-92FD-1E8D8190E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CA8A80CE-8C5E-4F0E-E27E-4E0A7D975041}"/>
                  </a:ext>
                </a:extLst>
              </p:cNvPr>
              <p:cNvSpPr txBox="1"/>
              <p:nvPr/>
            </p:nvSpPr>
            <p:spPr>
              <a:xfrm>
                <a:off x="814004" y="1682323"/>
                <a:ext cx="10563992" cy="4285770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Função do comportamento do agente.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Mapeamento de um estado para uma ação: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>
                    <a:ea typeface="Cambria Math" panose="02040503050406030204" pitchFamily="18" charset="0"/>
                  </a:rPr>
                  <a:t>Politica Determinística: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pt-BR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pt-B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b="0" dirty="0">
                    <a:ea typeface="Cambria Math" panose="02040503050406030204" pitchFamily="18" charset="0"/>
                  </a:rPr>
                  <a:t>;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>
                    <a:ea typeface="Cambria Math" panose="02040503050406030204" pitchFamily="18" charset="0"/>
                  </a:rPr>
                  <a:t>Politica Estocástica: </a:t>
                </a:r>
                <a14:m>
                  <m:oMath xmlns:m="http://schemas.openxmlformats.org/officeDocument/2006/math">
                    <m:r>
                      <a:rPr lang="pt-B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pt-B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pt-B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ℙ</m:t>
                    </m:r>
                    <m:d>
                      <m:dPr>
                        <m:begChr m:val="["/>
                        <m:endChr m:val="]"/>
                        <m:ctrlPr>
                          <a:rPr lang="pt-B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400" dirty="0"/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el-GR" sz="20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CA8A80CE-8C5E-4F0E-E27E-4E0A7D975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004" y="1682323"/>
                <a:ext cx="10563992" cy="4285770"/>
              </a:xfrm>
              <a:prstGeom prst="rect">
                <a:avLst/>
              </a:prstGeom>
              <a:blipFill>
                <a:blip r:embed="rId2"/>
                <a:stretch>
                  <a:fillRect l="-808" t="-42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3E73B0E8-5E5C-3ED3-2B98-75B6C5A2FB52}"/>
                  </a:ext>
                </a:extLst>
              </p:cNvPr>
              <p:cNvSpPr txBox="1"/>
              <p:nvPr/>
            </p:nvSpPr>
            <p:spPr>
              <a:xfrm>
                <a:off x="862833" y="727501"/>
                <a:ext cx="1061979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D" sz="4000" b="1" kern="0" dirty="0">
                    <a:latin typeface="Montserrat" panose="00000500000000000000" pitchFamily="50" charset="0"/>
                    <a:cs typeface="Poppins" panose="02000000000000000000" pitchFamily="2" charset="0"/>
                  </a:rPr>
                  <a:t>Política (Policy, </a:t>
                </a:r>
                <a14:m>
                  <m:oMath xmlns:m="http://schemas.openxmlformats.org/officeDocument/2006/math">
                    <m:r>
                      <a:rPr lang="el-GR" sz="4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l-GR" sz="4000" b="1" kern="0" dirty="0">
                    <a:latin typeface="Montserrat" panose="00000500000000000000" pitchFamily="50" charset="0"/>
                    <a:cs typeface="Poppins" panose="02000000000000000000" pitchFamily="2" charset="0"/>
                  </a:rPr>
                  <a:t>)</a:t>
                </a:r>
                <a:endParaRPr lang="en-ID" sz="4000" b="1" kern="0" dirty="0">
                  <a:latin typeface="Montserrat" panose="00000500000000000000" pitchFamily="50" charset="0"/>
                  <a:cs typeface="Poppins" panose="02000000000000000000" pitchFamily="2" charset="0"/>
                </a:endParaRPr>
              </a:p>
            </p:txBody>
          </p:sp>
        </mc:Choice>
        <mc:Fallback xmlns="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3E73B0E8-5E5C-3ED3-2B98-75B6C5A2F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833" y="727501"/>
                <a:ext cx="10619791" cy="707886"/>
              </a:xfrm>
              <a:prstGeom prst="rect">
                <a:avLst/>
              </a:prstGeom>
              <a:blipFill>
                <a:blip r:embed="rId3"/>
                <a:stretch>
                  <a:fillRect l="-2067" t="-15517" b="-3620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5719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C216ABA-C66A-8E40-B33E-05B53F555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35D1F75F-6A6B-87BE-516E-523FCB7B411D}"/>
                  </a:ext>
                </a:extLst>
              </p:cNvPr>
              <p:cNvSpPr txBox="1"/>
              <p:nvPr/>
            </p:nvSpPr>
            <p:spPr>
              <a:xfrm>
                <a:off x="862833" y="727501"/>
                <a:ext cx="1061979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D" sz="4000" b="1" kern="0" dirty="0">
                    <a:latin typeface="Montserrat" panose="00000500000000000000" pitchFamily="50" charset="0"/>
                    <a:cs typeface="Poppins" panose="02000000000000000000" pitchFamily="2" charset="0"/>
                  </a:rPr>
                  <a:t>Política (Policy, </a:t>
                </a:r>
                <a14:m>
                  <m:oMath xmlns:m="http://schemas.openxmlformats.org/officeDocument/2006/math">
                    <m:r>
                      <a:rPr lang="el-GR" sz="4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l-GR" sz="4000" b="1" kern="0" dirty="0">
                    <a:latin typeface="Montserrat" panose="00000500000000000000" pitchFamily="50" charset="0"/>
                    <a:cs typeface="Poppins" panose="02000000000000000000" pitchFamily="2" charset="0"/>
                  </a:rPr>
                  <a:t>)</a:t>
                </a:r>
                <a:endParaRPr lang="en-ID" sz="4000" b="1" kern="0" dirty="0">
                  <a:latin typeface="Montserrat" panose="00000500000000000000" pitchFamily="50" charset="0"/>
                  <a:cs typeface="Poppins" panose="02000000000000000000" pitchFamily="2" charset="0"/>
                </a:endParaRPr>
              </a:p>
            </p:txBody>
          </p:sp>
        </mc:Choice>
        <mc:Fallback xmlns="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35D1F75F-6A6B-87BE-516E-523FCB7B4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833" y="727501"/>
                <a:ext cx="10619791" cy="707886"/>
              </a:xfrm>
              <a:prstGeom prst="rect">
                <a:avLst/>
              </a:prstGeom>
              <a:blipFill>
                <a:blip r:embed="rId2"/>
                <a:stretch>
                  <a:fillRect l="-2067" t="-15517" b="-3620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0FD84CD-5596-8B0B-C966-9266D8A92C11}"/>
              </a:ext>
            </a:extLst>
          </p:cNvPr>
          <p:cNvSpPr txBox="1"/>
          <p:nvPr/>
        </p:nvSpPr>
        <p:spPr>
          <a:xfrm>
            <a:off x="646527" y="5398213"/>
            <a:ext cx="110524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hlinkClick r:id="rId3"/>
              </a:rPr>
              <a:t>https://www.rdworldonline.com/slip-and-slide-into-reinforcement-learning-with-the-frozen-lake-challenge/</a:t>
            </a:r>
            <a:r>
              <a:rPr lang="en-US" sz="1200" dirty="0"/>
              <a:t>.</a:t>
            </a:r>
          </a:p>
        </p:txBody>
      </p:sp>
      <p:pic>
        <p:nvPicPr>
          <p:cNvPr id="7" name="Picture 6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53F407D9-E729-2920-DD6F-C2B2F4B27F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616" y="1649445"/>
            <a:ext cx="3748768" cy="374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120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BDEF3-0897-EF78-87F9-6FCBA4084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9C3C8C78-C13F-9EDC-2D23-466748C7E364}"/>
              </a:ext>
            </a:extLst>
          </p:cNvPr>
          <p:cNvSpPr txBox="1"/>
          <p:nvPr/>
        </p:nvSpPr>
        <p:spPr>
          <a:xfrm>
            <a:off x="833161" y="2050939"/>
            <a:ext cx="11223372" cy="439884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200" b="1" dirty="0"/>
              <a:t>Exploração</a:t>
            </a:r>
            <a:r>
              <a:rPr lang="pt-BR" sz="2200" dirty="0"/>
              <a:t>: testar novas ações para aprender mais sobre o ambiente.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200" b="1" dirty="0"/>
              <a:t>Exploitação: </a:t>
            </a:r>
            <a:r>
              <a:rPr lang="pt-BR" sz="2200" dirty="0"/>
              <a:t>usar o conhecimento já adquirido para escolher a melhor ação conhecida.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200" b="1" dirty="0"/>
              <a:t>Exemplos</a:t>
            </a:r>
            <a:r>
              <a:rPr lang="pt-BR" sz="2200" dirty="0"/>
              <a:t>:</a:t>
            </a:r>
          </a:p>
          <a:p>
            <a:pPr lvl="1">
              <a:spcAft>
                <a:spcPts val="1200"/>
              </a:spcAft>
            </a:pPr>
            <a:r>
              <a:rPr lang="pt-BR" sz="2200" dirty="0"/>
              <a:t>• Cachorro: testar deitar (exploração) ou sentar de novo (exploração do que já funciona);</a:t>
            </a:r>
          </a:p>
          <a:p>
            <a:pPr lvl="1">
              <a:spcAft>
                <a:spcPts val="1200"/>
              </a:spcAft>
            </a:pPr>
            <a:r>
              <a:rPr lang="pt-BR" sz="2200" dirty="0"/>
              <a:t>• Carro: tentar rota nova (exploração) ou seguir pela rota conhecida mais rápida (exploração);</a:t>
            </a:r>
          </a:p>
          <a:p>
            <a:pPr lvl="1">
              <a:spcAft>
                <a:spcPts val="1200"/>
              </a:spcAft>
            </a:pPr>
            <a:r>
              <a:rPr lang="pt-BR" sz="2200" dirty="0"/>
              <a:t>• Xadrez: tentar jogada inesperada (exploração) ou repetir abertura já comprovada (exploração);</a:t>
            </a:r>
          </a:p>
          <a:p>
            <a:pPr lvl="1">
              <a:spcAft>
                <a:spcPts val="1200"/>
              </a:spcAft>
            </a:pPr>
            <a:r>
              <a:rPr lang="pt-BR" sz="2200" dirty="0"/>
              <a:t>• Robô aspirador: ir para canto novo (exploração) ou continuar limpando local já sujo (exploração).</a:t>
            </a:r>
            <a:endParaRPr lang="el-GR" sz="22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AE5D4CF1-1097-547B-98CB-2FA10FEB9526}"/>
              </a:ext>
            </a:extLst>
          </p:cNvPr>
          <p:cNvSpPr txBox="1"/>
          <p:nvPr/>
        </p:nvSpPr>
        <p:spPr>
          <a:xfrm>
            <a:off x="862833" y="727501"/>
            <a:ext cx="106197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Exploração vs. Exploitação (Exploration vs. Exploitation)</a:t>
            </a:r>
          </a:p>
        </p:txBody>
      </p:sp>
    </p:spTree>
    <p:extLst>
      <p:ext uri="{BB962C8B-B14F-4D97-AF65-F5344CB8AC3E}">
        <p14:creationId xmlns:p14="http://schemas.microsoft.com/office/powerpoint/2010/main" val="861940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C45CF-714D-3F7C-B301-394DFC89C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9103C4FB-DA5E-0AFF-26E9-DEB33D21F76E}"/>
              </a:ext>
            </a:extLst>
          </p:cNvPr>
          <p:cNvSpPr txBox="1"/>
          <p:nvPr/>
        </p:nvSpPr>
        <p:spPr>
          <a:xfrm>
            <a:off x="833161" y="1682323"/>
            <a:ext cx="10563992" cy="42857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b="1" dirty="0"/>
              <a:t>Definição</a:t>
            </a:r>
            <a:r>
              <a:rPr lang="pt-BR" sz="2400" dirty="0"/>
              <a:t>: a soma das recompensas futuras acumuladas pelo agente.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b="1" dirty="0"/>
              <a:t>Exemplos</a:t>
            </a:r>
            <a:r>
              <a:rPr lang="pt-BR" sz="2400" dirty="0"/>
              <a:t>:</a:t>
            </a:r>
          </a:p>
          <a:p>
            <a:pPr lvl="1">
              <a:spcAft>
                <a:spcPts val="1200"/>
              </a:spcAft>
            </a:pPr>
            <a:r>
              <a:rPr lang="pt-BR" sz="2400" dirty="0"/>
              <a:t>• Cachorro: vários petiscos ganhos ao longo do dia;</a:t>
            </a:r>
          </a:p>
          <a:p>
            <a:pPr lvl="1">
              <a:spcAft>
                <a:spcPts val="1200"/>
              </a:spcAft>
            </a:pPr>
            <a:r>
              <a:rPr lang="pt-BR" sz="2400" dirty="0"/>
              <a:t>• Carro: viagem inteira sem acidentes e com economia de combustível;</a:t>
            </a:r>
          </a:p>
          <a:p>
            <a:pPr lvl="1">
              <a:spcAft>
                <a:spcPts val="1200"/>
              </a:spcAft>
            </a:pPr>
            <a:r>
              <a:rPr lang="pt-BR" sz="2400" dirty="0"/>
              <a:t>• Xadrez: a soma das vantagens obtidas até o final da partida;</a:t>
            </a:r>
          </a:p>
          <a:p>
            <a:pPr lvl="1">
              <a:spcAft>
                <a:spcPts val="1200"/>
              </a:spcAft>
            </a:pPr>
            <a:r>
              <a:rPr lang="pt-BR" sz="2400" dirty="0"/>
              <a:t>• Robô aspirador: quantidade total de sujeira limpa em uma sessão.</a:t>
            </a:r>
            <a:endParaRPr lang="el-G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815412D4-D39C-25B0-4AE6-27726960F5E3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Função de Retorno (Return, G)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827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6598F-03CE-A30A-8DB5-15EDDD564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1CEBE89C-727E-D71E-6EC3-C3AE26F66E8A}"/>
                  </a:ext>
                </a:extLst>
              </p:cNvPr>
              <p:cNvSpPr txBox="1"/>
              <p:nvPr/>
            </p:nvSpPr>
            <p:spPr>
              <a:xfrm>
                <a:off x="833161" y="1682323"/>
                <a:ext cx="10563992" cy="4285770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Somatório de todas as recompensas futuras do agente: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pt-BR" sz="2400" dirty="0"/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+3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+…+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Formalização matemática:</a:t>
                </a:r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1CEBE89C-727E-D71E-6EC3-C3AE26F66E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61" y="1682323"/>
                <a:ext cx="10563992" cy="4285770"/>
              </a:xfrm>
              <a:prstGeom prst="rect">
                <a:avLst/>
              </a:prstGeom>
              <a:blipFill>
                <a:blip r:embed="rId2"/>
                <a:stretch>
                  <a:fillRect l="-808" t="-427" b="-2389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BF75C00C-CB58-6414-F728-D9CCDAD3D233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Função de Retorno (Return, G) cont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372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99936-C15A-C6BF-51C0-71C99F907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C4122D79-8B27-917E-28A3-52D58602040B}"/>
                  </a:ext>
                </a:extLst>
              </p:cNvPr>
              <p:cNvSpPr txBox="1"/>
              <p:nvPr/>
            </p:nvSpPr>
            <p:spPr>
              <a:xfrm>
                <a:off x="833161" y="1682323"/>
                <a:ext cx="10563992" cy="4285770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200" b="1" dirty="0"/>
                  <a:t>Definição</a:t>
                </a:r>
                <a:r>
                  <a:rPr lang="pt-BR" sz="2200" dirty="0"/>
                  <a:t>: valor entre 0 e 1 que indica a importância de recompensas futuras: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pt-BR" sz="2200" dirty="0"/>
                  <a:t> = 0 → só pensa na recompensa imediata;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pt-BR" sz="2200" dirty="0"/>
                  <a:t> ≈1 → pensa no longo prazo.</a:t>
                </a:r>
                <a:endParaRPr lang="pt-BR" sz="2200" b="1" dirty="0"/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200" b="1" dirty="0"/>
                  <a:t>Exemplos</a:t>
                </a:r>
                <a:r>
                  <a:rPr lang="pt-BR" sz="2200" dirty="0"/>
                  <a:t>:</a:t>
                </a:r>
              </a:p>
              <a:p>
                <a:pPr lvl="1">
                  <a:spcAft>
                    <a:spcPts val="1200"/>
                  </a:spcAft>
                </a:pPr>
                <a:r>
                  <a:rPr lang="pt-BR" sz="2200" dirty="0"/>
                  <a:t>• Cachorro: </a:t>
                </a:r>
                <a14:m>
                  <m:oMath xmlns:m="http://schemas.openxmlformats.org/officeDocument/2006/math">
                    <m:r>
                      <a:rPr lang="pt-B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pt-BR" sz="2200" dirty="0"/>
                  <a:t> baixo (0.1): cachorro pensa só no petisco imediato;</a:t>
                </a:r>
              </a:p>
              <a:p>
                <a:pPr lvl="1">
                  <a:spcAft>
                    <a:spcPts val="1200"/>
                  </a:spcAft>
                </a:pPr>
                <a:r>
                  <a:rPr lang="pt-BR" sz="2200" dirty="0"/>
                  <a:t>• Carro: </a:t>
                </a:r>
                <a14:m>
                  <m:oMath xmlns:m="http://schemas.openxmlformats.org/officeDocument/2006/math">
                    <m:r>
                      <a:rPr lang="pt-B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pt-BR" sz="2200" dirty="0"/>
                  <a:t> alto (0.99): carro autônomo prefere chegar ao destino seguro a curto e longo prazo;</a:t>
                </a:r>
              </a:p>
              <a:p>
                <a:pPr lvl="1">
                  <a:spcAft>
                    <a:spcPts val="1200"/>
                  </a:spcAft>
                </a:pPr>
                <a:r>
                  <a:rPr lang="pt-BR" sz="2200" dirty="0"/>
                  <a:t>• Xadrez: valoriza não só a jogada atual, mas, também, as “vitórias” ao fim da partida;</a:t>
                </a:r>
              </a:p>
              <a:p>
                <a:pPr lvl="1">
                  <a:spcAft>
                    <a:spcPts val="1200"/>
                  </a:spcAft>
                </a:pPr>
                <a:r>
                  <a:rPr lang="pt-BR" sz="2200" dirty="0"/>
                  <a:t>• Robô aspirador: busca limpar toda a sala, não só a sujeira imediata.</a:t>
                </a:r>
                <a:endParaRPr lang="el-GR" sz="22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C4122D79-8B27-917E-28A3-52D586020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61" y="1682323"/>
                <a:ext cx="10563992" cy="4285770"/>
              </a:xfrm>
              <a:prstGeom prst="rect">
                <a:avLst/>
              </a:prstGeom>
              <a:blipFill>
                <a:blip r:embed="rId2"/>
                <a:stretch>
                  <a:fillRect l="-692" r="-808" b="-810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8F639374-30B8-6B41-EEEF-6A70C24A2A0B}"/>
                  </a:ext>
                </a:extLst>
              </p:cNvPr>
              <p:cNvSpPr txBox="1"/>
              <p:nvPr/>
            </p:nvSpPr>
            <p:spPr>
              <a:xfrm>
                <a:off x="862833" y="727501"/>
                <a:ext cx="1061979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4000" b="1" kern="0" dirty="0">
                    <a:latin typeface="Montserrat" panose="00000500000000000000" pitchFamily="50" charset="0"/>
                    <a:cs typeface="Poppins" panose="02000000000000000000" pitchFamily="2" charset="0"/>
                  </a:rPr>
                  <a:t>Fator de Desconto (Discount Factor, </a:t>
                </a:r>
                <a14:m>
                  <m:oMath xmlns:m="http://schemas.openxmlformats.org/officeDocument/2006/math">
                    <m:r>
                      <a:rPr lang="pt-BR" sz="4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pt-BR" sz="4000" b="1" kern="0" dirty="0">
                    <a:latin typeface="Montserrat" panose="00000500000000000000" pitchFamily="50" charset="0"/>
                    <a:cs typeface="Poppins" panose="02000000000000000000" pitchFamily="2" charset="0"/>
                  </a:rPr>
                  <a:t>)</a:t>
                </a:r>
                <a:endParaRPr lang="en-ID" sz="4000" b="1" kern="0" dirty="0">
                  <a:latin typeface="Montserrat" panose="00000500000000000000" pitchFamily="50" charset="0"/>
                  <a:cs typeface="Poppins" panose="02000000000000000000" pitchFamily="2" charset="0"/>
                </a:endParaRPr>
              </a:p>
            </p:txBody>
          </p:sp>
        </mc:Choice>
        <mc:Fallback xmlns="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8F639374-30B8-6B41-EEEF-6A70C24A2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833" y="727501"/>
                <a:ext cx="10619791" cy="707886"/>
              </a:xfrm>
              <a:prstGeom prst="rect">
                <a:avLst/>
              </a:prstGeom>
              <a:blipFill>
                <a:blip r:embed="rId3"/>
                <a:stretch>
                  <a:fillRect l="-2067" t="-15517" r="-115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0555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C8E0E-723C-2311-B988-CFF0A6F33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58EF3F99-F9AB-3C3B-BC59-E9C446FDFC41}"/>
                  </a:ext>
                </a:extLst>
              </p:cNvPr>
              <p:cNvSpPr txBox="1"/>
              <p:nvPr/>
            </p:nvSpPr>
            <p:spPr>
              <a:xfrm>
                <a:off x="833161" y="1682323"/>
                <a:ext cx="10563992" cy="4285770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b="1" dirty="0"/>
                  <a:t>Definição</a:t>
                </a:r>
                <a:r>
                  <a:rPr lang="pt-BR" sz="2400" dirty="0"/>
                  <a:t>: mede o quão bom é estar em um estado, considerando as recompensas futuras esperadas, dada uma politica </a:t>
                </a:r>
                <a14:m>
                  <m:oMath xmlns:m="http://schemas.openxmlformats.org/officeDocument/2006/math">
                    <m:r>
                      <a:rPr lang="pt-B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b="1" dirty="0"/>
                  <a:t>Exemplos</a:t>
                </a:r>
                <a:r>
                  <a:rPr lang="pt-BR" sz="2400" dirty="0"/>
                  <a:t>:</a:t>
                </a:r>
              </a:p>
              <a:p>
                <a:pPr lvl="1">
                  <a:spcAft>
                    <a:spcPts val="1200"/>
                  </a:spcAft>
                </a:pPr>
                <a:r>
                  <a:rPr lang="pt-BR" sz="2400" dirty="0"/>
                  <a:t>• Cachorro: estar sentado perto do dono → valor alto;</a:t>
                </a:r>
              </a:p>
              <a:p>
                <a:pPr lvl="1">
                  <a:spcAft>
                    <a:spcPts val="1200"/>
                  </a:spcAft>
                </a:pPr>
                <a:r>
                  <a:rPr lang="pt-BR" sz="2400" dirty="0"/>
                  <a:t>• Carro: estar em pista livre sem trânsito → valor alto;</a:t>
                </a:r>
              </a:p>
              <a:p>
                <a:pPr lvl="1">
                  <a:spcAft>
                    <a:spcPts val="1200"/>
                  </a:spcAft>
                </a:pPr>
                <a:r>
                  <a:rPr lang="pt-BR" sz="2400" dirty="0"/>
                  <a:t>• Xadrez: rei protegido e vantagem de peças → valor alto;</a:t>
                </a:r>
              </a:p>
              <a:p>
                <a:pPr lvl="1">
                  <a:spcAft>
                    <a:spcPts val="1200"/>
                  </a:spcAft>
                </a:pPr>
                <a:r>
                  <a:rPr lang="pt-BR" sz="2400" dirty="0"/>
                  <a:t>• Robô aspirador: estar em um canto com sujeira detectada → valor alto.</a:t>
                </a:r>
                <a:endParaRPr lang="el-GR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58EF3F99-F9AB-3C3B-BC59-E9C446FDF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61" y="1682323"/>
                <a:ext cx="10563992" cy="4285770"/>
              </a:xfrm>
              <a:prstGeom prst="rect">
                <a:avLst/>
              </a:prstGeom>
              <a:blipFill>
                <a:blip r:embed="rId2"/>
                <a:stretch>
                  <a:fillRect l="-808" t="-42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04C7B4D7-175D-7B05-2571-F0720C7A778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>
                <a:latin typeface="Montserrat" panose="00000500000000000000" pitchFamily="50" charset="0"/>
                <a:cs typeface="Poppins" panose="02000000000000000000" pitchFamily="2" charset="0"/>
              </a:rPr>
              <a:t>Função de Valor (Value Function, V )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927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3CAC7-10BA-35C6-BA52-808C69C35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A757534E-7C55-25E6-EBEF-7D3BEF821A21}"/>
                  </a:ext>
                </a:extLst>
              </p:cNvPr>
              <p:cNvSpPr txBox="1"/>
              <p:nvPr/>
            </p:nvSpPr>
            <p:spPr>
              <a:xfrm>
                <a:off x="833161" y="1682323"/>
                <a:ext cx="10563992" cy="4285770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Medir o quanto vale estar em um estado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pt-BR" sz="2400" dirty="0"/>
                  <a:t>, assumindo que o agente seguirá a política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pt-BR" sz="24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begChr m:val="[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+…</m:t>
                          </m:r>
                        </m:e>
                      </m:d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000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en-US" sz="2000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begChr m:val="["/>
                          <m:endChr m:val="|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000" dirty="0">
                  <a:ea typeface="Cambria Math" panose="02040503050406030204" pitchFamily="18" charset="0"/>
                </a:endParaRPr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en-US" sz="2000" dirty="0">
                  <a:ea typeface="Cambria Math" panose="02040503050406030204" pitchFamily="18" charset="0"/>
                </a:endParaRPr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begChr m:val="["/>
                          <m:endChr m:val="|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l-GR" sz="20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A757534E-7C55-25E6-EBEF-7D3BEF821A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61" y="1682323"/>
                <a:ext cx="10563992" cy="4285770"/>
              </a:xfrm>
              <a:prstGeom prst="rect">
                <a:avLst/>
              </a:prstGeom>
              <a:blipFill>
                <a:blip r:embed="rId2"/>
                <a:stretch>
                  <a:fillRect l="-808" t="-427" b="-1251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EA0F64F1-9E6D-6149-C6BE-33D79D60DF89}"/>
              </a:ext>
            </a:extLst>
          </p:cNvPr>
          <p:cNvSpPr txBox="1"/>
          <p:nvPr/>
        </p:nvSpPr>
        <p:spPr>
          <a:xfrm>
            <a:off x="862833" y="727501"/>
            <a:ext cx="112203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Função de Valor (Value Function, V ) cont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647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77020-18D7-2D78-2F43-B5423E2B9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791EC9D9-4F98-3C4D-75C6-545FF25DAEFE}"/>
                  </a:ext>
                </a:extLst>
              </p:cNvPr>
              <p:cNvSpPr txBox="1"/>
              <p:nvPr/>
            </p:nvSpPr>
            <p:spPr>
              <a:xfrm>
                <a:off x="833161" y="1682323"/>
                <a:ext cx="10563992" cy="4285770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b="1" dirty="0"/>
                  <a:t>Definição</a:t>
                </a:r>
                <a:r>
                  <a:rPr lang="pt-BR" sz="2400" dirty="0"/>
                  <a:t>: mede o quão boa é uma ação em um determinado estado;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b="1" dirty="0"/>
                  <a:t>Exemplos</a:t>
                </a:r>
                <a:r>
                  <a:rPr lang="pt-BR" sz="2400" dirty="0"/>
                  <a:t>:</a:t>
                </a:r>
              </a:p>
              <a:p>
                <a:pPr lvl="1">
                  <a:spcAft>
                    <a:spcPts val="1200"/>
                  </a:spcAft>
                </a:pPr>
                <a:r>
                  <a:rPr lang="pt-BR" sz="2400" dirty="0"/>
                  <a:t>• Cachorro: em pé ação sentar tem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sz="2400" dirty="0"/>
                  <a:t> alto, ação pular no sofá tem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sz="2400" dirty="0"/>
                  <a:t> baixo;</a:t>
                </a:r>
              </a:p>
              <a:p>
                <a:pPr lvl="1">
                  <a:spcAft>
                    <a:spcPts val="1200"/>
                  </a:spcAft>
                </a:pPr>
                <a:r>
                  <a:rPr lang="pt-BR" sz="2400" dirty="0"/>
                  <a:t>• Carro: a 80 km/h ação frear pode ter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sz="2400" dirty="0"/>
                  <a:t> alto, em caso de obstáculo;</a:t>
                </a:r>
              </a:p>
              <a:p>
                <a:pPr lvl="1">
                  <a:spcAft>
                    <a:spcPts val="1200"/>
                  </a:spcAft>
                </a:pPr>
                <a:r>
                  <a:rPr lang="pt-BR" sz="2400" dirty="0"/>
                  <a:t>• Xadrez: no estado atual, mover o cavalo pode ter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sz="2400" dirty="0"/>
                  <a:t> maior que mover a torre;</a:t>
                </a:r>
              </a:p>
              <a:p>
                <a:pPr lvl="1">
                  <a:spcAft>
                    <a:spcPts val="1200"/>
                  </a:spcAft>
                </a:pPr>
                <a:r>
                  <a:rPr lang="pt-BR" sz="2400" dirty="0"/>
                  <a:t>• Robô aspirador: em frente à sujeira, a ação de andar para frente tem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sz="2400" dirty="0"/>
                  <a:t> alto.</a:t>
                </a:r>
                <a:endParaRPr lang="el-GR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791EC9D9-4F98-3C4D-75C6-545FF25DAE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61" y="1682323"/>
                <a:ext cx="10563992" cy="4285770"/>
              </a:xfrm>
              <a:prstGeom prst="rect">
                <a:avLst/>
              </a:prstGeom>
              <a:blipFill>
                <a:blip r:embed="rId2"/>
                <a:stretch>
                  <a:fillRect l="-808" t="-42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438EF4E2-B442-787B-14AC-33C84743703F}"/>
                  </a:ext>
                </a:extLst>
              </p:cNvPr>
              <p:cNvSpPr txBox="1"/>
              <p:nvPr/>
            </p:nvSpPr>
            <p:spPr>
              <a:xfrm>
                <a:off x="862833" y="727501"/>
                <a:ext cx="1061979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4000" b="1" kern="0" dirty="0">
                    <a:latin typeface="Montserrat" panose="00000500000000000000" pitchFamily="50" charset="0"/>
                    <a:cs typeface="Poppins" panose="02000000000000000000" pitchFamily="2" charset="0"/>
                  </a:rPr>
                  <a:t>Função de Valor-Ação (Q-Function, </a:t>
                </a:r>
                <a14:m>
                  <m:oMath xmlns:m="http://schemas.openxmlformats.org/officeDocument/2006/math">
                    <m:r>
                      <a:rPr lang="pt-BR" sz="4000" b="1" i="1" kern="0" dirty="0" smtClean="0">
                        <a:latin typeface="Cambria Math" panose="02040503050406030204" pitchFamily="18" charset="0"/>
                        <a:cs typeface="Poppins" panose="02000000000000000000" pitchFamily="2" charset="0"/>
                      </a:rPr>
                      <m:t>𝑸</m:t>
                    </m:r>
                  </m:oMath>
                </a14:m>
                <a:r>
                  <a:rPr lang="pt-BR" sz="4000" b="1" kern="0" dirty="0">
                    <a:latin typeface="Montserrat" panose="00000500000000000000" pitchFamily="50" charset="0"/>
                    <a:cs typeface="Poppins" panose="02000000000000000000" pitchFamily="2" charset="0"/>
                  </a:rPr>
                  <a:t>)</a:t>
                </a:r>
                <a:endParaRPr lang="en-ID" sz="4000" b="1" kern="0" dirty="0">
                  <a:latin typeface="Montserrat" panose="00000500000000000000" pitchFamily="50" charset="0"/>
                  <a:cs typeface="Poppins" panose="02000000000000000000" pitchFamily="2" charset="0"/>
                </a:endParaRPr>
              </a:p>
            </p:txBody>
          </p:sp>
        </mc:Choice>
        <mc:Fallback xmlns="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438EF4E2-B442-787B-14AC-33C8474370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833" y="727501"/>
                <a:ext cx="10619791" cy="707886"/>
              </a:xfrm>
              <a:prstGeom prst="rect">
                <a:avLst/>
              </a:prstGeom>
              <a:blipFill>
                <a:blip r:embed="rId3"/>
                <a:stretch>
                  <a:fillRect l="-2067"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0324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DD8D9-DBA2-4553-8F4A-1CD5D354D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3B1EEB73-EE1D-22D2-27F6-9B9A58DF6EF9}"/>
                  </a:ext>
                </a:extLst>
              </p:cNvPr>
              <p:cNvSpPr txBox="1"/>
              <p:nvPr/>
            </p:nvSpPr>
            <p:spPr>
              <a:xfrm>
                <a:off x="833161" y="1682323"/>
                <a:ext cx="10563992" cy="4285770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Medir o quanto vale tomar uma ação </a:t>
                </a:r>
                <a14:m>
                  <m:oMath xmlns:m="http://schemas.openxmlformats.org/officeDocument/2006/math">
                    <m:r>
                      <a:rPr lang="pt-BR" sz="2400" b="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pt-BR" sz="2400" dirty="0"/>
                  <a:t> em um estado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pt-BR" sz="2400" dirty="0"/>
                  <a:t>, seguindo, depois, a política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pt-B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begChr m:val="["/>
                          <m:endChr m:val="|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en-US" sz="2400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3B1EEB73-EE1D-22D2-27F6-9B9A58DF6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61" y="1682323"/>
                <a:ext cx="10563992" cy="4285770"/>
              </a:xfrm>
              <a:prstGeom prst="rect">
                <a:avLst/>
              </a:prstGeom>
              <a:blipFill>
                <a:blip r:embed="rId2"/>
                <a:stretch>
                  <a:fillRect l="-808" t="-99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7AEBBEF7-9FDA-FB40-992F-959805C3354A}"/>
                  </a:ext>
                </a:extLst>
              </p:cNvPr>
              <p:cNvSpPr txBox="1"/>
              <p:nvPr/>
            </p:nvSpPr>
            <p:spPr>
              <a:xfrm>
                <a:off x="862833" y="727501"/>
                <a:ext cx="1061979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4000" b="1" kern="0" dirty="0">
                    <a:latin typeface="Montserrat" panose="00000500000000000000" pitchFamily="50" charset="0"/>
                    <a:cs typeface="Poppins" panose="02000000000000000000" pitchFamily="2" charset="0"/>
                  </a:rPr>
                  <a:t>Função de Valor-Ação (Q-Function, </a:t>
                </a:r>
                <a14:m>
                  <m:oMath xmlns:m="http://schemas.openxmlformats.org/officeDocument/2006/math">
                    <m:r>
                      <a:rPr lang="pt-BR" sz="4000" b="1" i="1" kern="0" dirty="0" smtClean="0">
                        <a:latin typeface="Cambria Math" panose="02040503050406030204" pitchFamily="18" charset="0"/>
                        <a:cs typeface="Poppins" panose="02000000000000000000" pitchFamily="2" charset="0"/>
                      </a:rPr>
                      <m:t>𝑸</m:t>
                    </m:r>
                  </m:oMath>
                </a14:m>
                <a:r>
                  <a:rPr lang="pt-BR" sz="4000" b="1" kern="0" dirty="0">
                    <a:latin typeface="Montserrat" panose="00000500000000000000" pitchFamily="50" charset="0"/>
                    <a:cs typeface="Poppins" panose="02000000000000000000" pitchFamily="2" charset="0"/>
                  </a:rPr>
                  <a:t>)</a:t>
                </a:r>
                <a:endParaRPr lang="en-ID" sz="4000" b="1" kern="0" dirty="0">
                  <a:latin typeface="Montserrat" panose="00000500000000000000" pitchFamily="50" charset="0"/>
                  <a:cs typeface="Poppins" panose="02000000000000000000" pitchFamily="2" charset="0"/>
                </a:endParaRPr>
              </a:p>
            </p:txBody>
          </p:sp>
        </mc:Choice>
        <mc:Fallback xmlns="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7AEBBEF7-9FDA-FB40-992F-959805C33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833" y="727501"/>
                <a:ext cx="10619791" cy="707886"/>
              </a:xfrm>
              <a:prstGeom prst="rect">
                <a:avLst/>
              </a:prstGeom>
              <a:blipFill>
                <a:blip r:embed="rId3"/>
                <a:stretch>
                  <a:fillRect l="-2067"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4204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4E975-6D96-F6B6-5AAA-AC1BA1264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8FC251EE-EA89-DD9F-ACAA-A54D57E4FF0B}"/>
                  </a:ext>
                </a:extLst>
              </p:cNvPr>
              <p:cNvSpPr txBox="1"/>
              <p:nvPr/>
            </p:nvSpPr>
            <p:spPr>
              <a:xfrm>
                <a:off x="833161" y="1682323"/>
                <a:ext cx="10563992" cy="4285770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): </m:t>
                    </m:r>
                  </m:oMath>
                </a14:m>
                <a:r>
                  <a:rPr lang="pt-BR" sz="2400" dirty="0"/>
                  <a:t>qualidade de estar em um estado;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pt-BR" sz="2400" dirty="0"/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: qualidade de escolher uma ação em um estado.</a:t>
                </a:r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8FC251EE-EA89-DD9F-ACAA-A54D57E4F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61" y="1682323"/>
                <a:ext cx="10563992" cy="4285770"/>
              </a:xfrm>
              <a:prstGeom prst="rect">
                <a:avLst/>
              </a:prstGeom>
              <a:blipFill>
                <a:blip r:embed="rId2"/>
                <a:stretch>
                  <a:fillRect l="-8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CE8CF695-0061-E144-B464-B7F6AE5DE896}"/>
                  </a:ext>
                </a:extLst>
              </p:cNvPr>
              <p:cNvSpPr txBox="1"/>
              <p:nvPr/>
            </p:nvSpPr>
            <p:spPr>
              <a:xfrm>
                <a:off x="862833" y="727501"/>
                <a:ext cx="1061979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4000" b="1" kern="0" dirty="0">
                    <a:latin typeface="Montserrat" panose="00000500000000000000" pitchFamily="50" charset="0"/>
                    <a:cs typeface="Poppins" panose="02000000000000000000" pitchFamily="2" charset="0"/>
                  </a:rPr>
                  <a:t>Diferença entre </a:t>
                </a:r>
                <a14:m>
                  <m:oMath xmlns:m="http://schemas.openxmlformats.org/officeDocument/2006/math">
                    <m:r>
                      <a:rPr lang="pt-BR" sz="4000" b="1" i="1" kern="0" dirty="0" smtClean="0">
                        <a:latin typeface="Cambria Math" panose="02040503050406030204" pitchFamily="18" charset="0"/>
                        <a:cs typeface="Poppins" panose="02000000000000000000" pitchFamily="2" charset="0"/>
                      </a:rPr>
                      <m:t>𝑽</m:t>
                    </m:r>
                    <m:r>
                      <a:rPr lang="pt-BR" sz="4000" b="1" i="1" kern="0" dirty="0" smtClean="0">
                        <a:latin typeface="Cambria Math" panose="02040503050406030204" pitchFamily="18" charset="0"/>
                        <a:cs typeface="Poppins" panose="02000000000000000000" pitchFamily="2" charset="0"/>
                      </a:rPr>
                      <m:t>(</m:t>
                    </m:r>
                    <m:r>
                      <a:rPr lang="pt-BR" sz="4000" b="1" i="1" kern="0" dirty="0" smtClean="0">
                        <a:latin typeface="Cambria Math" panose="02040503050406030204" pitchFamily="18" charset="0"/>
                        <a:cs typeface="Poppins" panose="02000000000000000000" pitchFamily="2" charset="0"/>
                      </a:rPr>
                      <m:t>𝒔</m:t>
                    </m:r>
                    <m:r>
                      <a:rPr lang="pt-BR" sz="4000" b="1" i="1" kern="0" dirty="0" smtClean="0">
                        <a:latin typeface="Cambria Math" panose="02040503050406030204" pitchFamily="18" charset="0"/>
                        <a:cs typeface="Poppins" panose="02000000000000000000" pitchFamily="2" charset="0"/>
                      </a:rPr>
                      <m:t>)</m:t>
                    </m:r>
                  </m:oMath>
                </a14:m>
                <a:r>
                  <a:rPr lang="pt-BR" sz="4000" b="1" kern="0" dirty="0">
                    <a:latin typeface="Montserrat" panose="00000500000000000000" pitchFamily="50" charset="0"/>
                    <a:cs typeface="Poppins" panose="02000000000000000000" pitchFamily="2" charset="0"/>
                  </a:rPr>
                  <a:t> e </a:t>
                </a:r>
                <a14:m>
                  <m:oMath xmlns:m="http://schemas.openxmlformats.org/officeDocument/2006/math">
                    <m:r>
                      <a:rPr lang="pt-BR" sz="4000" b="1" i="1" kern="0" dirty="0" smtClean="0">
                        <a:latin typeface="Cambria Math" panose="02040503050406030204" pitchFamily="18" charset="0"/>
                        <a:cs typeface="Poppins" panose="02000000000000000000" pitchFamily="2" charset="0"/>
                      </a:rPr>
                      <m:t>𝑸</m:t>
                    </m:r>
                    <m:r>
                      <a:rPr lang="pt-BR" sz="4000" b="1" i="1" kern="0" dirty="0" smtClean="0">
                        <a:latin typeface="Cambria Math" panose="02040503050406030204" pitchFamily="18" charset="0"/>
                        <a:cs typeface="Poppins" panose="02000000000000000000" pitchFamily="2" charset="0"/>
                      </a:rPr>
                      <m:t>(</m:t>
                    </m:r>
                    <m:r>
                      <a:rPr lang="pt-BR" sz="4000" b="1" i="1" kern="0" dirty="0" smtClean="0">
                        <a:latin typeface="Cambria Math" panose="02040503050406030204" pitchFamily="18" charset="0"/>
                        <a:cs typeface="Poppins" panose="02000000000000000000" pitchFamily="2" charset="0"/>
                      </a:rPr>
                      <m:t>𝒔</m:t>
                    </m:r>
                    <m:r>
                      <a:rPr lang="pt-BR" sz="4000" b="1" i="1" kern="0" dirty="0" smtClean="0">
                        <a:latin typeface="Cambria Math" panose="02040503050406030204" pitchFamily="18" charset="0"/>
                        <a:cs typeface="Poppins" panose="02000000000000000000" pitchFamily="2" charset="0"/>
                      </a:rPr>
                      <m:t>)</m:t>
                    </m:r>
                  </m:oMath>
                </a14:m>
                <a:endParaRPr lang="en-ID" sz="4000" b="1" kern="0" dirty="0">
                  <a:latin typeface="Montserrat" panose="00000500000000000000" pitchFamily="50" charset="0"/>
                  <a:cs typeface="Poppins" panose="02000000000000000000" pitchFamily="2" charset="0"/>
                </a:endParaRPr>
              </a:p>
            </p:txBody>
          </p:sp>
        </mc:Choice>
        <mc:Fallback xmlns="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CE8CF695-0061-E144-B464-B7F6AE5DE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833" y="727501"/>
                <a:ext cx="10619791" cy="707886"/>
              </a:xfrm>
              <a:prstGeom prst="rect">
                <a:avLst/>
              </a:prstGeom>
              <a:blipFill>
                <a:blip r:embed="rId3"/>
                <a:stretch>
                  <a:fillRect l="-2067"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193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d515b78-c394-4c68-913b-64702d1b471e" xsi:nil="true"/>
    <lcf76f155ced4ddcb4097134ff3c332f xmlns="942d5ec7-aacc-4a5b-a58b-71e198b9571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D1042ECD13DF54ABFD3312BD93AC736" ma:contentTypeVersion="14" ma:contentTypeDescription="Crie um novo documento." ma:contentTypeScope="" ma:versionID="c3379b84d20a6d06fcaca77f4d02b37a">
  <xsd:schema xmlns:xsd="http://www.w3.org/2001/XMLSchema" xmlns:xs="http://www.w3.org/2001/XMLSchema" xmlns:p="http://schemas.microsoft.com/office/2006/metadata/properties" xmlns:ns2="942d5ec7-aacc-4a5b-a58b-71e198b95712" xmlns:ns3="dd515b78-c394-4c68-913b-64702d1b471e" targetNamespace="http://schemas.microsoft.com/office/2006/metadata/properties" ma:root="true" ma:fieldsID="5590a7ea86eaf6b97fecbb3d40b5a4d0" ns2:_="" ns3:_="">
    <xsd:import namespace="942d5ec7-aacc-4a5b-a58b-71e198b95712"/>
    <xsd:import namespace="dd515b78-c394-4c68-913b-64702d1b47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d5ec7-aacc-4a5b-a58b-71e198b957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553fe116-42e8-49a4-86e5-3f68d57c9f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15b78-c394-4c68-913b-64702d1b471e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de72ad8-281c-4dff-88d1-843eaf0c4a59}" ma:internalName="TaxCatchAll" ma:showField="CatchAllData" ma:web="dd515b78-c394-4c68-913b-64702d1b47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C68EC3-C8C5-46A6-8F7A-E601D4C4A5B3}">
  <ds:schemaRefs>
    <ds:schemaRef ds:uri="http://schemas.microsoft.com/office/2006/metadata/properties"/>
    <ds:schemaRef ds:uri="http://schemas.microsoft.com/office/infopath/2007/PartnerControls"/>
    <ds:schemaRef ds:uri="dd515b78-c394-4c68-913b-64702d1b471e"/>
    <ds:schemaRef ds:uri="942d5ec7-aacc-4a5b-a58b-71e198b95712"/>
  </ds:schemaRefs>
</ds:datastoreItem>
</file>

<file path=customXml/itemProps2.xml><?xml version="1.0" encoding="utf-8"?>
<ds:datastoreItem xmlns:ds="http://schemas.openxmlformats.org/officeDocument/2006/customXml" ds:itemID="{1948D62A-C1DA-49F4-9DE0-17D7BFF271A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D153E20-FF0C-4D22-AD19-60C4C5555A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2d5ec7-aacc-4a5b-a58b-71e198b95712"/>
    <ds:schemaRef ds:uri="dd515b78-c394-4c68-913b-64702d1b47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7537</TotalTime>
  <Words>880</Words>
  <Application>Microsoft Office PowerPoint</Application>
  <PresentationFormat>Widescreen</PresentationFormat>
  <Paragraphs>88</Paragraphs>
  <Slides>15</Slides>
  <Notes>0</Notes>
  <HiddenSlides>1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15</vt:i4>
      </vt:variant>
    </vt:vector>
  </HeadingPairs>
  <TitlesOfParts>
    <vt:vector size="24" baseType="lpstr">
      <vt:lpstr>Montserrat</vt:lpstr>
      <vt:lpstr>Cronos Pro</vt:lpstr>
      <vt:lpstr>Calibri</vt:lpstr>
      <vt:lpstr>Cambria Math</vt:lpstr>
      <vt:lpstr>Arial</vt:lpstr>
      <vt:lpstr>10_Personalizar design</vt:lpstr>
      <vt:lpstr>5_Personalizar design</vt:lpstr>
      <vt:lpstr>6_Personalizar design</vt:lpstr>
      <vt:lpstr>7_Personalizar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Fernando José Ferreira</cp:lastModifiedBy>
  <cp:revision>88</cp:revision>
  <dcterms:created xsi:type="dcterms:W3CDTF">2025-06-11T21:44:24Z</dcterms:created>
  <dcterms:modified xsi:type="dcterms:W3CDTF">2025-12-09T13:22:13Z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0x0101007D1042ECD13DF54ABFD3312BD93AC736</vt:lpwstr>
  </property>
</Properties>
</file>