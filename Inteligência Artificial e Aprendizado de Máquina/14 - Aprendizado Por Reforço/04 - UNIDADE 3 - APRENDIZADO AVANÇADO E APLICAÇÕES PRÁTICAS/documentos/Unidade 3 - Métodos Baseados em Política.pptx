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5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9"/>
  </p:notesMasterIdLst>
  <p:sldIdLst>
    <p:sldId id="26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64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mbria Math" panose="02040503050406030204" pitchFamily="18" charset="0"/>
      <p:regular r:id="rId24"/>
    </p:embeddedFont>
    <p:embeddedFont>
      <p:font typeface="Cronos Pro" panose="020C0502030403020304" charset="0"/>
      <p:regular r:id="rId25"/>
      <p:bold r:id="rId26"/>
      <p: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4162" autoAdjust="0"/>
  </p:normalViewPr>
  <p:slideViewPr>
    <p:cSldViewPr snapToGrid="0">
      <p:cViewPr varScale="1">
        <p:scale>
          <a:sx n="67" d="100"/>
          <a:sy n="67" d="100"/>
        </p:scale>
        <p:origin x="738" y="60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customXml" Target="../customXml/item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76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EA4FD-0F27-A979-52D0-7B39EC193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BB355-F1B5-1AF8-6427-A08C00C7C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D3E99B0-C2EF-F970-5DEF-1AEE84836FF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D3E99B0-C2EF-F970-5DEF-1AEE84836FF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Formalmente, a política é uma função parametrizada — geralmente uma rede neural — que retorna a probabilidade de cada ação possível dado um estado.</a:t>
                </a:r>
              </a:p>
              <a:p>
                <a:r>
                  <a:rPr lang="pt-BR" dirty="0"/>
                  <a:t>O papel do aprendizado é ajustar esses parâmetros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𝜃</a:t>
                </a:r>
                <a:r>
                  <a:rPr lang="pt-BR" dirty="0"/>
                  <a:t>para </a:t>
                </a:r>
                <a:r>
                  <a:rPr lang="pt-BR" b="1" dirty="0"/>
                  <a:t>maximizar a recompensa esperada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Ou seja, não queremos apenas boas ações individuais, mas um comportamento global que maximize o retorno ao longo do tempo.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EF7CD-7E69-B6AE-F4DD-AC3336E91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9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63242-1B42-9978-258C-BE4C74C5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CF820-9F6D-2E64-922B-0D15BD88D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CBC88-7E37-6590-51C4-8667D874D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CD0EF-3A18-4C81-DE77-D0EF03FEE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84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B870E-FE4B-48D7-9585-CB807349B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FCF48-3671-0190-206E-4BBC37234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28975-3603-08E2-0ECA-5E540CA56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9EAB6-BE0B-2A01-0EF3-3CE28F7E8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21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754A-75B0-60D6-057A-FF0829819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593D4-5052-3FCE-494C-44AF49B11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FE404-1191-85B7-9F0B-7A2491A9F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00347-423F-EE70-F1AA-D6570BADA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61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FFC4A-32CD-B6DB-13C8-AEA12F39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B7880-DDBC-07DC-DC85-1CB22AD3C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C5A2C-B0BE-EDC5-2479-08E9AB9CD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58E79-A09C-5763-DC4A-8B9B4F1EC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08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3C2DA-C90B-1A39-D4C8-ABBBE3859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075A6-F4EC-279A-BB9D-8DCD5BEB0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645FB-CDB2-1F84-211B-9B1F11F53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22DE5-923F-7987-BE54-928C3BB7B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37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3C84-AFA8-7FEE-8AE1-8787AA59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49C3C-EFBD-1804-2C2A-F0E04BDD7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169F2-BD9C-4103-9194-FB40F93E2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A155A-BE44-361F-B9CD-43CA492BD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747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1C30B-BEE5-0AD6-99E6-ED41F9241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5C229-D081-1FAC-33F0-9856BC905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CFB67-871D-D666-4665-DFCF04C59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4D325-60B1-EA30-C3A3-9ACD9FB1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12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4E1C-5730-EA73-9BF5-C3439E68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102F8-A74B-E17E-A514-ED8565D55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78B2A-6AD5-7804-65A0-C876EC6E5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21443-429E-CA73-9561-4573F33D2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83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A272B-1081-7B25-A501-9391A2688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22B3E-B28A-EFE9-A0C1-403DE8521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A108B-419E-48C9-4B04-3ACABAEC0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53B6F-38BB-6484-CA70-C1D078878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69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A876E-8B0D-9B95-559A-833F9ACD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5FDC7-EAA7-C478-1D72-EA72B4751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731C0-9DBE-62DD-0E71-6F94C21B9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675B6-7275-20CA-BD6E-2A46D384B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48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15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dilab.github.io/DI-engine/13_envs/pendulum.html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551836"/>
            <a:ext cx="98319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Métodos Baseados em Política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E69F5B64-6542-BA31-2634-410B886A572A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Métodos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baseados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em</a:t>
                </a:r>
                <a:r>
                  <a:rPr lang="en-US" sz="2400" dirty="0"/>
                  <a:t> valor </a:t>
                </a:r>
                <a:r>
                  <a:rPr lang="en-US" sz="2400" dirty="0" err="1"/>
                  <a:t>dependem</a:t>
                </a:r>
                <a:r>
                  <a:rPr lang="en-US" sz="2400" dirty="0"/>
                  <a:t>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Nem sempre é fácil derivar uma boa política a partir de Q;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Para espaços de ação contínuos, o Q-learning se torna inviável;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Solução: aprender </a:t>
                </a:r>
                <a:r>
                  <a:rPr lang="pt-BR" sz="2400" b="1" dirty="0"/>
                  <a:t>a política diretamente</a:t>
                </a:r>
                <a:r>
                  <a:rPr lang="pt-BR" sz="2400" dirty="0"/>
                  <a:t>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E69F5B64-6542-BA31-2634-410B886A5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4BE71B21-1BC2-F131-95F3-E0702391DA7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Motivação: </a:t>
            </a:r>
            <a:r>
              <a:rPr lang="pt-BR" sz="28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aprendendo a política diretamente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F0C10-C877-B1D0-0D57-D010A49C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60F41381-B3D6-3A48-4161-F0107E3D2AA8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A política é uma distribuição de probabilidade sobre ações;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Os parâmetros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sz="2400" dirty="0"/>
                  <a:t> definem o comportamento do agente;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Objetivo: ajustar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sz="2400" dirty="0"/>
                  <a:t> para maximizar o retorno esperado.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60F41381-B3D6-3A48-4161-F0107E3D2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583E2A9B-AA74-0330-DB2F-B64A4370602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Política Parametrizada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077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AF1ED-9AB5-5608-58A5-7C8E56F5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9D225991-9DCA-A87F-252C-94195226811C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𝜋𝜃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𝜋𝜃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)]</m:t>
                          </m:r>
                        </m:e>
                      </m:func>
                    </m:oMath>
                  </m:oMathPara>
                </a14:m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Permite estimar a direção para melhorar a política;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Base para </a:t>
                </a:r>
                <a:r>
                  <a:rPr lang="en-US" sz="2400" dirty="0" err="1"/>
                  <a:t>todos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os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métodos</a:t>
                </a:r>
                <a:r>
                  <a:rPr lang="en-US" sz="2400" dirty="0"/>
                  <a:t> Policy Gradient</a:t>
                </a:r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Usa amostras obtidas do próprio agente.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9D225991-9DCA-A87F-252C-941952268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E93877AD-1337-F33C-2590-E3BB5138D23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O Teorema do Gradiente da Política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783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CCFD6-A054-E65A-661F-7767DEBD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9BE5EF7C-5375-9E55-990F-44620C6CF75E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Executar episódios com a política atual;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Calcular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retorno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de </a:t>
                </a:r>
                <a:r>
                  <a:rPr lang="en-US" sz="2400" dirty="0" err="1"/>
                  <a:t>cada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passo</a:t>
                </a:r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Atualizar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parâmetros</a:t>
                </a:r>
                <a:r>
                  <a:rPr lang="en-US" sz="2400" dirty="0"/>
                  <a:t>:</a:t>
                </a:r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9BE5EF7C-5375-9E55-990F-44620C6CF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502F2F74-B26C-132D-2848-82A14258FA3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Algoritmo REINFORCE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96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9246E-B7A6-5588-75CB-BBE9B3A6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754DFA6-074A-A55A-D2EF-F6DEB7E44CDF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Reforço puro depende de retornos completos;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Pequenas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mudanças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em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 err="1"/>
                  <a:t>geram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grandes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oscilações</a:t>
                </a:r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Solução: introduzir uma </a:t>
                </a:r>
                <a:r>
                  <a:rPr lang="pt-BR" sz="2400" b="1" dirty="0"/>
                  <a:t>baseline</a:t>
                </a:r>
                <a:r>
                  <a:rPr lang="pt-BR" sz="2400" dirty="0"/>
                  <a:t> para reduzir variância;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Exemplo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2400" dirty="0"/>
                  <a:t>, </a:t>
                </a:r>
                <a:r>
                  <a:rPr lang="en-US" sz="2400" dirty="0" err="1"/>
                  <a:t>onde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é o valor </a:t>
                </a:r>
                <a:r>
                  <a:rPr lang="en-US" sz="2400" dirty="0" err="1"/>
                  <a:t>esperado</a:t>
                </a:r>
                <a:r>
                  <a:rPr lang="en-US" sz="2400" dirty="0"/>
                  <a:t> do </a:t>
                </a:r>
                <a:r>
                  <a:rPr lang="en-US" sz="2400" dirty="0" err="1"/>
                  <a:t>estado</a:t>
                </a:r>
                <a:r>
                  <a:rPr lang="pt-BR" sz="2400" dirty="0"/>
                  <a:t>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754DFA6-074A-A55A-D2EF-F6DEB7E44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DB5CC4AD-60A7-C3B3-D808-8C6115C96C7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O problema da alta variância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859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C2C3B-45E5-6F9D-65B3-B9FE7073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881286B3-4BF4-1FE4-9431-85E23F2B5C19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Actor: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escolhe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ações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política</a:t>
                </a:r>
                <a:r>
                  <a:rPr lang="en-US" sz="2400" dirty="0"/>
                  <a:t>)</a:t>
                </a:r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Critic: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avalia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ações</a:t>
                </a:r>
                <a:r>
                  <a:rPr lang="en-US" sz="2400" dirty="0"/>
                  <a:t> (valor)</a:t>
                </a:r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Atualização</a:t>
                </a:r>
                <a:r>
                  <a:rPr lang="en-US" sz="2400" dirty="0"/>
                  <a:t>:</a:t>
                </a:r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en-US" sz="2400" dirty="0"/>
                  <a:t>com</a:t>
                </a:r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881286B3-4BF4-1FE4-9431-85E23F2B5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 b="-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725244DE-5CEB-9B89-A3F1-EC595DA7EBE0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Actor–Critic: separando papéis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250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793B7-6CD8-072D-6751-3736A52A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F22DDDD0-F286-2DB1-CB23-6DF95C182D8A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A2C (Advantage Actor–Critic):</a:t>
                </a:r>
                <a:r>
                  <a:rPr lang="en-US" sz="2400" dirty="0"/>
                  <a:t> </a:t>
                </a:r>
                <a:r>
                  <a:rPr lang="en-US" sz="2400" dirty="0" err="1"/>
                  <a:t>usa</a:t>
                </a:r>
                <a:r>
                  <a:rPr lang="en-US" sz="2400" dirty="0"/>
                  <a:t> a </a:t>
                </a:r>
                <a:r>
                  <a:rPr lang="en-US" sz="2400" dirty="0" err="1"/>
                  <a:t>vantagem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A3C:</a:t>
                </a:r>
                <a:r>
                  <a:rPr lang="pt-BR" sz="2400" dirty="0"/>
                  <a:t> versão assíncrona com múltiplos agentes em paralelo;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Reduz variância e acelera aprendizado.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F22DDDD0-F286-2DB1-CB23-6DF95C182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13B37B2E-F967-8E3B-82DD-F6E99CFDEFD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A2C e A3C: aprendizado paralelo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040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F275E-5BC0-5DB9-AC83-481CDB7D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B7B4507-4995-489B-4BEC-667E8CA10DC6}"/>
                  </a:ext>
                </a:extLst>
              </p:cNvPr>
              <p:cNvSpPr txBox="1"/>
              <p:nvPr/>
            </p:nvSpPr>
            <p:spPr>
              <a:xfrm>
                <a:off x="818874" y="1425148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Proximal Policy Optimization (PPO):</a:t>
                </a:r>
                <a:r>
                  <a:rPr lang="pt-BR" sz="2400" dirty="0"/>
                  <a:t> método estável e eficiente;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Controla o tamanho da atualização da política;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Função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perda</a:t>
                </a:r>
                <a:r>
                  <a:rPr lang="en-US" sz="2400" dirty="0"/>
                  <a:t> “</a:t>
                </a:r>
                <a:r>
                  <a:rPr lang="en-US" sz="2400" dirty="0" err="1"/>
                  <a:t>recortada</a:t>
                </a:r>
                <a:r>
                  <a:rPr lang="en-US" sz="2400" dirty="0"/>
                  <a:t>”: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𝐶𝐿𝐼𝑃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min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𝑐𝑙𝑖𝑝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Amplamente usado em robótica e RLHF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B7B4507-4995-489B-4BEC-667E8CA10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4" y="1425148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 b="-202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7E770707-B61D-2BF0-921C-7F7C7F0CECFB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PPO: o novo padrão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709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B5B1-B8A3-4666-0F57-6B67EE2A9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9855A2C3-1A73-C78E-34B0-7573994D2904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Política retorna média e variância de uma distribuição (ex.: gaussiana);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Amostragem</a:t>
            </a:r>
            <a:r>
              <a:rPr lang="en-US" sz="2400" dirty="0"/>
              <a:t> de </a:t>
            </a:r>
            <a:r>
              <a:rPr lang="en-US" sz="2400" dirty="0" err="1"/>
              <a:t>ações</a:t>
            </a:r>
            <a:r>
              <a:rPr lang="en-US" sz="2400" dirty="0"/>
              <a:t> </a:t>
            </a:r>
            <a:r>
              <a:rPr lang="en-US" sz="2400" dirty="0" err="1"/>
              <a:t>contínuas</a:t>
            </a:r>
            <a:r>
              <a:rPr lang="pt-BR" sz="2400" dirty="0"/>
              <a:t>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Aplicações: robótica, controle, simulações físicas.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ABA9179-BCD5-6E92-DE6A-6FD92587A6C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Espaços de ação contínuos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308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07B0C-8712-5FD1-2100-EF76F150F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A587B34-0E2F-008B-9CB7-937932854FC5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Objetivo: manter o pêndulo equilibrado;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Espaço de ações contínuo → perfeito para Actor–Critic;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 </a:t>
            </a:r>
            <a:r>
              <a:rPr lang="en-US" sz="2400" dirty="0" err="1"/>
              <a:t>agente</a:t>
            </a:r>
            <a:r>
              <a:rPr lang="en-US" sz="2400" dirty="0"/>
              <a:t> </a:t>
            </a:r>
            <a:r>
              <a:rPr lang="en-US" sz="2400" dirty="0" err="1"/>
              <a:t>aprende</a:t>
            </a:r>
            <a:r>
              <a:rPr lang="en-US" sz="2400" dirty="0"/>
              <a:t> </a:t>
            </a:r>
            <a:r>
              <a:rPr lang="en-US" sz="2400" dirty="0" err="1"/>
              <a:t>controle</a:t>
            </a:r>
            <a:r>
              <a:rPr lang="en-US" sz="2400" dirty="0"/>
              <a:t> suave e </a:t>
            </a:r>
            <a:r>
              <a:rPr lang="en-US" sz="2400" dirty="0" err="1"/>
              <a:t>preciso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B21A014-69F9-D614-DAC2-C216E41F66CB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Exemplo Prático: Pendulum-v1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pic>
        <p:nvPicPr>
          <p:cNvPr id="7" name="Picture 6" descr="A red object with a black circle and a black arrow&#10;&#10;AI-generated content may be incorrect.">
            <a:extLst>
              <a:ext uri="{FF2B5EF4-FFF2-40B4-BE49-F238E27FC236}">
                <a16:creationId xmlns:a16="http://schemas.microsoft.com/office/drawing/2014/main" id="{AE0B2D94-6CBB-7311-31CF-1F1B22D48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927" y="3273501"/>
            <a:ext cx="3804557" cy="2719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B294DB-19CB-F60E-CF60-887B01A01271}"/>
              </a:ext>
            </a:extLst>
          </p:cNvPr>
          <p:cNvSpPr txBox="1"/>
          <p:nvPr/>
        </p:nvSpPr>
        <p:spPr>
          <a:xfrm>
            <a:off x="6645319" y="5601059"/>
            <a:ext cx="46939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Disponível</a:t>
            </a:r>
            <a:r>
              <a:rPr lang="en-US" sz="1100" dirty="0"/>
              <a:t> em: </a:t>
            </a:r>
            <a:r>
              <a:rPr lang="pt-BR" sz="1100" dirty="0">
                <a:hlinkClick r:id="rId4"/>
              </a:rPr>
              <a:t>https://opendilab.github.io/DI-engine/13_envs/pendulum.html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68779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BC49-CEB5-E50B-7B91-04212F4F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285A796F-07ED-42C9-C9DE-C3B38FA765F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Comparativo geral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6123000-5B43-69E7-3EFB-2EF917BA0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59722"/>
              </p:ext>
            </p:extLst>
          </p:nvPr>
        </p:nvGraphicFramePr>
        <p:xfrm>
          <a:off x="236664" y="2057106"/>
          <a:ext cx="11718672" cy="3723209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2144983">
                  <a:extLst>
                    <a:ext uri="{9D8B030D-6E8A-4147-A177-3AD203B41FA5}">
                      <a16:colId xmlns:a16="http://schemas.microsoft.com/office/drawing/2014/main" val="2858515568"/>
                    </a:ext>
                  </a:extLst>
                </a:gridCol>
                <a:gridCol w="2935622">
                  <a:extLst>
                    <a:ext uri="{9D8B030D-6E8A-4147-A177-3AD203B41FA5}">
                      <a16:colId xmlns:a16="http://schemas.microsoft.com/office/drawing/2014/main" val="180149156"/>
                    </a:ext>
                  </a:extLst>
                </a:gridCol>
                <a:gridCol w="3796237">
                  <a:extLst>
                    <a:ext uri="{9D8B030D-6E8A-4147-A177-3AD203B41FA5}">
                      <a16:colId xmlns:a16="http://schemas.microsoft.com/office/drawing/2014/main" val="1868082468"/>
                    </a:ext>
                  </a:extLst>
                </a:gridCol>
                <a:gridCol w="2841830">
                  <a:extLst>
                    <a:ext uri="{9D8B030D-6E8A-4147-A177-3AD203B41FA5}">
                      <a16:colId xmlns:a16="http://schemas.microsoft.com/office/drawing/2014/main" val="90700332"/>
                    </a:ext>
                  </a:extLst>
                </a:gridCol>
              </a:tblGrid>
              <a:tr h="560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Método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Tipo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Pontos fortes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Limitações</a:t>
                      </a:r>
                    </a:p>
                  </a:txBody>
                  <a:tcPr marL="98846" marR="98846" marT="49423" marB="49423" anchor="ctr"/>
                </a:tc>
                <a:extLst>
                  <a:ext uri="{0D108BD9-81ED-4DB2-BD59-A6C34878D82A}">
                    <a16:rowId xmlns:a16="http://schemas.microsoft.com/office/drawing/2014/main" val="314234268"/>
                  </a:ext>
                </a:extLst>
              </a:tr>
              <a:tr h="1021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Q-Learning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Valor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Simples, estável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Difícil com ações contínuas</a:t>
                      </a:r>
                    </a:p>
                  </a:txBody>
                  <a:tcPr marL="98846" marR="98846" marT="49423" marB="49423" anchor="ctr"/>
                </a:tc>
                <a:extLst>
                  <a:ext uri="{0D108BD9-81ED-4DB2-BD59-A6C34878D82A}">
                    <a16:rowId xmlns:a16="http://schemas.microsoft.com/office/drawing/2014/main" val="2443803605"/>
                  </a:ext>
                </a:extLst>
              </a:tr>
              <a:tr h="560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REINFORCE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Política pura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Intuitivo, direto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Alta variância</a:t>
                      </a:r>
                    </a:p>
                  </a:txBody>
                  <a:tcPr marL="98846" marR="98846" marT="49423" marB="49423" anchor="ctr"/>
                </a:tc>
                <a:extLst>
                  <a:ext uri="{0D108BD9-81ED-4DB2-BD59-A6C34878D82A}">
                    <a16:rowId xmlns:a16="http://schemas.microsoft.com/office/drawing/2014/main" val="825640347"/>
                  </a:ext>
                </a:extLst>
              </a:tr>
              <a:tr h="560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Actor–Critic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Política + valor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Estável, eficiente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Mais complexo</a:t>
                      </a:r>
                    </a:p>
                  </a:txBody>
                  <a:tcPr marL="98846" marR="98846" marT="49423" marB="49423" anchor="ctr"/>
                </a:tc>
                <a:extLst>
                  <a:ext uri="{0D108BD9-81ED-4DB2-BD59-A6C34878D82A}">
                    <a16:rowId xmlns:a16="http://schemas.microsoft.com/office/drawing/2014/main" val="3022347158"/>
                  </a:ext>
                </a:extLst>
              </a:tr>
              <a:tr h="1021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PPO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Política avançada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Atualização controlada</a:t>
                      </a:r>
                    </a:p>
                  </a:txBody>
                  <a:tcPr marL="98846" marR="98846" marT="49423" marB="494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dirty="0" err="1"/>
                        <a:t>Requer</a:t>
                      </a:r>
                      <a:r>
                        <a:rPr lang="en-US" sz="3000" dirty="0"/>
                        <a:t> tuning</a:t>
                      </a:r>
                    </a:p>
                  </a:txBody>
                  <a:tcPr marL="98846" marR="98846" marT="49423" marB="49423" anchor="ctr"/>
                </a:tc>
                <a:extLst>
                  <a:ext uri="{0D108BD9-81ED-4DB2-BD59-A6C34878D82A}">
                    <a16:rowId xmlns:a16="http://schemas.microsoft.com/office/drawing/2014/main" val="1539109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946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2EB6F-5487-6C42-4957-6B27C798F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5CC34DB9-72D6-DC39-65D2-09C0940A728B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Métodos baseados em política → alternativa direta ao DQN;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Aprendem ações contínuas e comportamentos estáveis;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Base de </a:t>
            </a:r>
            <a:r>
              <a:rPr lang="en-US" sz="2400" dirty="0" err="1"/>
              <a:t>algoritmos</a:t>
            </a:r>
            <a:r>
              <a:rPr lang="en-US" sz="2400" dirty="0"/>
              <a:t> </a:t>
            </a:r>
            <a:r>
              <a:rPr lang="en-US" sz="2400" dirty="0" err="1"/>
              <a:t>modernos</a:t>
            </a:r>
            <a:r>
              <a:rPr lang="en-US" sz="2400" dirty="0"/>
              <a:t>: PPO, SAC, TRPO.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5228C7C-AEC4-C0C6-1BBE-0AFA148526F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Conclusão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100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0c840ce6b72e534b18f8b130aa18f4c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81d42af92cf0d6c6ca1f81162ee3983b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A23E9ED-55FD-494A-A63E-9F4684478074}"/>
</file>

<file path=customXml/itemProps2.xml><?xml version="1.0" encoding="utf-8"?>
<ds:datastoreItem xmlns:ds="http://schemas.openxmlformats.org/officeDocument/2006/customXml" ds:itemID="{F5575325-55A7-4CA6-B668-E3DC12AC8815}"/>
</file>

<file path=customXml/itemProps3.xml><?xml version="1.0" encoding="utf-8"?>
<ds:datastoreItem xmlns:ds="http://schemas.openxmlformats.org/officeDocument/2006/customXml" ds:itemID="{E41BF22C-C961-4AD7-8C6A-1F8ECD75BBC3}"/>
</file>

<file path=docProps/app.xml><?xml version="1.0" encoding="utf-8"?>
<Properties xmlns="http://schemas.openxmlformats.org/officeDocument/2006/extended-properties" xmlns:vt="http://schemas.openxmlformats.org/officeDocument/2006/docPropsVTypes">
  <TotalTime>12855</TotalTime>
  <Words>505</Words>
  <Application>Microsoft Office PowerPoint</Application>
  <PresentationFormat>Widescreen</PresentationFormat>
  <Paragraphs>105</Paragraphs>
  <Slides>14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14</vt:i4>
      </vt:variant>
    </vt:vector>
  </HeadingPairs>
  <TitlesOfParts>
    <vt:vector size="25" baseType="lpstr">
      <vt:lpstr>Montserrat</vt:lpstr>
      <vt:lpstr>Arial</vt:lpstr>
      <vt:lpstr>Cronos Pro</vt:lpstr>
      <vt:lpstr>Wingdings</vt:lpstr>
      <vt:lpstr>Calibri</vt:lpstr>
      <vt:lpstr>Cambria Math</vt:lpstr>
      <vt:lpstr>Aptos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95</cp:revision>
  <dcterms:created xsi:type="dcterms:W3CDTF">2025-06-11T21:44:24Z</dcterms:created>
  <dcterms:modified xsi:type="dcterms:W3CDTF">2026-01-28T17:26:36Z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