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9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17"/>
  </p:notesMasterIdLst>
  <p:sldIdLst>
    <p:sldId id="268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64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ronos Pro" panose="020C0502030403020304" charset="0"/>
      <p:regular r:id="rId22"/>
      <p:bold r:id="rId23"/>
      <p:italic r:id="rId24"/>
    </p:embeddedFont>
    <p:embeddedFont>
      <p:font typeface="Montserrat" panose="00000500000000000000" pitchFamily="2" charset="0"/>
      <p:regular r:id="rId25"/>
      <p:bold r:id="rId26"/>
      <p:italic r:id="rId27"/>
      <p:boldItalic r:id="rId28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597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30"/>
    <a:srgbClr val="2087C6"/>
    <a:srgbClr val="379FDE"/>
    <a:srgbClr val="4BA8DE"/>
    <a:srgbClr val="E6E6E6"/>
    <a:srgbClr val="43A9E7"/>
    <a:srgbClr val="56B6F1"/>
    <a:srgbClr val="FFD639"/>
    <a:srgbClr val="1772A5"/>
    <a:srgbClr val="3CA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162" autoAdjust="0"/>
  </p:normalViewPr>
  <p:slideViewPr>
    <p:cSldViewPr snapToGrid="0">
      <p:cViewPr varScale="1">
        <p:scale>
          <a:sx n="71" d="100"/>
          <a:sy n="71" d="100"/>
        </p:scale>
        <p:origin x="576" y="66"/>
      </p:cViewPr>
      <p:guideLst>
        <p:guide orient="horz" pos="3725"/>
        <p:guide pos="597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34" Type="http://schemas.openxmlformats.org/officeDocument/2006/relationships/customXml" Target="../customXml/item2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45A95-A2DF-4770-B285-FE21F9240552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52A541-A226-4611-A5F2-C8546E102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45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76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49DDB-8761-5369-1FA8-5EA12A46F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73252D-61CE-566C-36EB-51620D361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6B814-D229-6608-F8B8-755E86536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D2E73-18A2-A3F1-FF9F-704C531344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91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E2427-6BF1-F7F6-21C7-C35CF37DB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9B6A07-B8D0-A7E5-BBAA-E889B6859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D946BE-29F3-B3C1-8669-2E5AB85D0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B8DA17-239A-D389-50BB-D50486E30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7054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5D72A-A2B0-3BE3-4D51-B1EAC7749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28B5F8-D96A-752B-CD3F-C1CD2F655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5142C-4B0C-B5A4-C62E-28A391FB7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8AE3A-44D5-9FF2-D485-C9CCBB540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291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57846-FB14-B42D-64C8-351F6AAD9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F8794-0F15-0F32-D793-81E5353CB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7B8BE-E8FA-ADD6-8CEA-DD63BE021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F2EF0-609B-5842-E75A-871C8F360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872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DA0A7-FD97-54C5-1BB7-EC0D0A5E3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71BC2-227B-0D60-72FC-C627AFE34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FDACB-0E0A-247A-33A8-394585188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16166-7A34-5F42-D22F-C7E11BA41E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609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EB10F-3500-BEF2-6B90-17E8B00A2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A91A9-E45F-81AA-6785-425EDBEA2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EB826C-66CB-0CAC-5DB9-A4F916827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41094-C4F2-2F1C-B778-579E5D46C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75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A0077-89E0-2DE9-A6E5-049052BD2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F7EB17-D446-6A35-A22B-4362F8A68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6DA58-0ACC-6CBF-5310-67547C13A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C8547-5497-7B73-8A5E-87B2A877D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84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114A5-40E3-B06A-BD0B-BB3DFEF26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12BF90-96BA-9E67-6C0F-571C33565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CD2866-9616-3800-1427-D55A5526D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B1A9A-8F29-BD42-BF48-EAE61EDB0C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777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C95D3-8B37-43DF-BCD0-4FCB9EA85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91BEB0-4819-1E85-536B-73BECD9E8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A05DE2-8AA9-BAA8-EFF0-1D2758327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78131-2168-A9A0-0157-3DBE5B93E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503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344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pFooter">
            <a:extLst>
              <a:ext uri="{FF2B5EF4-FFF2-40B4-BE49-F238E27FC236}">
                <a16:creationId xmlns:a16="http://schemas.microsoft.com/office/drawing/2014/main" id="{3811FE2C-F4C3-42BF-A394-5DCBACE4206D}"/>
              </a:ext>
            </a:extLst>
          </p:cNvPr>
          <p:cNvSpPr txBox="1"/>
          <p:nvPr/>
        </p:nvSpPr>
        <p:spPr bwMode="auto">
          <a:xfrm>
            <a:off x="957294" y="6373144"/>
            <a:ext cx="60753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defTabSz="4571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1000" dirty="0">
                <a:solidFill>
                  <a:srgbClr val="3CA3E1"/>
                </a:solidFill>
                <a:latin typeface="Cronos Pro" panose="020C0502030403020304" pitchFamily="34" charset="0"/>
              </a:rPr>
              <a:t>PUC MINAS</a:t>
            </a:r>
            <a:endParaRPr lang="en-ID" sz="1100" b="1" dirty="0">
              <a:solidFill>
                <a:srgbClr val="3CA3E1"/>
              </a:solidFill>
              <a:latin typeface="Cronos Pro" panose="020C0502030403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66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1" y="2617917"/>
            <a:ext cx="10674532" cy="175432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pt-BR" sz="54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Aplicações Reais e Tendências</a:t>
            </a:r>
            <a:endParaRPr lang="en-ID" sz="54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730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8118-FB53-4D43-9C26-6F69F58B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E69F5B64-6542-BA31-2634-410B886A572A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RL evoluiu de simulações simples para aplicações industriais;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Usa-se em jogos, controle, saúde, finanças e IA generativa;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 integração com </a:t>
            </a:r>
            <a:r>
              <a:rPr lang="pt-BR" sz="2400" i="1" dirty="0"/>
              <a:t>Deep Learning</a:t>
            </a:r>
            <a:r>
              <a:rPr lang="pt-BR" sz="2400" dirty="0"/>
              <a:t> foi o divisor de águas.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BE71B21-1BC2-F131-95F3-E0702391DA7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Do laboratório ao mundo real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948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AA56C-D54B-644A-09F2-11D7F1395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9BD1580-D312-B3F6-7B80-8B1DE472A05B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Controle de braços robóticos e drones;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Ações contínuas → métodos baseados em política (PPO, SAC);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i="1" dirty="0"/>
              <a:t>Sim2Real</a:t>
            </a:r>
            <a:r>
              <a:rPr lang="pt-BR" sz="2400" dirty="0"/>
              <a:t>: treinar em simulação, transferir ao mundo real.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14EA5607-45D6-86E6-7EB1-505D591F4316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Robótica: aprendizado em movimento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297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099F-8669-7B28-0527-9732CF688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70E90E9-622C-2AD3-A30E-58A3E6DB66F3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Cada semáforo → um agente autônomo;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Recompensa → fluxo médio de veículos;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Coordenação</a:t>
            </a:r>
            <a:r>
              <a:rPr lang="en-US" sz="2400" dirty="0"/>
              <a:t> → MARL (Multi-Agent RL);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Aplicações: portos, armazéns, energia, transporte urbano.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C9F23B82-682D-E1F5-B793-BAD698CF8EE8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Controle de tráfego e logística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428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020E8-DACB-A0FA-2FD9-A7CED4F83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90131145-9EBD-67AE-59FD-D5C94E4965A5}"/>
              </a:ext>
            </a:extLst>
          </p:cNvPr>
          <p:cNvSpPr txBox="1"/>
          <p:nvPr/>
        </p:nvSpPr>
        <p:spPr>
          <a:xfrm>
            <a:off x="833161" y="1897476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RL </a:t>
            </a:r>
            <a:r>
              <a:rPr lang="en-US" sz="2400" dirty="0" err="1"/>
              <a:t>como</a:t>
            </a:r>
            <a:r>
              <a:rPr lang="en-US" sz="2400" dirty="0"/>
              <a:t> ferramenta de </a:t>
            </a:r>
            <a:r>
              <a:rPr lang="en-US" sz="2400" dirty="0" err="1"/>
              <a:t>aprendizado</a:t>
            </a:r>
            <a:r>
              <a:rPr lang="en-US" sz="2400" dirty="0"/>
              <a:t> </a:t>
            </a:r>
            <a:r>
              <a:rPr lang="en-US" sz="2400" dirty="0" err="1"/>
              <a:t>estratégico</a:t>
            </a:r>
            <a:r>
              <a:rPr lang="pt-BR" sz="2400" dirty="0"/>
              <a:t>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Casos </a:t>
            </a:r>
            <a:r>
              <a:rPr lang="en-US" sz="2400" dirty="0" err="1"/>
              <a:t>marcantes</a:t>
            </a:r>
            <a:r>
              <a:rPr lang="en-US" sz="2400" dirty="0"/>
              <a:t>:</a:t>
            </a:r>
          </a:p>
          <a:p>
            <a:pPr marL="1257300" lvl="2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AlphaGo (Go);</a:t>
            </a:r>
          </a:p>
          <a:p>
            <a:pPr marL="1257300" lvl="2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AlphaStar</a:t>
            </a:r>
            <a:r>
              <a:rPr lang="en-US" sz="2400" dirty="0"/>
              <a:t> (StarCraft II);</a:t>
            </a:r>
          </a:p>
          <a:p>
            <a:pPr marL="1257300" lvl="2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OpenAI Five (Dota 2);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Aprendizado cooperativo e competitivo em larga escala.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2D1188BF-8885-0B53-FDFB-3DAD311BEF54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Games e simulações complexas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674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8F5FF-7323-128E-83AB-979B69848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CEAE3DF2-2E10-5F97-B9D0-3C254F1F53F9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RL aplicado a carteiras, trading e precificação dinâmica;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Ações contínuas → ajustes suaves em estratégias;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Desafios</a:t>
            </a:r>
            <a:r>
              <a:rPr lang="en-US" sz="2400" dirty="0"/>
              <a:t>: </a:t>
            </a:r>
            <a:r>
              <a:rPr lang="en-US" sz="2400" dirty="0" err="1"/>
              <a:t>ruído</a:t>
            </a:r>
            <a:r>
              <a:rPr lang="en-US" sz="2400" dirty="0"/>
              <a:t>, </a:t>
            </a:r>
            <a:r>
              <a:rPr lang="en-US" sz="2400" dirty="0" err="1"/>
              <a:t>não</a:t>
            </a:r>
            <a:r>
              <a:rPr lang="en-US" sz="2400" dirty="0"/>
              <a:t> </a:t>
            </a:r>
            <a:r>
              <a:rPr lang="en-US" sz="2400" dirty="0" err="1"/>
              <a:t>estacionariedade</a:t>
            </a:r>
            <a:r>
              <a:rPr lang="en-US" sz="2400" dirty="0"/>
              <a:t>, </a:t>
            </a:r>
            <a:r>
              <a:rPr lang="en-US" sz="2400" dirty="0" err="1"/>
              <a:t>risco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CC2C526-864B-5EB8-160E-972A75E20C00}"/>
              </a:ext>
            </a:extLst>
          </p:cNvPr>
          <p:cNvSpPr txBox="1"/>
          <p:nvPr/>
        </p:nvSpPr>
        <p:spPr>
          <a:xfrm>
            <a:off x="862833" y="727501"/>
            <a:ext cx="10619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Finanças e tomada de decisão sequencial</a:t>
            </a:r>
            <a:endParaRPr lang="en-ID" sz="36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377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7B2A1-62DE-BF38-2E26-4F225A587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3E637FF6-BC8E-AC18-F19D-D8391D7F4AC8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Personalização de tratamentos e dosagens;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Modelagem de pacientes como ambientes de RL;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Aprendizado com dados parciais e feedbacks humanos;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Ênfase em </a:t>
            </a:r>
            <a:r>
              <a:rPr lang="pt-BR" sz="2400" i="1" dirty="0"/>
              <a:t>Safe RL</a:t>
            </a:r>
            <a:r>
              <a:rPr lang="pt-BR" sz="2400" dirty="0"/>
              <a:t> e </a:t>
            </a:r>
            <a:r>
              <a:rPr lang="pt-BR" sz="2400" i="1" dirty="0"/>
              <a:t>Offline RL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662AF05-3D56-745F-A18D-23E5EF9ACA8E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Saúde e Medicina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478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21AC1-11F4-1070-4460-D556F5A72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79791322-746F-486D-AD97-E7C0B8FFA3F4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Coordenação de múltiplos agentes inteligentes;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Paradigma CTDE (treino centralizado, execução descentralizada);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Aplicações: robótica em grupo, defesa, simulações sociais.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3BC90D5-E0A1-5D23-204B-24FB049AA634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Deep Multi-Agent RL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034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E2AAA-FEB6-3015-BA09-18BC5EB96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C75D7A6D-A726-9E04-42C3-65037277857E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Combina</a:t>
            </a:r>
            <a:r>
              <a:rPr lang="en-US" sz="2400" dirty="0"/>
              <a:t> </a:t>
            </a:r>
            <a:r>
              <a:rPr lang="en-US" sz="2400" dirty="0" err="1"/>
              <a:t>aprendizado</a:t>
            </a:r>
            <a:r>
              <a:rPr lang="en-US" sz="2400" dirty="0"/>
              <a:t> </a:t>
            </a:r>
            <a:r>
              <a:rPr lang="en-US" sz="2400" dirty="0" err="1"/>
              <a:t>supervisionado</a:t>
            </a:r>
            <a:r>
              <a:rPr lang="en-US" sz="2400" dirty="0"/>
              <a:t> + </a:t>
            </a:r>
            <a:r>
              <a:rPr lang="en-US" sz="2400" dirty="0" err="1"/>
              <a:t>reforço</a:t>
            </a:r>
            <a:r>
              <a:rPr lang="pt-BR" sz="2400" dirty="0"/>
              <a:t>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Modelo de recompensa treinado com feedback humano;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Política </a:t>
            </a:r>
            <a:r>
              <a:rPr lang="en-US" sz="2400" dirty="0" err="1"/>
              <a:t>ajustada</a:t>
            </a:r>
            <a:r>
              <a:rPr lang="en-US" sz="2400" dirty="0"/>
              <a:t> via PPO;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Base de LLMs </a:t>
            </a:r>
            <a:r>
              <a:rPr lang="en-US" sz="2400" dirty="0" err="1"/>
              <a:t>modernos</a:t>
            </a:r>
            <a:r>
              <a:rPr lang="en-US" sz="2400" dirty="0"/>
              <a:t> (ChatGPT, Claude, Gemini)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14645622-91C5-CC5C-465F-D3C27E74B334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RLHF: </a:t>
            </a:r>
            <a:r>
              <a:rPr lang="en-US" sz="24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Reinforcement Learning from Human Feedback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291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84FBF-29C2-CDA3-AB72-FA18B916D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5CEB541C-838B-1945-FC4E-C211C9B76AF7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i="1" dirty="0"/>
              <a:t>Hierarchical RL</a:t>
            </a:r>
            <a:r>
              <a:rPr lang="pt-BR" sz="2400" dirty="0"/>
              <a:t>: divide tarefas em subpolíticas;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i="1" dirty="0"/>
              <a:t>World Models</a:t>
            </a:r>
            <a:r>
              <a:rPr lang="pt-BR" sz="2400" dirty="0"/>
              <a:t>: agentes aprendem um modelo interno do ambiente;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Mais eficiência, menos dependência de dados reais.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8F6150A-9078-8C4E-3546-C0FBDD9B71A2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Hierarchical e World Models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87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31F2C-0313-4A39-C443-257CF2182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756BE514-E0E5-1430-71D6-18AEC40DD57B}"/>
              </a:ext>
            </a:extLst>
          </p:cNvPr>
          <p:cNvSpPr txBox="1"/>
          <p:nvPr/>
        </p:nvSpPr>
        <p:spPr>
          <a:xfrm>
            <a:off x="833161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Aprendizado em larga escala e contínuo;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Integração com LLMs e agentes cognitivos;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RL + simulação social e ética;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Busca por generalização, segurança e alinhamento.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252FC79-746D-360C-889C-9C97A8A8569C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Tendências e Direções Futuras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242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0c840ce6b72e534b18f8b130aa18f4c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81d42af92cf0d6c6ca1f81162ee3983b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A7FA79A-0DDA-42C3-90E7-51162138DBE6}"/>
</file>

<file path=customXml/itemProps2.xml><?xml version="1.0" encoding="utf-8"?>
<ds:datastoreItem xmlns:ds="http://schemas.openxmlformats.org/officeDocument/2006/customXml" ds:itemID="{2FA3EFFB-7F7F-4C39-BD84-252AEB3ED8DE}"/>
</file>

<file path=customXml/itemProps3.xml><?xml version="1.0" encoding="utf-8"?>
<ds:datastoreItem xmlns:ds="http://schemas.openxmlformats.org/officeDocument/2006/customXml" ds:itemID="{7F8948BA-5894-4358-B465-5F59645BB45E}"/>
</file>

<file path=docProps/app.xml><?xml version="1.0" encoding="utf-8"?>
<Properties xmlns="http://schemas.openxmlformats.org/officeDocument/2006/extended-properties" xmlns:vt="http://schemas.openxmlformats.org/officeDocument/2006/docPropsVTypes">
  <TotalTime>21732</TotalTime>
  <Words>360</Words>
  <Application>Microsoft Office PowerPoint</Application>
  <PresentationFormat>Widescreen</PresentationFormat>
  <Paragraphs>68</Paragraphs>
  <Slides>12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12</vt:i4>
      </vt:variant>
    </vt:vector>
  </HeadingPairs>
  <TitlesOfParts>
    <vt:vector size="22" baseType="lpstr">
      <vt:lpstr>Arial</vt:lpstr>
      <vt:lpstr>Wingdings</vt:lpstr>
      <vt:lpstr>Calibri</vt:lpstr>
      <vt:lpstr>Aptos</vt:lpstr>
      <vt:lpstr>Montserrat</vt:lpstr>
      <vt:lpstr>Cronos Pro</vt:lpstr>
      <vt:lpstr>10_Personalizar design</vt:lpstr>
      <vt:lpstr>5_Personalizar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Marilane de Almeida Silva Casorla</cp:lastModifiedBy>
  <cp:revision>94</cp:revision>
  <dcterms:created xsi:type="dcterms:W3CDTF">2025-06-11T21:44:24Z</dcterms:created>
  <dcterms:modified xsi:type="dcterms:W3CDTF">2026-01-28T17:32:00Z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