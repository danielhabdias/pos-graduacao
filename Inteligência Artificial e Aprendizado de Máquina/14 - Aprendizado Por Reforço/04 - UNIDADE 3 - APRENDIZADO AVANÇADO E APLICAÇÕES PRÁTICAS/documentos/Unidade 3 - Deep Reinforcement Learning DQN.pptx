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5" r:id="rId1"/>
    <p:sldMasterId id="2147483672" r:id="rId2"/>
    <p:sldMasterId id="2147483675" r:id="rId3"/>
    <p:sldMasterId id="2147483677" r:id="rId4"/>
  </p:sldMasterIdLst>
  <p:notesMasterIdLst>
    <p:notesMasterId r:id="rId20"/>
  </p:notesMasterIdLst>
  <p:sldIdLst>
    <p:sldId id="268" r:id="rId5"/>
    <p:sldId id="280" r:id="rId6"/>
    <p:sldId id="281" r:id="rId7"/>
    <p:sldId id="282" r:id="rId8"/>
    <p:sldId id="284" r:id="rId9"/>
    <p:sldId id="285" r:id="rId10"/>
    <p:sldId id="286" r:id="rId11"/>
    <p:sldId id="287" r:id="rId12"/>
    <p:sldId id="288" r:id="rId13"/>
    <p:sldId id="289" r:id="rId14"/>
    <p:sldId id="290" r:id="rId15"/>
    <p:sldId id="291" r:id="rId16"/>
    <p:sldId id="283" r:id="rId17"/>
    <p:sldId id="292" r:id="rId18"/>
    <p:sldId id="264" r:id="rId19"/>
  </p:sldIdLst>
  <p:sldSz cx="12192000" cy="6858000"/>
  <p:notesSz cx="6858000" cy="9144000"/>
  <p:embeddedFontLs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Cambria Math" panose="02040503050406030204" pitchFamily="18" charset="0"/>
      <p:regular r:id="rId25"/>
    </p:embeddedFont>
    <p:embeddedFont>
      <p:font typeface="Cronos Pro" panose="020C0502030403020304" charset="0"/>
      <p:regular r:id="rId26"/>
      <p:bold r:id="rId27"/>
      <p:italic r:id="rId28"/>
    </p:embeddedFont>
    <p:embeddedFont>
      <p:font typeface="Montserrat" panose="00000500000000000000" pitchFamily="2" charset="0"/>
      <p:regular r:id="rId29"/>
      <p:bold r:id="rId30"/>
      <p:italic r:id="rId31"/>
      <p:boldItalic r:id="rId32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3725" userDrawn="1">
          <p15:clr>
            <a:srgbClr val="A4A3A4"/>
          </p15:clr>
        </p15:guide>
        <p15:guide id="6" pos="597" userDrawn="1">
          <p15:clr>
            <a:srgbClr val="A4A3A4"/>
          </p15:clr>
        </p15:guide>
        <p15:guide id="7" pos="7401" userDrawn="1">
          <p15:clr>
            <a:srgbClr val="A4A3A4"/>
          </p15:clr>
        </p15:guide>
        <p15:guide id="8" orient="horz" pos="5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230"/>
    <a:srgbClr val="2087C6"/>
    <a:srgbClr val="379FDE"/>
    <a:srgbClr val="4BA8DE"/>
    <a:srgbClr val="E6E6E6"/>
    <a:srgbClr val="43A9E7"/>
    <a:srgbClr val="56B6F1"/>
    <a:srgbClr val="FFD639"/>
    <a:srgbClr val="1772A5"/>
    <a:srgbClr val="3CA3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94162" autoAdjust="0"/>
  </p:normalViewPr>
  <p:slideViewPr>
    <p:cSldViewPr snapToGrid="0">
      <p:cViewPr>
        <p:scale>
          <a:sx n="70" d="100"/>
          <a:sy n="70" d="100"/>
        </p:scale>
        <p:origin x="618" y="84"/>
      </p:cViewPr>
      <p:guideLst>
        <p:guide orient="horz" pos="3725"/>
        <p:guide pos="597"/>
        <p:guide pos="7401"/>
        <p:guide orient="horz" pos="55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6.fntdata"/><Relationship Id="rId39" Type="http://schemas.openxmlformats.org/officeDocument/2006/relationships/customXml" Target="../customXml/item3.xml"/><Relationship Id="rId21" Type="http://schemas.openxmlformats.org/officeDocument/2006/relationships/font" Target="fonts/font1.fntdata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5.fntdata"/><Relationship Id="rId33" Type="http://schemas.openxmlformats.org/officeDocument/2006/relationships/presProps" Target="presProps.xml"/><Relationship Id="rId38" Type="http://schemas.openxmlformats.org/officeDocument/2006/relationships/customXml" Target="../customXml/item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customXml" Target="../customXml/item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11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645A95-A2DF-4770-B285-FE21F9240552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52A541-A226-4611-A5F2-C8546E102C6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545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1766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E284F-7C3C-7F60-BD98-52EB1DA49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9D0639-D181-CFE3-5060-E55978A964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1A598121-1D16-EE89-93B6-6CEEF8B9F3A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1A598121-1D16-EE89-93B6-6CEEF8B9F3A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Antes, </a:t>
                </a:r>
                <a:r>
                  <a:rPr lang="en-US" dirty="0" err="1"/>
                  <a:t>representávamos</a:t>
                </a:r>
                <a:r>
                  <a:rPr lang="en-US" dirty="0"/>
                  <a:t> o valor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𝑄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(𝑠ⓜ,𝑎)</a:t>
                </a:r>
                <a:r>
                  <a:rPr lang="en-US" dirty="0" err="1"/>
                  <a:t>como</a:t>
                </a:r>
                <a:r>
                  <a:rPr lang="en-US" dirty="0"/>
                  <a:t> </a:t>
                </a:r>
                <a:r>
                  <a:rPr lang="en-US" dirty="0" err="1"/>
                  <a:t>uma</a:t>
                </a:r>
                <a:r>
                  <a:rPr lang="en-US" dirty="0"/>
                  <a:t> soma </a:t>
                </a:r>
                <a:r>
                  <a:rPr lang="en-US" dirty="0" err="1"/>
                  <a:t>ponderada</a:t>
                </a:r>
                <a:r>
                  <a:rPr lang="en-US" dirty="0"/>
                  <a:t> de </a:t>
                </a:r>
                <a:r>
                  <a:rPr lang="en-US" dirty="0" err="1"/>
                  <a:t>variáveis</a:t>
                </a:r>
                <a:r>
                  <a:rPr lang="en-US" dirty="0"/>
                  <a:t> — um </a:t>
                </a:r>
                <a:r>
                  <a:rPr lang="en-US" dirty="0" err="1"/>
                  <a:t>modelo</a:t>
                </a:r>
                <a:r>
                  <a:rPr lang="en-US" dirty="0"/>
                  <a:t> linear.</a:t>
                </a:r>
                <a:br>
                  <a:rPr lang="en-US" dirty="0"/>
                </a:br>
                <a:r>
                  <a:rPr lang="en-US" dirty="0"/>
                  <a:t>Agora, </a:t>
                </a:r>
                <a:r>
                  <a:rPr lang="en-US" dirty="0" err="1"/>
                  <a:t>substituímos</a:t>
                </a:r>
                <a:r>
                  <a:rPr lang="en-US" dirty="0"/>
                  <a:t> </a:t>
                </a:r>
                <a:r>
                  <a:rPr lang="en-US" dirty="0" err="1"/>
                  <a:t>essa</a:t>
                </a:r>
                <a:r>
                  <a:rPr lang="en-US" dirty="0"/>
                  <a:t> </a:t>
                </a:r>
                <a:r>
                  <a:rPr lang="en-US" dirty="0" err="1"/>
                  <a:t>relação</a:t>
                </a:r>
                <a:r>
                  <a:rPr lang="en-US" dirty="0"/>
                  <a:t> simples </a:t>
                </a:r>
                <a:r>
                  <a:rPr lang="en-US" dirty="0" err="1"/>
                  <a:t>por</a:t>
                </a:r>
                <a:r>
                  <a:rPr lang="en-US" dirty="0"/>
                  <a:t> </a:t>
                </a:r>
                <a:r>
                  <a:rPr lang="en-US" dirty="0" err="1"/>
                  <a:t>uma</a:t>
                </a:r>
                <a:r>
                  <a:rPr lang="en-US" dirty="0"/>
                  <a:t> </a:t>
                </a:r>
                <a:r>
                  <a:rPr lang="en-US" b="1" dirty="0"/>
                  <a:t>rede neural</a:t>
                </a:r>
                <a:r>
                  <a:rPr lang="en-US" dirty="0"/>
                  <a:t> </a:t>
                </a:r>
                <a:r>
                  <a:rPr lang="en-US" dirty="0" err="1"/>
                  <a:t>capaz</a:t>
                </a:r>
                <a:r>
                  <a:rPr lang="en-US" dirty="0"/>
                  <a:t> de </a:t>
                </a:r>
                <a:r>
                  <a:rPr lang="en-US" dirty="0" err="1"/>
                  <a:t>aprender</a:t>
                </a:r>
                <a:r>
                  <a:rPr lang="en-US" dirty="0"/>
                  <a:t> </a:t>
                </a:r>
                <a:r>
                  <a:rPr lang="en-US" dirty="0" err="1"/>
                  <a:t>representações</a:t>
                </a:r>
                <a:r>
                  <a:rPr lang="en-US" dirty="0"/>
                  <a:t> </a:t>
                </a:r>
                <a:r>
                  <a:rPr lang="en-US" dirty="0" err="1"/>
                  <a:t>muito</a:t>
                </a:r>
                <a:r>
                  <a:rPr lang="en-US" dirty="0"/>
                  <a:t> </a:t>
                </a:r>
                <a:r>
                  <a:rPr lang="en-US" dirty="0" err="1"/>
                  <a:t>mais</a:t>
                </a:r>
                <a:r>
                  <a:rPr lang="en-US" dirty="0"/>
                  <a:t> </a:t>
                </a:r>
                <a:r>
                  <a:rPr lang="en-US" dirty="0" err="1"/>
                  <a:t>complexas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Essa rede </a:t>
                </a:r>
                <a:r>
                  <a:rPr lang="en-US" dirty="0" err="1"/>
                  <a:t>recebe</a:t>
                </a:r>
                <a:r>
                  <a:rPr lang="en-US" dirty="0"/>
                  <a:t> </a:t>
                </a:r>
                <a:r>
                  <a:rPr lang="en-US" dirty="0" err="1"/>
                  <a:t>como</a:t>
                </a:r>
                <a:r>
                  <a:rPr lang="en-US" dirty="0"/>
                  <a:t> entrada o </a:t>
                </a:r>
                <a:r>
                  <a:rPr lang="en-US" dirty="0" err="1"/>
                  <a:t>estado</a:t>
                </a:r>
                <a:r>
                  <a:rPr lang="en-US" dirty="0"/>
                  <a:t> — </a:t>
                </a:r>
                <a:r>
                  <a:rPr lang="en-US" dirty="0" err="1"/>
                  <a:t>que</a:t>
                </a:r>
                <a:r>
                  <a:rPr lang="en-US" dirty="0"/>
                  <a:t> </a:t>
                </a:r>
                <a:r>
                  <a:rPr lang="en-US" dirty="0" err="1"/>
                  <a:t>pode</a:t>
                </a:r>
                <a:r>
                  <a:rPr lang="en-US" dirty="0"/>
                  <a:t> ser </a:t>
                </a:r>
                <a:r>
                  <a:rPr lang="en-US" dirty="0" err="1"/>
                  <a:t>uma</a:t>
                </a:r>
                <a:r>
                  <a:rPr lang="en-US" dirty="0"/>
                  <a:t> </a:t>
                </a:r>
                <a:r>
                  <a:rPr lang="en-US" dirty="0" err="1"/>
                  <a:t>imagem</a:t>
                </a:r>
                <a:r>
                  <a:rPr lang="en-US" dirty="0"/>
                  <a:t>, </a:t>
                </a:r>
                <a:r>
                  <a:rPr lang="en-US" dirty="0" err="1"/>
                  <a:t>uma</a:t>
                </a:r>
                <a:r>
                  <a:rPr lang="en-US" dirty="0"/>
                  <a:t> </a:t>
                </a:r>
                <a:r>
                  <a:rPr lang="en-US" dirty="0" err="1"/>
                  <a:t>série</a:t>
                </a:r>
                <a:r>
                  <a:rPr lang="en-US" dirty="0"/>
                  <a:t> temporal </a:t>
                </a:r>
                <a:r>
                  <a:rPr lang="en-US" dirty="0" err="1"/>
                  <a:t>ou</a:t>
                </a:r>
                <a:r>
                  <a:rPr lang="en-US" dirty="0"/>
                  <a:t> </a:t>
                </a:r>
                <a:r>
                  <a:rPr lang="en-US" dirty="0" err="1"/>
                  <a:t>qualquer</a:t>
                </a:r>
                <a:r>
                  <a:rPr lang="en-US" dirty="0"/>
                  <a:t> </a:t>
                </a:r>
                <a:r>
                  <a:rPr lang="en-US" dirty="0" err="1"/>
                  <a:t>vetor</a:t>
                </a:r>
                <a:r>
                  <a:rPr lang="en-US" dirty="0"/>
                  <a:t> de </a:t>
                </a:r>
                <a:r>
                  <a:rPr lang="en-US" dirty="0" err="1"/>
                  <a:t>observações</a:t>
                </a:r>
                <a:r>
                  <a:rPr lang="en-US" dirty="0"/>
                  <a:t> — e </a:t>
                </a:r>
                <a:r>
                  <a:rPr lang="en-US" dirty="0" err="1"/>
                  <a:t>retorna</a:t>
                </a:r>
                <a:r>
                  <a:rPr lang="en-US" dirty="0"/>
                  <a:t> o valor </a:t>
                </a:r>
                <a:r>
                  <a:rPr lang="en-US" dirty="0" err="1"/>
                  <a:t>estimado</a:t>
                </a:r>
                <a:r>
                  <a:rPr lang="en-US" dirty="0"/>
                  <a:t> para </a:t>
                </a:r>
                <a:r>
                  <a:rPr lang="en-US" dirty="0" err="1"/>
                  <a:t>cada</a:t>
                </a:r>
                <a:r>
                  <a:rPr lang="en-US" dirty="0"/>
                  <a:t> </a:t>
                </a:r>
                <a:r>
                  <a:rPr lang="en-US" dirty="0" err="1"/>
                  <a:t>ação</a:t>
                </a:r>
                <a:r>
                  <a:rPr lang="en-US" dirty="0"/>
                  <a:t> </a:t>
                </a:r>
                <a:r>
                  <a:rPr lang="en-US" dirty="0" err="1"/>
                  <a:t>possível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Assim, o </a:t>
                </a:r>
                <a:r>
                  <a:rPr lang="en-US" dirty="0" err="1"/>
                  <a:t>processo</a:t>
                </a:r>
                <a:r>
                  <a:rPr lang="en-US" dirty="0"/>
                  <a:t> de </a:t>
                </a:r>
                <a:r>
                  <a:rPr lang="en-US" dirty="0" err="1"/>
                  <a:t>aprendizado</a:t>
                </a:r>
                <a:r>
                  <a:rPr lang="en-US" dirty="0"/>
                  <a:t> </a:t>
                </a:r>
                <a:r>
                  <a:rPr lang="en-US" dirty="0" err="1"/>
                  <a:t>não</a:t>
                </a:r>
                <a:r>
                  <a:rPr lang="en-US" dirty="0"/>
                  <a:t> se </a:t>
                </a:r>
                <a:r>
                  <a:rPr lang="en-US" dirty="0" err="1"/>
                  <a:t>limita</a:t>
                </a:r>
                <a:r>
                  <a:rPr lang="en-US" dirty="0"/>
                  <a:t> </a:t>
                </a:r>
                <a:r>
                  <a:rPr lang="en-US" dirty="0" err="1"/>
                  <a:t>mais</a:t>
                </a:r>
                <a:r>
                  <a:rPr lang="en-US" dirty="0"/>
                  <a:t> a </a:t>
                </a:r>
                <a:r>
                  <a:rPr lang="en-US" dirty="0" err="1"/>
                  <a:t>ajustar</a:t>
                </a:r>
                <a:r>
                  <a:rPr lang="en-US" dirty="0"/>
                  <a:t> pesos </a:t>
                </a:r>
                <a:r>
                  <a:rPr lang="en-US" dirty="0" err="1"/>
                  <a:t>fixos</a:t>
                </a:r>
                <a:r>
                  <a:rPr lang="en-US" dirty="0"/>
                  <a:t>, mas </a:t>
                </a:r>
                <a:r>
                  <a:rPr lang="en-US" dirty="0" err="1"/>
                  <a:t>envolve</a:t>
                </a:r>
                <a:r>
                  <a:rPr lang="en-US" dirty="0"/>
                  <a:t> </a:t>
                </a:r>
                <a:r>
                  <a:rPr lang="en-US" b="1" dirty="0" err="1"/>
                  <a:t>ajustar</a:t>
                </a:r>
                <a:r>
                  <a:rPr lang="en-US" b="1" dirty="0"/>
                  <a:t> </a:t>
                </a:r>
                <a:r>
                  <a:rPr lang="en-US" b="1" dirty="0" err="1"/>
                  <a:t>milhares</a:t>
                </a:r>
                <a:r>
                  <a:rPr lang="en-US" b="1" dirty="0"/>
                  <a:t> de </a:t>
                </a:r>
                <a:r>
                  <a:rPr lang="en-US" b="1" dirty="0" err="1"/>
                  <a:t>parâmetros</a:t>
                </a:r>
                <a:r>
                  <a:rPr lang="en-US" dirty="0"/>
                  <a:t>, </a:t>
                </a:r>
                <a:r>
                  <a:rPr lang="en-US" dirty="0" err="1"/>
                  <a:t>treinados</a:t>
                </a:r>
                <a:r>
                  <a:rPr lang="en-US" dirty="0"/>
                  <a:t> com o </a:t>
                </a:r>
                <a:r>
                  <a:rPr lang="en-US" dirty="0" err="1"/>
                  <a:t>mesmo</a:t>
                </a:r>
                <a:r>
                  <a:rPr lang="en-US" dirty="0"/>
                  <a:t> </a:t>
                </a:r>
                <a:r>
                  <a:rPr lang="en-US" dirty="0" err="1"/>
                  <a:t>princípio</a:t>
                </a:r>
                <a:r>
                  <a:rPr lang="en-US" dirty="0"/>
                  <a:t> do </a:t>
                </a:r>
                <a:r>
                  <a:rPr lang="en-US" dirty="0" err="1"/>
                  <a:t>aprendizado</a:t>
                </a:r>
                <a:r>
                  <a:rPr lang="en-US" dirty="0"/>
                  <a:t> profundo </a:t>
                </a:r>
                <a:r>
                  <a:rPr lang="en-US" dirty="0" err="1"/>
                  <a:t>tradicional</a:t>
                </a:r>
                <a:r>
                  <a:rPr lang="en-US" dirty="0"/>
                  <a:t>: o </a:t>
                </a:r>
                <a:r>
                  <a:rPr lang="en-US" b="1" dirty="0"/>
                  <a:t>backpropagation</a:t>
                </a:r>
                <a:r>
                  <a:rPr lang="en-US" dirty="0"/>
                  <a:t>.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40FB7-78E6-FCAD-3364-8BCD4ED82A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623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C9C80-B375-9E0B-D9E9-F6DE1B65E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05E2BE-B187-6AEA-A2CA-59C473DFF9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EC66954D-A6B4-0C40-136D-C1965B046F8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EC66954D-A6B4-0C40-136D-C1965B046F8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O </a:t>
                </a:r>
                <a:r>
                  <a:rPr lang="en-US" b="1" dirty="0"/>
                  <a:t>DQN</a:t>
                </a:r>
                <a:r>
                  <a:rPr lang="en-US" dirty="0"/>
                  <a:t>, </a:t>
                </a:r>
                <a:r>
                  <a:rPr lang="en-US" dirty="0" err="1"/>
                  <a:t>criado</a:t>
                </a:r>
                <a:r>
                  <a:rPr lang="en-US" dirty="0"/>
                  <a:t> pela DeepMind </a:t>
                </a:r>
                <a:r>
                  <a:rPr lang="en-US" dirty="0" err="1"/>
                  <a:t>em</a:t>
                </a:r>
                <a:r>
                  <a:rPr lang="en-US" dirty="0"/>
                  <a:t> 2015, </a:t>
                </a:r>
                <a:r>
                  <a:rPr lang="en-US" dirty="0" err="1"/>
                  <a:t>foi</a:t>
                </a:r>
                <a:r>
                  <a:rPr lang="en-US" dirty="0"/>
                  <a:t> o </a:t>
                </a:r>
                <a:r>
                  <a:rPr lang="en-US" dirty="0" err="1"/>
                  <a:t>primeiro</a:t>
                </a:r>
                <a:r>
                  <a:rPr lang="en-US" dirty="0"/>
                  <a:t> </a:t>
                </a:r>
                <a:r>
                  <a:rPr lang="en-US" dirty="0" err="1"/>
                  <a:t>algoritmo</a:t>
                </a:r>
                <a:r>
                  <a:rPr lang="en-US" dirty="0"/>
                  <a:t> a </a:t>
                </a:r>
                <a:r>
                  <a:rPr lang="en-US" dirty="0" err="1"/>
                  <a:t>unir</a:t>
                </a:r>
                <a:r>
                  <a:rPr lang="en-US" dirty="0"/>
                  <a:t> redes </a:t>
                </a:r>
                <a:r>
                  <a:rPr lang="en-US" dirty="0" err="1"/>
                  <a:t>neurais</a:t>
                </a:r>
                <a:r>
                  <a:rPr lang="en-US" dirty="0"/>
                  <a:t> </a:t>
                </a:r>
                <a:r>
                  <a:rPr lang="en-US" dirty="0" err="1"/>
                  <a:t>convolucionais</a:t>
                </a:r>
                <a:r>
                  <a:rPr lang="en-US" dirty="0"/>
                  <a:t> com </a:t>
                </a:r>
                <a:r>
                  <a:rPr lang="en-US" dirty="0" err="1"/>
                  <a:t>aprendizado</a:t>
                </a:r>
                <a:r>
                  <a:rPr lang="en-US" dirty="0"/>
                  <a:t> </a:t>
                </a:r>
                <a:r>
                  <a:rPr lang="en-US" dirty="0" err="1"/>
                  <a:t>por</a:t>
                </a:r>
                <a:r>
                  <a:rPr lang="en-US" dirty="0"/>
                  <a:t> </a:t>
                </a:r>
                <a:r>
                  <a:rPr lang="en-US" dirty="0" err="1"/>
                  <a:t>reforço</a:t>
                </a:r>
                <a:r>
                  <a:rPr lang="en-US" dirty="0"/>
                  <a:t> de forma </a:t>
                </a:r>
                <a:r>
                  <a:rPr lang="en-US" dirty="0" err="1"/>
                  <a:t>bem-sucedida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A </a:t>
                </a:r>
                <a:r>
                  <a:rPr lang="en-US" dirty="0" err="1"/>
                  <a:t>ideia</a:t>
                </a:r>
                <a:r>
                  <a:rPr lang="en-US" dirty="0"/>
                  <a:t> é simples: a rede </a:t>
                </a:r>
                <a:r>
                  <a:rPr lang="en-US" dirty="0" err="1"/>
                  <a:t>recebe</a:t>
                </a:r>
                <a:r>
                  <a:rPr lang="en-US" dirty="0"/>
                  <a:t> o </a:t>
                </a:r>
                <a:r>
                  <a:rPr lang="en-US" dirty="0" err="1"/>
                  <a:t>estado</a:t>
                </a:r>
                <a:r>
                  <a:rPr lang="en-US" dirty="0"/>
                  <a:t> </a:t>
                </a:r>
                <a:r>
                  <a:rPr lang="en-US" dirty="0" err="1"/>
                  <a:t>atual</a:t>
                </a:r>
                <a:r>
                  <a:rPr lang="en-US" dirty="0"/>
                  <a:t>, </a:t>
                </a:r>
                <a:r>
                  <a:rPr lang="en-US" dirty="0" err="1"/>
                  <a:t>processa</a:t>
                </a:r>
                <a:r>
                  <a:rPr lang="en-US" dirty="0"/>
                  <a:t>-o e </a:t>
                </a:r>
                <a:r>
                  <a:rPr lang="en-US" dirty="0" err="1"/>
                  <a:t>produz</a:t>
                </a:r>
                <a:r>
                  <a:rPr lang="en-US" dirty="0"/>
                  <a:t> um valor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𝑄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(𝑠ⓜ,𝑎ⓜ,𝜃)</a:t>
                </a:r>
                <a:r>
                  <a:rPr lang="en-US" dirty="0"/>
                  <a:t>para </a:t>
                </a:r>
                <a:r>
                  <a:rPr lang="en-US" dirty="0" err="1"/>
                  <a:t>cada</a:t>
                </a:r>
                <a:r>
                  <a:rPr lang="en-US" dirty="0"/>
                  <a:t> </a:t>
                </a:r>
                <a:r>
                  <a:rPr lang="en-US" dirty="0" err="1"/>
                  <a:t>ação</a:t>
                </a:r>
                <a:r>
                  <a:rPr lang="en-US" dirty="0"/>
                  <a:t> </a:t>
                </a:r>
                <a:r>
                  <a:rPr lang="en-US" dirty="0" err="1"/>
                  <a:t>possível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O </a:t>
                </a:r>
                <a:r>
                  <a:rPr lang="en-US" dirty="0" err="1"/>
                  <a:t>objetivo</a:t>
                </a:r>
                <a:r>
                  <a:rPr lang="en-US" dirty="0"/>
                  <a:t> do </a:t>
                </a:r>
                <a:r>
                  <a:rPr lang="en-US" dirty="0" err="1"/>
                  <a:t>treinamento</a:t>
                </a:r>
                <a:r>
                  <a:rPr lang="en-US" dirty="0"/>
                  <a:t> é </a:t>
                </a:r>
                <a:r>
                  <a:rPr lang="en-US" dirty="0" err="1"/>
                  <a:t>minimizar</a:t>
                </a:r>
                <a:r>
                  <a:rPr lang="en-US" dirty="0"/>
                  <a:t> o </a:t>
                </a:r>
                <a:r>
                  <a:rPr lang="en-US" dirty="0" err="1"/>
                  <a:t>erro</a:t>
                </a:r>
                <a:r>
                  <a:rPr lang="en-US" dirty="0"/>
                  <a:t> entre o valor </a:t>
                </a:r>
                <a:r>
                  <a:rPr lang="en-US" dirty="0" err="1"/>
                  <a:t>atual</a:t>
                </a:r>
                <a:r>
                  <a:rPr lang="en-US" dirty="0"/>
                  <a:t> da rede e o valor </a:t>
                </a:r>
                <a:r>
                  <a:rPr lang="en-US" dirty="0" err="1"/>
                  <a:t>alvo</a:t>
                </a:r>
                <a:r>
                  <a:rPr lang="en-US" dirty="0"/>
                  <a:t> — </a:t>
                </a:r>
                <a:r>
                  <a:rPr lang="en-US" dirty="0" err="1"/>
                  <a:t>que</a:t>
                </a:r>
                <a:r>
                  <a:rPr lang="en-US" dirty="0"/>
                  <a:t> </a:t>
                </a:r>
                <a:r>
                  <a:rPr lang="en-US" dirty="0" err="1"/>
                  <a:t>vem</a:t>
                </a:r>
                <a:r>
                  <a:rPr lang="en-US" dirty="0"/>
                  <a:t> da soma da </a:t>
                </a:r>
                <a:r>
                  <a:rPr lang="en-US" dirty="0" err="1"/>
                  <a:t>recompensa</a:t>
                </a:r>
                <a:r>
                  <a:rPr lang="en-US" dirty="0"/>
                  <a:t> </a:t>
                </a:r>
                <a:r>
                  <a:rPr lang="en-US" dirty="0" err="1"/>
                  <a:t>imediata</a:t>
                </a:r>
                <a:r>
                  <a:rPr lang="en-US" dirty="0"/>
                  <a:t> com o valor </a:t>
                </a:r>
                <a:r>
                  <a:rPr lang="en-US" dirty="0" err="1"/>
                  <a:t>estimado</a:t>
                </a:r>
                <a:r>
                  <a:rPr lang="en-US" dirty="0"/>
                  <a:t> do </a:t>
                </a:r>
                <a:r>
                  <a:rPr lang="en-US" dirty="0" err="1"/>
                  <a:t>próximo</a:t>
                </a:r>
                <a:r>
                  <a:rPr lang="en-US" dirty="0"/>
                  <a:t> </a:t>
                </a:r>
                <a:r>
                  <a:rPr lang="en-US" dirty="0" err="1"/>
                  <a:t>estado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Esse </a:t>
                </a:r>
                <a:r>
                  <a:rPr lang="en-US" dirty="0" err="1"/>
                  <a:t>processo</a:t>
                </a:r>
                <a:r>
                  <a:rPr lang="en-US" dirty="0"/>
                  <a:t>, </a:t>
                </a:r>
                <a:r>
                  <a:rPr lang="en-US" dirty="0" err="1"/>
                  <a:t>embora</a:t>
                </a:r>
                <a:r>
                  <a:rPr lang="en-US" dirty="0"/>
                  <a:t> simples </a:t>
                </a:r>
                <a:r>
                  <a:rPr lang="en-US" dirty="0" err="1"/>
                  <a:t>em</a:t>
                </a:r>
                <a:r>
                  <a:rPr lang="en-US" dirty="0"/>
                  <a:t> </a:t>
                </a:r>
                <a:r>
                  <a:rPr lang="en-US" dirty="0" err="1"/>
                  <a:t>teoria</a:t>
                </a:r>
                <a:r>
                  <a:rPr lang="en-US" dirty="0"/>
                  <a:t>, </a:t>
                </a:r>
                <a:r>
                  <a:rPr lang="en-US" dirty="0" err="1"/>
                  <a:t>abriu</a:t>
                </a:r>
                <a:r>
                  <a:rPr lang="en-US" dirty="0"/>
                  <a:t> </a:t>
                </a:r>
                <a:r>
                  <a:rPr lang="en-US" dirty="0" err="1"/>
                  <a:t>caminho</a:t>
                </a:r>
                <a:r>
                  <a:rPr lang="en-US" dirty="0"/>
                  <a:t> para </a:t>
                </a:r>
                <a:r>
                  <a:rPr lang="en-US" dirty="0" err="1"/>
                  <a:t>que</a:t>
                </a:r>
                <a:r>
                  <a:rPr lang="en-US" dirty="0"/>
                  <a:t> </a:t>
                </a:r>
                <a:r>
                  <a:rPr lang="en-US" dirty="0" err="1"/>
                  <a:t>agentes</a:t>
                </a:r>
                <a:r>
                  <a:rPr lang="en-US" dirty="0"/>
                  <a:t> </a:t>
                </a:r>
                <a:r>
                  <a:rPr lang="en-US" dirty="0" err="1"/>
                  <a:t>aprendessem</a:t>
                </a:r>
                <a:r>
                  <a:rPr lang="en-US" dirty="0"/>
                  <a:t> </a:t>
                </a:r>
                <a:r>
                  <a:rPr lang="en-US" dirty="0" err="1"/>
                  <a:t>diretamente</a:t>
                </a:r>
                <a:r>
                  <a:rPr lang="en-US" dirty="0"/>
                  <a:t> a </a:t>
                </a:r>
                <a:r>
                  <a:rPr lang="en-US" dirty="0" err="1"/>
                  <a:t>partir</a:t>
                </a:r>
                <a:r>
                  <a:rPr lang="en-US" dirty="0"/>
                  <a:t> de pixels, </a:t>
                </a:r>
                <a:r>
                  <a:rPr lang="en-US" dirty="0" err="1"/>
                  <a:t>sem</a:t>
                </a:r>
                <a:r>
                  <a:rPr lang="en-US" dirty="0"/>
                  <a:t> </a:t>
                </a:r>
                <a:r>
                  <a:rPr lang="en-US" dirty="0" err="1"/>
                  <a:t>precisar</a:t>
                </a:r>
                <a:r>
                  <a:rPr lang="en-US" dirty="0"/>
                  <a:t> de </a:t>
                </a:r>
                <a:r>
                  <a:rPr lang="en-US" dirty="0" err="1"/>
                  <a:t>qualquer</a:t>
                </a:r>
                <a:r>
                  <a:rPr lang="en-US" dirty="0"/>
                  <a:t> </a:t>
                </a:r>
                <a:r>
                  <a:rPr lang="en-US" dirty="0" err="1"/>
                  <a:t>modelagem</a:t>
                </a:r>
                <a:r>
                  <a:rPr lang="en-US" dirty="0"/>
                  <a:t> manual do </a:t>
                </a:r>
                <a:r>
                  <a:rPr lang="en-US" dirty="0" err="1"/>
                  <a:t>ambiente</a:t>
                </a:r>
                <a:r>
                  <a:rPr lang="en-US" dirty="0"/>
                  <a:t>.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E8AE3C-792C-EC8B-4C63-BE8CC7663C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050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40D5C-3A0D-4C0E-E1F5-CB24C630F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A5976B-DFE4-E08A-848D-6E351FAB53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41FE68-B128-670E-8DA8-F51FF63687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1304DD-07BD-D315-D178-5B7F078AEA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7568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DAB39-4136-E325-B5D5-0DB8A0E30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8C0C7D-CC27-E3A5-F4C0-0DD09ACFAE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88C0DC-F742-DA0A-9104-00785DA039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085A2B-86A9-D4EB-4B5B-8DEFC612E5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0664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0BA24-AC8F-9633-48C1-F932F3266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E75915-E817-4105-46D8-96A5728BC4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05D078-24F4-5961-A4AF-AE3F9A0964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105D4D-4F99-FD69-8D8E-26291AE5C5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1278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7050F-F5AA-A647-CEDA-7E69FC242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CCA6DA-BFA3-18CE-9E7D-B1CB1FC102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976D07-3A90-9B84-0597-CDCA49CD1F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940F2D-DBAD-4EE1-0ECB-604C5A18B3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4651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C867D-A7CB-DFB3-9115-3EA10E805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17F7FB-EE3B-8975-CA59-D09A0CE784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1ED1F6-AB1E-7734-7066-F50355D4E3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38CE0A-01B9-7561-F0DC-4A9705DFF1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9573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4DDC6-5714-1BF0-0B95-B369FECE5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531ADE-70B6-A41C-1CB0-087508F397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4064B718-765B-8371-C8F3-79DED5A762C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4064B718-765B-8371-C8F3-79DED5A762C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O </a:t>
                </a:r>
                <a:r>
                  <a:rPr lang="en-US" b="1" dirty="0"/>
                  <a:t>Dueling DQN</a:t>
                </a:r>
                <a:r>
                  <a:rPr lang="en-US" dirty="0"/>
                  <a:t> </a:t>
                </a:r>
                <a:r>
                  <a:rPr lang="en-US" dirty="0" err="1"/>
                  <a:t>propõe</a:t>
                </a:r>
                <a:r>
                  <a:rPr lang="en-US" dirty="0"/>
                  <a:t> </a:t>
                </a:r>
                <a:r>
                  <a:rPr lang="en-US" dirty="0" err="1"/>
                  <a:t>uma</a:t>
                </a:r>
                <a:r>
                  <a:rPr lang="en-US" dirty="0"/>
                  <a:t> nova forma de </a:t>
                </a:r>
                <a:r>
                  <a:rPr lang="en-US" dirty="0" err="1"/>
                  <a:t>estruturar</a:t>
                </a:r>
                <a:r>
                  <a:rPr lang="en-US" dirty="0"/>
                  <a:t> a rede.</a:t>
                </a:r>
              </a:p>
              <a:p>
                <a:r>
                  <a:rPr lang="en-US" dirty="0"/>
                  <a:t>Em </a:t>
                </a:r>
                <a:r>
                  <a:rPr lang="en-US" dirty="0" err="1"/>
                  <a:t>vez</a:t>
                </a:r>
                <a:r>
                  <a:rPr lang="en-US" dirty="0"/>
                  <a:t> de </a:t>
                </a:r>
                <a:r>
                  <a:rPr lang="en-US" dirty="0" err="1"/>
                  <a:t>estimar</a:t>
                </a:r>
                <a:r>
                  <a:rPr lang="en-US" dirty="0"/>
                  <a:t> </a:t>
                </a:r>
                <a:r>
                  <a:rPr lang="en-US" dirty="0" err="1"/>
                  <a:t>diretamente</a:t>
                </a:r>
                <a:r>
                  <a:rPr lang="en-US" dirty="0"/>
                  <a:t>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𝑄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(𝑠ⓜ,𝑎)</a:t>
                </a:r>
                <a:r>
                  <a:rPr lang="ar-AE" dirty="0"/>
                  <a:t>, </a:t>
                </a:r>
                <a:r>
                  <a:rPr lang="en-US" dirty="0"/>
                  <a:t>a rede </a:t>
                </a:r>
                <a:r>
                  <a:rPr lang="en-US" dirty="0" err="1"/>
                  <a:t>aprende</a:t>
                </a:r>
                <a:r>
                  <a:rPr lang="en-US" dirty="0"/>
                  <a:t> duas </a:t>
                </a:r>
                <a:r>
                  <a:rPr lang="en-US" dirty="0" err="1"/>
                  <a:t>funções</a:t>
                </a:r>
                <a:r>
                  <a:rPr lang="en-US" dirty="0"/>
                  <a:t> </a:t>
                </a:r>
                <a:r>
                  <a:rPr lang="en-US" dirty="0" err="1"/>
                  <a:t>separadas</a:t>
                </a:r>
                <a:r>
                  <a:rPr lang="en-US" dirty="0"/>
                  <a:t>:</a:t>
                </a:r>
                <a:br>
                  <a:rPr lang="en-US" dirty="0"/>
                </a:br>
                <a:r>
                  <a:rPr lang="en-US" dirty="0" err="1"/>
                  <a:t>uma</a:t>
                </a:r>
                <a:r>
                  <a:rPr lang="en-US" dirty="0"/>
                  <a:t> para o </a:t>
                </a:r>
                <a:r>
                  <a:rPr lang="en-US" b="1" dirty="0"/>
                  <a:t>valor do </a:t>
                </a:r>
                <a:r>
                  <a:rPr lang="en-US" b="1" dirty="0" err="1"/>
                  <a:t>estado</a:t>
                </a:r>
                <a:r>
                  <a:rPr lang="en-US" dirty="0"/>
                  <a:t> e </a:t>
                </a:r>
                <a:r>
                  <a:rPr lang="en-US" dirty="0" err="1"/>
                  <a:t>outra</a:t>
                </a:r>
                <a:r>
                  <a:rPr lang="en-US" dirty="0"/>
                  <a:t> para a </a:t>
                </a:r>
                <a:r>
                  <a:rPr lang="en-US" b="1" dirty="0" err="1"/>
                  <a:t>vantagem</a:t>
                </a:r>
                <a:r>
                  <a:rPr lang="en-US" b="1" dirty="0"/>
                  <a:t> de </a:t>
                </a:r>
                <a:r>
                  <a:rPr lang="en-US" b="1" dirty="0" err="1"/>
                  <a:t>cada</a:t>
                </a:r>
                <a:r>
                  <a:rPr lang="en-US" b="1" dirty="0"/>
                  <a:t> </a:t>
                </a:r>
                <a:r>
                  <a:rPr lang="en-US" b="1" dirty="0" err="1"/>
                  <a:t>ação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Em </a:t>
                </a:r>
                <a:r>
                  <a:rPr lang="en-US" dirty="0" err="1"/>
                  <a:t>seguida</a:t>
                </a:r>
                <a:r>
                  <a:rPr lang="en-US" dirty="0"/>
                  <a:t>, </a:t>
                </a:r>
                <a:r>
                  <a:rPr lang="en-US" dirty="0" err="1"/>
                  <a:t>essas</a:t>
                </a:r>
                <a:r>
                  <a:rPr lang="en-US" dirty="0"/>
                  <a:t> duas </a:t>
                </a:r>
                <a:r>
                  <a:rPr lang="en-US" dirty="0" err="1"/>
                  <a:t>informações</a:t>
                </a:r>
                <a:r>
                  <a:rPr lang="en-US" dirty="0"/>
                  <a:t> </a:t>
                </a:r>
                <a:r>
                  <a:rPr lang="en-US" dirty="0" err="1"/>
                  <a:t>são</a:t>
                </a:r>
                <a:r>
                  <a:rPr lang="en-US" dirty="0"/>
                  <a:t> </a:t>
                </a:r>
                <a:r>
                  <a:rPr lang="en-US" dirty="0" err="1"/>
                  <a:t>combinadas</a:t>
                </a:r>
                <a:r>
                  <a:rPr lang="en-US" dirty="0"/>
                  <a:t> para </a:t>
                </a:r>
                <a:r>
                  <a:rPr lang="en-US" dirty="0" err="1"/>
                  <a:t>produzir</a:t>
                </a:r>
                <a:r>
                  <a:rPr lang="en-US" dirty="0"/>
                  <a:t> o valor final Q.</a:t>
                </a:r>
              </a:p>
              <a:p>
                <a:r>
                  <a:rPr lang="en-US" dirty="0" err="1"/>
                  <a:t>Isso</a:t>
                </a:r>
                <a:r>
                  <a:rPr lang="en-US" dirty="0"/>
                  <a:t> </a:t>
                </a:r>
                <a:r>
                  <a:rPr lang="en-US" dirty="0" err="1"/>
                  <a:t>faz</a:t>
                </a:r>
                <a:r>
                  <a:rPr lang="en-US" dirty="0"/>
                  <a:t> com </a:t>
                </a:r>
                <a:r>
                  <a:rPr lang="en-US" dirty="0" err="1"/>
                  <a:t>que</a:t>
                </a:r>
                <a:r>
                  <a:rPr lang="en-US" dirty="0"/>
                  <a:t> a rede </a:t>
                </a:r>
                <a:r>
                  <a:rPr lang="en-US" dirty="0" err="1"/>
                  <a:t>aprenda</a:t>
                </a:r>
                <a:r>
                  <a:rPr lang="en-US" dirty="0"/>
                  <a:t> </a:t>
                </a:r>
                <a:r>
                  <a:rPr lang="en-US" dirty="0" err="1"/>
                  <a:t>mais</a:t>
                </a:r>
                <a:r>
                  <a:rPr lang="en-US" dirty="0"/>
                  <a:t> </a:t>
                </a:r>
                <a:r>
                  <a:rPr lang="en-US" dirty="0" err="1"/>
                  <a:t>rápido</a:t>
                </a:r>
                <a:r>
                  <a:rPr lang="en-US" dirty="0"/>
                  <a:t> </a:t>
                </a:r>
                <a:r>
                  <a:rPr lang="en-US" dirty="0" err="1"/>
                  <a:t>em</a:t>
                </a:r>
                <a:r>
                  <a:rPr lang="en-US" dirty="0"/>
                  <a:t> </a:t>
                </a:r>
                <a:r>
                  <a:rPr lang="en-US" dirty="0" err="1"/>
                  <a:t>situações</a:t>
                </a:r>
                <a:r>
                  <a:rPr lang="en-US" dirty="0"/>
                  <a:t> </a:t>
                </a:r>
                <a:r>
                  <a:rPr lang="en-US" dirty="0" err="1"/>
                  <a:t>onde</a:t>
                </a:r>
                <a:r>
                  <a:rPr lang="en-US" dirty="0"/>
                  <a:t> as </a:t>
                </a:r>
                <a:r>
                  <a:rPr lang="en-US" dirty="0" err="1"/>
                  <a:t>ações</a:t>
                </a:r>
                <a:r>
                  <a:rPr lang="en-US" dirty="0"/>
                  <a:t> </a:t>
                </a:r>
                <a:r>
                  <a:rPr lang="en-US" dirty="0" err="1"/>
                  <a:t>são</a:t>
                </a:r>
                <a:r>
                  <a:rPr lang="en-US" dirty="0"/>
                  <a:t> </a:t>
                </a:r>
                <a:r>
                  <a:rPr lang="en-US" dirty="0" err="1"/>
                  <a:t>muito</a:t>
                </a:r>
                <a:r>
                  <a:rPr lang="en-US" dirty="0"/>
                  <a:t> </a:t>
                </a:r>
                <a:r>
                  <a:rPr lang="en-US" dirty="0" err="1"/>
                  <a:t>parecidas</a:t>
                </a:r>
                <a:r>
                  <a:rPr lang="en-US" dirty="0"/>
                  <a:t> </a:t>
                </a:r>
                <a:r>
                  <a:rPr lang="en-US" dirty="0" err="1"/>
                  <a:t>em</a:t>
                </a:r>
                <a:r>
                  <a:rPr lang="en-US" dirty="0"/>
                  <a:t> </a:t>
                </a:r>
                <a:r>
                  <a:rPr lang="en-US" dirty="0" err="1"/>
                  <a:t>termos</a:t>
                </a:r>
                <a:r>
                  <a:rPr lang="en-US" dirty="0"/>
                  <a:t> de </a:t>
                </a:r>
                <a:r>
                  <a:rPr lang="en-US" dirty="0" err="1"/>
                  <a:t>retorno</a:t>
                </a:r>
                <a:r>
                  <a:rPr lang="en-US" dirty="0"/>
                  <a:t> — o </a:t>
                </a:r>
                <a:r>
                  <a:rPr lang="en-US" dirty="0" err="1"/>
                  <a:t>que</a:t>
                </a:r>
                <a:r>
                  <a:rPr lang="en-US" dirty="0"/>
                  <a:t> é </a:t>
                </a:r>
                <a:r>
                  <a:rPr lang="en-US" dirty="0" err="1"/>
                  <a:t>comum</a:t>
                </a:r>
                <a:r>
                  <a:rPr lang="en-US" dirty="0"/>
                  <a:t> </a:t>
                </a:r>
                <a:r>
                  <a:rPr lang="en-US" dirty="0" err="1"/>
                  <a:t>em</a:t>
                </a:r>
                <a:r>
                  <a:rPr lang="en-US" dirty="0"/>
                  <a:t> </a:t>
                </a:r>
                <a:r>
                  <a:rPr lang="en-US" dirty="0" err="1"/>
                  <a:t>muitos</a:t>
                </a:r>
                <a:r>
                  <a:rPr lang="en-US" dirty="0"/>
                  <a:t> ambientes </a:t>
                </a:r>
                <a:r>
                  <a:rPr lang="en-US" dirty="0" err="1"/>
                  <a:t>complexos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Essa </a:t>
                </a:r>
                <a:r>
                  <a:rPr lang="en-US" dirty="0" err="1"/>
                  <a:t>arquitetura</a:t>
                </a:r>
                <a:r>
                  <a:rPr lang="en-US" dirty="0"/>
                  <a:t> </a:t>
                </a:r>
                <a:r>
                  <a:rPr lang="en-US" dirty="0" err="1"/>
                  <a:t>melhora</a:t>
                </a:r>
                <a:r>
                  <a:rPr lang="en-US" dirty="0"/>
                  <a:t> a </a:t>
                </a:r>
                <a:r>
                  <a:rPr lang="en-US" dirty="0" err="1"/>
                  <a:t>eficiência</a:t>
                </a:r>
                <a:r>
                  <a:rPr lang="en-US" dirty="0"/>
                  <a:t> do </a:t>
                </a:r>
                <a:r>
                  <a:rPr lang="en-US" dirty="0" err="1"/>
                  <a:t>aprendizado</a:t>
                </a:r>
                <a:r>
                  <a:rPr lang="en-US" dirty="0"/>
                  <a:t> e </a:t>
                </a:r>
                <a:r>
                  <a:rPr lang="en-US" dirty="0" err="1"/>
                  <a:t>acelera</a:t>
                </a:r>
                <a:r>
                  <a:rPr lang="en-US" dirty="0"/>
                  <a:t> a </a:t>
                </a:r>
                <a:r>
                  <a:rPr lang="en-US" dirty="0" err="1"/>
                  <a:t>convergência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5EAC04-994C-3580-B0F3-EB867B5379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6299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B1DB6-7D52-71DE-E509-672E7E98B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7B9DA1-C9FB-B027-7B75-053E0F4921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455545-8095-3C07-C266-6A62C602C3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56FF9A-A051-FB74-3F1F-CEB9E34532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0530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B651A-F105-5148-BC12-D06E028B6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FED30B-495B-DE89-59A2-7682FE596B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6B38AC-55B5-ABD6-7064-BCB8022714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E0B6E3-570B-5EB3-2536-CF92A981E3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5616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2A882-7AFE-0EE5-0A88-129900CE0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910B9D-9EAF-6865-D219-7D6C5CDB82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D533D7-B614-C8E8-353F-CA76874EBB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CBD0A-650E-7F06-1071-BDCF594CAE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4608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B7710-945C-F873-E706-0B51B38DB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AD9C35-8A45-2048-FF6A-E33117A0E3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74E287-B6FF-BBBA-9113-DE41255B4B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113E71-E4F0-5FED-DD1B-B4B831AAAF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6357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497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8888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pFooter">
            <a:extLst>
              <a:ext uri="{FF2B5EF4-FFF2-40B4-BE49-F238E27FC236}">
                <a16:creationId xmlns:a16="http://schemas.microsoft.com/office/drawing/2014/main" id="{3811FE2C-F4C3-42BF-A394-5DCBACE4206D}"/>
              </a:ext>
            </a:extLst>
          </p:cNvPr>
          <p:cNvSpPr txBox="1"/>
          <p:nvPr/>
        </p:nvSpPr>
        <p:spPr bwMode="auto">
          <a:xfrm>
            <a:off x="957294" y="6373144"/>
            <a:ext cx="607538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defTabSz="45712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D" sz="1000" dirty="0">
                <a:solidFill>
                  <a:srgbClr val="3CA3E1"/>
                </a:solidFill>
                <a:latin typeface="Cronos Pro" panose="020C0502030403020304" pitchFamily="34" charset="0"/>
              </a:rPr>
              <a:t>PUC MINAS</a:t>
            </a:r>
            <a:endParaRPr lang="en-ID" sz="1100" b="1" dirty="0">
              <a:solidFill>
                <a:srgbClr val="3CA3E1"/>
              </a:solidFill>
              <a:latin typeface="Cronos Pro" panose="020C05020304030203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3666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973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671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g"/><Relationship Id="rId7" Type="http://schemas.openxmlformats.org/officeDocument/2006/relationships/image" Target="../media/image12.sv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13BE60C-4F50-4749-84D4-A250A2FEDB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389" cy="6858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37BE1F7-6D6E-4A43-9207-6B3CE92E50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40" t="3691" r="2018" b="59006"/>
          <a:stretch/>
        </p:blipFill>
        <p:spPr>
          <a:xfrm>
            <a:off x="8531051" y="-163761"/>
            <a:ext cx="3476731" cy="3139731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FFADEAFF-EEAF-4BD1-82B8-65D4D688687D}"/>
              </a:ext>
            </a:extLst>
          </p:cNvPr>
          <p:cNvSpPr/>
          <p:nvPr userDrawn="1"/>
        </p:nvSpPr>
        <p:spPr>
          <a:xfrm>
            <a:off x="12192000" y="0"/>
            <a:ext cx="1213449" cy="281221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D4670863-8AB6-459A-B0E6-3162D696489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2630" y="5438751"/>
            <a:ext cx="739013" cy="434512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435FC32D-1CE4-41CE-A75C-6BFBE2888E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8323"/>
          <a:stretch/>
        </p:blipFill>
        <p:spPr>
          <a:xfrm>
            <a:off x="10370858" y="563666"/>
            <a:ext cx="859397" cy="121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92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4453D851-AA9E-4435-A07A-01756CD65E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90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85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DBB3C98-8E1A-47A9-A8B4-CE33C88BB9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01A37BB3-0E46-4CA1-8E41-A278A1637A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7232"/>
          <a:stretch/>
        </p:blipFill>
        <p:spPr>
          <a:xfrm>
            <a:off x="5072287" y="1512942"/>
            <a:ext cx="2047426" cy="2932619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1100C50E-1DA0-41B4-9816-4E77DE3A3A3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36692" y="592026"/>
            <a:ext cx="834735" cy="490794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F180DFD4-6B82-47B3-BA00-6ABD2101198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729" y="5760979"/>
            <a:ext cx="834735" cy="49079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1843510-8E25-4E72-A3BF-02F9BD0BE3A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367" y="5139077"/>
            <a:ext cx="8461265" cy="61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29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uz/DeepMind-Atari-Deep-Q-Learner?tab=readme-ov-file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gi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AFD478C7-31D7-4DCB-B3BC-9B1090C6B445}"/>
              </a:ext>
            </a:extLst>
          </p:cNvPr>
          <p:cNvSpPr/>
          <p:nvPr/>
        </p:nvSpPr>
        <p:spPr>
          <a:xfrm>
            <a:off x="1180011" y="2485756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43A9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55BA4B-DC22-4207-ABC8-3B491F765609}"/>
              </a:ext>
            </a:extLst>
          </p:cNvPr>
          <p:cNvSpPr txBox="1"/>
          <p:nvPr/>
        </p:nvSpPr>
        <p:spPr>
          <a:xfrm>
            <a:off x="1180011" y="2551836"/>
            <a:ext cx="983197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b="1" kern="0" dirty="0">
                <a:solidFill>
                  <a:schemeClr val="bg1"/>
                </a:solidFill>
                <a:latin typeface="Montserrat" panose="00000500000000000000" pitchFamily="50" charset="0"/>
                <a:cs typeface="Poppins" panose="02000000000000000000" pitchFamily="2" charset="0"/>
              </a:rPr>
              <a:t>Deep Reinforcement Learning (DQN)</a:t>
            </a:r>
            <a:endParaRPr lang="en-ID" sz="5400" b="1" kern="0" dirty="0">
              <a:solidFill>
                <a:schemeClr val="bg1"/>
              </a:solidFill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6730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B8118-FB53-4D43-9C26-6F69F58BA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E69F5B64-6542-BA31-2634-410B886A572A}"/>
              </a:ext>
            </a:extLst>
          </p:cNvPr>
          <p:cNvSpPr txBox="1"/>
          <p:nvPr/>
        </p:nvSpPr>
        <p:spPr>
          <a:xfrm>
            <a:off x="833161" y="1682323"/>
            <a:ext cx="10563992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Métodos tabulares e lineares não escalam para grandes espaços de estados;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Ambientes visuais e contínuos exigem generalização;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Redes neurais permitem representar funções altamente complexas;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Nasce</a:t>
            </a:r>
            <a:r>
              <a:rPr lang="en-US" sz="2400" dirty="0"/>
              <a:t> o </a:t>
            </a:r>
            <a:r>
              <a:rPr lang="en-US" sz="2400" b="1" dirty="0"/>
              <a:t>Deep Reinforcement Learning (DRL)</a:t>
            </a:r>
            <a:r>
              <a:rPr lang="pt-BR" sz="2400" dirty="0"/>
              <a:t>.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4BE71B21-1BC2-F131-95F3-E0702391DA7F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Motivação: </a:t>
            </a:r>
            <a:r>
              <a:rPr lang="pt-BR" sz="28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o salto para o Aprendizado Profundo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948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C7A36-13E9-3411-5A0B-D13E4D125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AC3E12AF-01D1-7328-337C-BD67CB2C1514}"/>
                  </a:ext>
                </a:extLst>
              </p:cNvPr>
              <p:cNvSpPr txBox="1"/>
              <p:nvPr/>
            </p:nvSpPr>
            <p:spPr>
              <a:xfrm>
                <a:off x="833161" y="1682323"/>
                <a:ext cx="10563992" cy="3848699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:endParaRPr lang="pt-BR" sz="2400" dirty="0"/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Antes: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ar-AE" sz="24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ar-AE" sz="24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ar-AE" sz="240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lang="ar-AE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;</a:t>
                </a:r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Agora: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r>
                      <a:rPr lang="en-US" sz="24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ar-AE" sz="240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400" i="1"/>
                      <m:t>NN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;</a:t>
                </a:r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pt-BR" sz="2400" dirty="0"/>
                  <a:t>A rede neural aprende representações internas;</a:t>
                </a:r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pt-BR" sz="2400" dirty="0"/>
                  <a:t>Entradas: observações → Camadas ocultas → Valor Q.</a:t>
                </a:r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AC3E12AF-01D1-7328-337C-BD67CB2C15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61" y="1682323"/>
                <a:ext cx="10563992" cy="38486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1">
            <a:extLst>
              <a:ext uri="{FF2B5EF4-FFF2-40B4-BE49-F238E27FC236}">
                <a16:creationId xmlns:a16="http://schemas.microsoft.com/office/drawing/2014/main" id="{37F2CAF2-2838-CDBC-56D0-175FE1C8CF36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>
                <a:latin typeface="Montserrat" panose="00000500000000000000" pitchFamily="50" charset="0"/>
                <a:cs typeface="Poppins" panose="02000000000000000000" pitchFamily="2" charset="0"/>
              </a:rPr>
              <a:t>Da Aproximação Linear ao Profundo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4069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1E343-D5BD-A575-AE49-178F05A89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D7DAB8C8-EEF8-1003-52FD-B3C8F95A59F8}"/>
                  </a:ext>
                </a:extLst>
              </p:cNvPr>
              <p:cNvSpPr txBox="1"/>
              <p:nvPr/>
            </p:nvSpPr>
            <p:spPr>
              <a:xfrm>
                <a:off x="833161" y="1682323"/>
                <a:ext cx="10563992" cy="3848699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:endParaRPr lang="pt-BR" sz="2400" dirty="0"/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pt-BR" sz="2400" dirty="0"/>
                  <a:t>Entrada: estado (ex.: imagem 84×84 do jogo);</a:t>
                </a:r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 err="1"/>
                  <a:t>Saída</a:t>
                </a:r>
                <a:r>
                  <a:rPr lang="en-US" sz="2400" dirty="0"/>
                  <a:t>: </a:t>
                </a:r>
                <a:r>
                  <a:rPr lang="en-US" sz="2400" dirty="0" err="1"/>
                  <a:t>vetor</a:t>
                </a:r>
                <a:r>
                  <a:rPr lang="en-US" sz="2400" dirty="0"/>
                  <a:t> com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sepChr m:val=","/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2400" dirty="0"/>
                  <a:t>para </a:t>
                </a:r>
                <a:r>
                  <a:rPr lang="en-US" sz="2400" dirty="0" err="1"/>
                  <a:t>cada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ação</a:t>
                </a:r>
                <a:r>
                  <a:rPr lang="pt-BR" sz="2400" dirty="0"/>
                  <a:t>;</a:t>
                </a:r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 err="1"/>
                  <a:t>Treinamento</a:t>
                </a:r>
                <a:r>
                  <a:rPr lang="en-US" sz="2400" dirty="0"/>
                  <a:t>: </a:t>
                </a:r>
                <a:r>
                  <a:rPr lang="en-US" sz="2400" dirty="0" err="1"/>
                  <a:t>minimizar</a:t>
                </a:r>
                <a:r>
                  <a:rPr lang="en-US" sz="2400" dirty="0"/>
                  <a:t> </a:t>
                </a:r>
                <a:r>
                  <a:rPr lang="en-US" sz="2400" dirty="0" err="1"/>
                  <a:t>erro</a:t>
                </a:r>
                <a:r>
                  <a:rPr lang="en-US" sz="2400" dirty="0"/>
                  <a:t> TD</a:t>
                </a:r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 err="1"/>
                  <a:t>Perda</a:t>
                </a:r>
                <a:r>
                  <a:rPr lang="en-US" sz="2400" dirty="0"/>
                  <a:t>:</a:t>
                </a:r>
              </a:p>
              <a:p>
                <a:pPr lvl="1">
                  <a:lnSpc>
                    <a:spcPts val="3300"/>
                  </a:lnSpc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lim>
                              </m:limLow>
                            </m:fNam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;</m:t>
                                  </m:r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𝑄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))</m:t>
                              </m:r>
                            </m:e>
                          </m:func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D7DAB8C8-EEF8-1003-52FD-B3C8F95A59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61" y="1682323"/>
                <a:ext cx="10563992" cy="38486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1">
            <a:extLst>
              <a:ext uri="{FF2B5EF4-FFF2-40B4-BE49-F238E27FC236}">
                <a16:creationId xmlns:a16="http://schemas.microsoft.com/office/drawing/2014/main" id="{B5E52186-391F-140D-2306-9C4095DA96D8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>
                <a:latin typeface="Montserrat" panose="00000500000000000000" pitchFamily="50" charset="0"/>
                <a:cs typeface="Poppins" panose="02000000000000000000" pitchFamily="2" charset="0"/>
              </a:rPr>
              <a:t>Arquitetura do Deep Q-Network (DQN)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8738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EE601-1A97-235A-6BCD-3A9FA8109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FDD60181-31AC-7074-1CD2-6F4212BFEFFA}"/>
                  </a:ext>
                </a:extLst>
              </p:cNvPr>
              <p:cNvSpPr txBox="1"/>
              <p:nvPr/>
            </p:nvSpPr>
            <p:spPr>
              <a:xfrm>
                <a:off x="833161" y="1682323"/>
                <a:ext cx="10563992" cy="3848699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:endParaRPr lang="pt-BR" sz="2400" dirty="0"/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Armazena </a:t>
                </a:r>
                <a:r>
                  <a:rPr lang="en-US" sz="2400" dirty="0" err="1"/>
                  <a:t>experiências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e>
                        <m:sSup>
                          <m:sSupPr>
                            <m:ctrlPr>
                              <a:rPr lang="ar-AE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ar-AE" sz="240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ar-AE" sz="2400" dirty="0"/>
                  <a:t>.</a:t>
                </a:r>
                <a:endParaRPr lang="pt-BR" sz="2400" dirty="0"/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 err="1"/>
                  <a:t>Treinamento</a:t>
                </a:r>
                <a:r>
                  <a:rPr lang="en-US" sz="2400" dirty="0"/>
                  <a:t> </a:t>
                </a:r>
                <a:r>
                  <a:rPr lang="en-US" sz="2400" dirty="0" err="1"/>
                  <a:t>amostra</a:t>
                </a:r>
                <a:r>
                  <a:rPr lang="en-US" sz="2400" dirty="0"/>
                  <a:t> mini-batches </a:t>
                </a:r>
                <a:r>
                  <a:rPr lang="en-US" sz="2400" dirty="0" err="1"/>
                  <a:t>aleatórios</a:t>
                </a:r>
                <a:r>
                  <a:rPr lang="pt-BR" sz="2400" dirty="0"/>
                  <a:t>;</a:t>
                </a:r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/>
                  <a:t>Quebra </a:t>
                </a:r>
                <a:r>
                  <a:rPr lang="en-US" sz="2400" dirty="0" err="1"/>
                  <a:t>correlação</a:t>
                </a:r>
                <a:r>
                  <a:rPr lang="en-US" sz="2400" dirty="0"/>
                  <a:t> temporal;</a:t>
                </a:r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pt-BR" sz="2400" dirty="0"/>
                  <a:t>Reutiliza experiências antigas → aprendizado mais estável.</a:t>
                </a:r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FDD60181-31AC-7074-1CD2-6F4212BFEF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61" y="1682323"/>
                <a:ext cx="10563992" cy="38486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1">
            <a:extLst>
              <a:ext uri="{FF2B5EF4-FFF2-40B4-BE49-F238E27FC236}">
                <a16:creationId xmlns:a16="http://schemas.microsoft.com/office/drawing/2014/main" id="{BA6509F0-BC06-694A-E738-42EE16A7DF04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Replay Buffer: </a:t>
            </a:r>
            <a:r>
              <a:rPr lang="pt-BR" sz="36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aprendendo com memória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1348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49BDD-2136-EBE7-1385-09B669842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49C102C0-C35A-5191-C604-B716D03A00AD}"/>
                  </a:ext>
                </a:extLst>
              </p:cNvPr>
              <p:cNvSpPr txBox="1"/>
              <p:nvPr/>
            </p:nvSpPr>
            <p:spPr>
              <a:xfrm>
                <a:off x="833161" y="1682323"/>
                <a:ext cx="10563992" cy="3848699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:endParaRPr lang="pt-BR" sz="2400" dirty="0"/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 err="1"/>
                  <a:t>Mantém</a:t>
                </a:r>
                <a:r>
                  <a:rPr lang="en-US" sz="2400" dirty="0"/>
                  <a:t> </a:t>
                </a:r>
                <a:r>
                  <a:rPr lang="en-US" sz="2400" dirty="0" err="1"/>
                  <a:t>uma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cópia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estável</a:t>
                </a:r>
                <a:r>
                  <a:rPr lang="en-US" sz="2400" dirty="0"/>
                  <a:t> dos pesos: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ar-AE" sz="240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lang="pt-BR" sz="2400" dirty="0"/>
                  <a:t>;</a:t>
                </a:r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pt-BR" sz="2400" dirty="0"/>
                  <a:t>Atualizada apenas a cada N passos;</a:t>
                </a:r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pt-BR" sz="2400" dirty="0"/>
                  <a:t>Evita “corrida” entre Q atual e alvo.</a:t>
                </a:r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49C102C0-C35A-5191-C604-B716D03A00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61" y="1682323"/>
                <a:ext cx="10563992" cy="38486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1">
            <a:extLst>
              <a:ext uri="{FF2B5EF4-FFF2-40B4-BE49-F238E27FC236}">
                <a16:creationId xmlns:a16="http://schemas.microsoft.com/office/drawing/2014/main" id="{588B722E-8C64-BDBE-E8EF-21A46D9DA172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>
                <a:latin typeface="Montserrat" panose="00000500000000000000" pitchFamily="50" charset="0"/>
                <a:cs typeface="Poppins" panose="02000000000000000000" pitchFamily="2" charset="0"/>
              </a:rPr>
              <a:t>Target Network: estabilizando o alvo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0958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4CCDB-B780-D061-F668-BBE6A73A0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1C906293-73C9-481C-267D-B51F9117EC0B}"/>
                  </a:ext>
                </a:extLst>
              </p:cNvPr>
              <p:cNvSpPr txBox="1"/>
              <p:nvPr/>
            </p:nvSpPr>
            <p:spPr>
              <a:xfrm>
                <a:off x="833161" y="1682323"/>
                <a:ext cx="10563992" cy="3848699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:endParaRPr lang="pt-BR" sz="2400" dirty="0"/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 err="1"/>
                  <a:t>Observar</a:t>
                </a:r>
                <a:r>
                  <a:rPr lang="en-US" sz="2400" dirty="0"/>
                  <a:t> </a:t>
                </a:r>
                <a:r>
                  <a:rPr lang="en-US" sz="2400" dirty="0" err="1"/>
                  <a:t>estado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pt-BR" sz="2400" dirty="0"/>
                  <a:t>;</a:t>
                </a:r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 err="1"/>
                  <a:t>Escolher</a:t>
                </a:r>
                <a:r>
                  <a:rPr lang="en-US" sz="2400" dirty="0"/>
                  <a:t> </a:t>
                </a:r>
                <a:r>
                  <a:rPr lang="en-US" sz="2400" dirty="0" err="1"/>
                  <a:t>ação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/>
                  <a:t>(</a:t>
                </a:r>
                <a:r>
                  <a:rPr lang="el-GR" sz="2400" dirty="0"/>
                  <a:t>ε-</a:t>
                </a:r>
                <a:r>
                  <a:rPr lang="en-US" sz="2400" dirty="0"/>
                  <a:t>greedy)</a:t>
                </a:r>
                <a:r>
                  <a:rPr lang="pt-BR" sz="2400" dirty="0"/>
                  <a:t>;</a:t>
                </a:r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 err="1"/>
                  <a:t>Receber</a:t>
                </a:r>
                <a:r>
                  <a:rPr lang="en-US" sz="2400" dirty="0"/>
                  <a:t> </a:t>
                </a:r>
                <a:r>
                  <a:rPr lang="en-US" sz="2400" dirty="0" err="1"/>
                  <a:t>recompensa</a:t>
                </a:r>
                <a:r>
                  <a:rPr lang="en-US" sz="2400" dirty="0"/>
                  <a:t> e novo </a:t>
                </a:r>
                <a:r>
                  <a:rPr lang="en-US" sz="2400" dirty="0" err="1"/>
                  <a:t>estado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ar-AE" sz="24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lang="en-US" sz="2400" b="0" dirty="0"/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 err="1"/>
                  <a:t>Armazenar</a:t>
                </a:r>
                <a:r>
                  <a:rPr lang="en-US" sz="2400" dirty="0"/>
                  <a:t> no Replay Buffer;</a:t>
                </a:r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pt-BR" sz="2400" dirty="0"/>
                  <a:t>Amostrar mini-batch e atualizar pesos via gradiente TD.</a:t>
                </a:r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1C906293-73C9-481C-267D-B51F9117EC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61" y="1682323"/>
                <a:ext cx="10563992" cy="38486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1">
            <a:extLst>
              <a:ext uri="{FF2B5EF4-FFF2-40B4-BE49-F238E27FC236}">
                <a16:creationId xmlns:a16="http://schemas.microsoft.com/office/drawing/2014/main" id="{4E74C8F8-00EC-CEE1-9D6C-A3FABBA881C0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>
                <a:latin typeface="Montserrat" panose="00000500000000000000" pitchFamily="50" charset="0"/>
                <a:cs typeface="Poppins" panose="02000000000000000000" pitchFamily="2" charset="0"/>
              </a:rPr>
              <a:t>Fluxo de Treinamento do DQN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299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66B46-95DF-7820-331F-268F6A65C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CA2A9B0E-797A-D639-6903-CDA7DB5D1122}"/>
              </a:ext>
            </a:extLst>
          </p:cNvPr>
          <p:cNvSpPr txBox="1"/>
          <p:nvPr/>
        </p:nvSpPr>
        <p:spPr>
          <a:xfrm>
            <a:off x="833161" y="1682323"/>
            <a:ext cx="10563992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Divergência do aprendizado → redes sobreajustam;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Overestimation bias (superestimação de Q);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Soluções</a:t>
            </a:r>
            <a:r>
              <a:rPr lang="en-US" sz="2400" dirty="0"/>
              <a:t>:</a:t>
            </a:r>
          </a:p>
          <a:p>
            <a:pPr marL="1257300" lvl="2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Double DQN;</a:t>
            </a:r>
          </a:p>
          <a:p>
            <a:pPr marL="1257300" lvl="2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Dueling Networks;</a:t>
            </a:r>
          </a:p>
          <a:p>
            <a:pPr marL="1257300" lvl="2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Prioritized Experience Replay</a:t>
            </a:r>
            <a:r>
              <a:rPr lang="pt-BR" sz="2400" dirty="0"/>
              <a:t>.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A75807C7-B94D-293D-B9A8-E0FC33F2DC6E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>
                <a:latin typeface="Montserrat" panose="00000500000000000000" pitchFamily="50" charset="0"/>
                <a:cs typeface="Poppins" panose="02000000000000000000" pitchFamily="2" charset="0"/>
              </a:rPr>
              <a:t>Instabilidades e Soluções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3037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F2962-9280-E031-5AB0-C647FA8F3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0B493974-AE60-56F9-2D4C-EA10E57FF189}"/>
                  </a:ext>
                </a:extLst>
              </p:cNvPr>
              <p:cNvSpPr txBox="1"/>
              <p:nvPr/>
            </p:nvSpPr>
            <p:spPr>
              <a:xfrm>
                <a:off x="833161" y="1682323"/>
                <a:ext cx="10563992" cy="3848699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:endParaRPr lang="pt-BR" sz="2400" dirty="0"/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pt-BR" sz="2400" dirty="0"/>
                  <a:t>Corrige a superestimação do Q-learning;</a:t>
                </a:r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pt-BR" sz="2400" dirty="0"/>
                  <a:t>Usa redes separadas para selecionar e avaliar ações;</a:t>
                </a:r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Alvo:</a:t>
                </a:r>
              </a:p>
              <a:p>
                <a:pPr lvl="1">
                  <a:lnSpc>
                    <a:spcPts val="3300"/>
                  </a:lnSpc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sSup>
                                    <m:sSup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lim>
                              </m:limLow>
                            </m:fNam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0B493974-AE60-56F9-2D4C-EA10E57FF1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61" y="1682323"/>
                <a:ext cx="10563992" cy="38486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1">
            <a:extLst>
              <a:ext uri="{FF2B5EF4-FFF2-40B4-BE49-F238E27FC236}">
                <a16:creationId xmlns:a16="http://schemas.microsoft.com/office/drawing/2014/main" id="{9FF408B2-5E4C-6F69-05D0-01229043A742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>
                <a:latin typeface="Montserrat" panose="00000500000000000000" pitchFamily="50" charset="0"/>
                <a:cs typeface="Poppins" panose="02000000000000000000" pitchFamily="2" charset="0"/>
              </a:rPr>
              <a:t>Double DQN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1997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12DD5-6154-57E3-A47B-2BA6C065A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1C7FFA5B-CD78-C213-8F13-A13FEF0F696C}"/>
                  </a:ext>
                </a:extLst>
              </p:cNvPr>
              <p:cNvSpPr txBox="1"/>
              <p:nvPr/>
            </p:nvSpPr>
            <p:spPr>
              <a:xfrm>
                <a:off x="833161" y="1682323"/>
                <a:ext cx="10563992" cy="3848699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:endParaRPr lang="pt-BR" sz="2400" dirty="0"/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pt-BR" sz="2400" dirty="0"/>
                  <a:t>Separa estimativa de valor (V) e vantagem (A);</a:t>
                </a:r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 err="1"/>
                  <a:t>Combinações</a:t>
                </a:r>
                <a:r>
                  <a:rPr lang="en-US" sz="2400" dirty="0"/>
                  <a:t>:</a:t>
                </a:r>
              </a:p>
              <a:p>
                <a:pPr lvl="1">
                  <a:lnSpc>
                    <a:spcPts val="3300"/>
                  </a:lnSpc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 </m:t>
                      </m:r>
                      <m:acc>
                        <m:accPr>
                          <m:chr m:val="̅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  <a:p>
                <a:pPr lvl="1">
                  <a:lnSpc>
                    <a:spcPts val="3300"/>
                  </a:lnSpc>
                  <a:spcAft>
                    <a:spcPts val="1200"/>
                  </a:spcAft>
                </a:pPr>
                <a:endParaRPr lang="en-US" sz="2400" dirty="0"/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pt-BR" sz="2400" dirty="0"/>
                  <a:t>Melhor aprendizado quando diferenças entre ações são pequenas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1C7FFA5B-CD78-C213-8F13-A13FEF0F69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61" y="1682323"/>
                <a:ext cx="10563992" cy="38486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1">
            <a:extLst>
              <a:ext uri="{FF2B5EF4-FFF2-40B4-BE49-F238E27FC236}">
                <a16:creationId xmlns:a16="http://schemas.microsoft.com/office/drawing/2014/main" id="{1AE8B173-68A5-EDA3-95DB-F2395245FBDB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>
                <a:latin typeface="Montserrat" panose="00000500000000000000" pitchFamily="50" charset="0"/>
                <a:cs typeface="Poppins" panose="02000000000000000000" pitchFamily="2" charset="0"/>
              </a:rPr>
              <a:t>Dueling Networks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9388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15F55-97F9-7A7E-2343-4160D4FA3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FFCE06E0-6423-71B9-1589-2CCA528798A0}"/>
              </a:ext>
            </a:extLst>
          </p:cNvPr>
          <p:cNvSpPr txBox="1"/>
          <p:nvPr/>
        </p:nvSpPr>
        <p:spPr>
          <a:xfrm>
            <a:off x="833161" y="1682323"/>
            <a:ext cx="10563992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Nem todas as experiências têm o mesmo valor;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Prioriza amostras com maior erro TD;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Acelera aprendizado e melhora eficiência de amostragem.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A6EB907-4503-C974-C092-48621B1C0B86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>
                <a:latin typeface="Montserrat" panose="00000500000000000000" pitchFamily="50" charset="0"/>
                <a:cs typeface="Poppins" panose="02000000000000000000" pitchFamily="2" charset="0"/>
              </a:rPr>
              <a:t>Prioritized Experience Replay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16531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847BD-2D2C-A64B-FBCE-38752B578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E0E58EDF-0E0A-002C-FC98-8D9296557046}"/>
              </a:ext>
            </a:extLst>
          </p:cNvPr>
          <p:cNvSpPr txBox="1"/>
          <p:nvPr/>
        </p:nvSpPr>
        <p:spPr>
          <a:xfrm>
            <a:off x="833161" y="1682323"/>
            <a:ext cx="10563992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Entrada: frames de vídeo (84×84);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Rede convolucional estima Q para cada ação;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Aprende </a:t>
            </a:r>
            <a:r>
              <a:rPr lang="pt-BR" sz="2400" i="1" dirty="0"/>
              <a:t>end-to-end</a:t>
            </a:r>
            <a:r>
              <a:rPr lang="pt-BR" sz="2400" dirty="0"/>
              <a:t> sem conhecimento humano;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Resultado: desempenho humano em vários jogos.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B9C4B22A-959C-44FB-D667-71722D283A27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>
                <a:latin typeface="Montserrat" panose="00000500000000000000" pitchFamily="50" charset="0"/>
                <a:cs typeface="Poppins" panose="02000000000000000000" pitchFamily="2" charset="0"/>
              </a:rPr>
              <a:t>Caso Prático: DQN jogando Atari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71395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BB12B-1FCF-8002-CAF8-5364D7AA8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51938FBB-AAD5-E6F2-A41A-AAB62BAF26EC}"/>
              </a:ext>
            </a:extLst>
          </p:cNvPr>
          <p:cNvSpPr txBox="1"/>
          <p:nvPr/>
        </p:nvSpPr>
        <p:spPr>
          <a:xfrm>
            <a:off x="2797792" y="5824083"/>
            <a:ext cx="6933062" cy="53094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1">
              <a:lnSpc>
                <a:spcPts val="3300"/>
              </a:lnSpc>
              <a:spcAft>
                <a:spcPts val="1200"/>
              </a:spcAft>
            </a:pPr>
            <a:r>
              <a:rPr lang="pt-BR" sz="1100" dirty="0"/>
              <a:t>Disponível em: </a:t>
            </a:r>
            <a:r>
              <a:rPr lang="pt-BR" sz="1100" dirty="0">
                <a:hlinkClick r:id="rId3"/>
              </a:rPr>
              <a:t>https://github.com/kuz/DeepMind-Atari-Deep-Q-Learner?tab=</a:t>
            </a:r>
            <a:r>
              <a:rPr lang="pt-BR" sz="1100" dirty="0" err="1">
                <a:hlinkClick r:id="rId3"/>
              </a:rPr>
              <a:t>readme</a:t>
            </a:r>
            <a:r>
              <a:rPr lang="pt-BR" sz="1100" dirty="0">
                <a:hlinkClick r:id="rId3"/>
              </a:rPr>
              <a:t>-</a:t>
            </a:r>
            <a:r>
              <a:rPr lang="pt-BR" sz="1100" dirty="0" err="1">
                <a:hlinkClick r:id="rId3"/>
              </a:rPr>
              <a:t>ov</a:t>
            </a:r>
            <a:r>
              <a:rPr lang="pt-BR" sz="1100" dirty="0">
                <a:hlinkClick r:id="rId3"/>
              </a:rPr>
              <a:t>-file</a:t>
            </a:r>
            <a:r>
              <a:rPr lang="pt-BR" sz="1100" dirty="0"/>
              <a:t>.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1689D867-DA96-3E5E-1A8C-8C40933576B9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Breakout (DQN)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pic>
        <p:nvPicPr>
          <p:cNvPr id="4" name="Picture 3" descr="A screen shot of a game&#10;&#10;AI-generated content may be incorrect.">
            <a:extLst>
              <a:ext uri="{FF2B5EF4-FFF2-40B4-BE49-F238E27FC236}">
                <a16:creationId xmlns:a16="http://schemas.microsoft.com/office/drawing/2014/main" id="{C7C6FDCE-4C27-0F05-FA31-25C23B062A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0795" y="1435387"/>
            <a:ext cx="3690410" cy="4403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3348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70E66-2349-3D84-0F5B-1CFCB3C49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B18AA0F9-6D73-9AD6-B548-1506D71BF511}"/>
              </a:ext>
            </a:extLst>
          </p:cNvPr>
          <p:cNvSpPr txBox="1"/>
          <p:nvPr/>
        </p:nvSpPr>
        <p:spPr>
          <a:xfrm>
            <a:off x="833161" y="1682323"/>
            <a:ext cx="10563992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DQN = base de muitos algoritmos modernos;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Trouxe estabilidade e escalabilidade ao RL;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Conduz ao próximo passo: aprender políticas diretamente.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F1DEDF53-BFB0-C2D3-56F4-378E5A0B6188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>
                <a:latin typeface="Montserrat" panose="00000500000000000000" pitchFamily="50" charset="0"/>
                <a:cs typeface="Poppins" panose="02000000000000000000" pitchFamily="2" charset="0"/>
              </a:rPr>
              <a:t>Conclusão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9441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7810865"/>
      </p:ext>
    </p:extLst>
  </p:cSld>
  <p:clrMapOvr>
    <a:masterClrMapping/>
  </p:clrMapOvr>
</p:sld>
</file>

<file path=ppt/theme/theme1.xml><?xml version="1.0" encoding="utf-8"?>
<a:theme xmlns:a="http://schemas.openxmlformats.org/drawingml/2006/main" name="10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D1042ECD13DF54ABFD3312BD93AC736" ma:contentTypeVersion="14" ma:contentTypeDescription="Crie um novo documento." ma:contentTypeScope="" ma:versionID="0c840ce6b72e534b18f8b130aa18f4ca">
  <xsd:schema xmlns:xsd="http://www.w3.org/2001/XMLSchema" xmlns:xs="http://www.w3.org/2001/XMLSchema" xmlns:p="http://schemas.microsoft.com/office/2006/metadata/properties" xmlns:ns2="942d5ec7-aacc-4a5b-a58b-71e198b95712" xmlns:ns3="dd515b78-c394-4c68-913b-64702d1b471e" targetNamespace="http://schemas.microsoft.com/office/2006/metadata/properties" ma:root="true" ma:fieldsID="81d42af92cf0d6c6ca1f81162ee3983b" ns2:_="" ns3:_="">
    <xsd:import namespace="942d5ec7-aacc-4a5b-a58b-71e198b95712"/>
    <xsd:import namespace="dd515b78-c394-4c68-913b-64702d1b47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2d5ec7-aacc-4a5b-a58b-71e198b957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553fe116-42e8-49a4-86e5-3f68d57c9f9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515b78-c394-4c68-913b-64702d1b471e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de72ad8-281c-4dff-88d1-843eaf0c4a59}" ma:internalName="TaxCatchAll" ma:showField="CatchAllData" ma:web="dd515b78-c394-4c68-913b-64702d1b47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d515b78-c394-4c68-913b-64702d1b471e" xsi:nil="true"/>
    <lcf76f155ced4ddcb4097134ff3c332f xmlns="942d5ec7-aacc-4a5b-a58b-71e198b9571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5B5A1ED-E9E0-4B74-AAB1-0835563002E5}"/>
</file>

<file path=customXml/itemProps2.xml><?xml version="1.0" encoding="utf-8"?>
<ds:datastoreItem xmlns:ds="http://schemas.openxmlformats.org/officeDocument/2006/customXml" ds:itemID="{2D0640E0-5777-4FD7-B38A-EC610FD51507}"/>
</file>

<file path=customXml/itemProps3.xml><?xml version="1.0" encoding="utf-8"?>
<ds:datastoreItem xmlns:ds="http://schemas.openxmlformats.org/officeDocument/2006/customXml" ds:itemID="{4F0ADFB8-4F4E-463C-AEFC-DD59F8549E9B}"/>
</file>

<file path=docProps/app.xml><?xml version="1.0" encoding="utf-8"?>
<Properties xmlns="http://schemas.openxmlformats.org/officeDocument/2006/extended-properties" xmlns:vt="http://schemas.openxmlformats.org/officeDocument/2006/docPropsVTypes">
  <TotalTime>12869</TotalTime>
  <Words>462</Words>
  <Application>Microsoft Office PowerPoint</Application>
  <PresentationFormat>Widescreen</PresentationFormat>
  <Paragraphs>91</Paragraphs>
  <Slides>15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15</vt:i4>
      </vt:variant>
    </vt:vector>
  </HeadingPairs>
  <TitlesOfParts>
    <vt:vector size="26" baseType="lpstr">
      <vt:lpstr>Montserrat</vt:lpstr>
      <vt:lpstr>Arial</vt:lpstr>
      <vt:lpstr>Wingdings</vt:lpstr>
      <vt:lpstr>Calibri</vt:lpstr>
      <vt:lpstr>Cronos Pro</vt:lpstr>
      <vt:lpstr>Cambria Math</vt:lpstr>
      <vt:lpstr>Aptos</vt:lpstr>
      <vt:lpstr>10_Personalizar design</vt:lpstr>
      <vt:lpstr>5_Personalizar design</vt:lpstr>
      <vt:lpstr>6_Personalizar design</vt:lpstr>
      <vt:lpstr>7_Personalizar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Marilane de Almeida Silva Casorla</cp:lastModifiedBy>
  <cp:revision>95</cp:revision>
  <dcterms:created xsi:type="dcterms:W3CDTF">2025-06-11T21:44:24Z</dcterms:created>
  <dcterms:modified xsi:type="dcterms:W3CDTF">2026-01-28T17:18:46Z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0x0101007D1042ECD13DF54ABFD3312BD93AC736</vt:lpwstr>
  </property>
</Properties>
</file>