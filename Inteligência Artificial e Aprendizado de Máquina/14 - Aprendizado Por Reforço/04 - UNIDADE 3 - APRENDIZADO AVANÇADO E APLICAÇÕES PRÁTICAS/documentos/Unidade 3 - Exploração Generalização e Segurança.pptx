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3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9"/>
  </p:notesMasterIdLst>
  <p:sldIdLst>
    <p:sldId id="26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64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mbria Math" panose="02040503050406030204" pitchFamily="18" charset="0"/>
      <p:regular r:id="rId24"/>
    </p:embeddedFont>
    <p:embeddedFont>
      <p:font typeface="Cronos Pro" panose="020C0502030403020304" charset="0"/>
      <p:regular r:id="rId25"/>
      <p:bold r:id="rId26"/>
      <p: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162" autoAdjust="0"/>
  </p:normalViewPr>
  <p:slideViewPr>
    <p:cSldViewPr snapToGrid="0">
      <p:cViewPr varScale="1">
        <p:scale>
          <a:sx n="71" d="100"/>
          <a:sy n="71" d="100"/>
        </p:scale>
        <p:origin x="576" y="66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customXml" Target="../customXml/item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7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A9FF4-6F15-1E99-4C3A-A2E3AB43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32F78-4C99-09FE-B3AB-BAE4C8E45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4941E-B2E6-3E32-083C-40DA90BA5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42854-6DD4-6BD0-7272-8A48DA4A8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90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4A07D-49D3-6165-93B2-15C51ACB9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61196-080E-C68C-4290-F0D5162BE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05FE3-5FAE-4747-1378-FF00B92C9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0A8AF-3CBC-3AEE-13BD-6976F482D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23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7D4B3-CDD1-7B38-339D-08CDDB302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1A4B3-1BC2-A7CF-3861-75D17C6B3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A1D99-2D0C-B568-55FE-2C9E32C7A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2F8EF-4822-BC29-A12E-19F6BBA48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44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A94F-166B-4514-D7F3-98058763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ECBD2-F14D-1EAD-19DD-4D1793F1F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6E95F-0FDC-5F53-1061-B85641154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00E68-43B1-61F8-8818-8A54CEFBB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92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C13B-9724-5100-6CDF-07D70807D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0A7AD-3ADE-BE03-8FFF-C3A5D3F70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0CCAC-7BD3-190C-0CB1-4ACE8C0C5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3BE6E-9912-7881-5DD7-398FAD762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59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0157C-96A6-8DBB-FD3A-1D95D3DD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16A6D-062B-42EC-4B80-232EAE9DA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4DA35-E5BF-7445-5E82-1F451BA38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628FA-73B2-C625-BF48-2E9CED78F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8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F691-0E96-21A6-3556-3614DD03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4AB15-50BF-6D66-8240-992B3F1E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0F042-2AEE-204E-68AF-1CB2C5F3B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C5792-18E1-3A76-4482-431A694C1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27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5F10-CBCA-16D6-97FE-D2222783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E8E77-8A5F-1361-945E-EE0AB0FEA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205D3-14EE-6951-E206-E14F1419C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8A4CB-388F-97F9-21CF-1371B2751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42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D799-EA1F-F8BE-3CD9-A352116E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5A207-621C-67D5-36A5-3D2020125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9F49A-D2D5-F9AB-9F49-D986BFA37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F71D2-BB15-5B4B-92D0-7DB06AE4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98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6865-D0BF-2477-75AB-2B635303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BCB84-89EA-5583-B056-83418AB15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4CED9-27C3-EFD8-A623-678A6945B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4C4FE-2995-999E-6219-92E609A19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84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77364-96E2-991F-64A8-53775206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E22F1-8B90-ECE4-70E6-F64C89E11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AE175-DE7E-CD76-FDBD-79FC63E48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119E1-A3A6-D9D2-E52C-668627670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79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01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606266"/>
            <a:ext cx="98319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Exploração, Generalização e Segurança</a:t>
            </a:r>
            <a:endParaRPr lang="en-ID" sz="48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Deep RL é poderoso, mas frágil;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Dados de baixa qualidade → políticas ruins;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Falta de </a:t>
            </a:r>
            <a:r>
              <a:rPr lang="en-US" sz="2400" dirty="0" err="1"/>
              <a:t>exploração</a:t>
            </a:r>
            <a:r>
              <a:rPr lang="en-US" sz="2400" dirty="0"/>
              <a:t> → </a:t>
            </a:r>
            <a:r>
              <a:rPr lang="en-US" sz="2400" dirty="0" err="1"/>
              <a:t>estagnação</a:t>
            </a:r>
            <a:r>
              <a:rPr lang="en-US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Falta de segurança → decisões arriscadas;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Precisamos de </a:t>
            </a:r>
            <a:r>
              <a:rPr lang="pt-BR" sz="2400" b="1" dirty="0"/>
              <a:t>exploração eficiente, generalização e robustez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Desafios do deep learning em RL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72DB0-D3CB-AE0A-F2A3-E936979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BE2B6FFA-9600-2F64-A3A9-DB6E930346D4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Dilema clássico: explorar para aprender ou explorar o que já sabe?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Estratégias tradicionais: ε-greedy, softmax, UCB;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Em Deep RL, precisamos de </a:t>
            </a:r>
            <a:r>
              <a:rPr lang="pt-BR" sz="2400" b="1" dirty="0"/>
              <a:t>estratégias mais inteligentes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4B921DD-0496-CABE-12D8-832D6413F62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Relembrando: </a:t>
            </a:r>
            <a:r>
              <a:rPr lang="pt-BR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Exploração vs Exploitação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225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5969-6E91-FE28-FDFF-2C932A81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00B65F9F-B15B-BAAD-03A8-29592357F7C1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Adiciona entropia ao objetivo da política;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Incentiva</a:t>
            </a:r>
            <a:r>
              <a:rPr lang="en-US" sz="2400" dirty="0"/>
              <a:t> </a:t>
            </a:r>
            <a:r>
              <a:rPr lang="en-US" sz="2400" dirty="0" err="1"/>
              <a:t>diversidade</a:t>
            </a:r>
            <a:r>
              <a:rPr lang="en-US" sz="2400" dirty="0"/>
              <a:t> </a:t>
            </a:r>
            <a:r>
              <a:rPr lang="en-US" sz="2400" dirty="0" err="1"/>
              <a:t>nas</a:t>
            </a:r>
            <a:r>
              <a:rPr lang="en-US" sz="2400" dirty="0"/>
              <a:t> </a:t>
            </a:r>
            <a:r>
              <a:rPr lang="en-US" sz="2400" dirty="0" err="1"/>
              <a:t>ações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Evita </a:t>
            </a:r>
            <a:r>
              <a:rPr lang="en-US" sz="2400" dirty="0" err="1"/>
              <a:t>convergência</a:t>
            </a:r>
            <a:r>
              <a:rPr lang="en-US" sz="2400" dirty="0"/>
              <a:t> premature;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Amplamente usado em Actor–Critic e PPO.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EA698E3-5A3C-A8F8-5220-2378CB3CF4E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Entropy Bonus: </a:t>
            </a:r>
            <a:r>
              <a:rPr lang="pt-BR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explorando por incerteza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26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E1224-E2BC-E5E5-FB70-50EAE115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92F0343-F0D4-E797-A5E3-BB4E17DB9CC7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Adiciona ruído aos parâmetros da rede;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Exploração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integrada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modelo</a:t>
                </a:r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Melhora a diversidade das ações sem depender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Usado em Rainbow DQN e outros algoritmos avançados.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92F0343-F0D4-E797-A5E3-BB4E17DB9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00BFFA1C-B4C5-266A-F477-B8D0B30F0E42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Noisy Networks: </a:t>
            </a:r>
            <a:r>
              <a:rPr lang="pt-BR" sz="21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explorando através da incerteza nos pesos</a:t>
            </a:r>
            <a:endParaRPr lang="en-ID" sz="21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57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A6A2F-A91E-A66D-A5DB-356B65BFA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85782379-E9E4-D95C-20AB-11BD3B046BF8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Mede novidade pela diferença entre duas redes;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Recompensa intrínseca baseada em erro de predição;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Estímulo a visitar estados novos e imprevisíveis.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0241391-4DF4-5253-4881-754DEACB91FA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Random Network Distillation (RND)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2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5AD8-1F6C-97CA-AE97-B605B4C51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D8F7A16D-9C52-7618-9674-462F1977F560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Atualização</a:t>
            </a:r>
            <a:r>
              <a:rPr lang="en-US" sz="2400" dirty="0"/>
              <a:t> </a:t>
            </a:r>
            <a:r>
              <a:rPr lang="en-US" sz="2400" dirty="0" err="1"/>
              <a:t>contínua</a:t>
            </a:r>
            <a:r>
              <a:rPr lang="en-US" sz="2400" dirty="0"/>
              <a:t> e incremental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Aprendizado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fluxo</a:t>
            </a:r>
            <a:r>
              <a:rPr lang="en-US" sz="2400" dirty="0"/>
              <a:t> (streaming)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Adaptação a ambientes não estacionários;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Base </a:t>
            </a:r>
            <a:r>
              <a:rPr lang="en-US" sz="2400" dirty="0" err="1"/>
              <a:t>conceitual</a:t>
            </a:r>
            <a:r>
              <a:rPr lang="en-US" sz="2400" dirty="0"/>
              <a:t>: TD Learning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4B56542-CEA6-CEC0-A0D3-F0030D7161C1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Aprendizado Online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65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3F2D-AC50-143F-E398-B4B5B2AE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0F0FA930-E6BC-E0E0-D915-3462B2FC1B5A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 agente decide </a:t>
            </a:r>
            <a:r>
              <a:rPr lang="pt-BR" sz="2400" b="1" dirty="0"/>
              <a:t>de quais exemplos quer aprender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Maximiza informação e reduz custo de coleta;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Similar ao dilema de exploração no RL;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Usado para selecionar experiências úteis.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48A2C20-64E8-0928-9262-0D76A43F8BB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Active Learning: </a:t>
            </a:r>
            <a:r>
              <a:rPr lang="pt-BR" sz="24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escolher o que vale a pena aprender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208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62458-ED24-3EBC-2B55-561E5CBE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5D50AB11-DAB6-0C54-1EBB-F3DB0C13E57F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Parte dos dados é rotulada, parte não;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 agente aprende a partir de feedbacks parciais;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Conexão</a:t>
            </a:r>
            <a:r>
              <a:rPr lang="en-US" sz="2400" dirty="0"/>
              <a:t> com RLHF e </a:t>
            </a:r>
            <a:r>
              <a:rPr lang="en-US" sz="2400" i="1" dirty="0"/>
              <a:t>Learning from Demonstrations;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Importante quando o feedback é caro ou escasso.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38CFB29-B365-BBB1-B298-83C4631117B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Aprendizado </a:t>
            </a:r>
            <a:r>
              <a:rPr lang="pt-BR" sz="4000" b="1" kern="0" dirty="0" err="1">
                <a:latin typeface="Montserrat" panose="00000500000000000000" pitchFamily="50" charset="0"/>
                <a:cs typeface="Poppins" panose="02000000000000000000" pitchFamily="2" charset="0"/>
              </a:rPr>
              <a:t>Semissupervisionado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27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8333-B689-A382-BC7E-38D7788C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84DB539-6C74-13DE-8932-D7F0838CE995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Objetivo: maximizar recompensa sem violar restrições;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Penalizações de risco e limites de segurança;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Controle seguro em ambientes críticos;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Aplicações: saúde, finanças, tráfego, indústria.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F3C974A-1A38-EC96-7BEF-5AE308FB4FED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RL Seguro </a:t>
            </a:r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(Safe Reinforcement Learning)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39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3856-C381-BEC8-D94E-76F4B3E7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89755FBB-FC7C-B7E6-4067-23D396B17D1B}"/>
              </a:ext>
            </a:extLst>
          </p:cNvPr>
          <p:cNvSpPr txBox="1"/>
          <p:nvPr/>
        </p:nvSpPr>
        <p:spPr>
          <a:xfrm>
            <a:off x="846609" y="1601641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Overfitting em RL → política funciona só no ambiente treinado;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Estratégias</a:t>
            </a:r>
            <a:r>
              <a:rPr lang="en-US" sz="2400" dirty="0"/>
              <a:t>: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Domain randomization;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Regularização</a:t>
            </a:r>
            <a:r>
              <a:rPr lang="en-US" sz="2400" dirty="0"/>
              <a:t>;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Curriculum learning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Objetivo: políticas que funcionem em novos contextos.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411D3C6-F35C-B790-FAD5-0AAFA50B389B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Generalização: </a:t>
            </a:r>
            <a:r>
              <a:rPr lang="pt-BR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aprender além do treino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721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5258D-D78D-59A5-E566-3177403AB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4DF666F9-A4BA-16F8-14EA-E0FDAB24AA6A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 err="1"/>
              <a:t>Exploração</a:t>
            </a:r>
            <a:r>
              <a:rPr lang="en-US" sz="2400" dirty="0"/>
              <a:t> → Active Learning, RND, Noisy Nets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 err="1"/>
              <a:t>Generalização</a:t>
            </a:r>
            <a:r>
              <a:rPr lang="en-US" sz="2400" dirty="0"/>
              <a:t> → Curriculum Learning, Domain Randomization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Segurança</a:t>
            </a:r>
            <a:r>
              <a:rPr lang="pt-BR" sz="2400" dirty="0"/>
              <a:t> → Safe RL, Semi-Supervisionado, Penalidades;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Aprendizado Contínuo </a:t>
            </a:r>
            <a:r>
              <a:rPr lang="pt-BR" sz="2400" dirty="0"/>
              <a:t>→ Online Learning.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B985F53-F0D8-63DA-E6E2-7DDBA43FAFE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Integração dos Conceitos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133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315D-B7A4-B145-84F6-67F7168EA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2F7C44C5-C4AE-6EF1-C715-E6C26E71FE02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Deep RL precisa equilibrar eficiência, segurança e generalização;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Active Learning e Semi-Supervisionado aumentam eficiência;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Safe RL garante comportamento previsível;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Próxima aula: </a:t>
            </a:r>
            <a:r>
              <a:rPr lang="pt-BR" sz="2400" b="1" dirty="0"/>
              <a:t>Aplicações Reais e Tendências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3ABCF0E-D703-7F23-4FD8-94010A35725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Conclusão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821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0c840ce6b72e534b18f8b130aa18f4c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81d42af92cf0d6c6ca1f81162ee3983b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07C26D-4CAC-49EA-96F8-34D2DE24E0F0}"/>
</file>

<file path=customXml/itemProps2.xml><?xml version="1.0" encoding="utf-8"?>
<ds:datastoreItem xmlns:ds="http://schemas.openxmlformats.org/officeDocument/2006/customXml" ds:itemID="{0C586858-96B2-422C-96F5-6F381F9D0A4D}"/>
</file>

<file path=customXml/itemProps3.xml><?xml version="1.0" encoding="utf-8"?>
<ds:datastoreItem xmlns:ds="http://schemas.openxmlformats.org/officeDocument/2006/customXml" ds:itemID="{CDC58D97-8D72-41B8-BD7F-4A4F63C36566}"/>
</file>

<file path=docProps/app.xml><?xml version="1.0" encoding="utf-8"?>
<Properties xmlns="http://schemas.openxmlformats.org/officeDocument/2006/extended-properties" xmlns:vt="http://schemas.openxmlformats.org/officeDocument/2006/docPropsVTypes">
  <TotalTime>12830</TotalTime>
  <Words>447</Words>
  <Application>Microsoft Office PowerPoint</Application>
  <PresentationFormat>Widescreen</PresentationFormat>
  <Paragraphs>87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5" baseType="lpstr">
      <vt:lpstr>Arial</vt:lpstr>
      <vt:lpstr>Cronos Pro</vt:lpstr>
      <vt:lpstr>Wingdings</vt:lpstr>
      <vt:lpstr>Calibri</vt:lpstr>
      <vt:lpstr>Aptos</vt:lpstr>
      <vt:lpstr>Montserrat</vt:lpstr>
      <vt:lpstr>Cambria Math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94</cp:revision>
  <dcterms:created xsi:type="dcterms:W3CDTF">2025-06-11T21:44:24Z</dcterms:created>
  <dcterms:modified xsi:type="dcterms:W3CDTF">2026-01-28T17:29:45Z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