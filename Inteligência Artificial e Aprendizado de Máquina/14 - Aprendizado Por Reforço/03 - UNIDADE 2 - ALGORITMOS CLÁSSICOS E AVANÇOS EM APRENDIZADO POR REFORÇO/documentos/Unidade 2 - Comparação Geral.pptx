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9"/>
  </p:notesMasterIdLst>
  <p:sldIdLst>
    <p:sldId id="26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64" r:id="rId28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ronos Pro" panose="020C0502030403020304" pitchFamily="34" charset="0"/>
      <p:regular r:id="rId35"/>
      <p:bold r:id="rId36"/>
      <p:italic r:id="rId37"/>
    </p:embeddedFont>
    <p:embeddedFont>
      <p:font typeface="Montserrat" panose="00000500000000000000" pitchFamily="50" charset="0"/>
      <p:regular r:id="rId38"/>
      <p:bold r:id="rId39"/>
      <p:italic r:id="rId40"/>
      <p:boldItalic r:id="rId4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77294" autoAdjust="0"/>
  </p:normalViewPr>
  <p:slideViewPr>
    <p:cSldViewPr snapToGrid="0">
      <p:cViewPr varScale="1">
        <p:scale>
          <a:sx n="84" d="100"/>
          <a:sy n="84" d="100"/>
        </p:scale>
        <p:origin x="1374" y="78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0.fntdata"/><Relationship Id="rId21" Type="http://schemas.openxmlformats.org/officeDocument/2006/relationships/slide" Target="slides/slide14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font" Target="fonts/font7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3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017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53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06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24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Value Iteration é </a:t>
                </a:r>
                <a:r>
                  <a:rPr lang="en-US" dirty="0" err="1"/>
                  <a:t>uma</a:t>
                </a:r>
                <a:r>
                  <a:rPr lang="en-US" dirty="0"/>
                  <a:t> </a:t>
                </a:r>
                <a:r>
                  <a:rPr lang="en-US" dirty="0" err="1"/>
                  <a:t>variação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/>
                  <a:t>direta</a:t>
                </a:r>
                <a:r>
                  <a:rPr lang="en-US" dirty="0"/>
                  <a:t>. Em </a:t>
                </a:r>
                <a:r>
                  <a:rPr lang="en-US" dirty="0" err="1"/>
                  <a:t>vez</a:t>
                </a:r>
                <a:r>
                  <a:rPr lang="en-US" dirty="0"/>
                  <a:t> de </a:t>
                </a:r>
                <a:r>
                  <a:rPr lang="en-US" dirty="0" err="1"/>
                  <a:t>separar</a:t>
                </a:r>
                <a:r>
                  <a:rPr lang="en-US" dirty="0"/>
                  <a:t> evaluation e improvement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etapas</a:t>
                </a:r>
                <a:r>
                  <a:rPr lang="en-US" dirty="0"/>
                  <a:t> </a:t>
                </a:r>
                <a:r>
                  <a:rPr lang="en-US" dirty="0" err="1"/>
                  <a:t>distintas</a:t>
                </a:r>
                <a:r>
                  <a:rPr lang="en-US" dirty="0"/>
                  <a:t>, </a:t>
                </a:r>
                <a:r>
                  <a:rPr lang="en-US" dirty="0" err="1"/>
                  <a:t>ele</a:t>
                </a:r>
                <a:r>
                  <a:rPr lang="en-US" dirty="0"/>
                  <a:t> </a:t>
                </a:r>
                <a:r>
                  <a:rPr lang="en-US" dirty="0" err="1"/>
                  <a:t>já</a:t>
                </a:r>
                <a:r>
                  <a:rPr lang="en-US" dirty="0"/>
                  <a:t> </a:t>
                </a:r>
                <a:r>
                  <a:rPr lang="en-US" dirty="0" err="1"/>
                  <a:t>aplica</a:t>
                </a:r>
                <a:r>
                  <a:rPr lang="en-US" dirty="0"/>
                  <a:t> o Bellman </a:t>
                </a:r>
                <a:r>
                  <a:rPr lang="en-US" dirty="0" err="1"/>
                  <a:t>ótimo</a:t>
                </a:r>
                <a:r>
                  <a:rPr lang="en-US" dirty="0"/>
                  <a:t> 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atualização</a:t>
                </a:r>
                <a:r>
                  <a:rPr lang="en-US" dirty="0"/>
                  <a:t>, </a:t>
                </a:r>
                <a:r>
                  <a:rPr lang="en-US" dirty="0" err="1"/>
                  <a:t>aproximando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(𝑠)</a:t>
                </a:r>
                <a:r>
                  <a:rPr lang="en-US" dirty="0"/>
                  <a:t>da </a:t>
                </a:r>
                <a:r>
                  <a:rPr lang="en-US" dirty="0" err="1"/>
                  <a:t>melhor</a:t>
                </a:r>
                <a:r>
                  <a:rPr lang="en-US" dirty="0"/>
                  <a:t> </a:t>
                </a:r>
                <a:r>
                  <a:rPr lang="en-US" dirty="0" err="1"/>
                  <a:t>política</a:t>
                </a:r>
                <a:r>
                  <a:rPr lang="en-US" dirty="0"/>
                  <a:t> 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iteração</a:t>
                </a:r>
                <a:r>
                  <a:rPr lang="en-US" dirty="0"/>
                  <a:t>. É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/>
                  <a:t>rápido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o Policy Iteration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muitos</a:t>
                </a:r>
                <a:r>
                  <a:rPr lang="en-US" dirty="0"/>
                  <a:t> </a:t>
                </a:r>
                <a:r>
                  <a:rPr lang="en-US" dirty="0" err="1"/>
                  <a:t>casos</a:t>
                </a:r>
                <a:r>
                  <a:rPr lang="en-US" dirty="0"/>
                  <a:t>, mas </a:t>
                </a:r>
                <a:r>
                  <a:rPr lang="en-US" dirty="0" err="1"/>
                  <a:t>ainda</a:t>
                </a:r>
                <a:r>
                  <a:rPr lang="en-US" dirty="0"/>
                  <a:t> </a:t>
                </a:r>
                <a:r>
                  <a:rPr lang="en-US" dirty="0" err="1"/>
                  <a:t>depende</a:t>
                </a:r>
                <a:r>
                  <a:rPr lang="en-US" dirty="0"/>
                  <a:t> do </a:t>
                </a:r>
                <a:r>
                  <a:rPr lang="en-US" dirty="0" err="1"/>
                  <a:t>modelo</a:t>
                </a:r>
                <a:r>
                  <a:rPr lang="en-US" dirty="0"/>
                  <a:t> do </a:t>
                </a:r>
                <a:r>
                  <a:rPr lang="en-US" dirty="0" err="1"/>
                  <a:t>ambiente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6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41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060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Prediction é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avaliação</a:t>
                </a:r>
                <a:r>
                  <a:rPr lang="en-US" dirty="0"/>
                  <a:t>, </a:t>
                </a:r>
                <a:r>
                  <a:rPr lang="en-US" dirty="0" err="1"/>
                  <a:t>não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agir</a:t>
                </a:r>
                <a:r>
                  <a:rPr lang="en-US" dirty="0"/>
                  <a:t> </a:t>
                </a:r>
                <a:r>
                  <a:rPr lang="en-US" dirty="0" err="1"/>
                  <a:t>melhor</a:t>
                </a:r>
                <a:r>
                  <a:rPr lang="en-US" dirty="0"/>
                  <a:t>. Neste </a:t>
                </a:r>
                <a:r>
                  <a:rPr lang="en-US" dirty="0" err="1"/>
                  <a:t>estágio</a:t>
                </a:r>
                <a:r>
                  <a:rPr lang="en-US" dirty="0"/>
                  <a:t>, </a:t>
                </a:r>
                <a:r>
                  <a:rPr lang="en-US" dirty="0" err="1"/>
                  <a:t>assumimos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a </a:t>
                </a:r>
                <a:r>
                  <a:rPr lang="en-US" dirty="0" err="1"/>
                  <a:t>política</a:t>
                </a:r>
                <a:r>
                  <a:rPr lang="en-US" dirty="0"/>
                  <a:t> </a:t>
                </a:r>
                <a:r>
                  <a:rPr lang="en-US" dirty="0" err="1"/>
                  <a:t>está</a:t>
                </a:r>
                <a:r>
                  <a:rPr lang="en-US" dirty="0"/>
                  <a:t> </a:t>
                </a:r>
                <a:r>
                  <a:rPr lang="en-US" dirty="0" err="1"/>
                  <a:t>definida</a:t>
                </a:r>
                <a:r>
                  <a:rPr lang="en-US" dirty="0"/>
                  <a:t> e </a:t>
                </a:r>
                <a:r>
                  <a:rPr lang="en-US" dirty="0" err="1"/>
                  <a:t>queremos</a:t>
                </a:r>
                <a:r>
                  <a:rPr lang="en-US" dirty="0"/>
                  <a:t> </a:t>
                </a:r>
                <a:r>
                  <a:rPr lang="en-US" dirty="0" err="1"/>
                  <a:t>descobrir</a:t>
                </a:r>
                <a:r>
                  <a:rPr lang="en-US" dirty="0"/>
                  <a:t> qual o valor </a:t>
                </a:r>
                <a:r>
                  <a:rPr lang="en-US" dirty="0" err="1"/>
                  <a:t>esperado</a:t>
                </a:r>
                <a:r>
                  <a:rPr lang="en-US" dirty="0"/>
                  <a:t> de </a:t>
                </a:r>
                <a:r>
                  <a:rPr lang="en-US" dirty="0" err="1"/>
                  <a:t>segui</a:t>
                </a:r>
                <a:r>
                  <a:rPr lang="en-US" dirty="0"/>
                  <a:t>-la. </a:t>
                </a:r>
                <a:r>
                  <a:rPr lang="en-US" dirty="0" err="1"/>
                  <a:t>Isso</a:t>
                </a:r>
                <a:r>
                  <a:rPr lang="en-US" dirty="0"/>
                  <a:t> </a:t>
                </a:r>
                <a:r>
                  <a:rPr lang="en-US" dirty="0" err="1"/>
                  <a:t>gera</a:t>
                </a:r>
                <a:r>
                  <a:rPr lang="en-US" dirty="0"/>
                  <a:t> </a:t>
                </a:r>
                <a:r>
                  <a:rPr lang="en-US" dirty="0" err="1"/>
                  <a:t>funções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(𝑠)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(𝑠ⓜ,𝑎)</a:t>
                </a:r>
                <a:r>
                  <a:rPr lang="ar-AE" dirty="0"/>
                  <a:t>,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/>
                  <a:t>tarde</a:t>
                </a:r>
                <a:r>
                  <a:rPr lang="en-US" dirty="0"/>
                  <a:t> </a:t>
                </a:r>
                <a:r>
                  <a:rPr lang="en-US" dirty="0" err="1"/>
                  <a:t>serão</a:t>
                </a:r>
                <a:r>
                  <a:rPr lang="en-US" dirty="0"/>
                  <a:t> </a:t>
                </a:r>
                <a:r>
                  <a:rPr lang="en-US" dirty="0" err="1"/>
                  <a:t>usadas</a:t>
                </a:r>
                <a:r>
                  <a:rPr lang="en-US" dirty="0"/>
                  <a:t> para </a:t>
                </a:r>
                <a:r>
                  <a:rPr lang="en-US" dirty="0" err="1"/>
                  <a:t>melhorar</a:t>
                </a:r>
                <a:r>
                  <a:rPr lang="en-US" dirty="0"/>
                  <a:t> a </a:t>
                </a:r>
                <a:r>
                  <a:rPr lang="en-US" dirty="0" err="1"/>
                  <a:t>política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6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28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930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73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Monte Carlo Control segue a </a:t>
                </a:r>
                <a:r>
                  <a:rPr lang="en-US" dirty="0" err="1"/>
                  <a:t>mesma</a:t>
                </a:r>
                <a:r>
                  <a:rPr lang="en-US" dirty="0"/>
                  <a:t> </a:t>
                </a:r>
                <a:r>
                  <a:rPr lang="en-US" dirty="0" err="1"/>
                  <a:t>filosofia</a:t>
                </a:r>
                <a:r>
                  <a:rPr lang="en-US" dirty="0"/>
                  <a:t> do Prediction com MC, mas agora </a:t>
                </a:r>
                <a:r>
                  <a:rPr lang="en-US" dirty="0" err="1"/>
                  <a:t>usando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(𝑠ⓜ,𝑎)</a:t>
                </a:r>
                <a:r>
                  <a:rPr lang="en-US" dirty="0"/>
                  <a:t>e </a:t>
                </a:r>
                <a:r>
                  <a:rPr lang="en-US" dirty="0" err="1"/>
                  <a:t>adicionando</a:t>
                </a:r>
                <a:r>
                  <a:rPr lang="en-US" dirty="0"/>
                  <a:t> </a:t>
                </a:r>
                <a:r>
                  <a:rPr lang="en-US" dirty="0" err="1"/>
                  <a:t>exploração</a:t>
                </a:r>
                <a:r>
                  <a:rPr lang="en-US" dirty="0"/>
                  <a:t> com </a:t>
                </a:r>
                <a:r>
                  <a:rPr lang="el-GR" dirty="0"/>
                  <a:t>ε-</a:t>
                </a:r>
                <a:r>
                  <a:rPr lang="en-US" dirty="0"/>
                  <a:t>greedy. Ele </a:t>
                </a:r>
                <a:r>
                  <a:rPr lang="en-US" dirty="0" err="1"/>
                  <a:t>funciona</a:t>
                </a:r>
                <a:r>
                  <a:rPr lang="en-US" dirty="0"/>
                  <a:t> </a:t>
                </a:r>
                <a:r>
                  <a:rPr lang="en-US" dirty="0" err="1"/>
                  <a:t>bem</a:t>
                </a:r>
                <a:r>
                  <a:rPr lang="en-US" dirty="0"/>
                  <a:t> e é </a:t>
                </a:r>
                <a:r>
                  <a:rPr lang="en-US" dirty="0" err="1"/>
                  <a:t>fácil</a:t>
                </a:r>
                <a:r>
                  <a:rPr lang="en-US" dirty="0"/>
                  <a:t> de </a:t>
                </a:r>
                <a:r>
                  <a:rPr lang="en-US" dirty="0" err="1"/>
                  <a:t>implementar</a:t>
                </a:r>
                <a:r>
                  <a:rPr lang="en-US" dirty="0"/>
                  <a:t>, </a:t>
                </a:r>
                <a:r>
                  <a:rPr lang="en-US" dirty="0" err="1"/>
                  <a:t>porém</a:t>
                </a:r>
                <a:r>
                  <a:rPr lang="en-US" dirty="0"/>
                  <a:t> </a:t>
                </a:r>
                <a:r>
                  <a:rPr lang="en-US" dirty="0" err="1"/>
                  <a:t>sofre</a:t>
                </a:r>
                <a:r>
                  <a:rPr lang="en-US" dirty="0"/>
                  <a:t> com a </a:t>
                </a:r>
                <a:r>
                  <a:rPr lang="en-US" dirty="0" err="1"/>
                  <a:t>mesma</a:t>
                </a:r>
                <a:r>
                  <a:rPr lang="en-US" dirty="0"/>
                  <a:t> </a:t>
                </a:r>
                <a:r>
                  <a:rPr lang="en-US" dirty="0" err="1"/>
                  <a:t>limitação</a:t>
                </a:r>
                <a:r>
                  <a:rPr lang="en-US" dirty="0"/>
                  <a:t>: </a:t>
                </a:r>
                <a:r>
                  <a:rPr lang="en-US" dirty="0" err="1"/>
                  <a:t>precisa</a:t>
                </a:r>
                <a:r>
                  <a:rPr lang="en-US" dirty="0"/>
                  <a:t> de </a:t>
                </a:r>
                <a:r>
                  <a:rPr lang="en-US" dirty="0" err="1"/>
                  <a:t>episódios</a:t>
                </a:r>
                <a:r>
                  <a:rPr lang="en-US" dirty="0"/>
                  <a:t> </a:t>
                </a:r>
                <a:r>
                  <a:rPr lang="en-US" dirty="0" err="1"/>
                  <a:t>completos</a:t>
                </a:r>
                <a:r>
                  <a:rPr lang="en-US" dirty="0"/>
                  <a:t> para </a:t>
                </a:r>
                <a:r>
                  <a:rPr lang="en-US" dirty="0" err="1"/>
                  <a:t>atualizar</a:t>
                </a:r>
                <a:r>
                  <a:rPr lang="en-US" dirty="0"/>
                  <a:t> </a:t>
                </a:r>
                <a:r>
                  <a:rPr lang="en-US" dirty="0" err="1"/>
                  <a:t>suas</a:t>
                </a:r>
                <a:r>
                  <a:rPr lang="en-US" dirty="0"/>
                  <a:t> </a:t>
                </a:r>
                <a:r>
                  <a:rPr lang="en-US" dirty="0" err="1"/>
                  <a:t>estimativas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97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43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97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95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00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20B3-BBB9-1483-5A08-314B1D3D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FA7BF-F803-C91A-74C8-F3EA318DB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F0392-B770-8329-4951-8624F6BF7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03711-2F19-FC5F-535D-1395CCB4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5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Comparação Geral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Em RL, um agente aprende por interação;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objetivo é </a:t>
            </a:r>
            <a:r>
              <a:rPr lang="pt-BR" sz="2400" b="1" dirty="0"/>
              <a:t>maximizar o retorno acumulado</a:t>
            </a:r>
            <a:r>
              <a:rPr lang="pt-BR" sz="2400" dirty="0"/>
              <a:t>, escolhendo boas ações ao longo do tempo;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Para aprender, o agente alterna entre </a:t>
            </a:r>
            <a:r>
              <a:rPr lang="pt-BR" sz="2400" b="1" dirty="0"/>
              <a:t>avaliar uma política (Prediction)</a:t>
            </a:r>
            <a:r>
              <a:rPr lang="pt-BR" sz="2400" dirty="0"/>
              <a:t> e </a:t>
            </a:r>
            <a:r>
              <a:rPr lang="pt-BR" sz="2400" b="1" dirty="0"/>
              <a:t>melhorar a política (Control)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Essa dinâmica pode seguir </a:t>
            </a:r>
            <a:r>
              <a:rPr lang="pt-BR" sz="2400" b="1" dirty="0"/>
              <a:t>dois caminhos</a:t>
            </a:r>
            <a:r>
              <a:rPr lang="pt-BR" sz="2400" dirty="0"/>
              <a:t>: </a:t>
            </a:r>
            <a:r>
              <a:rPr lang="pt-BR" sz="2400" b="1" dirty="0"/>
              <a:t>Model-Based</a:t>
            </a:r>
            <a:r>
              <a:rPr lang="pt-BR" sz="2400" dirty="0"/>
              <a:t> ou </a:t>
            </a:r>
            <a:r>
              <a:rPr lang="pt-BR" sz="2400" b="1" dirty="0"/>
              <a:t>Model-Free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Relembrando o Ciclo do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15D6-9869-6684-2900-CB1ADBB2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88EFFE5-D36F-97CA-2883-F3979516A821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Model-Based</a:t>
            </a:r>
            <a:r>
              <a:rPr lang="pt-BR" sz="2400" dirty="0"/>
              <a:t>: o agente </a:t>
            </a:r>
            <a:r>
              <a:rPr lang="pt-BR" sz="2400" b="1" dirty="0"/>
              <a:t>conhece ou aprende</a:t>
            </a:r>
            <a:r>
              <a:rPr lang="pt-BR" sz="2400" dirty="0"/>
              <a:t> o modelo do ambiente;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Model-Free</a:t>
            </a:r>
            <a:r>
              <a:rPr lang="pt-BR" sz="2400" dirty="0"/>
              <a:t>: o agente </a:t>
            </a:r>
            <a:r>
              <a:rPr lang="pt-BR" sz="2400" b="1" dirty="0"/>
              <a:t>não conhece</a:t>
            </a:r>
            <a:r>
              <a:rPr lang="pt-BR" sz="2400" dirty="0"/>
              <a:t> o modelo — aprende direto da experiência;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Ambos podem realizar </a:t>
            </a:r>
            <a:r>
              <a:rPr lang="pt-BR" sz="2400" b="1" dirty="0"/>
              <a:t>Prediction</a:t>
            </a:r>
            <a:r>
              <a:rPr lang="pt-BR" sz="2400" dirty="0"/>
              <a:t> e </a:t>
            </a:r>
            <a:r>
              <a:rPr lang="pt-BR" sz="2400" b="1" dirty="0"/>
              <a:t>Control</a:t>
            </a:r>
            <a:r>
              <a:rPr lang="pt-BR" sz="2400" dirty="0"/>
              <a:t>, mas de formas diferentes;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Entender a diferença entre eles é essencial para saber </a:t>
            </a:r>
            <a:r>
              <a:rPr lang="pt-BR" sz="2400" b="1" dirty="0"/>
              <a:t>quando usar cada um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290D28-E65F-B4BB-C659-55A5F7CA43A3}"/>
              </a:ext>
            </a:extLst>
          </p:cNvPr>
          <p:cNvSpPr txBox="1"/>
          <p:nvPr/>
        </p:nvSpPr>
        <p:spPr>
          <a:xfrm>
            <a:off x="833161" y="814648"/>
            <a:ext cx="106197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Dois Caminhos: Model-Based vs Model-Free</a:t>
            </a:r>
            <a:endParaRPr lang="en-ID" sz="34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97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5D83-7DAC-6A68-63D3-66DDBFDE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62E9DE1-037B-EB61-5417-FD0F057369CB}"/>
                  </a:ext>
                </a:extLst>
              </p:cNvPr>
              <p:cNvSpPr txBox="1"/>
              <p:nvPr/>
            </p:nvSpPr>
            <p:spPr>
              <a:xfrm>
                <a:off x="947738" y="1682323"/>
                <a:ext cx="10801349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O agente possui ou aprende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sz="2400" dirty="0"/>
                  <a:t>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Isso permite </a:t>
                </a:r>
                <a:r>
                  <a:rPr lang="pt-BR" sz="2400" b="1" dirty="0"/>
                  <a:t>planejar antes de agir</a:t>
                </a:r>
                <a:r>
                  <a:rPr lang="pt-BR" sz="2400" dirty="0"/>
                  <a:t>, reduzindo tentativas e erro;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Pode usar </a:t>
                </a:r>
                <a:r>
                  <a:rPr lang="pt-BR" sz="2400" b="1" dirty="0"/>
                  <a:t>simulação mental</a:t>
                </a:r>
                <a:r>
                  <a:rPr lang="pt-BR" sz="2400" dirty="0"/>
                  <a:t> do ambiente;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Geralmente </a:t>
                </a:r>
                <a:r>
                  <a:rPr lang="pt-BR" sz="2400" b="1" dirty="0"/>
                  <a:t>mais sample-efficient</a:t>
                </a:r>
                <a:r>
                  <a:rPr lang="pt-BR" sz="2400" dirty="0"/>
                  <a:t>, porém </a:t>
                </a:r>
                <a:r>
                  <a:rPr lang="pt-BR" sz="2400" b="1" dirty="0"/>
                  <a:t>mais custoso computacionalmente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62E9DE1-037B-EB61-5417-FD0F05736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8" y="1682323"/>
                <a:ext cx="10801349" cy="3848699"/>
              </a:xfrm>
              <a:prstGeom prst="rect">
                <a:avLst/>
              </a:prstGeom>
              <a:blipFill>
                <a:blip r:embed="rId3"/>
                <a:stretch>
                  <a:fillRect l="-7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EF39E33C-1CDD-1016-5F7E-4F831A1D888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que é Model-Based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27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6DF9-9AA7-52AF-9837-039E6A428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1FCB040-ACE4-6D69-5118-E8A80B1CB224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Ambiente conhecido: o agente </a:t>
            </a:r>
            <a:r>
              <a:rPr lang="pt-BR" sz="2400" b="1" dirty="0"/>
              <a:t>sabe o que acontece em cada ação</a:t>
            </a:r>
            <a:r>
              <a:rPr lang="pt-BR" sz="2400" dirty="0"/>
              <a:t>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Pode calcular valores </a:t>
            </a:r>
            <a:r>
              <a:rPr lang="pt-BR" sz="2400" b="1" dirty="0"/>
              <a:t>antes de agir</a:t>
            </a:r>
            <a:r>
              <a:rPr lang="pt-BR" sz="2400" dirty="0"/>
              <a:t>, explorando hipóteses;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Esse processo cria um </a:t>
            </a:r>
            <a:r>
              <a:rPr lang="pt-BR" sz="2400" b="1" dirty="0"/>
              <a:t>plano ótimo</a:t>
            </a:r>
            <a:r>
              <a:rPr lang="pt-BR" sz="2400" dirty="0"/>
              <a:t> de navegação;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Resultado: decisões mais precisas com menos exploração real.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0BEF00D-0A50-E850-AAF4-A4B322D0A86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 Model-Based (Gridworld)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54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8E49-DB32-C753-C028-07CF964C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30950DF9-81FE-B4DE-9967-D69B5ABB3C55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Pipeline: </a:t>
            </a:r>
            <a:r>
              <a:rPr lang="en-US" sz="2400" b="1" dirty="0"/>
              <a:t>policy evaluation → policy improvement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Usa o modelo </a:t>
            </a:r>
            <a:r>
              <a:rPr lang="en-US" sz="2400" b="1" dirty="0"/>
              <a:t>para calcular valores exatos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Converge para uma política ótima </a:t>
            </a:r>
            <a:r>
              <a:rPr lang="pt-BR" sz="2400" b="1" dirty="0"/>
              <a:t>se o ambiente for conhecido;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Alterna entre avaliar e melhorar até estabilizar.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F3E7D27-6904-0A38-D3F0-07DAB43FFD43}"/>
              </a:ext>
            </a:extLst>
          </p:cNvPr>
          <p:cNvSpPr txBox="1"/>
          <p:nvPr/>
        </p:nvSpPr>
        <p:spPr>
          <a:xfrm>
            <a:off x="862833" y="727501"/>
            <a:ext cx="1088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 Model-Based: Policy Iteration (PI)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36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637D-762D-89E7-DFD2-0EC52B6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52A0E9D-B8AF-2622-8E2F-DA45B9DE78BF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Atualiza valores usando o </a:t>
            </a:r>
            <a:r>
              <a:rPr lang="pt-BR" sz="2400" b="1" dirty="0"/>
              <a:t>Bellman ótimo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Elimina a etapa explícita de policy evaluation completa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Tende a convergir </a:t>
            </a:r>
            <a:r>
              <a:rPr lang="pt-BR" sz="2400" b="1" dirty="0"/>
              <a:t>mais rapidamente que PI;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Também requer </a:t>
            </a:r>
            <a:r>
              <a:rPr lang="en-US" sz="2400" b="1" dirty="0"/>
              <a:t>modelo conhecido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3FCDA0C-1F1E-1A7A-10F8-45E0F5945E41}"/>
              </a:ext>
            </a:extLst>
          </p:cNvPr>
          <p:cNvSpPr txBox="1"/>
          <p:nvPr/>
        </p:nvSpPr>
        <p:spPr>
          <a:xfrm>
            <a:off x="862833" y="727501"/>
            <a:ext cx="1088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 Model-Based: Value Iteration (VI)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73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DBB4-578F-133C-DD49-074266A0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0A05ACB-310B-D6C1-5F28-634D14ECD04C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MCTS (Monte Carlo Tree Search)</a:t>
            </a:r>
            <a:r>
              <a:rPr lang="en-US" sz="2400" dirty="0"/>
              <a:t>:</a:t>
            </a:r>
            <a:endParaRPr lang="pt-BR" sz="2400" dirty="0"/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Busca baseada em simulação, usada em decisões de planejamento;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Balanceia </a:t>
            </a:r>
            <a:r>
              <a:rPr lang="pt-BR" sz="2400" b="1" dirty="0"/>
              <a:t>exploração x exploração local da árvore</a:t>
            </a:r>
            <a:r>
              <a:rPr lang="pt-BR" sz="2400" dirty="0"/>
              <a:t>;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Base do </a:t>
            </a:r>
            <a:r>
              <a:rPr lang="pt-BR" sz="2400" b="1" dirty="0"/>
              <a:t>AlphaGo</a:t>
            </a:r>
            <a:r>
              <a:rPr lang="pt-BR" sz="2400" dirty="0"/>
              <a:t> e variantes modernas;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Dyna-Q</a:t>
            </a:r>
            <a:r>
              <a:rPr lang="en-US" sz="2400" dirty="0"/>
              <a:t>: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Agente </a:t>
            </a:r>
            <a:r>
              <a:rPr lang="pt-BR" sz="2400" b="1" dirty="0"/>
              <a:t>aprende um modelo</a:t>
            </a:r>
            <a:r>
              <a:rPr lang="pt-BR" sz="2400" dirty="0"/>
              <a:t> e o usa para planejar;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Combina </a:t>
            </a:r>
            <a:r>
              <a:rPr lang="en-US" sz="2400" b="1" dirty="0"/>
              <a:t>Model-Based + Model-Free (Q-learning)</a:t>
            </a:r>
            <a:r>
              <a:rPr lang="en-US" sz="2400" dirty="0"/>
              <a:t>;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Acelera o aprendizado usando experiências simuladas.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0B08B7B-7442-50B1-BF1D-E4C3C8EA9BE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Model-Based: MCTS e Dyna-Q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95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BDDE-D457-9518-D2F2-CD468B73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1422C5E-3B3A-66F3-8C4E-B45E3A67956C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O agente </a:t>
                </a:r>
                <a:r>
                  <a:rPr lang="en-US" sz="2400" b="1" dirty="0"/>
                  <a:t>não conhece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 </a:t>
                </a:r>
                <a:r>
                  <a:rPr lang="pt-BR" sz="2400" b="1" dirty="0"/>
                  <a:t>somente pela interação</a:t>
                </a:r>
                <a:r>
                  <a:rPr lang="pt-BR" sz="2400" dirty="0"/>
                  <a:t> com o ambiente;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Não faz planejamento: aprende </a:t>
                </a:r>
                <a:r>
                  <a:rPr lang="pt-BR" sz="2400" b="1" dirty="0"/>
                  <a:t>tentando, errando e ajustando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Geralmente </a:t>
                </a:r>
                <a:r>
                  <a:rPr lang="pt-BR" sz="2400" b="1" dirty="0"/>
                  <a:t>mais simples e escalável</a:t>
                </a:r>
                <a:r>
                  <a:rPr lang="pt-BR" sz="2400" dirty="0"/>
                  <a:t> que Model-Based.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1422C5E-3B3A-66F3-8C4E-B45E3A67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25061FC8-9D36-DA41-676C-F937C159F4D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que é Model-Free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49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DA35-32FE-882D-2971-0F7C04D1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4A6D2A8-D3A1-98F5-9118-BE4D3F2AC053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Objetivo: </a:t>
                </a:r>
                <a:r>
                  <a:rPr lang="pt-BR" sz="2400" b="1" dirty="0"/>
                  <a:t>avaliar uma política fixa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Calcula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ou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com base no retorno observado;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Usa experiência do agente ao longo dos episódios;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Base para os métodos de controle.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84A6D2A8-D3A1-98F5-9118-BE4D3F2AC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85FAA21D-E1C5-8121-FE39-F020D8E6079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Model-Free Prediction (Visão Geral)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510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A87A-1A96-2332-7A11-C55BD93F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6E87AE8-FD45-2D1D-EFB8-A6C9027E5D97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Estima valores com </a:t>
            </a:r>
            <a:r>
              <a:rPr lang="pt-BR" sz="2400" b="1" dirty="0"/>
              <a:t>média dos retornos observados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Não usa bootstrap</a:t>
            </a:r>
            <a:r>
              <a:rPr lang="pt-BR" sz="2400" dirty="0"/>
              <a:t> — depende do retorno completo do episódio;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Simples de entender e implementar;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Pode ser lento quando episódios são longos.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66D6E2E-A1E0-C28C-0884-773BABB2D05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 de Prediction: Monte Carlo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44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ED8B-2F2A-8D55-89D1-43A0C9ED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832E3829-5B92-AD87-6B64-E7E0C5D01386}"/>
              </a:ext>
            </a:extLst>
          </p:cNvPr>
          <p:cNvSpPr txBox="1"/>
          <p:nvPr/>
        </p:nvSpPr>
        <p:spPr>
          <a:xfrm>
            <a:off x="947738" y="1339985"/>
            <a:ext cx="10801350" cy="4833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TD(0)</a:t>
            </a:r>
            <a:r>
              <a:rPr lang="pt-BR" sz="2000" dirty="0"/>
              <a:t>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000" dirty="0"/>
              <a:t>Atualiza valores </a:t>
            </a:r>
            <a:r>
              <a:rPr lang="pt-BR" sz="2000" b="1" dirty="0"/>
              <a:t>a cada passo</a:t>
            </a:r>
            <a:r>
              <a:rPr lang="pt-BR" sz="2000" dirty="0"/>
              <a:t>, sem esperar o fim do episódio;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Usa </a:t>
            </a:r>
            <a:r>
              <a:rPr lang="en-US" sz="2000" b="1" dirty="0"/>
              <a:t>bootstrap</a:t>
            </a:r>
            <a:r>
              <a:rPr lang="en-US" sz="2000" dirty="0"/>
              <a:t>, reaproveitando estimativas;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Rápido e aplicável online;</a:t>
            </a:r>
            <a:endParaRPr lang="pt-BR" sz="20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n-step TD</a:t>
            </a:r>
            <a:r>
              <a:rPr lang="en-US" sz="2000" dirty="0"/>
              <a:t>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000" dirty="0"/>
              <a:t>Compromisso entre MC e TD(0);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Balanceia </a:t>
            </a:r>
            <a:r>
              <a:rPr lang="en-US" sz="2000" b="1" dirty="0"/>
              <a:t>viés x variância;</a:t>
            </a:r>
            <a:endParaRPr lang="pt-BR" sz="20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TD(</a:t>
            </a:r>
            <a:r>
              <a:rPr lang="el-GR" sz="2000" b="1" dirty="0"/>
              <a:t>λ)</a:t>
            </a:r>
            <a:r>
              <a:rPr lang="en-US" sz="2000" dirty="0"/>
              <a:t>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000" dirty="0"/>
              <a:t>Combina múltiplos horizontes de n-step;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000" dirty="0"/>
              <a:t>Convergência mais rápida em muitos cenários.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5063805-A320-BE13-A7D5-CDC03BC20029}"/>
              </a:ext>
            </a:extLst>
          </p:cNvPr>
          <p:cNvSpPr txBox="1"/>
          <p:nvPr/>
        </p:nvSpPr>
        <p:spPr>
          <a:xfrm>
            <a:off x="833161" y="755210"/>
            <a:ext cx="1061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Algoritmos de Prediction: TD(0), n-step TD, TD(</a:t>
            </a:r>
            <a:r>
              <a:rPr lang="el-GR" sz="32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λ)</a:t>
            </a:r>
            <a:endParaRPr lang="en-ID" sz="32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317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9AA7-EEBB-A9DA-2D30-204ED89C4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1187243-7C05-4AA8-2AC7-300E8E18A61B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Objetivo: </a:t>
                </a:r>
                <a:r>
                  <a:rPr lang="pt-BR" sz="2400" b="1" dirty="0"/>
                  <a:t>encontrar a melhor política</a:t>
                </a:r>
                <a:r>
                  <a:rPr lang="pt-BR" sz="2400" dirty="0"/>
                  <a:t>, não apenas avaliá-la;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Aprende e atua simultaneamente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Usa </a:t>
                </a:r>
                <a:r>
                  <a:rPr lang="pt-BR" sz="2400" b="1" dirty="0"/>
                  <a:t>exploração (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pt-BR" sz="2400" b="1" dirty="0"/>
                  <a:t>-greedy)</a:t>
                </a:r>
                <a:r>
                  <a:rPr lang="pt-BR" sz="2400" dirty="0"/>
                  <a:t> para melhorar políticas;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Base de muitos métodos modernos de RL.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1187243-7C05-4AA8-2AC7-300E8E18A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07FD962-FF8E-98C0-BDB8-B8A8FC9C7BF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Model-Free Control (Visão Geral)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74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1738-7C2A-D9D1-E8D9-90861BF8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F6676B5-0CFC-FDC6-5662-AFD96A866185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Aprende </a:t>
            </a:r>
            <a:r>
              <a:rPr lang="pt-BR" sz="2400" b="1" dirty="0"/>
              <a:t>Q(s,a)</a:t>
            </a:r>
            <a:r>
              <a:rPr lang="pt-BR" sz="2400" dirty="0"/>
              <a:t> a partir dos retornos dos episódios;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l-GR" sz="2400" b="1" dirty="0"/>
              <a:t>ε-</a:t>
            </a:r>
            <a:r>
              <a:rPr lang="en-US" sz="2400" b="1" dirty="0"/>
              <a:t>greedy</a:t>
            </a:r>
            <a:r>
              <a:rPr lang="en-US" sz="2400" dirty="0"/>
              <a:t> incentiva exploração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Simples e intuitivo;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Pode ser </a:t>
            </a:r>
            <a:r>
              <a:rPr lang="pt-BR" sz="2400" b="1" dirty="0"/>
              <a:t>lento</a:t>
            </a:r>
            <a:r>
              <a:rPr lang="pt-BR" sz="2400" dirty="0"/>
              <a:t>, assim como MC Prediction.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EEAF403-95DC-28C7-A177-BCD577E29782}"/>
              </a:ext>
            </a:extLst>
          </p:cNvPr>
          <p:cNvSpPr txBox="1"/>
          <p:nvPr/>
        </p:nvSpPr>
        <p:spPr>
          <a:xfrm>
            <a:off x="833161" y="828503"/>
            <a:ext cx="1061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 de Control: Monte Carlo Control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070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66A1-2ECB-D7C1-941A-2F09B2C0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984C7DC-F402-E95A-B71B-45000F85900C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Atualiza com o quinteto: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’, 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 </a:t>
                </a:r>
                <a:r>
                  <a:rPr lang="pt-BR" sz="2400" b="1" dirty="0"/>
                  <a:t>com a própria política que executa</a:t>
                </a:r>
                <a:r>
                  <a:rPr lang="pt-BR" sz="2400" dirty="0"/>
                  <a:t> (on-policy);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Usa </a:t>
                </a:r>
                <a:r>
                  <a:rPr lang="el-GR" sz="2400" b="1" dirty="0"/>
                  <a:t>ε-</a:t>
                </a:r>
                <a:r>
                  <a:rPr lang="en-US" sz="2400" b="1" dirty="0"/>
                  <a:t>greedy</a:t>
                </a:r>
                <a:r>
                  <a:rPr lang="en-US" sz="2400" dirty="0"/>
                  <a:t> tanto para agir quanto para aprender;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Tende a ser </a:t>
                </a:r>
                <a:r>
                  <a:rPr lang="pt-BR" sz="2400" b="1" dirty="0"/>
                  <a:t>mais conservador</a:t>
                </a:r>
                <a:r>
                  <a:rPr lang="pt-BR" sz="2400" dirty="0"/>
                  <a:t> e estável.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984C7DC-F402-E95A-B71B-45000F859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0603301-CA54-90EC-5AAB-7D0C16255C9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 de Control: 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SARSA (on-policy)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472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B6CD-67DC-87D9-65DB-522DFDC01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B99C412-D2CC-49BA-01DD-47BD2967DB51}"/>
                  </a:ext>
                </a:extLst>
              </p:cNvPr>
              <p:cNvSpPr txBox="1"/>
              <p:nvPr/>
            </p:nvSpPr>
            <p:spPr>
              <a:xfrm>
                <a:off x="947738" y="1327665"/>
                <a:ext cx="10801350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Q-Learning (off-policy):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Aprende usando a </a:t>
                </a:r>
                <a:r>
                  <a:rPr lang="pt-BR" sz="2200" b="1" dirty="0"/>
                  <a:t>melhor ação possível</a:t>
                </a:r>
                <a:r>
                  <a:rPr lang="pt-BR" sz="2200" dirty="0"/>
                  <a:t>, não a executada;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Tende a ser </a:t>
                </a:r>
                <a:r>
                  <a:rPr lang="pt-BR" sz="2200" b="1" dirty="0"/>
                  <a:t>mais agressivo</a:t>
                </a:r>
                <a:r>
                  <a:rPr lang="pt-BR" sz="2200" dirty="0"/>
                  <a:t>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Usa o alvo: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2200" b="0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pt-BR" sz="2200" dirty="0"/>
                  <a:t>.</a:t>
                </a:r>
              </a:p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Expected SARSA: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Usa </a:t>
                </a:r>
                <a:r>
                  <a:rPr lang="pt-BR" sz="2200" b="1" dirty="0"/>
                  <a:t>expectativa das ações</a:t>
                </a:r>
                <a:r>
                  <a:rPr lang="pt-BR" sz="2200" dirty="0"/>
                  <a:t> no próximo estado;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Atualização mais </a:t>
                </a:r>
                <a:r>
                  <a:rPr lang="pt-BR" sz="2200" b="1" dirty="0"/>
                  <a:t>suave e com menor variância</a:t>
                </a:r>
                <a:r>
                  <a:rPr lang="pt-BR" sz="2200" dirty="0"/>
                  <a:t>;</a:t>
                </a:r>
              </a:p>
              <a:p>
                <a:pPr marL="800100" lvl="1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200" dirty="0"/>
                  <a:t>Equilíbrio entre SARSA e Q-Learning.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9B99C412-D2CC-49BA-01DD-47BD2967D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8" y="1327665"/>
                <a:ext cx="10801350" cy="3848699"/>
              </a:xfrm>
              <a:prstGeom prst="rect">
                <a:avLst/>
              </a:prstGeom>
              <a:blipFill>
                <a:blip r:embed="rId3"/>
                <a:stretch>
                  <a:fillRect l="-621" b="-206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37F8C2F-7EF1-C99E-13A9-E3F079D6B174}"/>
              </a:ext>
            </a:extLst>
          </p:cNvPr>
          <p:cNvSpPr txBox="1"/>
          <p:nvPr/>
        </p:nvSpPr>
        <p:spPr>
          <a:xfrm>
            <a:off x="862833" y="727501"/>
            <a:ext cx="10886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Algoritmos de Control: Q-Learning e Expected SARSA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502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FDE1-D400-ADE2-2D31-4CAB1B9F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38A33855-66BB-4CF2-469D-93E73826232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Comparação: 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Model-Based </a:t>
            </a:r>
            <a:r>
              <a:rPr lang="en-US" sz="36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Model-Free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B57A03-06EE-E06A-C3F6-BC0F789CD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32222"/>
              </p:ext>
            </p:extLst>
          </p:nvPr>
        </p:nvGraphicFramePr>
        <p:xfrm>
          <a:off x="947738" y="1568116"/>
          <a:ext cx="10801351" cy="372176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923700">
                  <a:extLst>
                    <a:ext uri="{9D8B030D-6E8A-4147-A177-3AD203B41FA5}">
                      <a16:colId xmlns:a16="http://schemas.microsoft.com/office/drawing/2014/main" val="3722337947"/>
                    </a:ext>
                  </a:extLst>
                </a:gridCol>
                <a:gridCol w="3833916">
                  <a:extLst>
                    <a:ext uri="{9D8B030D-6E8A-4147-A177-3AD203B41FA5}">
                      <a16:colId xmlns:a16="http://schemas.microsoft.com/office/drawing/2014/main" val="1917408656"/>
                    </a:ext>
                  </a:extLst>
                </a:gridCol>
                <a:gridCol w="3043735">
                  <a:extLst>
                    <a:ext uri="{9D8B030D-6E8A-4147-A177-3AD203B41FA5}">
                      <a16:colId xmlns:a16="http://schemas.microsoft.com/office/drawing/2014/main" val="3325091725"/>
                    </a:ext>
                  </a:extLst>
                </a:gridCol>
              </a:tblGrid>
              <a:tr h="55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Critério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Model-Based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Model-Free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779365"/>
                  </a:ext>
                </a:extLst>
              </a:tr>
              <a:tr h="102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Conhecimento do ambiente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dirty="0"/>
                        <a:t>Conhece ou aprende o 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Não conhece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520248"/>
                  </a:ext>
                </a:extLst>
              </a:tr>
              <a:tr h="55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Custo computacional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Maior (planejamento)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343459"/>
                  </a:ext>
                </a:extLst>
              </a:tr>
              <a:tr h="102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Eficiência de amostragem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Baixa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684033"/>
                  </a:ext>
                </a:extLst>
              </a:tr>
              <a:tr h="55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Planejamento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Tentativa e erro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391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074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76CF-B5FE-B896-1D03-AD34C1B0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F4507AC-1EB7-A54A-9C8D-19D096E47D8F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Model-Based = </a:t>
            </a:r>
            <a:r>
              <a:rPr lang="en-US" sz="2400" b="1" dirty="0"/>
              <a:t>planeja antes de agir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Model-Free = </a:t>
            </a:r>
            <a:r>
              <a:rPr lang="en-US" sz="2400" b="1" dirty="0"/>
              <a:t>aprende enquanto age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Model-Based funciona bem quando o ambiente é conhecido;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Model-Free funciona bem quando o modelo é </a:t>
            </a:r>
            <a:r>
              <a:rPr lang="pt-BR" sz="2400" b="1" dirty="0"/>
              <a:t>complexo ou desconhecido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436884D-033C-5D74-EF50-BAA92A45D3B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Comparação: 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Model-Based </a:t>
            </a:r>
            <a:r>
              <a:rPr lang="en-US" sz="36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en-US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Model-Free</a:t>
            </a:r>
            <a:endParaRPr lang="en-US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15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9769-8002-9D14-991A-23FC09A4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1465A44-D130-B962-FBB8-8B8EAAB2CC5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Comparação: Prediction </a:t>
            </a:r>
            <a:r>
              <a:rPr lang="en-US" sz="40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Control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4C5505-2868-4803-5807-536DA5FE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17793"/>
              </p:ext>
            </p:extLst>
          </p:nvPr>
        </p:nvGraphicFramePr>
        <p:xfrm>
          <a:off x="947738" y="1435387"/>
          <a:ext cx="10801350" cy="22860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3096898149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664910588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474579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Aspecto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65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Avaliar política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Melhorar política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80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Resultado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V(s) ou Q(s,a)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/>
                        <a:t>π*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120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Necessidade de explorar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81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base do aprendizado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noProof="0" dirty="0"/>
                        <a:t>busca por política ótima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593721"/>
                  </a:ext>
                </a:extLst>
              </a:tr>
            </a:tbl>
          </a:graphicData>
        </a:graphic>
      </p:graphicFrame>
      <p:sp>
        <p:nvSpPr>
          <p:cNvPr id="4" name="TextBox 43">
            <a:extLst>
              <a:ext uri="{FF2B5EF4-FFF2-40B4-BE49-F238E27FC236}">
                <a16:creationId xmlns:a16="http://schemas.microsoft.com/office/drawing/2014/main" id="{3147B64E-66F4-0C8A-515D-61D7659BC06B}"/>
              </a:ext>
            </a:extLst>
          </p:cNvPr>
          <p:cNvSpPr txBox="1"/>
          <p:nvPr/>
        </p:nvSpPr>
        <p:spPr>
          <a:xfrm>
            <a:off x="947738" y="3941545"/>
            <a:ext cx="10563992" cy="173175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Prediction = </a:t>
            </a:r>
            <a:r>
              <a:rPr lang="en-US" sz="2400" b="1" dirty="0"/>
              <a:t>medir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Control = </a:t>
            </a:r>
            <a:r>
              <a:rPr lang="en-US" sz="2400" b="1" dirty="0"/>
              <a:t>melhorar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Ambos aparecem em </a:t>
            </a:r>
            <a:r>
              <a:rPr lang="pt-BR" sz="2400" b="1" dirty="0"/>
              <a:t>Model-Based e Model-Free.</a:t>
            </a: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67174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AB74-F8ED-324C-0463-D9E81856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9ABB309-321B-682D-3281-433A5481DDCC}"/>
              </a:ext>
            </a:extLst>
          </p:cNvPr>
          <p:cNvSpPr txBox="1"/>
          <p:nvPr/>
        </p:nvSpPr>
        <p:spPr>
          <a:xfrm>
            <a:off x="947738" y="1682323"/>
            <a:ext cx="10372969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Recompensas podem vir muito depois da ação que as causou;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Como decidir quais ações foram responsáveis?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MC → atribuição tardia;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TD → atribuição incremental;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Control → atribuição com política.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E962CCE-8FA1-6704-47C1-D0E1DB667EB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Problema de Atribuição de Crédito</a:t>
            </a:r>
            <a:endParaRPr lang="en-US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10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093A01-DFBB-4C58-8185-9344146929AD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97DC495D-E583-42FE-9F70-A0F471275A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285C48-DB64-44FE-9064-E9E9FA2495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12771</TotalTime>
  <Words>953</Words>
  <Application>Microsoft Office PowerPoint</Application>
  <PresentationFormat>Widescreen</PresentationFormat>
  <Paragraphs>170</Paragraphs>
  <Slides>21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2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91</cp:revision>
  <dcterms:created xsi:type="dcterms:W3CDTF">2025-06-11T21:44:24Z</dcterms:created>
  <dcterms:modified xsi:type="dcterms:W3CDTF">2025-12-18T16:51:44Z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