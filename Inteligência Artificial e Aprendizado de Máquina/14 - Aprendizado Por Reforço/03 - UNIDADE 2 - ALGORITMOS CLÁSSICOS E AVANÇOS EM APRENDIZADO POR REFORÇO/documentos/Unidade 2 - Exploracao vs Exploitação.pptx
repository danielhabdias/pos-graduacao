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4"/>
    <p:sldMasterId id="2147483672" r:id="rId5"/>
    <p:sldMasterId id="2147483675" r:id="rId6"/>
    <p:sldMasterId id="2147483677" r:id="rId7"/>
  </p:sldMasterIdLst>
  <p:notesMasterIdLst>
    <p:notesMasterId r:id="rId27"/>
  </p:notesMasterIdLst>
  <p:sldIdLst>
    <p:sldId id="268" r:id="rId8"/>
    <p:sldId id="280" r:id="rId9"/>
    <p:sldId id="286" r:id="rId10"/>
    <p:sldId id="287" r:id="rId11"/>
    <p:sldId id="290" r:id="rId12"/>
    <p:sldId id="291" r:id="rId13"/>
    <p:sldId id="292" r:id="rId14"/>
    <p:sldId id="296" r:id="rId15"/>
    <p:sldId id="293" r:id="rId16"/>
    <p:sldId id="294" r:id="rId17"/>
    <p:sldId id="297" r:id="rId18"/>
    <p:sldId id="295" r:id="rId19"/>
    <p:sldId id="298" r:id="rId20"/>
    <p:sldId id="281" r:id="rId21"/>
    <p:sldId id="300" r:id="rId22"/>
    <p:sldId id="284" r:id="rId23"/>
    <p:sldId id="299" r:id="rId24"/>
    <p:sldId id="302" r:id="rId25"/>
    <p:sldId id="264" r:id="rId26"/>
  </p:sldIdLst>
  <p:sldSz cx="12192000" cy="6858000"/>
  <p:notesSz cx="6858000" cy="91440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Cronos Pro" panose="020C0502030403020304" pitchFamily="34" charset="0"/>
      <p:regular r:id="rId33"/>
      <p:bold r:id="rId34"/>
      <p:italic r:id="rId35"/>
    </p:embeddedFont>
    <p:embeddedFont>
      <p:font typeface="Montserrat" panose="00000500000000000000" pitchFamily="50" charset="0"/>
      <p:regular r:id="rId36"/>
      <p:bold r:id="rId37"/>
      <p:italic r:id="rId38"/>
      <p:boldItalic r:id="rId3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30"/>
    <a:srgbClr val="2087C6"/>
    <a:srgbClr val="379FDE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84816" autoAdjust="0"/>
  </p:normalViewPr>
  <p:slideViewPr>
    <p:cSldViewPr snapToGrid="0">
      <p:cViewPr varScale="1">
        <p:scale>
          <a:sx n="92" d="100"/>
          <a:sy n="92" d="100"/>
        </p:scale>
        <p:origin x="1056" y="102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font" Target="fonts/font12.fntdata"/><Relationship Id="rId21" Type="http://schemas.openxmlformats.org/officeDocument/2006/relationships/slide" Target="slides/slide14.xml"/><Relationship Id="rId34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5A95-A2DF-4770-B285-FE21F9240552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2A541-A226-4611-A5F2-C8546E102C6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54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70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51975-9622-69C8-2C60-1E60FA005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AA0C4-7B53-A8C4-8E4E-21A6D74B4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06892-618D-B82F-9725-27485DD68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646B0-F8FA-AD9E-3EDA-6D535A280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367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DBDA3-7177-A7EC-CC14-BDFD7499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2E9FD-7B21-9DD2-2630-0C5D21AD0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0140B-8614-6AED-2CB5-A373CA2B8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2C699-B3FE-CFA0-0B43-407BC3057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230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B03B3-6468-5893-A60E-DE6DDF489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117DB-52EB-2229-8139-F55D6F9D9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1BCDE-9590-AAA1-0396-C914C7AAE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59284-F5A1-9643-1000-817DACFCF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658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BB502-811B-1742-1954-68549ADCD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35B77-38A8-5088-D860-22E420BEE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0EF0C-4526-1884-F7F7-3F3847D02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CA9C5-EB33-2EC5-374A-EAB4A0961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223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596B8-0E20-5413-43CF-48B4004A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B3375-3A5E-6672-E439-A24439F82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0025D-F6B6-7623-F4E3-9D939546D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FFC26-0B87-D51C-30A5-4F33E75C0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833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C0CB5-5093-92DB-3244-1A728090E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5DFCD6-702D-9798-1DA6-6CB99C04A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902DD-FA1F-4E2B-DF14-3E066E209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EF5EE-D7CC-984C-4559-317DAB5E9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230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4E47D-AEEE-EAEC-360D-D10EEEF7D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42234-7931-CDAD-2A4F-B94D3D088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780AA-1700-FD81-5471-B3AD6E6C6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15AF2-204E-4115-66D7-E91B71EFC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358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B8465-51D7-184C-1997-09851A633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A8D44E-9260-1385-2BE8-A8B7F0F5D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5EE8B-2916-C3AE-DE20-2C7835CE4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61EBD-E5EE-B813-98EC-3DED12B8C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176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02D7B-38DF-9128-7780-0585DFF07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F4682B-F0D5-B963-A798-094BC44E1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B3D1F-306E-0EB5-B42E-9245E166F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33CCB-ADFC-CD81-3265-F1BC4A93D6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1696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C758F-8D7F-D3FC-F64B-12FA8BF78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92D9D-BF37-4E1D-91C4-F6B5BD79D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58690-EFDD-3B4B-7D9A-555326EF6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BA0-176D-804E-00CF-D29B34639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774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011DF-C5B7-F47B-51F0-B1F6DC15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2A98E-EE7D-E294-E7A6-AFAD72A79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C4DE5-3CD9-DC42-00BC-75FCD15BD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7440F-A6BC-8E7A-AB18-3612D263F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80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737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92C6C-D010-7685-6B16-0AEF8100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6BE29-072D-9747-5A53-647F25F2B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E7E5F-35B0-B366-82EF-9E7C20A2F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CA622-6D50-A292-B565-4CADCFF6D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397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F4C5B-8836-2FB2-22E8-65976E87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2C6108-178C-0B6E-7CD2-A981FF5F9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34181-DB74-7FB9-1865-F02831EB2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78609-AFE2-3F02-697E-8E59CCC15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356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DA4E1-1DEF-78E5-D8AF-673388483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977DA7-23A7-A854-E216-378EB6BEA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60F47F-968E-41D3-8017-B2F61228D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17D4-B34F-6C76-6699-880EC329B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83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88814"/>
            <a:ext cx="9831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Exploração </a:t>
            </a:r>
            <a:r>
              <a:rPr lang="pt-BR" sz="4800" b="1" i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vs</a:t>
            </a:r>
            <a:r>
              <a:rPr lang="pt-BR" sz="48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. “Exploitação”</a:t>
            </a:r>
            <a:endParaRPr lang="en-ID" sz="48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8118-FB53-4D43-9C26-6F69F58B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69F5B64-6542-BA31-2634-410B886A572A}"/>
              </a:ext>
            </a:extLst>
          </p:cNvPr>
          <p:cNvSpPr txBox="1"/>
          <p:nvPr/>
        </p:nvSpPr>
        <p:spPr>
          <a:xfrm>
            <a:off x="482600" y="1682323"/>
            <a:ext cx="10914553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1"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Por que o </a:t>
            </a:r>
            <a:r>
              <a:rPr lang="pt-BR" sz="2400" b="1" dirty="0"/>
              <a:t>dilema</a:t>
            </a:r>
            <a:r>
              <a:rPr lang="pt-BR" sz="2400" dirty="0"/>
              <a:t> existe? 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 agente precisa agir para coletar dados.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Decisão a cada passo: explorar ou “exploitar”?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Escolhas ruins no início → aprendizado futuro melhor.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Se nunca explorar → política ruim para sempre.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BE71B21-1BC2-F131-95F3-E0702391DA7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Motivação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94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AC570-E893-8437-9FCF-9E427597C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C97B2D7C-A9B8-717C-6C9C-6DB5A299F73D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Definições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B44E4D-EEC7-DE5B-0A2A-F94D4A245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952126"/>
              </p:ext>
            </p:extLst>
          </p:nvPr>
        </p:nvGraphicFramePr>
        <p:xfrm>
          <a:off x="947738" y="2514600"/>
          <a:ext cx="10776952" cy="18288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649039">
                  <a:extLst>
                    <a:ext uri="{9D8B030D-6E8A-4147-A177-3AD203B41FA5}">
                      <a16:colId xmlns:a16="http://schemas.microsoft.com/office/drawing/2014/main" val="803903127"/>
                    </a:ext>
                  </a:extLst>
                </a:gridCol>
                <a:gridCol w="7127913">
                  <a:extLst>
                    <a:ext uri="{9D8B030D-6E8A-4147-A177-3AD203B41FA5}">
                      <a16:colId xmlns:a16="http://schemas.microsoft.com/office/drawing/2014/main" val="2636755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Termo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Significado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0518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Exploration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Tentar ações novas para aprender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898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Exploitation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Usar o conhecimento atual para maximizar retorno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9751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Trade-off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Equilíbrio entre aprender e lucrar agora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1200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930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5E5A0-E9AD-346D-08D1-24EEEDA20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467BCA64-38CA-2DD8-27B2-977E3090FB44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en-US" sz="2400" dirty="0"/>
              <a:t>Exemplo: escolher restaurante.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Exploitation: sempre ir ao seu favorito;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Exploration: testar restaurantes novos.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Exemplo: </a:t>
            </a:r>
            <a:r>
              <a:rPr lang="en-US" sz="2400" dirty="0"/>
              <a:t>carreira.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Continuar na mesma função/empresa que já domina;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Trocar de área para aprender algo novo e arriscar crescer mais.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F3F36ABC-EBD5-918C-537E-558C9DB77A8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Exemplo do Mundo Real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227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0E5A7-2C3B-4506-B24A-4E67FF64C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53A99CB1-2203-99A3-1DDE-A816DE6AE31B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Consequências do desequilíbrio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97BC1F-35AE-954C-B999-A3F3B80F7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835897"/>
              </p:ext>
            </p:extLst>
          </p:nvPr>
        </p:nvGraphicFramePr>
        <p:xfrm>
          <a:off x="947738" y="2514600"/>
          <a:ext cx="10801350" cy="18288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726507">
                  <a:extLst>
                    <a:ext uri="{9D8B030D-6E8A-4147-A177-3AD203B41FA5}">
                      <a16:colId xmlns:a16="http://schemas.microsoft.com/office/drawing/2014/main" val="2785588528"/>
                    </a:ext>
                  </a:extLst>
                </a:gridCol>
                <a:gridCol w="7074843">
                  <a:extLst>
                    <a:ext uri="{9D8B030D-6E8A-4147-A177-3AD203B41FA5}">
                      <a16:colId xmlns:a16="http://schemas.microsoft.com/office/drawing/2014/main" val="5528441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Situação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Resultado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949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Explorar pouco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Política ruim e estática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640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Explorar demais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Muito custo e demora a convergir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110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Equilíbrio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Melhor política no longo prazo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280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757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6A242-A799-D23B-643B-5C2F758C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4E7163DB-9159-52A9-6567-BC009F717EC7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Ação aleatória com probabilidade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Melhor ação conhecida com probabilidade 1-</a:t>
                </a:r>
                <a:r>
                  <a:rPr lang="pt-BR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Simples, eficaz e padrão em RL.</a:t>
                </a:r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4E7163DB-9159-52A9-6567-BC009F717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BC1DAC1F-D6B9-567F-89A4-F4F3D46061C4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Estratégia </a:t>
                </a:r>
                <a14:m>
                  <m:oMath xmlns:m="http://schemas.openxmlformats.org/officeDocument/2006/math">
                    <m:r>
                      <a:rPr lang="en-ID" sz="4000" b="1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oppins" panose="02000000000000000000" pitchFamily="2" charset="0"/>
                      </a:rPr>
                      <m:t>𝜺</m:t>
                    </m:r>
                  </m:oMath>
                </a14:m>
                <a:r>
                  <a:rPr lang="el-G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-</a:t>
                </a:r>
                <a:r>
                  <a:rPr lang="en-ID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Greedy (conceito)</a:t>
                </a: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BC1DAC1F-D6B9-567F-89A4-F4F3D4606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4"/>
                <a:stretch>
                  <a:fillRect l="-2067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465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72323-ED62-D448-1570-93766EA5F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61F3A3AC-2964-3FB5-9FC6-1ADD213FAB9E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4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l-G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-</a:t>
                </a:r>
                <a:r>
                  <a:rPr lang="en-ID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Greedy</a:t>
                </a: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61F3A3AC-2964-3FB5-9FC6-1ADD213FA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43">
                <a:extLst>
                  <a:ext uri="{FF2B5EF4-FFF2-40B4-BE49-F238E27FC236}">
                    <a16:creationId xmlns:a16="http://schemas.microsoft.com/office/drawing/2014/main" id="{DDAECB28-42E5-9E26-B8C1-EE4BE1E88541}"/>
                  </a:ext>
                </a:extLst>
              </p:cNvPr>
              <p:cNvSpPr txBox="1"/>
              <p:nvPr/>
            </p:nvSpPr>
            <p:spPr>
              <a:xfrm>
                <a:off x="814004" y="1696452"/>
                <a:ext cx="10563992" cy="462734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/|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e>
                          </m:eqAr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arg</m:t>
                              </m:r>
                            </m:fName>
                            <m:e>
                              <m:func>
                                <m:func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32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𝑐𝑎𝑠𝑜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𝑐𝑜𝑛𝑡𝑟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𝑟𝑖𝑜</m:t>
                          </m:r>
                        </m:e>
                      </m:d>
                    </m:oMath>
                  </m:oMathPara>
                </a14:m>
                <a:endParaRPr lang="pt-BR" sz="2400" dirty="0"/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r>
                  <a:rPr lang="pt-BR" sz="2400" dirty="0"/>
                  <a:t>Obs.: implementação real costuma escolher </a:t>
                </a:r>
                <a:r>
                  <a:rPr lang="pt-BR" sz="2400" b="1" dirty="0"/>
                  <a:t>100% aleatória nos ε% dos casos</a:t>
                </a:r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2" name="TextBox 43">
                <a:extLst>
                  <a:ext uri="{FF2B5EF4-FFF2-40B4-BE49-F238E27FC236}">
                    <a16:creationId xmlns:a16="http://schemas.microsoft.com/office/drawing/2014/main" id="{DDAECB28-42E5-9E26-B8C1-EE4BE1E88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04" y="1696452"/>
                <a:ext cx="10563992" cy="4627345"/>
              </a:xfrm>
              <a:prstGeom prst="rect">
                <a:avLst/>
              </a:prstGeom>
              <a:blipFill>
                <a:blip r:embed="rId4"/>
                <a:stretch>
                  <a:fillRect t="-247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1435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2B52D-01D7-F1DA-52FB-94A7BCD1B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44333371-9578-5B99-8BF7-FBDF025ED26A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4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l-G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-</a:t>
                </a:r>
                <a:r>
                  <a:rPr lang="en-ID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Greedy (gráfico)</a:t>
                </a: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44333371-9578-5B99-8BF7-FBDF025ED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01BB9E82-0B16-BA6E-DFAE-47A1FB0237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833" y="1411732"/>
            <a:ext cx="6922267" cy="43264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932D7B-9C7D-9593-ED4E-D0205F3E5D52}"/>
              </a:ext>
            </a:extLst>
          </p:cNvPr>
          <p:cNvSpPr txBox="1"/>
          <p:nvPr/>
        </p:nvSpPr>
        <p:spPr>
          <a:xfrm>
            <a:off x="7790291" y="1081444"/>
            <a:ext cx="395879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000" b="1" dirty="0"/>
              <a:t>Exploração (ε)</a:t>
            </a:r>
            <a:r>
              <a:rPr lang="pt-BR" sz="2000" dirty="0"/>
              <a:t>: linha crescente (0 → 1);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000" b="1" dirty="0"/>
              <a:t>“Exploitação” (1−ε)</a:t>
            </a:r>
            <a:r>
              <a:rPr lang="pt-BR" sz="2000" dirty="0"/>
              <a:t>: linha decrescente (1 </a:t>
            </a:r>
            <a:r>
              <a:rPr lang="pt-BR" sz="2000" dirty="0">
                <a:sym typeface="Wingdings" panose="05000000000000000000" pitchFamily="2" charset="2"/>
              </a:rPr>
              <a:t></a:t>
            </a:r>
            <a:r>
              <a:rPr lang="pt-BR" sz="2000" dirty="0"/>
              <a:t> 0);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000" dirty="0"/>
              <a:t>ε=0 </a:t>
            </a:r>
            <a:r>
              <a:rPr lang="pt-BR" sz="2000" dirty="0">
                <a:sym typeface="Wingdings" panose="05000000000000000000" pitchFamily="2" charset="2"/>
              </a:rPr>
              <a:t></a:t>
            </a:r>
            <a:r>
              <a:rPr lang="pt-BR" sz="2000" dirty="0"/>
              <a:t> o agente sempre escolhe a melhor ação conhecida;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000" dirty="0"/>
              <a:t>ε=0.5 </a:t>
            </a:r>
            <a:r>
              <a:rPr lang="pt-BR" sz="2000" dirty="0">
                <a:sym typeface="Wingdings" panose="05000000000000000000" pitchFamily="2" charset="2"/>
              </a:rPr>
              <a:t></a:t>
            </a:r>
            <a:r>
              <a:rPr lang="pt-BR" sz="2000" dirty="0"/>
              <a:t> 50% explorar, 50% explorar a melhor ação;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000" dirty="0"/>
              <a:t>ε=1 </a:t>
            </a:r>
            <a:r>
              <a:rPr lang="pt-BR" sz="2000" dirty="0">
                <a:sym typeface="Wingdings" panose="05000000000000000000" pitchFamily="2" charset="2"/>
              </a:rPr>
              <a:t></a:t>
            </a:r>
            <a:r>
              <a:rPr lang="pt-BR" sz="2000" dirty="0"/>
              <a:t> o agente age 100% aleatoriamente.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r>
              <a:rPr lang="pt-BR" sz="2000" b="1" dirty="0"/>
              <a:t>Moral do gráfico:</a:t>
            </a:r>
            <a:r>
              <a:rPr lang="pt-BR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000" dirty="0"/>
              <a:t>Aumentar ε </a:t>
            </a:r>
            <a:r>
              <a:rPr lang="pt-BR" sz="2000" dirty="0">
                <a:sym typeface="Wingdings" panose="05000000000000000000" pitchFamily="2" charset="2"/>
              </a:rPr>
              <a:t></a:t>
            </a:r>
            <a:r>
              <a:rPr lang="pt-BR" sz="2000" dirty="0"/>
              <a:t> </a:t>
            </a:r>
            <a:r>
              <a:rPr lang="pt-BR" sz="2000" b="1" dirty="0"/>
              <a:t>mais exploração</a:t>
            </a:r>
            <a:r>
              <a:rPr lang="pt-BR" sz="2000" dirty="0"/>
              <a:t>;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000" dirty="0"/>
              <a:t>Reduzir ε </a:t>
            </a:r>
            <a:r>
              <a:rPr lang="pt-BR" sz="2000" dirty="0">
                <a:sym typeface="Wingdings" panose="05000000000000000000" pitchFamily="2" charset="2"/>
              </a:rPr>
              <a:t></a:t>
            </a:r>
            <a:r>
              <a:rPr lang="pt-BR" sz="2000" dirty="0"/>
              <a:t> </a:t>
            </a:r>
            <a:r>
              <a:rPr lang="pt-BR" sz="2000" b="1" dirty="0"/>
              <a:t>mais “exploitação”.</a:t>
            </a:r>
            <a:endParaRPr lang="en-US" sz="2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EF43ECE-CF83-4313-84C1-05F8F9B649AD}"/>
              </a:ext>
            </a:extLst>
          </p:cNvPr>
          <p:cNvSpPr txBox="1"/>
          <p:nvPr/>
        </p:nvSpPr>
        <p:spPr>
          <a:xfrm>
            <a:off x="3721100" y="5667217"/>
            <a:ext cx="16770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b="1" dirty="0"/>
              <a:t>Fonte</a:t>
            </a:r>
            <a:r>
              <a:rPr lang="pt-BR" sz="1000" dirty="0"/>
              <a:t>: Elaborado pelo autor.</a:t>
            </a:r>
          </a:p>
        </p:txBody>
      </p:sp>
    </p:spTree>
    <p:extLst>
      <p:ext uri="{BB962C8B-B14F-4D97-AF65-F5344CB8AC3E}">
        <p14:creationId xmlns:p14="http://schemas.microsoft.com/office/powerpoint/2010/main" val="1559528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89029-8707-8C39-1217-840668C39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0D8BBE2-9E0E-E69F-7CDD-305ECABFED77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2400" dirty="0"/>
                  <a:t> </a:t>
                </a:r>
                <a:r>
                  <a:rPr lang="en-US" sz="2400" dirty="0"/>
                  <a:t>alto → mais exploração;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2400" dirty="0"/>
                  <a:t> </a:t>
                </a:r>
                <a:r>
                  <a:rPr lang="en-US" sz="2400" dirty="0"/>
                  <a:t>baixo → mais “exploitação”;</a:t>
                </a: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Estratégia comum: </a:t>
                </a:r>
                <a14:m>
                  <m:oMath xmlns:m="http://schemas.openxmlformats.org/officeDocument/2006/math">
                    <m:r>
                      <a:rPr lang="pt-BR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pt-BR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2400" b="1" dirty="0"/>
                  <a:t>-</a:t>
                </a:r>
                <a:r>
                  <a:rPr lang="en-US" sz="2400" b="1" dirty="0"/>
                  <a:t>decay</a:t>
                </a:r>
                <a:r>
                  <a:rPr lang="en-US" sz="2400" dirty="0"/>
                  <a:t>.</a:t>
                </a:r>
                <a:endParaRPr lang="en-US" sz="2400" b="1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𝑑𝑒𝑐𝑎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0D8BBE2-9E0E-E69F-7CDD-305ECABFE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99A25BEC-9EB9-FE66-0608-8C9341042F68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Escolha do </a:t>
                </a:r>
                <a14:m>
                  <m:oMath xmlns:m="http://schemas.openxmlformats.org/officeDocument/2006/math">
                    <m:r>
                      <a:rPr lang="en-ID" sz="4000" b="1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oppins" panose="02000000000000000000" pitchFamily="2" charset="0"/>
                      </a:rPr>
                      <m:t>𝜺</m:t>
                    </m:r>
                  </m:oMath>
                </a14:m>
                <a:endParaRPr lang="en-ID" sz="4000" b="1" kern="0" dirty="0">
                  <a:latin typeface="Montserrat" panose="00000500000000000000" pitchFamily="50" charset="0"/>
                  <a:cs typeface="Poppins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99A25BEC-9EB9-FE66-0608-8C9341042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4"/>
                <a:stretch>
                  <a:fillRect l="-2067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2072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B7493-642C-A647-80CE-BB9B30C9E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3DBF364B-CC60-FA41-8CB1-42D8F51E8284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 marL="800100" lvl="1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Em vez de escolher </a:t>
                </a:r>
                <a:r>
                  <a:rPr lang="pt-BR" sz="2400" b="1" dirty="0"/>
                  <a:t>ganancioso</a:t>
                </a:r>
                <a:r>
                  <a:rPr lang="pt-BR" sz="2400" dirty="0"/>
                  <a:t> ou </a:t>
                </a:r>
                <a:r>
                  <a:rPr lang="pt-BR" sz="2400" b="1" dirty="0"/>
                  <a:t>aleatório</a:t>
                </a:r>
                <a:r>
                  <a:rPr lang="pt-BR" sz="2400" dirty="0"/>
                  <a:t>, atribui </a:t>
                </a:r>
                <a:r>
                  <a:rPr lang="pt-BR" sz="2400" b="1" dirty="0"/>
                  <a:t>probabilidades graduais</a:t>
                </a:r>
                <a:r>
                  <a:rPr lang="pt-BR" sz="2400" dirty="0"/>
                  <a:t> às ações;</a:t>
                </a:r>
                <a:endParaRPr lang="en-US" sz="2400" dirty="0"/>
              </a:p>
              <a:p>
                <a:pPr marL="800100" lvl="1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Ações com maior Q têm maior chance, mas </a:t>
                </a:r>
                <a:r>
                  <a:rPr lang="pt-BR" sz="2400" b="1" dirty="0"/>
                  <a:t>todas têm alguma probabilidade.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400" b="1" dirty="0"/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)/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𝑄𝑠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3DBF364B-CC60-FA41-8CB1-42D8F51E8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 r="-866" b="-2504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D6FE51CB-EAFD-CB83-31FA-F73A174A23CC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Softmax / Boltzmann</a:t>
            </a:r>
          </a:p>
        </p:txBody>
      </p:sp>
    </p:spTree>
    <p:extLst>
      <p:ext uri="{BB962C8B-B14F-4D97-AF65-F5344CB8AC3E}">
        <p14:creationId xmlns:p14="http://schemas.microsoft.com/office/powerpoint/2010/main" val="988767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0B6C0-05AA-B70A-E493-B2CFBC8F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3F26FBF2-1B95-18CE-60BA-213EF1B7C0F0}"/>
                  </a:ext>
                </a:extLst>
              </p:cNvPr>
              <p:cNvSpPr txBox="1"/>
              <p:nvPr/>
            </p:nvSpPr>
            <p:spPr>
              <a:xfrm>
                <a:off x="862833" y="1682323"/>
                <a:ext cx="10534320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914400" lvl="1" indent="-4572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1" indent="-4572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pt-BR" sz="2400" dirty="0"/>
                  <a:t> alta → política quase aleatória;</a:t>
                </a:r>
              </a:p>
              <a:p>
                <a:pPr marL="914400" lvl="1" indent="-4572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pt-BR" sz="2400" dirty="0"/>
                  <a:t> baixa → política quase gananciosa.</a:t>
                </a:r>
                <a:endParaRPr lang="pt-BR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3F26FBF2-1B95-18CE-60BA-213EF1B7C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1682323"/>
                <a:ext cx="10534320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D25D8C78-B109-9DF6-536F-3A81171DEE70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Temperatura </a:t>
                </a:r>
                <a14:m>
                  <m:oMath xmlns:m="http://schemas.openxmlformats.org/officeDocument/2006/math">
                    <m:r>
                      <a:rPr lang="el-GR" sz="4000" b="1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oppins" panose="02000000000000000000" pitchFamily="2" charset="0"/>
                      </a:rPr>
                      <m:t>𝝉</m:t>
                    </m:r>
                  </m:oMath>
                </a14:m>
                <a:endParaRPr lang="en-ID" sz="4000" b="1" kern="0" dirty="0">
                  <a:latin typeface="Montserrat" panose="00000500000000000000" pitchFamily="50" charset="0"/>
                  <a:cs typeface="Poppins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D25D8C78-B109-9DF6-536F-3A81171DE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4"/>
                <a:stretch>
                  <a:fillRect l="-2067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9203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86B9F-1518-96C0-B5BA-2A19E6877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02E2FA50-55CB-1E70-443D-55D0F8B03290}"/>
                  </a:ext>
                </a:extLst>
              </p:cNvPr>
              <p:cNvSpPr txBox="1"/>
              <p:nvPr/>
            </p:nvSpPr>
            <p:spPr>
              <a:xfrm>
                <a:off x="7719361" y="1435387"/>
                <a:ext cx="3955983" cy="4602974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pt-BR" b="1" dirty="0"/>
                  <a:t>Eixo X:</a:t>
                </a:r>
                <a:r>
                  <a:rPr lang="pt-BR" dirty="0"/>
                  <a:t> temperatura τ (0.05 → 5.0);</a:t>
                </a:r>
                <a:endParaRPr lang="pt-BR" b="1" dirty="0"/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pt-BR" b="1" dirty="0"/>
                  <a:t>Eixo Y:</a:t>
                </a:r>
                <a:r>
                  <a:rPr lang="pt-BR" dirty="0"/>
                  <a:t> </a:t>
                </a:r>
                <a:r>
                  <a:rPr lang="pt-BR" b="1" dirty="0"/>
                  <a:t>entropia normalizada</a:t>
                </a:r>
                <a:r>
                  <a:rPr lang="pt-BR" dirty="0"/>
                  <a:t> da política (0 a 1);</a:t>
                </a:r>
              </a:p>
              <a:p>
                <a:pPr marL="800100" lvl="1" indent="-342900" algn="just">
                  <a:buFont typeface="Wingdings" panose="05000000000000000000" pitchFamily="2" charset="2"/>
                  <a:buChar char="§"/>
                </a:pPr>
                <a:r>
                  <a:rPr lang="pt-BR" dirty="0"/>
                  <a:t>0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:r>
                  <a:rPr lang="pt-BR" dirty="0"/>
                  <a:t> política determinística (quase sempre a melhor ação);</a:t>
                </a:r>
              </a:p>
              <a:p>
                <a:pPr marL="800100" lvl="1" indent="-342900" algn="just">
                  <a:buFont typeface="Wingdings" panose="05000000000000000000" pitchFamily="2" charset="2"/>
                  <a:buChar char="§"/>
                </a:pPr>
                <a:r>
                  <a:rPr lang="pt-BR" dirty="0"/>
                  <a:t>1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:r>
                  <a:rPr lang="pt-BR" dirty="0"/>
                  <a:t> política máxima aleatória (todas as ações com prob; semelhante);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pt-BR" dirty="0"/>
                  <a:t>→ 0: entropia baixa → política quase gananciosa;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pt-BR" dirty="0"/>
                  <a:t> →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: entropia alta → política quase uniforme;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pt-BR" dirty="0"/>
                  <a:t>Curva monotonicamente crescente: aumentar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pt-BR" dirty="0"/>
                  <a:t> aumenta a aleatoriedade.</a:t>
                </a:r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02E2FA50-55CB-1E70-443D-55D0F8B03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361" y="1435387"/>
                <a:ext cx="3955983" cy="4602974"/>
              </a:xfrm>
              <a:prstGeom prst="rect">
                <a:avLst/>
              </a:prstGeom>
              <a:blipFill>
                <a:blip r:embed="rId3"/>
                <a:stretch>
                  <a:fillRect l="-924" t="-661" r="-13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ABB320E1-94D4-32F4-6EA1-3696C82222B3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Temperatura </a:t>
                </a:r>
                <a14:m>
                  <m:oMath xmlns:m="http://schemas.openxmlformats.org/officeDocument/2006/math">
                    <m:r>
                      <a:rPr lang="el-GR" sz="4000" b="1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oppins" panose="02000000000000000000" pitchFamily="2" charset="0"/>
                      </a:rPr>
                      <m:t>𝝉</m:t>
                    </m:r>
                  </m:oMath>
                </a14:m>
                <a:endParaRPr lang="en-ID" sz="4000" b="1" kern="0" dirty="0">
                  <a:latin typeface="Montserrat" panose="00000500000000000000" pitchFamily="50" charset="0"/>
                  <a:cs typeface="Poppins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ABB320E1-94D4-32F4-6EA1-3696C8222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4"/>
                <a:stretch>
                  <a:fillRect l="-2067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7D35C2A9-0411-1023-91DA-C84A4AD2AD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2833" y="1435387"/>
            <a:ext cx="6856528" cy="428533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0CE210E-488B-4717-9FBF-5D8681DF725C}"/>
              </a:ext>
            </a:extLst>
          </p:cNvPr>
          <p:cNvSpPr txBox="1"/>
          <p:nvPr/>
        </p:nvSpPr>
        <p:spPr>
          <a:xfrm>
            <a:off x="3721100" y="5667217"/>
            <a:ext cx="16770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b="1" dirty="0"/>
              <a:t>Fonte</a:t>
            </a:r>
            <a:r>
              <a:rPr lang="pt-BR" sz="1000" dirty="0"/>
              <a:t>: Elaborado pelo autor.</a:t>
            </a:r>
          </a:p>
        </p:txBody>
      </p:sp>
    </p:spTree>
    <p:extLst>
      <p:ext uri="{BB962C8B-B14F-4D97-AF65-F5344CB8AC3E}">
        <p14:creationId xmlns:p14="http://schemas.microsoft.com/office/powerpoint/2010/main" val="3624593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C6515-415E-A7D8-D1AC-621CA480C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EE051B26-1368-BC4F-3197-16CAD421192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Comparação </a:t>
            </a:r>
            <a:r>
              <a:rPr lang="el-G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ε-</a:t>
            </a:r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Greedy x Softmax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20C8A6-1C6A-1A0E-9A99-97801ECE7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18049"/>
              </p:ext>
            </p:extLst>
          </p:nvPr>
        </p:nvGraphicFramePr>
        <p:xfrm>
          <a:off x="947738" y="2743200"/>
          <a:ext cx="10801351" cy="13716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638957">
                  <a:extLst>
                    <a:ext uri="{9D8B030D-6E8A-4147-A177-3AD203B41FA5}">
                      <a16:colId xmlns:a16="http://schemas.microsoft.com/office/drawing/2014/main" val="554644212"/>
                    </a:ext>
                  </a:extLst>
                </a:gridCol>
                <a:gridCol w="3974502">
                  <a:extLst>
                    <a:ext uri="{9D8B030D-6E8A-4147-A177-3AD203B41FA5}">
                      <a16:colId xmlns:a16="http://schemas.microsoft.com/office/drawing/2014/main" val="300314142"/>
                    </a:ext>
                  </a:extLst>
                </a:gridCol>
                <a:gridCol w="4187892">
                  <a:extLst>
                    <a:ext uri="{9D8B030D-6E8A-4147-A177-3AD203B41FA5}">
                      <a16:colId xmlns:a16="http://schemas.microsoft.com/office/drawing/2014/main" val="31656035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Estratégia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Vantagens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Limitações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014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400"/>
                        <a:t>ε-</a:t>
                      </a:r>
                      <a:r>
                        <a:rPr lang="en-US" sz="2400" dirty="0"/>
                        <a:t>Greedy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simples, rápida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exploração “cega”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3521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Softmax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exploração informada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sensível à escala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061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42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EF78-9A66-4CC7-EA9D-D32F70999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D77C7527-EA0A-3E00-D77A-7A3BDD93AE21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4602974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Escolha ações com alto retorno </a:t>
                </a:r>
                <a:r>
                  <a:rPr lang="pt-BR" sz="2400" b="1" dirty="0"/>
                  <a:t>ou</a:t>
                </a:r>
                <a:r>
                  <a:rPr lang="pt-BR" sz="2400" dirty="0"/>
                  <a:t> alta incerteza.</a:t>
                </a:r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ln</m:t>
                                          </m:r>
                                        </m:fName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</m:func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func>
                        </m:e>
                      </m:func>
                    </m:oMath>
                  </m:oMathPara>
                </a14:m>
                <a:endParaRPr lang="pt-BR" sz="2000" dirty="0"/>
              </a:p>
              <a:p>
                <a:pPr lvl="1">
                  <a:spcAft>
                    <a:spcPts val="1200"/>
                  </a:spcAft>
                </a:pPr>
                <a:endParaRPr lang="pt-BR" sz="2000" dirty="0"/>
              </a:p>
              <a:p>
                <a:pPr marL="800100" lvl="1" indent="-34290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= retorno médio da ação;</a:t>
                </a:r>
              </a:p>
              <a:p>
                <a:pPr marL="800100" lvl="1" indent="-34290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= total de passos;</a:t>
                </a:r>
              </a:p>
              <a:p>
                <a:pPr marL="800100" lvl="1" indent="-34290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000" dirty="0"/>
                  <a:t>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º</m:t>
                    </m:r>
                  </m:oMath>
                </a14:m>
                <a:r>
                  <a:rPr lang="pt-BR" sz="2000" dirty="0"/>
                  <a:t> de vezes que escolheu a ação i;</a:t>
                </a:r>
                <a:endParaRPr lang="en-US" sz="2000" dirty="0"/>
              </a:p>
              <a:p>
                <a:pPr marL="800100" lvl="1" indent="-34290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 = controla a exploração.</a:t>
                </a:r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D77C7527-EA0A-3E00-D77A-7A3BDD93A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4602974"/>
              </a:xfrm>
              <a:prstGeom prst="rect">
                <a:avLst/>
              </a:prstGeom>
              <a:blipFill>
                <a:blip r:embed="rId3"/>
                <a:stretch>
                  <a:fillRect l="-758" t="-3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BF171BC7-C606-3C32-E8F1-98193510E589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UCB (Upper Confidence Bound)</a:t>
            </a:r>
          </a:p>
        </p:txBody>
      </p:sp>
    </p:spTree>
    <p:extLst>
      <p:ext uri="{BB962C8B-B14F-4D97-AF65-F5344CB8AC3E}">
        <p14:creationId xmlns:p14="http://schemas.microsoft.com/office/powerpoint/2010/main" val="1214373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55C2B-966A-CE1B-1865-09325FF50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ACA73606-8C5D-C1E5-A9C5-FC63486D26FB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Comparação das 3 Estratégias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563A2F-3606-893B-F1CD-107B2A438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917620"/>
              </p:ext>
            </p:extLst>
          </p:nvPr>
        </p:nvGraphicFramePr>
        <p:xfrm>
          <a:off x="947738" y="1965960"/>
          <a:ext cx="10801352" cy="29260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00338">
                  <a:extLst>
                    <a:ext uri="{9D8B030D-6E8A-4147-A177-3AD203B41FA5}">
                      <a16:colId xmlns:a16="http://schemas.microsoft.com/office/drawing/2014/main" val="2708629348"/>
                    </a:ext>
                  </a:extLst>
                </a:gridCol>
                <a:gridCol w="2700338">
                  <a:extLst>
                    <a:ext uri="{9D8B030D-6E8A-4147-A177-3AD203B41FA5}">
                      <a16:colId xmlns:a16="http://schemas.microsoft.com/office/drawing/2014/main" val="2401817531"/>
                    </a:ext>
                  </a:extLst>
                </a:gridCol>
                <a:gridCol w="2700338">
                  <a:extLst>
                    <a:ext uri="{9D8B030D-6E8A-4147-A177-3AD203B41FA5}">
                      <a16:colId xmlns:a16="http://schemas.microsoft.com/office/drawing/2014/main" val="1866030518"/>
                    </a:ext>
                  </a:extLst>
                </a:gridCol>
                <a:gridCol w="2700338">
                  <a:extLst>
                    <a:ext uri="{9D8B030D-6E8A-4147-A177-3AD203B41FA5}">
                      <a16:colId xmlns:a16="http://schemas.microsoft.com/office/drawing/2014/main" val="2268178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Método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Exploração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Complexidade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Ideal para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0576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400" dirty="0"/>
                        <a:t>ε-</a:t>
                      </a:r>
                      <a:r>
                        <a:rPr lang="en-US" sz="2400" dirty="0"/>
                        <a:t>Greedy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cega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baixa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maioria dos cenários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24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Softmax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ponderada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média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exploração “inteligente”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0512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UCB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otimista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média/alta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bandits e incerteza 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7594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890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F2F7B-95CF-7E47-CE50-C153C33DA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AB2268A3-F0CA-7156-9E5E-86BA32BC0F79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Comparação rápida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6F59F2-DF56-BDEF-27A7-D4724CC31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466074"/>
              </p:ext>
            </p:extLst>
          </p:nvPr>
        </p:nvGraphicFramePr>
        <p:xfrm>
          <a:off x="947739" y="2817387"/>
          <a:ext cx="10801350" cy="1828800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2451107">
                  <a:extLst>
                    <a:ext uri="{9D8B030D-6E8A-4147-A177-3AD203B41FA5}">
                      <a16:colId xmlns:a16="http://schemas.microsoft.com/office/drawing/2014/main" val="3752541869"/>
                    </a:ext>
                  </a:extLst>
                </a:gridCol>
                <a:gridCol w="4236543">
                  <a:extLst>
                    <a:ext uri="{9D8B030D-6E8A-4147-A177-3AD203B41FA5}">
                      <a16:colId xmlns:a16="http://schemas.microsoft.com/office/drawing/2014/main" val="1923051601"/>
                    </a:ext>
                  </a:extLst>
                </a:gridCol>
                <a:gridCol w="4113700">
                  <a:extLst>
                    <a:ext uri="{9D8B030D-6E8A-4147-A177-3AD203B41FA5}">
                      <a16:colId xmlns:a16="http://schemas.microsoft.com/office/drawing/2014/main" val="3650429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Estratégia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Pontos fortes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Pontos fracos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04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400"/>
                        <a:t>ε-</a:t>
                      </a:r>
                      <a:r>
                        <a:rPr lang="en-US" sz="2400" dirty="0"/>
                        <a:t>Greedy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simples e eficaz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exploração “cega”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127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Softmax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probabilístico e suave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sensível à escala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2990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UCB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exploração inteligente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mais complexo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436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828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2C423-CF8E-9B72-AA0A-9A657090F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AAD1B11D-CD66-1AC5-0506-58E8BD0C556F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en-US" sz="2400" dirty="0"/>
              <a:t>Escolha prática:</a:t>
            </a:r>
            <a:endParaRPr lang="pt-BR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>
              <a:lnSpc>
                <a:spcPts val="33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Comece com </a:t>
            </a:r>
            <a:r>
              <a:rPr lang="el-GR" sz="2400" b="1" dirty="0"/>
              <a:t>ε-</a:t>
            </a:r>
            <a:r>
              <a:rPr lang="en-US" sz="2400" b="1" dirty="0"/>
              <a:t>greedy</a:t>
            </a:r>
            <a:r>
              <a:rPr lang="en-US" sz="2400" dirty="0"/>
              <a:t>;</a:t>
            </a:r>
          </a:p>
          <a:p>
            <a:pPr marL="457200" indent="-457200">
              <a:lnSpc>
                <a:spcPts val="33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pt-BR" sz="2400" dirty="0"/>
              <a:t>Teste </a:t>
            </a:r>
            <a:r>
              <a:rPr lang="pt-BR" sz="2400" b="1" dirty="0"/>
              <a:t>Softmax</a:t>
            </a:r>
            <a:r>
              <a:rPr lang="pt-BR" sz="2400" dirty="0"/>
              <a:t> quando Q varia muito;</a:t>
            </a:r>
          </a:p>
          <a:p>
            <a:pPr marL="457200" indent="-457200">
              <a:lnSpc>
                <a:spcPts val="33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pt-BR" sz="2400" dirty="0"/>
              <a:t>Use </a:t>
            </a:r>
            <a:r>
              <a:rPr lang="pt-BR" sz="2400" b="1" dirty="0"/>
              <a:t>UCB</a:t>
            </a:r>
            <a:r>
              <a:rPr lang="pt-BR" sz="2400" dirty="0"/>
              <a:t> quando medir incerteza é importante.</a:t>
            </a:r>
          </a:p>
          <a:p>
            <a:pPr marL="457200" indent="-4572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Monte Carlo, TD, SARSA e Q-Learning </a:t>
            </a:r>
            <a:r>
              <a:rPr lang="pt-BR" sz="2400" b="1" dirty="0"/>
              <a:t>precisam de estratégia de exploração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 aprendizado só acontece com boas transições coletadas.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F051F5B8-D003-F64F-5497-68754E5DCDB9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Resumo</a:t>
            </a:r>
          </a:p>
        </p:txBody>
      </p:sp>
    </p:spTree>
    <p:extLst>
      <p:ext uri="{BB962C8B-B14F-4D97-AF65-F5344CB8AC3E}">
        <p14:creationId xmlns:p14="http://schemas.microsoft.com/office/powerpoint/2010/main" val="85524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D9CD5-FAC9-2F4B-8820-C4217DE3E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1109A5DE-B29C-55C7-A03B-6D57A3E9746E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Explorar é obrigatório; 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Explorar com método correto acelera o aprendizado;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 dilema acompanha todo o RL.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8DF709C6-22F8-5B16-045B-B2EE59DB65A1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3600492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0A74924-593C-458A-9B04-00A535CB11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C29228-B8D1-41F1-9B2F-B999CFB41E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5ec7-aacc-4a5b-a58b-71e198b95712"/>
    <ds:schemaRef ds:uri="dd515b78-c394-4c68-913b-64702d1b47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7F35F2F-7782-408F-AEA9-9AD28E989F4F}">
  <ds:schemaRefs>
    <ds:schemaRef ds:uri="http://schemas.microsoft.com/office/2006/metadata/properties"/>
    <ds:schemaRef ds:uri="http://schemas.microsoft.com/office/infopath/2007/PartnerControls"/>
    <ds:schemaRef ds:uri="dd515b78-c394-4c68-913b-64702d1b471e"/>
    <ds:schemaRef ds:uri="942d5ec7-aacc-4a5b-a58b-71e198b9571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12838</TotalTime>
  <Words>671</Words>
  <Application>Microsoft Office PowerPoint</Application>
  <PresentationFormat>Widescreen</PresentationFormat>
  <Paragraphs>161</Paragraphs>
  <Slides>19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19</vt:i4>
      </vt:variant>
    </vt:vector>
  </HeadingPairs>
  <TitlesOfParts>
    <vt:vector size="30" baseType="lpstr">
      <vt:lpstr>Wingdings</vt:lpstr>
      <vt:lpstr>Calibri</vt:lpstr>
      <vt:lpstr>Montserrat</vt:lpstr>
      <vt:lpstr>Aptos</vt:lpstr>
      <vt:lpstr>Cambria Math</vt:lpstr>
      <vt:lpstr>Arial</vt:lpstr>
      <vt:lpstr>Cronos Pro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Fernando José Ferreira</cp:lastModifiedBy>
  <cp:revision>94</cp:revision>
  <dcterms:created xsi:type="dcterms:W3CDTF">2025-06-11T21:44:24Z</dcterms:created>
  <dcterms:modified xsi:type="dcterms:W3CDTF">2025-12-18T16:47:26Z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