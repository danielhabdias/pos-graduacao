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theme/theme3.xml" ContentType="application/vnd.openxmlformats-officedocument.theme+xml"/>
  <Override PartName="/ppt/slideLayouts/slideLayout4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85" r:id="rId4"/>
    <p:sldMasterId id="2147483672" r:id="rId5"/>
    <p:sldMasterId id="2147483675" r:id="rId6"/>
    <p:sldMasterId id="2147483677" r:id="rId7"/>
  </p:sldMasterIdLst>
  <p:notesMasterIdLst>
    <p:notesMasterId r:id="rId24"/>
  </p:notesMasterIdLst>
  <p:sldIdLst>
    <p:sldId id="268" r:id="rId8"/>
    <p:sldId id="280" r:id="rId9"/>
    <p:sldId id="281" r:id="rId10"/>
    <p:sldId id="282" r:id="rId11"/>
    <p:sldId id="283" r:id="rId12"/>
    <p:sldId id="284" r:id="rId13"/>
    <p:sldId id="285" r:id="rId14"/>
    <p:sldId id="286" r:id="rId15"/>
    <p:sldId id="287" r:id="rId16"/>
    <p:sldId id="288" r:id="rId17"/>
    <p:sldId id="289" r:id="rId18"/>
    <p:sldId id="290" r:id="rId19"/>
    <p:sldId id="291" r:id="rId20"/>
    <p:sldId id="292" r:id="rId21"/>
    <p:sldId id="293" r:id="rId22"/>
    <p:sldId id="264" r:id="rId23"/>
  </p:sldIdLst>
  <p:sldSz cx="12192000" cy="6858000"/>
  <p:notesSz cx="6858000" cy="9144000"/>
  <p:embeddedFontLst>
    <p:embeddedFont>
      <p:font typeface="Calibri" panose="020F0502020204030204" pitchFamily="34" charset="0"/>
      <p:regular r:id="rId25"/>
      <p:bold r:id="rId26"/>
      <p:italic r:id="rId27"/>
      <p:boldItalic r:id="rId28"/>
    </p:embeddedFont>
    <p:embeddedFont>
      <p:font typeface="Cambria Math" panose="02040503050406030204" pitchFamily="18" charset="0"/>
      <p:regular r:id="rId29"/>
    </p:embeddedFont>
    <p:embeddedFont>
      <p:font typeface="Cronos Pro" panose="020C0502030403020304" pitchFamily="34" charset="0"/>
      <p:regular r:id="rId30"/>
      <p:bold r:id="rId31"/>
      <p:italic r:id="rId32"/>
    </p:embeddedFont>
    <p:embeddedFont>
      <p:font typeface="Montserrat" panose="00000500000000000000" pitchFamily="50" charset="0"/>
      <p:regular r:id="rId33"/>
      <p:bold r:id="rId34"/>
      <p:italic r:id="rId35"/>
      <p:boldItalic r:id="rId36"/>
    </p:embeddedFont>
  </p:embeddedFontLst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3" orient="horz" pos="3725" userDrawn="1">
          <p15:clr>
            <a:srgbClr val="A4A3A4"/>
          </p15:clr>
        </p15:guide>
        <p15:guide id="6" pos="597" userDrawn="1">
          <p15:clr>
            <a:srgbClr val="A4A3A4"/>
          </p15:clr>
        </p15:guide>
        <p15:guide id="7" pos="7401" userDrawn="1">
          <p15:clr>
            <a:srgbClr val="A4A3A4"/>
          </p15:clr>
        </p15:guide>
        <p15:guide id="8" orient="horz" pos="55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D230"/>
    <a:srgbClr val="2087C6"/>
    <a:srgbClr val="379FDE"/>
    <a:srgbClr val="4BA8DE"/>
    <a:srgbClr val="E6E6E6"/>
    <a:srgbClr val="43A9E7"/>
    <a:srgbClr val="56B6F1"/>
    <a:srgbClr val="FFD639"/>
    <a:srgbClr val="1772A5"/>
    <a:srgbClr val="3CA3E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27" autoAdjust="0"/>
    <p:restoredTop sz="84816" autoAdjust="0"/>
  </p:normalViewPr>
  <p:slideViewPr>
    <p:cSldViewPr snapToGrid="0">
      <p:cViewPr varScale="1">
        <p:scale>
          <a:sx n="92" d="100"/>
          <a:sy n="92" d="100"/>
        </p:scale>
        <p:origin x="1056" y="102"/>
      </p:cViewPr>
      <p:guideLst>
        <p:guide orient="horz" pos="3725"/>
        <p:guide pos="597"/>
        <p:guide pos="7401"/>
        <p:guide orient="horz" pos="55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6.xml"/><Relationship Id="rId18" Type="http://schemas.openxmlformats.org/officeDocument/2006/relationships/slide" Target="slides/slide11.xml"/><Relationship Id="rId26" Type="http://schemas.openxmlformats.org/officeDocument/2006/relationships/font" Target="fonts/font2.fntdata"/><Relationship Id="rId39" Type="http://schemas.openxmlformats.org/officeDocument/2006/relationships/theme" Target="theme/theme1.xml"/><Relationship Id="rId21" Type="http://schemas.openxmlformats.org/officeDocument/2006/relationships/slide" Target="slides/slide14.xml"/><Relationship Id="rId34" Type="http://schemas.openxmlformats.org/officeDocument/2006/relationships/font" Target="fonts/font10.fntdata"/><Relationship Id="rId7" Type="http://schemas.openxmlformats.org/officeDocument/2006/relationships/slideMaster" Target="slideMasters/slideMaster4.xml"/><Relationship Id="rId12" Type="http://schemas.openxmlformats.org/officeDocument/2006/relationships/slide" Target="slides/slide5.xml"/><Relationship Id="rId17" Type="http://schemas.openxmlformats.org/officeDocument/2006/relationships/slide" Target="slides/slide10.xml"/><Relationship Id="rId25" Type="http://schemas.openxmlformats.org/officeDocument/2006/relationships/font" Target="fonts/font1.fntdata"/><Relationship Id="rId33" Type="http://schemas.openxmlformats.org/officeDocument/2006/relationships/font" Target="fonts/font9.fntdata"/><Relationship Id="rId38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9.xml"/><Relationship Id="rId20" Type="http://schemas.openxmlformats.org/officeDocument/2006/relationships/slide" Target="slides/slide13.xml"/><Relationship Id="rId29" Type="http://schemas.openxmlformats.org/officeDocument/2006/relationships/font" Target="fonts/font5.fntdata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4.xml"/><Relationship Id="rId24" Type="http://schemas.openxmlformats.org/officeDocument/2006/relationships/notesMaster" Target="notesMasters/notesMaster1.xml"/><Relationship Id="rId32" Type="http://schemas.openxmlformats.org/officeDocument/2006/relationships/font" Target="fonts/font8.fntdata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8.xml"/><Relationship Id="rId23" Type="http://schemas.openxmlformats.org/officeDocument/2006/relationships/slide" Target="slides/slide16.xml"/><Relationship Id="rId28" Type="http://schemas.openxmlformats.org/officeDocument/2006/relationships/font" Target="fonts/font4.fntdata"/><Relationship Id="rId36" Type="http://schemas.openxmlformats.org/officeDocument/2006/relationships/font" Target="fonts/font12.fntdata"/><Relationship Id="rId10" Type="http://schemas.openxmlformats.org/officeDocument/2006/relationships/slide" Target="slides/slide3.xml"/><Relationship Id="rId19" Type="http://schemas.openxmlformats.org/officeDocument/2006/relationships/slide" Target="slides/slide12.xml"/><Relationship Id="rId31" Type="http://schemas.openxmlformats.org/officeDocument/2006/relationships/font" Target="fonts/font7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14" Type="http://schemas.openxmlformats.org/officeDocument/2006/relationships/slide" Target="slides/slide7.xml"/><Relationship Id="rId22" Type="http://schemas.openxmlformats.org/officeDocument/2006/relationships/slide" Target="slides/slide15.xml"/><Relationship Id="rId27" Type="http://schemas.openxmlformats.org/officeDocument/2006/relationships/font" Target="fonts/font3.fntdata"/><Relationship Id="rId30" Type="http://schemas.openxmlformats.org/officeDocument/2006/relationships/font" Target="fonts/font6.fntdata"/><Relationship Id="rId35" Type="http://schemas.openxmlformats.org/officeDocument/2006/relationships/font" Target="fonts/font11.fntdata"/><Relationship Id="rId8" Type="http://schemas.openxmlformats.org/officeDocument/2006/relationships/slide" Target="slides/slide1.xml"/><Relationship Id="rId3" Type="http://schemas.openxmlformats.org/officeDocument/2006/relationships/customXml" Target="../customXml/item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5645A95-A2DF-4770-B285-FE21F9240552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52A541-A226-4611-A5F2-C8546E102C6A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35457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52A541-A226-4611-A5F2-C8546E102C6A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984845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52A541-A226-4611-A5F2-C8546E102C6A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12868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188882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pFooter">
            <a:extLst>
              <a:ext uri="{FF2B5EF4-FFF2-40B4-BE49-F238E27FC236}">
                <a16:creationId xmlns:a16="http://schemas.microsoft.com/office/drawing/2014/main" id="{3811FE2C-F4C3-42BF-A394-5DCBACE4206D}"/>
              </a:ext>
            </a:extLst>
          </p:cNvPr>
          <p:cNvSpPr txBox="1"/>
          <p:nvPr/>
        </p:nvSpPr>
        <p:spPr bwMode="auto">
          <a:xfrm>
            <a:off x="957294" y="6373144"/>
            <a:ext cx="607538" cy="153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defTabSz="45712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ID" sz="1000" dirty="0">
                <a:solidFill>
                  <a:srgbClr val="3CA3E1"/>
                </a:solidFill>
                <a:latin typeface="Cronos Pro" panose="020C0502030403020304" pitchFamily="34" charset="0"/>
              </a:rPr>
              <a:t>PUC MINAS</a:t>
            </a:r>
            <a:endParaRPr lang="en-ID" sz="1100" b="1" dirty="0">
              <a:solidFill>
                <a:srgbClr val="3CA3E1"/>
              </a:solidFill>
              <a:latin typeface="Cronos Pro" panose="020C05020304030203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136664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919732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856713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1.jpg"/><Relationship Id="rId7" Type="http://schemas.openxmlformats.org/officeDocument/2006/relationships/image" Target="../media/image5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3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jpg"/><Relationship Id="rId7" Type="http://schemas.openxmlformats.org/officeDocument/2006/relationships/image" Target="../media/image12.sv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1.png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m 7">
            <a:extLst>
              <a:ext uri="{FF2B5EF4-FFF2-40B4-BE49-F238E27FC236}">
                <a16:creationId xmlns:a16="http://schemas.microsoft.com/office/drawing/2014/main" id="{413BE60C-4F50-4749-84D4-A250A2FEDB7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188389" cy="6858000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A37BE1F7-6D6E-4A43-9207-6B3CE92E50C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740" t="3691" r="2018" b="59006"/>
          <a:stretch/>
        </p:blipFill>
        <p:spPr>
          <a:xfrm>
            <a:off x="8531051" y="-163761"/>
            <a:ext cx="3476731" cy="3139731"/>
          </a:xfrm>
          <a:prstGeom prst="rect">
            <a:avLst/>
          </a:prstGeom>
        </p:spPr>
      </p:pic>
      <p:sp>
        <p:nvSpPr>
          <p:cNvPr id="12" name="Retângulo 11">
            <a:extLst>
              <a:ext uri="{FF2B5EF4-FFF2-40B4-BE49-F238E27FC236}">
                <a16:creationId xmlns:a16="http://schemas.microsoft.com/office/drawing/2014/main" id="{FFADEAFF-EEAF-4BD1-82B8-65D4D688687D}"/>
              </a:ext>
            </a:extLst>
          </p:cNvPr>
          <p:cNvSpPr/>
          <p:nvPr userDrawn="1"/>
        </p:nvSpPr>
        <p:spPr>
          <a:xfrm>
            <a:off x="12192000" y="0"/>
            <a:ext cx="1213449" cy="2812211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0" name="Gráfico 9">
            <a:extLst>
              <a:ext uri="{FF2B5EF4-FFF2-40B4-BE49-F238E27FC236}">
                <a16:creationId xmlns:a16="http://schemas.microsoft.com/office/drawing/2014/main" id="{D4670863-8AB6-459A-B0E6-3162D6964899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92630" y="5438751"/>
            <a:ext cx="739013" cy="434512"/>
          </a:xfrm>
          <a:prstGeom prst="rect">
            <a:avLst/>
          </a:prstGeom>
        </p:spPr>
      </p:pic>
      <p:pic>
        <p:nvPicPr>
          <p:cNvPr id="11" name="Gráfico 10">
            <a:extLst>
              <a:ext uri="{FF2B5EF4-FFF2-40B4-BE49-F238E27FC236}">
                <a16:creationId xmlns:a16="http://schemas.microsoft.com/office/drawing/2014/main" id="{435FC32D-1CE4-41CE-A75C-6BFBE2888ED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 b="8323"/>
          <a:stretch/>
        </p:blipFill>
        <p:spPr>
          <a:xfrm>
            <a:off x="10370858" y="563666"/>
            <a:ext cx="859397" cy="1219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49229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Imagem 13">
            <a:extLst>
              <a:ext uri="{FF2B5EF4-FFF2-40B4-BE49-F238E27FC236}">
                <a16:creationId xmlns:a16="http://schemas.microsoft.com/office/drawing/2014/main" id="{4453D851-AA9E-4435-A07A-01756CD65E6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60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79096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527855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FDBB3C98-8E1A-47A9-A8B4-CE33C88BB9D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60032"/>
          </a:xfrm>
          <a:prstGeom prst="rect">
            <a:avLst/>
          </a:prstGeom>
        </p:spPr>
      </p:pic>
      <p:pic>
        <p:nvPicPr>
          <p:cNvPr id="5" name="Gráfico 4">
            <a:extLst>
              <a:ext uri="{FF2B5EF4-FFF2-40B4-BE49-F238E27FC236}">
                <a16:creationId xmlns:a16="http://schemas.microsoft.com/office/drawing/2014/main" id="{01A37BB3-0E46-4CA1-8E41-A278A1637A5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b="7232"/>
          <a:stretch/>
        </p:blipFill>
        <p:spPr>
          <a:xfrm>
            <a:off x="5072287" y="1512942"/>
            <a:ext cx="2047426" cy="2932619"/>
          </a:xfrm>
          <a:prstGeom prst="rect">
            <a:avLst/>
          </a:prstGeom>
        </p:spPr>
      </p:pic>
      <p:pic>
        <p:nvPicPr>
          <p:cNvPr id="7" name="Gráfico 6">
            <a:extLst>
              <a:ext uri="{FF2B5EF4-FFF2-40B4-BE49-F238E27FC236}">
                <a16:creationId xmlns:a16="http://schemas.microsoft.com/office/drawing/2014/main" id="{1100C50E-1DA0-41B4-9816-4E77DE3A3A3F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736692" y="592026"/>
            <a:ext cx="834735" cy="490794"/>
          </a:xfrm>
          <a:prstGeom prst="rect">
            <a:avLst/>
          </a:prstGeom>
        </p:spPr>
      </p:pic>
      <p:pic>
        <p:nvPicPr>
          <p:cNvPr id="8" name="Gráfico 7">
            <a:extLst>
              <a:ext uri="{FF2B5EF4-FFF2-40B4-BE49-F238E27FC236}">
                <a16:creationId xmlns:a16="http://schemas.microsoft.com/office/drawing/2014/main" id="{F180DFD4-6B82-47B3-BA00-6ABD21011987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36729" y="5760979"/>
            <a:ext cx="834735" cy="490794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51843510-8E25-4E72-A3BF-02F9BD0BE3AF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5367" y="5139077"/>
            <a:ext cx="8461265" cy="6126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22985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AFD478C7-31D7-4DCB-B3BC-9B1090C6B445}"/>
              </a:ext>
            </a:extLst>
          </p:cNvPr>
          <p:cNvSpPr/>
          <p:nvPr/>
        </p:nvSpPr>
        <p:spPr>
          <a:xfrm>
            <a:off x="1180011" y="2485756"/>
            <a:ext cx="9831977" cy="1886487"/>
          </a:xfrm>
          <a:prstGeom prst="roundRect">
            <a:avLst>
              <a:gd name="adj" fmla="val 50000"/>
            </a:avLst>
          </a:prstGeom>
          <a:solidFill>
            <a:srgbClr val="43A9E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055BA4B-DC22-4207-ABC8-3B491F765609}"/>
              </a:ext>
            </a:extLst>
          </p:cNvPr>
          <p:cNvSpPr txBox="1"/>
          <p:nvPr/>
        </p:nvSpPr>
        <p:spPr>
          <a:xfrm>
            <a:off x="1180010" y="2988814"/>
            <a:ext cx="983197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5400" b="1" kern="0" dirty="0">
                <a:solidFill>
                  <a:schemeClr val="bg1"/>
                </a:solidFill>
                <a:latin typeface="Montserrat" panose="00000500000000000000" pitchFamily="50" charset="0"/>
                <a:cs typeface="Poppins" panose="02000000000000000000" pitchFamily="2" charset="0"/>
              </a:rPr>
              <a:t>Monte Carlo</a:t>
            </a:r>
            <a:endParaRPr lang="en-ID" sz="5400" b="1" kern="0" dirty="0">
              <a:solidFill>
                <a:schemeClr val="bg1"/>
              </a:solidFill>
              <a:latin typeface="Montserrat" panose="00000500000000000000" pitchFamily="50" charset="0"/>
              <a:cs typeface="Poppi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167302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5B8118-FB53-4D43-9C26-6F69F58BAF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43">
            <a:extLst>
              <a:ext uri="{FF2B5EF4-FFF2-40B4-BE49-F238E27FC236}">
                <a16:creationId xmlns:a16="http://schemas.microsoft.com/office/drawing/2014/main" id="{E69F5B64-6542-BA31-2634-410B886A572A}"/>
              </a:ext>
            </a:extLst>
          </p:cNvPr>
          <p:cNvSpPr txBox="1"/>
          <p:nvPr/>
        </p:nvSpPr>
        <p:spPr>
          <a:xfrm>
            <a:off x="947737" y="1682323"/>
            <a:ext cx="10449415" cy="3848699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3300"/>
              </a:lnSpc>
              <a:spcAft>
                <a:spcPts val="1200"/>
              </a:spcAft>
            </a:pPr>
            <a:r>
              <a:rPr lang="en-US" sz="2400" dirty="0"/>
              <a:t>Por que Monte Carlo?</a:t>
            </a:r>
            <a:endParaRPr lang="pt-BR" sz="2400" dirty="0"/>
          </a:p>
          <a:p>
            <a:pPr marL="342900" indent="-342900">
              <a:lnSpc>
                <a:spcPts val="33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400" dirty="0"/>
              <a:t>Alguns ambientes têm episódios </a:t>
            </a:r>
            <a:r>
              <a:rPr lang="pt-BR" sz="2400" b="1" dirty="0"/>
              <a:t>curtos e bem definidos</a:t>
            </a:r>
            <a:r>
              <a:rPr lang="pt-BR" sz="2400" dirty="0"/>
              <a:t> → ex.: Blackjack;</a:t>
            </a:r>
          </a:p>
          <a:p>
            <a:pPr marL="342900" indent="-342900">
              <a:lnSpc>
                <a:spcPts val="33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400" dirty="0"/>
              <a:t>Podemos aprender com o </a:t>
            </a:r>
            <a:r>
              <a:rPr lang="pt-BR" sz="2400" b="1" dirty="0"/>
              <a:t>resultado final da experiência</a:t>
            </a:r>
            <a:r>
              <a:rPr lang="pt-BR" sz="2400" dirty="0"/>
              <a:t>;</a:t>
            </a:r>
          </a:p>
          <a:p>
            <a:pPr marL="342900" indent="-342900">
              <a:lnSpc>
                <a:spcPts val="33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400" dirty="0"/>
              <a:t>MC é simples, intuitivo e não exige conhecimento do modelo do ambiente.</a:t>
            </a:r>
          </a:p>
          <a:p>
            <a:pPr marL="800100" lvl="1" indent="-342900">
              <a:lnSpc>
                <a:spcPts val="33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endParaRPr lang="pt-BR" sz="2400" dirty="0"/>
          </a:p>
        </p:txBody>
      </p:sp>
      <p:sp>
        <p:nvSpPr>
          <p:cNvPr id="6" name="TextBox 1">
            <a:extLst>
              <a:ext uri="{FF2B5EF4-FFF2-40B4-BE49-F238E27FC236}">
                <a16:creationId xmlns:a16="http://schemas.microsoft.com/office/drawing/2014/main" id="{4BE71B21-1BC2-F131-95F3-E0702391DA7F}"/>
              </a:ext>
            </a:extLst>
          </p:cNvPr>
          <p:cNvSpPr txBox="1"/>
          <p:nvPr/>
        </p:nvSpPr>
        <p:spPr>
          <a:xfrm>
            <a:off x="862548" y="765601"/>
            <a:ext cx="106197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kern="0" dirty="0">
                <a:latin typeface="Montserrat" panose="00000500000000000000" pitchFamily="50" charset="0"/>
                <a:cs typeface="Poppins" panose="02000000000000000000" pitchFamily="2" charset="0"/>
              </a:rPr>
              <a:t>Motivação</a:t>
            </a:r>
            <a:endParaRPr lang="en-ID" sz="4000" b="1" kern="0" dirty="0">
              <a:latin typeface="Montserrat" panose="00000500000000000000" pitchFamily="50" charset="0"/>
              <a:cs typeface="Poppi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879489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D71146-17D7-ADA2-706B-D02A534BD5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43">
            <a:extLst>
              <a:ext uri="{FF2B5EF4-FFF2-40B4-BE49-F238E27FC236}">
                <a16:creationId xmlns:a16="http://schemas.microsoft.com/office/drawing/2014/main" id="{4B773218-1E3A-BA9C-7E66-F2B61D6C386B}"/>
              </a:ext>
            </a:extLst>
          </p:cNvPr>
          <p:cNvSpPr txBox="1"/>
          <p:nvPr/>
        </p:nvSpPr>
        <p:spPr>
          <a:xfrm>
            <a:off x="947737" y="1682323"/>
            <a:ext cx="10449415" cy="3848699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3300"/>
              </a:lnSpc>
              <a:spcAft>
                <a:spcPts val="1200"/>
              </a:spcAft>
            </a:pPr>
            <a:r>
              <a:rPr lang="pt-BR" sz="2400" dirty="0"/>
              <a:t>Aprender a partir de episódios completos:</a:t>
            </a:r>
          </a:p>
          <a:p>
            <a:pPr marL="342900" indent="-342900">
              <a:lnSpc>
                <a:spcPts val="33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400" dirty="0"/>
              <a:t>O agente joga até o fim;</a:t>
            </a:r>
          </a:p>
          <a:p>
            <a:pPr marL="342900" indent="-342900">
              <a:lnSpc>
                <a:spcPts val="33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en-US" sz="2400" dirty="0"/>
              <a:t>Observa a recompensa total;</a:t>
            </a:r>
          </a:p>
          <a:p>
            <a:pPr marL="342900" indent="-342900">
              <a:lnSpc>
                <a:spcPts val="33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400" dirty="0"/>
              <a:t>Ajusta valores com base no resultado observado.</a:t>
            </a:r>
          </a:p>
          <a:p>
            <a:pPr lvl="1">
              <a:lnSpc>
                <a:spcPts val="3300"/>
              </a:lnSpc>
              <a:spcAft>
                <a:spcPts val="1200"/>
              </a:spcAft>
            </a:pPr>
            <a:r>
              <a:rPr lang="pt-BR" sz="2400" dirty="0"/>
              <a:t>(s0, a0, r1) → (s1, a1, r2) → ... → (sT, -, rT+1)</a:t>
            </a:r>
            <a:br>
              <a:rPr lang="pt-BR" sz="2400" dirty="0"/>
            </a:br>
            <a:r>
              <a:rPr lang="pt-BR" sz="2400" dirty="0"/>
              <a:t>↓</a:t>
            </a:r>
            <a:br>
              <a:rPr lang="pt-BR" sz="2400" dirty="0"/>
            </a:br>
            <a:r>
              <a:rPr lang="pt-BR" sz="2400" dirty="0"/>
              <a:t>G0, G1, …, GT</a:t>
            </a:r>
          </a:p>
        </p:txBody>
      </p:sp>
      <p:sp>
        <p:nvSpPr>
          <p:cNvPr id="6" name="TextBox 1">
            <a:extLst>
              <a:ext uri="{FF2B5EF4-FFF2-40B4-BE49-F238E27FC236}">
                <a16:creationId xmlns:a16="http://schemas.microsoft.com/office/drawing/2014/main" id="{788E126B-519B-0E60-CD89-F4AB001915EE}"/>
              </a:ext>
            </a:extLst>
          </p:cNvPr>
          <p:cNvSpPr txBox="1"/>
          <p:nvPr/>
        </p:nvSpPr>
        <p:spPr>
          <a:xfrm>
            <a:off x="862833" y="727501"/>
            <a:ext cx="106197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4000" b="1" kern="0">
                <a:latin typeface="Montserrat" panose="00000500000000000000" pitchFamily="50" charset="0"/>
                <a:cs typeface="Poppins" panose="02000000000000000000" pitchFamily="2" charset="0"/>
              </a:rPr>
              <a:t>Ideia-chave do Monte Carlo</a:t>
            </a:r>
            <a:endParaRPr lang="en-ID" sz="4000" b="1" kern="0" dirty="0">
              <a:latin typeface="Montserrat" panose="00000500000000000000" pitchFamily="50" charset="0"/>
              <a:cs typeface="Poppi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77132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242CA0-49CD-C767-245A-176A01DE55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43">
                <a:extLst>
                  <a:ext uri="{FF2B5EF4-FFF2-40B4-BE49-F238E27FC236}">
                    <a16:creationId xmlns:a16="http://schemas.microsoft.com/office/drawing/2014/main" id="{1D200F05-53EB-3EEB-6B1A-287E8253BAB5}"/>
                  </a:ext>
                </a:extLst>
              </p:cNvPr>
              <p:cNvSpPr txBox="1"/>
              <p:nvPr/>
            </p:nvSpPr>
            <p:spPr>
              <a:xfrm>
                <a:off x="947737" y="1682323"/>
                <a:ext cx="10449415" cy="3848699"/>
              </a:xfrm>
              <a:prstGeom prst="rect">
                <a:avLst/>
              </a:prstGeom>
              <a:noFill/>
            </p:spPr>
            <p:txBody>
              <a:bodyPr wrap="square">
                <a:noAutofit/>
              </a:bodyPr>
              <a:lstStyle/>
              <a:p>
                <a:pPr marL="342900" indent="-342900">
                  <a:lnSpc>
                    <a:spcPts val="3300"/>
                  </a:lnSpc>
                  <a:spcAft>
                    <a:spcPts val="1200"/>
                  </a:spcAft>
                  <a:buFont typeface="Arial" panose="020B0604020202020204" pitchFamily="34" charset="0"/>
                  <a:buChar char="•"/>
                </a:pPr>
                <a:endParaRPr lang="pt-BR" sz="2400" dirty="0"/>
              </a:p>
              <a:p>
                <a:pPr>
                  <a:lnSpc>
                    <a:spcPts val="3300"/>
                  </a:lnSpc>
                  <a:spcAft>
                    <a:spcPts val="12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 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𝛾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+2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p>
                            <m:sSup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𝛾</m:t>
                              </m:r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+3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+…</m:t>
                      </m:r>
                    </m:oMath>
                  </m:oMathPara>
                </a14:m>
                <a:endParaRPr lang="pt-BR" sz="2400" dirty="0"/>
              </a:p>
              <a:p>
                <a:pPr marL="342900" indent="-342900">
                  <a:lnSpc>
                    <a:spcPts val="3300"/>
                  </a:lnSpc>
                  <a:spcAft>
                    <a:spcPts val="1200"/>
                  </a:spcAft>
                  <a:buFont typeface="Arial" panose="020B0604020202020204" pitchFamily="34" charset="0"/>
                  <a:buChar char="•"/>
                </a:pPr>
                <a:endParaRPr lang="pt-BR" sz="2400" dirty="0"/>
              </a:p>
              <a:p>
                <a:pPr marL="342900" indent="-342900">
                  <a:lnSpc>
                    <a:spcPts val="3300"/>
                  </a:lnSpc>
                  <a:spcAft>
                    <a:spcPts val="1200"/>
                  </a:spcAft>
                  <a:buFont typeface="Wingdings" panose="05000000000000000000" pitchFamily="2" charset="2"/>
                  <a:buChar char="§"/>
                </a:pPr>
                <a:r>
                  <a:rPr lang="pt-BR" sz="2400" dirty="0"/>
                  <a:t>Soma das recompensas futuras, com desconto</a:t>
                </a:r>
                <a:r>
                  <a:rPr lang="en-US" sz="2400" dirty="0"/>
                  <a:t>;</a:t>
                </a:r>
              </a:p>
              <a:p>
                <a:pPr marL="342900" indent="-342900">
                  <a:lnSpc>
                    <a:spcPts val="3300"/>
                  </a:lnSpc>
                  <a:spcAft>
                    <a:spcPts val="1200"/>
                  </a:spcAft>
                  <a:buFont typeface="Wingdings" panose="05000000000000000000" pitchFamily="2" charset="2"/>
                  <a:buChar char="§"/>
                </a:pPr>
                <a:r>
                  <a:rPr lang="pt-BR" sz="2400" dirty="0"/>
                  <a:t>MC usa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pt-BR" sz="2400" b="1" dirty="0"/>
                  <a:t> como alvo direto</a:t>
                </a:r>
                <a:r>
                  <a:rPr lang="pt-BR" sz="2400" dirty="0"/>
                  <a:t>.</a:t>
                </a:r>
              </a:p>
            </p:txBody>
          </p:sp>
        </mc:Choice>
        <mc:Fallback xmlns="">
          <p:sp>
            <p:nvSpPr>
              <p:cNvPr id="3" name="TextBox 43">
                <a:extLst>
                  <a:ext uri="{FF2B5EF4-FFF2-40B4-BE49-F238E27FC236}">
                    <a16:creationId xmlns:a16="http://schemas.microsoft.com/office/drawing/2014/main" id="{1D200F05-53EB-3EEB-6B1A-287E8253BA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7737" y="1682323"/>
                <a:ext cx="10449415" cy="3848699"/>
              </a:xfrm>
              <a:prstGeom prst="rect">
                <a:avLst/>
              </a:prstGeom>
              <a:blipFill>
                <a:blip r:embed="rId2"/>
                <a:stretch>
                  <a:fillRect l="-758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1">
                <a:extLst>
                  <a:ext uri="{FF2B5EF4-FFF2-40B4-BE49-F238E27FC236}">
                    <a16:creationId xmlns:a16="http://schemas.microsoft.com/office/drawing/2014/main" id="{C17DDE29-A9E5-E8BB-9274-7F5FA5A17C0B}"/>
                  </a:ext>
                </a:extLst>
              </p:cNvPr>
              <p:cNvSpPr txBox="1"/>
              <p:nvPr/>
            </p:nvSpPr>
            <p:spPr>
              <a:xfrm>
                <a:off x="862833" y="727501"/>
                <a:ext cx="10619791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D" sz="4000" b="1" kern="0" dirty="0">
                    <a:latin typeface="Montserrat" panose="00000500000000000000" pitchFamily="50" charset="0"/>
                    <a:cs typeface="Poppins" panose="02000000000000000000" pitchFamily="2" charset="0"/>
                  </a:rPr>
                  <a:t>O Retorno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4000" b="1" i="1" kern="0" smtClean="0">
                            <a:latin typeface="Cambria Math" panose="02040503050406030204" pitchFamily="18" charset="0"/>
                            <a:cs typeface="Poppins" panose="02000000000000000000" pitchFamily="2" charset="0"/>
                          </a:rPr>
                        </m:ctrlPr>
                      </m:sSubPr>
                      <m:e>
                        <m:r>
                          <a:rPr lang="en-US" sz="4000" b="1" i="1" kern="0" smtClean="0">
                            <a:latin typeface="Cambria Math" panose="02040503050406030204" pitchFamily="18" charset="0"/>
                            <a:cs typeface="Poppins" panose="02000000000000000000" pitchFamily="2" charset="0"/>
                          </a:rPr>
                          <m:t>𝑮</m:t>
                        </m:r>
                      </m:e>
                      <m:sub>
                        <m:r>
                          <a:rPr lang="en-US" sz="4000" b="1" i="1" kern="0" smtClean="0">
                            <a:latin typeface="Cambria Math" panose="02040503050406030204" pitchFamily="18" charset="0"/>
                            <a:cs typeface="Poppins" panose="02000000000000000000" pitchFamily="2" charset="0"/>
                          </a:rPr>
                          <m:t>𝑻</m:t>
                        </m:r>
                      </m:sub>
                    </m:sSub>
                  </m:oMath>
                </a14:m>
                <a:r>
                  <a:rPr lang="en-ID" sz="4000" b="1" kern="0" dirty="0">
                    <a:latin typeface="Montserrat" panose="00000500000000000000" pitchFamily="50" charset="0"/>
                    <a:cs typeface="Poppins" panose="02000000000000000000" pitchFamily="2" charset="0"/>
                  </a:rPr>
                  <a:t>	​</a:t>
                </a:r>
              </a:p>
            </p:txBody>
          </p:sp>
        </mc:Choice>
        <mc:Fallback xmlns="">
          <p:sp>
            <p:nvSpPr>
              <p:cNvPr id="6" name="TextBox 1">
                <a:extLst>
                  <a:ext uri="{FF2B5EF4-FFF2-40B4-BE49-F238E27FC236}">
                    <a16:creationId xmlns:a16="http://schemas.microsoft.com/office/drawing/2014/main" id="{C17DDE29-A9E5-E8BB-9274-7F5FA5A17C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2833" y="727501"/>
                <a:ext cx="10619791" cy="707886"/>
              </a:xfrm>
              <a:prstGeom prst="rect">
                <a:avLst/>
              </a:prstGeom>
              <a:blipFill>
                <a:blip r:embed="rId3"/>
                <a:stretch>
                  <a:fillRect l="-2067" t="-15517" b="-362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187839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56AE0C-7EF0-9E7B-9115-EB9E177744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1">
            <a:extLst>
              <a:ext uri="{FF2B5EF4-FFF2-40B4-BE49-F238E27FC236}">
                <a16:creationId xmlns:a16="http://schemas.microsoft.com/office/drawing/2014/main" id="{AACE9B78-712A-6D0B-238E-3919E593FF26}"/>
              </a:ext>
            </a:extLst>
          </p:cNvPr>
          <p:cNvSpPr txBox="1"/>
          <p:nvPr/>
        </p:nvSpPr>
        <p:spPr>
          <a:xfrm>
            <a:off x="862833" y="727501"/>
            <a:ext cx="106197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4000" b="1" kern="0" dirty="0">
                <a:latin typeface="Montserrat" panose="00000500000000000000" pitchFamily="50" charset="0"/>
                <a:cs typeface="Poppins" panose="02000000000000000000" pitchFamily="2" charset="0"/>
              </a:rPr>
              <a:t>First-Visit </a:t>
            </a:r>
            <a:r>
              <a:rPr lang="en-ID" sz="4000" b="1" i="1" kern="0" dirty="0">
                <a:latin typeface="Montserrat" panose="00000500000000000000" pitchFamily="50" charset="0"/>
                <a:cs typeface="Poppins" panose="02000000000000000000" pitchFamily="2" charset="0"/>
              </a:rPr>
              <a:t>vs</a:t>
            </a:r>
            <a:r>
              <a:rPr lang="en-ID" sz="4000" b="1" kern="0" dirty="0">
                <a:latin typeface="Montserrat" panose="00000500000000000000" pitchFamily="50" charset="0"/>
                <a:cs typeface="Poppins" panose="02000000000000000000" pitchFamily="2" charset="0"/>
              </a:rPr>
              <a:t>. Every-Visit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6BDB17DE-824F-5B3E-E245-4C4C9F9C40C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2596052"/>
              </p:ext>
            </p:extLst>
          </p:nvPr>
        </p:nvGraphicFramePr>
        <p:xfrm>
          <a:off x="947738" y="2377440"/>
          <a:ext cx="10801350" cy="1554480"/>
        </p:xfrm>
        <a:graphic>
          <a:graphicData uri="http://schemas.openxmlformats.org/drawingml/2006/table">
            <a:tbl>
              <a:tblPr firstRow="1" bandRow="1">
                <a:tableStyleId>{0E3FDE45-AF77-4B5C-9715-49D594BDF05E}</a:tableStyleId>
              </a:tblPr>
              <a:tblGrid>
                <a:gridCol w="2135011">
                  <a:extLst>
                    <a:ext uri="{9D8B030D-6E8A-4147-A177-3AD203B41FA5}">
                      <a16:colId xmlns:a16="http://schemas.microsoft.com/office/drawing/2014/main" val="1176093982"/>
                    </a:ext>
                  </a:extLst>
                </a:gridCol>
                <a:gridCol w="5065889">
                  <a:extLst>
                    <a:ext uri="{9D8B030D-6E8A-4147-A177-3AD203B41FA5}">
                      <a16:colId xmlns:a16="http://schemas.microsoft.com/office/drawing/2014/main" val="3454607450"/>
                    </a:ext>
                  </a:extLst>
                </a:gridCol>
                <a:gridCol w="3600450">
                  <a:extLst>
                    <a:ext uri="{9D8B030D-6E8A-4147-A177-3AD203B41FA5}">
                      <a16:colId xmlns:a16="http://schemas.microsoft.com/office/drawing/2014/main" val="376868043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/>
                        <a:t>Variante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/>
                        <a:t>Atualiza quando?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/>
                        <a:t>Característica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684072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/>
                        <a:t>First-Visit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800"/>
                        <a:t>só 1ª vez que o estado aparece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dirty="0"/>
                        <a:t>menor variância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571904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/>
                        <a:t>Every-Visit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800"/>
                        <a:t>todas as visitas no episódio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dirty="0"/>
                        <a:t>mais amostras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798387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667675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1C8957-5107-207E-3679-718FF345FC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43">
            <a:extLst>
              <a:ext uri="{FF2B5EF4-FFF2-40B4-BE49-F238E27FC236}">
                <a16:creationId xmlns:a16="http://schemas.microsoft.com/office/drawing/2014/main" id="{AB107D82-DD06-2431-FEA9-EFB0DA9E7A6A}"/>
              </a:ext>
            </a:extLst>
          </p:cNvPr>
          <p:cNvSpPr txBox="1"/>
          <p:nvPr/>
        </p:nvSpPr>
        <p:spPr>
          <a:xfrm>
            <a:off x="947737" y="1682323"/>
            <a:ext cx="10449415" cy="3848699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342900" indent="-342900">
              <a:lnSpc>
                <a:spcPts val="33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endParaRPr lang="pt-BR" sz="2400" dirty="0"/>
          </a:p>
          <a:p>
            <a:pPr marL="342900" indent="-342900">
              <a:lnSpc>
                <a:spcPts val="33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400" dirty="0"/>
              <a:t>Episódios são curtos e sempre terminam</a:t>
            </a:r>
            <a:r>
              <a:rPr lang="en-US" sz="2400" dirty="0"/>
              <a:t>;</a:t>
            </a:r>
          </a:p>
          <a:p>
            <a:pPr marL="342900" indent="-342900">
              <a:lnSpc>
                <a:spcPts val="33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en-US" sz="2400" dirty="0"/>
              <a:t>Recompensas claras: </a:t>
            </a:r>
            <a:r>
              <a:rPr lang="pt-BR" sz="2400" b="1" dirty="0"/>
              <a:t>+1 vitória</a:t>
            </a:r>
            <a:r>
              <a:rPr lang="pt-BR" sz="2400" dirty="0"/>
              <a:t>, </a:t>
            </a:r>
            <a:r>
              <a:rPr lang="pt-BR" sz="2400" b="1" dirty="0"/>
              <a:t>0 empate</a:t>
            </a:r>
            <a:r>
              <a:rPr lang="pt-BR" sz="2400" dirty="0"/>
              <a:t>, </a:t>
            </a:r>
            <a:r>
              <a:rPr lang="pt-BR" sz="2400" b="1" dirty="0"/>
              <a:t>–1 derrota</a:t>
            </a:r>
            <a:r>
              <a:rPr lang="pt-BR" sz="2400" dirty="0"/>
              <a:t>;</a:t>
            </a:r>
          </a:p>
          <a:p>
            <a:pPr marL="342900" indent="-342900">
              <a:lnSpc>
                <a:spcPts val="33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400" dirty="0"/>
              <a:t>Estados significativos: (soma do jogador, carta do dealer, ás utilizável).</a:t>
            </a:r>
          </a:p>
        </p:txBody>
      </p:sp>
      <p:sp>
        <p:nvSpPr>
          <p:cNvPr id="6" name="TextBox 1">
            <a:extLst>
              <a:ext uri="{FF2B5EF4-FFF2-40B4-BE49-F238E27FC236}">
                <a16:creationId xmlns:a16="http://schemas.microsoft.com/office/drawing/2014/main" id="{BCC3E359-8C4E-6490-2FC0-5B2380792595}"/>
              </a:ext>
            </a:extLst>
          </p:cNvPr>
          <p:cNvSpPr txBox="1"/>
          <p:nvPr/>
        </p:nvSpPr>
        <p:spPr>
          <a:xfrm>
            <a:off x="862833" y="727501"/>
            <a:ext cx="106197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4000" b="1" kern="0">
                <a:latin typeface="Montserrat" panose="00000500000000000000" pitchFamily="50" charset="0"/>
                <a:cs typeface="Poppins" panose="02000000000000000000" pitchFamily="2" charset="0"/>
              </a:rPr>
              <a:t>Blackjack como ambiente</a:t>
            </a:r>
            <a:endParaRPr lang="en-ID" sz="4000" b="1" kern="0" dirty="0">
              <a:latin typeface="Montserrat" panose="00000500000000000000" pitchFamily="50" charset="0"/>
              <a:cs typeface="Poppi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438453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257AAF-A5C0-93FD-486B-F09C42AE10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43">
                <a:extLst>
                  <a:ext uri="{FF2B5EF4-FFF2-40B4-BE49-F238E27FC236}">
                    <a16:creationId xmlns:a16="http://schemas.microsoft.com/office/drawing/2014/main" id="{4849F285-EC7D-91D7-FA43-CAE548C215B9}"/>
                  </a:ext>
                </a:extLst>
              </p:cNvPr>
              <p:cNvSpPr txBox="1"/>
              <p:nvPr/>
            </p:nvSpPr>
            <p:spPr>
              <a:xfrm>
                <a:off x="947737" y="1682323"/>
                <a:ext cx="10449415" cy="3848699"/>
              </a:xfrm>
              <a:prstGeom prst="rect">
                <a:avLst/>
              </a:prstGeom>
              <a:noFill/>
            </p:spPr>
            <p:txBody>
              <a:bodyPr wrap="square">
                <a:noAutofit/>
              </a:bodyPr>
              <a:lstStyle/>
              <a:p>
                <a:pPr>
                  <a:lnSpc>
                    <a:spcPts val="3300"/>
                  </a:lnSpc>
                  <a:spcAft>
                    <a:spcPts val="1200"/>
                  </a:spcAft>
                </a:pPr>
                <a:r>
                  <a:rPr lang="en-US" sz="2400" dirty="0"/>
                  <a:t>Heurística básica: </a:t>
                </a:r>
              </a:p>
              <a:p>
                <a:pPr marL="342900" indent="-342900">
                  <a:lnSpc>
                    <a:spcPts val="3300"/>
                  </a:lnSpc>
                  <a:spcAft>
                    <a:spcPts val="1200"/>
                  </a:spcAft>
                  <a:buFont typeface="Wingdings" panose="05000000000000000000" pitchFamily="2" charset="2"/>
                  <a:buChar char="§"/>
                </a:pPr>
                <a:r>
                  <a:rPr lang="pt-BR" sz="2400" dirty="0"/>
                  <a:t>Se total do jogador ≥ 20 → </a:t>
                </a:r>
                <a:r>
                  <a:rPr lang="pt-BR" sz="2400" i="1" dirty="0"/>
                  <a:t>stick</a:t>
                </a:r>
                <a:r>
                  <a:rPr lang="pt-BR" sz="2400" dirty="0"/>
                  <a:t>.</a:t>
                </a:r>
              </a:p>
              <a:p>
                <a:pPr marL="342900" indent="-342900">
                  <a:lnSpc>
                    <a:spcPts val="3300"/>
                  </a:lnSpc>
                  <a:spcAft>
                    <a:spcPts val="1200"/>
                  </a:spcAft>
                  <a:buFont typeface="Wingdings" panose="05000000000000000000" pitchFamily="2" charset="2"/>
                  <a:buChar char="§"/>
                </a:pPr>
                <a:r>
                  <a:rPr lang="en-US" sz="2400" dirty="0"/>
                  <a:t>Caso contrário → </a:t>
                </a:r>
                <a:r>
                  <a:rPr lang="en-US" sz="2400" i="1" dirty="0"/>
                  <a:t>hit.</a:t>
                </a:r>
                <a:endParaRPr lang="en-US" sz="2400" dirty="0"/>
              </a:p>
              <a:p>
                <a:pPr marL="342900" indent="-342900">
                  <a:lnSpc>
                    <a:spcPts val="3300"/>
                  </a:lnSpc>
                  <a:spcAft>
                    <a:spcPts val="1200"/>
                  </a:spcAft>
                  <a:buFont typeface="Arial" panose="020B0604020202020204" pitchFamily="34" charset="0"/>
                  <a:buChar char="•"/>
                </a:pPr>
                <a:endParaRPr lang="pt-BR" sz="2400" i="1" dirty="0"/>
              </a:p>
              <a:p>
                <a:pPr>
                  <a:lnSpc>
                    <a:spcPts val="3300"/>
                  </a:lnSpc>
                  <a:spcAft>
                    <a:spcPts val="1200"/>
                  </a:spcAft>
                </a:pPr>
                <a:r>
                  <a:rPr lang="pt-BR" sz="2400" dirty="0"/>
                  <a:t>Essa será nossa </a:t>
                </a:r>
                <a14:m>
                  <m:oMath xmlns:m="http://schemas.openxmlformats.org/officeDocument/2006/math">
                    <m:r>
                      <a:rPr lang="pt-BR" sz="2400" i="1"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r>
                  <a:rPr lang="pt-BR" sz="2400" dirty="0"/>
                  <a:t> inicial para </a:t>
                </a:r>
                <a:r>
                  <a:rPr lang="pt-BR" sz="2400" b="1" dirty="0"/>
                  <a:t>Prediction</a:t>
                </a:r>
                <a:r>
                  <a:rPr lang="pt-BR" sz="2400" dirty="0"/>
                  <a:t>.</a:t>
                </a:r>
              </a:p>
            </p:txBody>
          </p:sp>
        </mc:Choice>
        <mc:Fallback xmlns="">
          <p:sp>
            <p:nvSpPr>
              <p:cNvPr id="3" name="TextBox 43">
                <a:extLst>
                  <a:ext uri="{FF2B5EF4-FFF2-40B4-BE49-F238E27FC236}">
                    <a16:creationId xmlns:a16="http://schemas.microsoft.com/office/drawing/2014/main" id="{4849F285-EC7D-91D7-FA43-CAE548C215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7737" y="1682323"/>
                <a:ext cx="10449415" cy="3848699"/>
              </a:xfrm>
              <a:prstGeom prst="rect">
                <a:avLst/>
              </a:prstGeom>
              <a:blipFill>
                <a:blip r:embed="rId2"/>
                <a:stretch>
                  <a:fillRect l="-875" t="-475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1">
            <a:extLst>
              <a:ext uri="{FF2B5EF4-FFF2-40B4-BE49-F238E27FC236}">
                <a16:creationId xmlns:a16="http://schemas.microsoft.com/office/drawing/2014/main" id="{00BEAD26-1BE4-1095-C4EA-C7EE0F266CE6}"/>
              </a:ext>
            </a:extLst>
          </p:cNvPr>
          <p:cNvSpPr txBox="1"/>
          <p:nvPr/>
        </p:nvSpPr>
        <p:spPr>
          <a:xfrm>
            <a:off x="947737" y="765601"/>
            <a:ext cx="106197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4000" b="1" kern="0" dirty="0">
                <a:latin typeface="Montserrat" panose="00000500000000000000" pitchFamily="50" charset="0"/>
                <a:cs typeface="Poppins" panose="02000000000000000000" pitchFamily="2" charset="0"/>
              </a:rPr>
              <a:t>Política inicial (simples)</a:t>
            </a:r>
          </a:p>
        </p:txBody>
      </p:sp>
    </p:spTree>
    <p:extLst>
      <p:ext uri="{BB962C8B-B14F-4D97-AF65-F5344CB8AC3E}">
        <p14:creationId xmlns:p14="http://schemas.microsoft.com/office/powerpoint/2010/main" val="10383810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DD5085-F51B-CBEF-1A10-A6FFD5B615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43">
                <a:extLst>
                  <a:ext uri="{FF2B5EF4-FFF2-40B4-BE49-F238E27FC236}">
                    <a16:creationId xmlns:a16="http://schemas.microsoft.com/office/drawing/2014/main" id="{E49F5A36-2F80-11CA-7F04-5C9915AF7DF4}"/>
                  </a:ext>
                </a:extLst>
              </p:cNvPr>
              <p:cNvSpPr txBox="1"/>
              <p:nvPr/>
            </p:nvSpPr>
            <p:spPr>
              <a:xfrm>
                <a:off x="947737" y="1682323"/>
                <a:ext cx="10449415" cy="3848699"/>
              </a:xfrm>
              <a:prstGeom prst="rect">
                <a:avLst/>
              </a:prstGeom>
              <a:noFill/>
            </p:spPr>
            <p:txBody>
              <a:bodyPr wrap="square">
                <a:noAutofit/>
              </a:bodyPr>
              <a:lstStyle/>
              <a:p>
                <a:pPr>
                  <a:lnSpc>
                    <a:spcPts val="3300"/>
                  </a:lnSpc>
                  <a:spcAft>
                    <a:spcPts val="1200"/>
                  </a:spcAft>
                </a:pPr>
                <a:r>
                  <a:rPr lang="pt-BR" sz="2400" dirty="0"/>
                  <a:t>Objetivo da previsão: </a:t>
                </a:r>
              </a:p>
              <a:p>
                <a:pPr marL="342900" indent="-342900">
                  <a:lnSpc>
                    <a:spcPts val="3300"/>
                  </a:lnSpc>
                  <a:spcAft>
                    <a:spcPts val="1200"/>
                  </a:spcAft>
                  <a:buFont typeface="Arial" panose="020B0604020202020204" pitchFamily="34" charset="0"/>
                  <a:buChar char="•"/>
                </a:pPr>
                <a:r>
                  <a:rPr lang="pt-BR" sz="2400" dirty="0"/>
                  <a:t>Estimar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t-BR" sz="24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sz="240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p>
                        <m:r>
                          <a:rPr lang="pt-BR" sz="2400" i="1" smtClean="0">
                            <a:latin typeface="Cambria Math" panose="02040503050406030204" pitchFamily="18" charset="0"/>
                          </a:rPr>
                          <m:t>𝜋</m:t>
                        </m:r>
                      </m:sup>
                    </m:sSup>
                    <m:d>
                      <m:dPr>
                        <m:ctrlPr>
                          <a:rPr lang="pt-BR" sz="24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40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</m:oMath>
                </a14:m>
                <a:r>
                  <a:rPr lang="pt-BR" sz="2400" dirty="0"/>
                  <a:t> para a política atual</a:t>
                </a:r>
                <a:r>
                  <a:rPr lang="pt-BR" sz="2400" i="1" dirty="0"/>
                  <a:t>;</a:t>
                </a:r>
              </a:p>
              <a:p>
                <a:pPr marL="342900" indent="-342900">
                  <a:lnSpc>
                    <a:spcPts val="3300"/>
                  </a:lnSpc>
                  <a:spcAft>
                    <a:spcPts val="1200"/>
                  </a:spcAft>
                  <a:buFont typeface="Arial" panose="020B0604020202020204" pitchFamily="34" charset="0"/>
                  <a:buChar char="•"/>
                </a:pPr>
                <a:r>
                  <a:rPr lang="pt-BR" sz="2400" dirty="0"/>
                  <a:t>Melhorar entendimento do ambiente.</a:t>
                </a:r>
              </a:p>
              <a:p>
                <a:pPr marL="342900" indent="-342900">
                  <a:lnSpc>
                    <a:spcPts val="3300"/>
                  </a:lnSpc>
                  <a:spcAft>
                    <a:spcPts val="1200"/>
                  </a:spcAft>
                  <a:buFont typeface="Arial" panose="020B0604020202020204" pitchFamily="34" charset="0"/>
                  <a:buChar char="•"/>
                </a:pPr>
                <a:endParaRPr lang="pt-BR" sz="2400" i="1" dirty="0"/>
              </a:p>
              <a:p>
                <a:pPr>
                  <a:lnSpc>
                    <a:spcPts val="3300"/>
                  </a:lnSpc>
                  <a:spcAft>
                    <a:spcPts val="12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𝑉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←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𝑚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é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𝑑𝑖𝑎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𝑑𝑜𝑠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𝑟𝑒𝑡𝑜𝑟𝑛𝑜𝑠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𝑜𝑏𝑠𝑒𝑟𝑣𝑎𝑑𝑜𝑠</m:t>
                      </m:r>
                    </m:oMath>
                  </m:oMathPara>
                </a14:m>
                <a:endParaRPr lang="pt-BR" sz="2400" i="1" dirty="0"/>
              </a:p>
            </p:txBody>
          </p:sp>
        </mc:Choice>
        <mc:Fallback xmlns="">
          <p:sp>
            <p:nvSpPr>
              <p:cNvPr id="3" name="TextBox 43">
                <a:extLst>
                  <a:ext uri="{FF2B5EF4-FFF2-40B4-BE49-F238E27FC236}">
                    <a16:creationId xmlns:a16="http://schemas.microsoft.com/office/drawing/2014/main" id="{E49F5A36-2F80-11CA-7F04-5C9915AF7D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7737" y="1682323"/>
                <a:ext cx="10449415" cy="3848699"/>
              </a:xfrm>
              <a:prstGeom prst="rect">
                <a:avLst/>
              </a:prstGeom>
              <a:blipFill>
                <a:blip r:embed="rId2"/>
                <a:stretch>
                  <a:fillRect l="-875" t="-475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1">
            <a:extLst>
              <a:ext uri="{FF2B5EF4-FFF2-40B4-BE49-F238E27FC236}">
                <a16:creationId xmlns:a16="http://schemas.microsoft.com/office/drawing/2014/main" id="{CFEB7D9E-4CC4-F359-EFF9-3422ED7B0C26}"/>
              </a:ext>
            </a:extLst>
          </p:cNvPr>
          <p:cNvSpPr txBox="1"/>
          <p:nvPr/>
        </p:nvSpPr>
        <p:spPr>
          <a:xfrm>
            <a:off x="833161" y="765601"/>
            <a:ext cx="106197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4000" b="1" kern="0" dirty="0">
                <a:latin typeface="Montserrat" panose="00000500000000000000" pitchFamily="50" charset="0"/>
                <a:cs typeface="Poppins" panose="02000000000000000000" pitchFamily="2" charset="0"/>
              </a:rPr>
              <a:t>Previsão com MC</a:t>
            </a:r>
          </a:p>
        </p:txBody>
      </p:sp>
    </p:spTree>
    <p:extLst>
      <p:ext uri="{BB962C8B-B14F-4D97-AF65-F5344CB8AC3E}">
        <p14:creationId xmlns:p14="http://schemas.microsoft.com/office/powerpoint/2010/main" val="39301931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D284FF-DAE4-3FCB-628E-921D2D8E9D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43">
                <a:extLst>
                  <a:ext uri="{FF2B5EF4-FFF2-40B4-BE49-F238E27FC236}">
                    <a16:creationId xmlns:a16="http://schemas.microsoft.com/office/drawing/2014/main" id="{A20A3D23-AF3E-7E2F-F9CA-DAF8E74954B5}"/>
                  </a:ext>
                </a:extLst>
              </p:cNvPr>
              <p:cNvSpPr txBox="1"/>
              <p:nvPr/>
            </p:nvSpPr>
            <p:spPr>
              <a:xfrm>
                <a:off x="947737" y="1682323"/>
                <a:ext cx="10449415" cy="3848699"/>
              </a:xfrm>
              <a:prstGeom prst="rect">
                <a:avLst/>
              </a:prstGeom>
              <a:noFill/>
            </p:spPr>
            <p:txBody>
              <a:bodyPr wrap="square">
                <a:noAutofit/>
              </a:bodyPr>
              <a:lstStyle/>
              <a:p>
                <a:pPr marL="457200" indent="-457200">
                  <a:lnSpc>
                    <a:spcPts val="3300"/>
                  </a:lnSpc>
                  <a:spcAft>
                    <a:spcPts val="1200"/>
                  </a:spcAft>
                  <a:buFont typeface="+mj-lt"/>
                  <a:buAutoNum type="arabicPeriod"/>
                </a:pPr>
                <a:r>
                  <a:rPr lang="pt-BR" sz="2400" dirty="0"/>
                  <a:t>Executa política </a:t>
                </a:r>
                <a14:m>
                  <m:oMath xmlns:m="http://schemas.openxmlformats.org/officeDocument/2006/math">
                    <m:r>
                      <a:rPr lang="pt-BR" sz="2400" i="1"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r>
                  <a:rPr lang="pt-BR" sz="2400" dirty="0"/>
                  <a:t>;</a:t>
                </a:r>
              </a:p>
              <a:p>
                <a:pPr marL="457200" indent="-457200">
                  <a:lnSpc>
                    <a:spcPts val="3300"/>
                  </a:lnSpc>
                  <a:spcAft>
                    <a:spcPts val="1200"/>
                  </a:spcAft>
                  <a:buFont typeface="+mj-lt"/>
                  <a:buAutoNum type="arabicPeriod"/>
                </a:pPr>
                <a:r>
                  <a:rPr lang="pt-BR" sz="2400" dirty="0"/>
                  <a:t>Coleta episódios;</a:t>
                </a:r>
              </a:p>
              <a:p>
                <a:pPr marL="457200" indent="-457200">
                  <a:lnSpc>
                    <a:spcPts val="3300"/>
                  </a:lnSpc>
                  <a:spcAft>
                    <a:spcPts val="1200"/>
                  </a:spcAft>
                  <a:buFont typeface="+mj-lt"/>
                  <a:buAutoNum type="arabicPeriod"/>
                </a:pPr>
                <a:r>
                  <a:rPr lang="pt-BR" sz="2400" dirty="0"/>
                  <a:t>Calcula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 i="1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pt-BR" sz="24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pt-BR" sz="2400" dirty="0"/>
                  <a:t>;</a:t>
                </a:r>
              </a:p>
              <a:p>
                <a:pPr marL="457200" indent="-457200">
                  <a:lnSpc>
                    <a:spcPts val="3300"/>
                  </a:lnSpc>
                  <a:spcAft>
                    <a:spcPts val="1200"/>
                  </a:spcAft>
                  <a:buFont typeface="+mj-lt"/>
                  <a:buAutoNum type="arabicPeriod"/>
                </a:pPr>
                <a:r>
                  <a:rPr lang="pt-BR" sz="2400" dirty="0"/>
                  <a:t>Atualiza </a:t>
                </a:r>
                <a14:m>
                  <m:oMath xmlns:m="http://schemas.openxmlformats.org/officeDocument/2006/math">
                    <m:r>
                      <a:rPr lang="pt-BR" sz="2400" i="1">
                        <a:latin typeface="Cambria Math" panose="02040503050406030204" pitchFamily="18" charset="0"/>
                      </a:rPr>
                      <m:t>𝑉</m:t>
                    </m:r>
                    <m:d>
                      <m:dPr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400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</m:oMath>
                </a14:m>
                <a:r>
                  <a:rPr lang="pt-BR" sz="2400" dirty="0"/>
                  <a:t>;</a:t>
                </a:r>
              </a:p>
              <a:p>
                <a:pPr marL="457200" indent="-457200">
                  <a:lnSpc>
                    <a:spcPts val="3300"/>
                  </a:lnSpc>
                  <a:spcAft>
                    <a:spcPts val="1200"/>
                  </a:spcAft>
                  <a:buFont typeface="+mj-lt"/>
                  <a:buAutoNum type="arabicPeriod"/>
                </a:pPr>
                <a:r>
                  <a:rPr lang="pt-BR" sz="2400" dirty="0"/>
                  <a:t>Repete até convergir.</a:t>
                </a:r>
              </a:p>
            </p:txBody>
          </p:sp>
        </mc:Choice>
        <mc:Fallback xmlns="">
          <p:sp>
            <p:nvSpPr>
              <p:cNvPr id="3" name="TextBox 43">
                <a:extLst>
                  <a:ext uri="{FF2B5EF4-FFF2-40B4-BE49-F238E27FC236}">
                    <a16:creationId xmlns:a16="http://schemas.microsoft.com/office/drawing/2014/main" id="{A20A3D23-AF3E-7E2F-F9CA-DAF8E74954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7737" y="1682323"/>
                <a:ext cx="10449415" cy="3848699"/>
              </a:xfrm>
              <a:prstGeom prst="rect">
                <a:avLst/>
              </a:prstGeom>
              <a:blipFill>
                <a:blip r:embed="rId2"/>
                <a:stretch>
                  <a:fillRect l="-933" t="-634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1">
            <a:extLst>
              <a:ext uri="{FF2B5EF4-FFF2-40B4-BE49-F238E27FC236}">
                <a16:creationId xmlns:a16="http://schemas.microsoft.com/office/drawing/2014/main" id="{510000A3-C5CF-217D-A855-97CB236D5A93}"/>
              </a:ext>
            </a:extLst>
          </p:cNvPr>
          <p:cNvSpPr txBox="1"/>
          <p:nvPr/>
        </p:nvSpPr>
        <p:spPr>
          <a:xfrm>
            <a:off x="862833" y="727501"/>
            <a:ext cx="106197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b="1" kern="0" dirty="0">
                <a:latin typeface="Montserrat" panose="00000500000000000000" pitchFamily="50" charset="0"/>
                <a:cs typeface="Poppins" panose="02000000000000000000" pitchFamily="2" charset="0"/>
              </a:rPr>
              <a:t>O fluxo MC Prediction</a:t>
            </a:r>
            <a:endParaRPr lang="en-ID" sz="4000" b="1" kern="0" dirty="0">
              <a:latin typeface="Montserrat" panose="00000500000000000000" pitchFamily="50" charset="0"/>
              <a:cs typeface="Poppi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873461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409C5D-2B5C-8B01-31AD-C5556B7163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43">
                <a:extLst>
                  <a:ext uri="{FF2B5EF4-FFF2-40B4-BE49-F238E27FC236}">
                    <a16:creationId xmlns:a16="http://schemas.microsoft.com/office/drawing/2014/main" id="{B890DD09-E4B4-6982-9E0D-0B6E34668405}"/>
                  </a:ext>
                </a:extLst>
              </p:cNvPr>
              <p:cNvSpPr txBox="1"/>
              <p:nvPr/>
            </p:nvSpPr>
            <p:spPr>
              <a:xfrm>
                <a:off x="947737" y="1682323"/>
                <a:ext cx="10449415" cy="3848699"/>
              </a:xfrm>
              <a:prstGeom prst="rect">
                <a:avLst/>
              </a:prstGeom>
              <a:noFill/>
            </p:spPr>
            <p:txBody>
              <a:bodyPr wrap="square">
                <a:noAutofit/>
              </a:bodyPr>
              <a:lstStyle/>
              <a:p>
                <a:pPr>
                  <a:lnSpc>
                    <a:spcPts val="3300"/>
                  </a:lnSpc>
                  <a:spcAft>
                    <a:spcPts val="1200"/>
                  </a:spcAft>
                </a:pPr>
                <a:endParaRPr lang="en-US" sz="2400" dirty="0"/>
              </a:p>
              <a:p>
                <a:pPr>
                  <a:lnSpc>
                    <a:spcPts val="3300"/>
                  </a:lnSpc>
                  <a:spcAft>
                    <a:spcPts val="1200"/>
                  </a:spcAft>
                </a:pPr>
                <a:r>
                  <a:rPr lang="pt-BR" sz="2400" dirty="0"/>
                  <a:t>Para </a:t>
                </a:r>
                <a:r>
                  <a:rPr lang="pt-BR" sz="2400" b="1" dirty="0"/>
                  <a:t>Control</a:t>
                </a:r>
                <a:r>
                  <a:rPr lang="pt-BR" sz="2400" dirty="0"/>
                  <a:t>, precisamos </a:t>
                </a:r>
                <a:r>
                  <a:rPr lang="pt-BR" sz="2400" b="1" dirty="0"/>
                  <a:t>melhorar a política</a:t>
                </a:r>
                <a:r>
                  <a:rPr lang="pt-BR" sz="2400" dirty="0"/>
                  <a:t>:</a:t>
                </a:r>
              </a:p>
              <a:p>
                <a:pPr>
                  <a:lnSpc>
                    <a:spcPts val="3300"/>
                  </a:lnSpc>
                  <a:spcAft>
                    <a:spcPts val="1200"/>
                  </a:spcAft>
                </a:pPr>
                <a:endParaRPr lang="en-US" sz="2400" b="1" dirty="0"/>
              </a:p>
              <a:p>
                <a:pPr>
                  <a:lnSpc>
                    <a:spcPts val="3300"/>
                  </a:lnSpc>
                  <a:spcAft>
                    <a:spcPts val="12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𝜋</m:t>
                      </m:r>
                      <m:r>
                        <a:rPr lang="en-US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⟹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𝑉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⟹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𝑚𝑒𝑙h𝑜𝑟𝑎𝑟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𝜋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⟹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𝑉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⟹ …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3" name="TextBox 43">
                <a:extLst>
                  <a:ext uri="{FF2B5EF4-FFF2-40B4-BE49-F238E27FC236}">
                    <a16:creationId xmlns:a16="http://schemas.microsoft.com/office/drawing/2014/main" id="{B890DD09-E4B4-6982-9E0D-0B6E346684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7737" y="1682323"/>
                <a:ext cx="10449415" cy="3848699"/>
              </a:xfrm>
              <a:prstGeom prst="rect">
                <a:avLst/>
              </a:prstGeom>
              <a:blipFill>
                <a:blip r:embed="rId2"/>
                <a:stretch>
                  <a:fillRect l="-875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1">
            <a:extLst>
              <a:ext uri="{FF2B5EF4-FFF2-40B4-BE49-F238E27FC236}">
                <a16:creationId xmlns:a16="http://schemas.microsoft.com/office/drawing/2014/main" id="{9FB6B9FD-CDA8-24DE-CD11-2C5AB67963A2}"/>
              </a:ext>
            </a:extLst>
          </p:cNvPr>
          <p:cNvSpPr txBox="1"/>
          <p:nvPr/>
        </p:nvSpPr>
        <p:spPr>
          <a:xfrm>
            <a:off x="862833" y="727501"/>
            <a:ext cx="106197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b="1" kern="0" dirty="0">
                <a:latin typeface="Montserrat" panose="00000500000000000000" pitchFamily="50" charset="0"/>
                <a:cs typeface="Poppins" panose="02000000000000000000" pitchFamily="2" charset="0"/>
              </a:rPr>
              <a:t>Do Prediction ao Control</a:t>
            </a:r>
            <a:endParaRPr lang="en-ID" sz="4000" b="1" kern="0" dirty="0">
              <a:latin typeface="Montserrat" panose="00000500000000000000" pitchFamily="50" charset="0"/>
              <a:cs typeface="Poppi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998822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6960FE-3403-8464-EF98-A24BE000C5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43">
                <a:extLst>
                  <a:ext uri="{FF2B5EF4-FFF2-40B4-BE49-F238E27FC236}">
                    <a16:creationId xmlns:a16="http://schemas.microsoft.com/office/drawing/2014/main" id="{3998B352-6C96-7D5E-CED8-B818E70D9490}"/>
                  </a:ext>
                </a:extLst>
              </p:cNvPr>
              <p:cNvSpPr txBox="1"/>
              <p:nvPr/>
            </p:nvSpPr>
            <p:spPr>
              <a:xfrm>
                <a:off x="947737" y="1682323"/>
                <a:ext cx="10449415" cy="3848699"/>
              </a:xfrm>
              <a:prstGeom prst="rect">
                <a:avLst/>
              </a:prstGeom>
              <a:noFill/>
            </p:spPr>
            <p:txBody>
              <a:bodyPr wrap="square">
                <a:noAutofit/>
              </a:bodyPr>
              <a:lstStyle/>
              <a:p>
                <a:pPr marL="342900" indent="-342900">
                  <a:lnSpc>
                    <a:spcPts val="3300"/>
                  </a:lnSpc>
                  <a:spcAft>
                    <a:spcPts val="1200"/>
                  </a:spcAft>
                  <a:buFont typeface="Arial" panose="020B0604020202020204" pitchFamily="34" charset="0"/>
                  <a:buChar char="•"/>
                </a:pPr>
                <a:endParaRPr lang="en-US" sz="2400" dirty="0"/>
              </a:p>
              <a:p>
                <a:pPr marL="342900" indent="-342900">
                  <a:lnSpc>
                    <a:spcPts val="3300"/>
                  </a:lnSpc>
                  <a:spcAft>
                    <a:spcPts val="1200"/>
                  </a:spcAft>
                  <a:buFont typeface="Wingdings" panose="05000000000000000000" pitchFamily="2" charset="2"/>
                  <a:buChar char="§"/>
                </a:pPr>
                <a:r>
                  <a:rPr lang="en-US" sz="2400" dirty="0"/>
                  <a:t>Usa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𝑄</m:t>
                    </m:r>
                    <m:d>
                      <m:dPr>
                        <m:sepChr m:val=","/>
                        <m:ctrlPr>
                          <a:rPr lang="ar-AE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2400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e>
                        <m:r>
                          <a:rPr lang="ar-AE" sz="24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</m:oMath>
                </a14:m>
                <a:r>
                  <a:rPr lang="en-US" sz="2400" dirty="0"/>
                  <a:t> em vez de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𝑉</m:t>
                    </m:r>
                    <m:d>
                      <m:dPr>
                        <m:ctrlPr>
                          <a:rPr lang="ar-AE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2400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</m:oMath>
                </a14:m>
                <a:r>
                  <a:rPr lang="en-US" sz="2400" dirty="0"/>
                  <a:t>;</a:t>
                </a:r>
              </a:p>
              <a:p>
                <a:pPr marL="342900" indent="-342900">
                  <a:lnSpc>
                    <a:spcPts val="3300"/>
                  </a:lnSpc>
                  <a:spcAft>
                    <a:spcPts val="1200"/>
                  </a:spcAft>
                  <a:buFont typeface="Wingdings" panose="05000000000000000000" pitchFamily="2" charset="2"/>
                  <a:buChar char="§"/>
                </a:pPr>
                <a:r>
                  <a:rPr lang="pt-BR" sz="2400" dirty="0"/>
                  <a:t>Melhor ação na maior parte do tempo;</a:t>
                </a:r>
              </a:p>
              <a:p>
                <a:pPr marL="342900" indent="-342900">
                  <a:lnSpc>
                    <a:spcPts val="3300"/>
                  </a:lnSpc>
                  <a:spcAft>
                    <a:spcPts val="1200"/>
                  </a:spcAft>
                  <a:buFont typeface="Wingdings" panose="05000000000000000000" pitchFamily="2" charset="2"/>
                  <a:buChar char="§"/>
                </a:pPr>
                <a:r>
                  <a:rPr lang="pt-BR" sz="2400" dirty="0"/>
                  <a:t>Exploração com </a:t>
                </a:r>
                <a:r>
                  <a:rPr lang="pt-BR" sz="2400" b="1" dirty="0"/>
                  <a:t>ε-</a:t>
                </a:r>
                <a:r>
                  <a:rPr lang="pt-BR" sz="2400" b="1" dirty="0" err="1"/>
                  <a:t>greedy</a:t>
                </a:r>
                <a:r>
                  <a:rPr lang="pt-BR" sz="2400" dirty="0"/>
                  <a:t>.</a:t>
                </a:r>
                <a:endParaRPr lang="en-US" sz="2400" dirty="0"/>
              </a:p>
            </p:txBody>
          </p:sp>
        </mc:Choice>
        <mc:Fallback xmlns="">
          <p:sp>
            <p:nvSpPr>
              <p:cNvPr id="3" name="TextBox 43">
                <a:extLst>
                  <a:ext uri="{FF2B5EF4-FFF2-40B4-BE49-F238E27FC236}">
                    <a16:creationId xmlns:a16="http://schemas.microsoft.com/office/drawing/2014/main" id="{3998B352-6C96-7D5E-CED8-B818E70D94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7737" y="1682323"/>
                <a:ext cx="10449415" cy="3848699"/>
              </a:xfrm>
              <a:prstGeom prst="rect">
                <a:avLst/>
              </a:prstGeom>
              <a:blipFill>
                <a:blip r:embed="rId2"/>
                <a:stretch>
                  <a:fillRect l="-758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1">
                <a:extLst>
                  <a:ext uri="{FF2B5EF4-FFF2-40B4-BE49-F238E27FC236}">
                    <a16:creationId xmlns:a16="http://schemas.microsoft.com/office/drawing/2014/main" id="{2653BF07-AC97-768A-2A3E-CACDBA12C30B}"/>
                  </a:ext>
                </a:extLst>
              </p:cNvPr>
              <p:cNvSpPr txBox="1"/>
              <p:nvPr/>
            </p:nvSpPr>
            <p:spPr>
              <a:xfrm>
                <a:off x="862833" y="727501"/>
                <a:ext cx="10619791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4000" b="1" kern="0" dirty="0">
                    <a:latin typeface="Montserrat" panose="00000500000000000000" pitchFamily="50" charset="0"/>
                    <a:cs typeface="Poppins" panose="02000000000000000000" pitchFamily="2" charset="0"/>
                  </a:rPr>
                  <a:t>MC Control (</a:t>
                </a:r>
                <a14:m>
                  <m:oMath xmlns:m="http://schemas.openxmlformats.org/officeDocument/2006/math">
                    <m:r>
                      <a:rPr lang="el-GR" sz="4000" b="1" i="1" kern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Poppins" panose="02000000000000000000" pitchFamily="2" charset="0"/>
                      </a:rPr>
                      <m:t>𝜺</m:t>
                    </m:r>
                  </m:oMath>
                </a14:m>
                <a:r>
                  <a:rPr lang="el-GR" sz="4000" b="1" kern="0" dirty="0">
                    <a:latin typeface="Montserrat" panose="00000500000000000000" pitchFamily="50" charset="0"/>
                    <a:cs typeface="Poppins" panose="02000000000000000000" pitchFamily="2" charset="0"/>
                  </a:rPr>
                  <a:t>-</a:t>
                </a:r>
                <a:r>
                  <a:rPr lang="pt-BR" sz="4000" b="1" kern="0" dirty="0">
                    <a:latin typeface="Montserrat" panose="00000500000000000000" pitchFamily="50" charset="0"/>
                    <a:cs typeface="Poppins" panose="02000000000000000000" pitchFamily="2" charset="0"/>
                  </a:rPr>
                  <a:t>greedy)</a:t>
                </a:r>
                <a:endParaRPr lang="en-ID" sz="4000" b="1" kern="0" dirty="0">
                  <a:latin typeface="Montserrat" panose="00000500000000000000" pitchFamily="50" charset="0"/>
                  <a:cs typeface="Poppins" panose="02000000000000000000" pitchFamily="2" charset="0"/>
                </a:endParaRPr>
              </a:p>
            </p:txBody>
          </p:sp>
        </mc:Choice>
        <mc:Fallback xmlns="">
          <p:sp>
            <p:nvSpPr>
              <p:cNvPr id="6" name="TextBox 1">
                <a:extLst>
                  <a:ext uri="{FF2B5EF4-FFF2-40B4-BE49-F238E27FC236}">
                    <a16:creationId xmlns:a16="http://schemas.microsoft.com/office/drawing/2014/main" id="{2653BF07-AC97-768A-2A3E-CACDBA12C3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2833" y="727501"/>
                <a:ext cx="10619791" cy="707886"/>
              </a:xfrm>
              <a:prstGeom prst="rect">
                <a:avLst/>
              </a:prstGeom>
              <a:blipFill>
                <a:blip r:embed="rId3"/>
                <a:stretch>
                  <a:fillRect l="-2067" t="-15517" b="-362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00275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032D7A-7A52-F135-6352-DF5D2D226C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43">
                <a:extLst>
                  <a:ext uri="{FF2B5EF4-FFF2-40B4-BE49-F238E27FC236}">
                    <a16:creationId xmlns:a16="http://schemas.microsoft.com/office/drawing/2014/main" id="{ECA953DC-E7C7-D65F-BB0F-4E2F5EFC6374}"/>
                  </a:ext>
                </a:extLst>
              </p:cNvPr>
              <p:cNvSpPr txBox="1"/>
              <p:nvPr/>
            </p:nvSpPr>
            <p:spPr>
              <a:xfrm>
                <a:off x="947737" y="1682323"/>
                <a:ext cx="10449415" cy="3848699"/>
              </a:xfrm>
              <a:prstGeom prst="rect">
                <a:avLst/>
              </a:prstGeom>
              <a:noFill/>
            </p:spPr>
            <p:txBody>
              <a:bodyPr wrap="square">
                <a:noAutofit/>
              </a:bodyPr>
              <a:lstStyle/>
              <a:p>
                <a:pPr algn="ctr">
                  <a:lnSpc>
                    <a:spcPts val="3300"/>
                  </a:lnSpc>
                  <a:spcAft>
                    <a:spcPts val="1200"/>
                  </a:spcAft>
                </a:pPr>
                <a14:m>
                  <m:oMath xmlns:m="http://schemas.openxmlformats.org/officeDocument/2006/math">
                    <m:r>
                      <a:rPr lang="el-GR" sz="2400" i="1" dirty="0" smtClean="0">
                        <a:latin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lang="el-GR" sz="2400" dirty="0"/>
                  <a:t>-</a:t>
                </a:r>
                <a:r>
                  <a:rPr lang="en-US" sz="2400" i="1" dirty="0"/>
                  <a:t>Greedy with decay → GLIE</a:t>
                </a:r>
              </a:p>
              <a:p>
                <a:pPr>
                  <a:lnSpc>
                    <a:spcPts val="3300"/>
                  </a:lnSpc>
                  <a:spcAft>
                    <a:spcPts val="1200"/>
                  </a:spcAft>
                </a:pPr>
                <a:endParaRPr lang="en-US" sz="2400" dirty="0"/>
              </a:p>
              <a:p>
                <a:pPr>
                  <a:lnSpc>
                    <a:spcPts val="3300"/>
                  </a:lnSpc>
                  <a:spcAft>
                    <a:spcPts val="12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𝑐𝑜𝑛𝑓𝑜𝑟𝑚𝑒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𝑡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∞</m:t>
                      </m:r>
                    </m:oMath>
                  </m:oMathPara>
                </a14:m>
                <a:endParaRPr lang="en-US" sz="2400" dirty="0"/>
              </a:p>
              <a:p>
                <a:pPr marL="342900" indent="-342900">
                  <a:lnSpc>
                    <a:spcPts val="3300"/>
                  </a:lnSpc>
                  <a:spcAft>
                    <a:spcPts val="1200"/>
                  </a:spcAft>
                  <a:buFont typeface="Wingdings" panose="05000000000000000000" pitchFamily="2" charset="2"/>
                  <a:buChar char="§"/>
                </a:pPr>
                <a:endParaRPr lang="en-US" sz="2400" dirty="0"/>
              </a:p>
              <a:p>
                <a:pPr marL="342900" indent="-342900">
                  <a:lnSpc>
                    <a:spcPts val="3300"/>
                  </a:lnSpc>
                  <a:spcAft>
                    <a:spcPts val="1200"/>
                  </a:spcAft>
                  <a:buFont typeface="Wingdings" panose="05000000000000000000" pitchFamily="2" charset="2"/>
                  <a:buChar char="§"/>
                </a:pPr>
                <a:r>
                  <a:rPr lang="pt-BR" sz="2400" dirty="0"/>
                  <a:t>Garante melhora da política com tempo e exploração suficiente.</a:t>
                </a:r>
                <a:endParaRPr lang="en-US" sz="2400" dirty="0"/>
              </a:p>
            </p:txBody>
          </p:sp>
        </mc:Choice>
        <mc:Fallback xmlns="">
          <p:sp>
            <p:nvSpPr>
              <p:cNvPr id="3" name="TextBox 43">
                <a:extLst>
                  <a:ext uri="{FF2B5EF4-FFF2-40B4-BE49-F238E27FC236}">
                    <a16:creationId xmlns:a16="http://schemas.microsoft.com/office/drawing/2014/main" id="{ECA953DC-E7C7-D65F-BB0F-4E2F5EFC63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7737" y="1682323"/>
                <a:ext cx="10449415" cy="3848699"/>
              </a:xfrm>
              <a:prstGeom prst="rect">
                <a:avLst/>
              </a:prstGeom>
              <a:blipFill>
                <a:blip r:embed="rId3"/>
                <a:stretch>
                  <a:fillRect l="-758" t="-475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1">
            <a:extLst>
              <a:ext uri="{FF2B5EF4-FFF2-40B4-BE49-F238E27FC236}">
                <a16:creationId xmlns:a16="http://schemas.microsoft.com/office/drawing/2014/main" id="{408BC69C-A6B3-7022-2802-D05E60F4A563}"/>
              </a:ext>
            </a:extLst>
          </p:cNvPr>
          <p:cNvSpPr txBox="1"/>
          <p:nvPr/>
        </p:nvSpPr>
        <p:spPr>
          <a:xfrm>
            <a:off x="862833" y="727501"/>
            <a:ext cx="106197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b="1" kern="0">
                <a:latin typeface="Montserrat" panose="00000500000000000000" pitchFamily="50" charset="0"/>
                <a:cs typeface="Poppins" panose="02000000000000000000" pitchFamily="2" charset="0"/>
              </a:rPr>
              <a:t>GLIE</a:t>
            </a:r>
            <a:endParaRPr lang="en-ID" sz="4000" b="1" kern="0" dirty="0">
              <a:latin typeface="Montserrat" panose="00000500000000000000" pitchFamily="50" charset="0"/>
              <a:cs typeface="Poppi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820247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653B0E-52D8-DCD1-44D0-91763E7E07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1">
            <a:extLst>
              <a:ext uri="{FF2B5EF4-FFF2-40B4-BE49-F238E27FC236}">
                <a16:creationId xmlns:a16="http://schemas.microsoft.com/office/drawing/2014/main" id="{6643313F-1078-E642-8B87-576E4766777F}"/>
              </a:ext>
            </a:extLst>
          </p:cNvPr>
          <p:cNvSpPr txBox="1"/>
          <p:nvPr/>
        </p:nvSpPr>
        <p:spPr>
          <a:xfrm>
            <a:off x="947738" y="778301"/>
            <a:ext cx="106197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b="1" kern="0" dirty="0">
                <a:latin typeface="Montserrat" panose="00000500000000000000" pitchFamily="50" charset="0"/>
                <a:cs typeface="Poppins" panose="02000000000000000000" pitchFamily="2" charset="0"/>
              </a:rPr>
              <a:t>Diferença MC Prediction × MC Control</a:t>
            </a:r>
            <a:endParaRPr lang="en-ID" sz="4000" b="1" kern="0" dirty="0">
              <a:latin typeface="Montserrat" panose="00000500000000000000" pitchFamily="50" charset="0"/>
              <a:cs typeface="Poppins" panose="02000000000000000000" pitchFamily="2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77AA3FBA-290E-6D47-D9D4-0170D33EF5E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47869077"/>
                  </p:ext>
                </p:extLst>
              </p:nvPr>
            </p:nvGraphicFramePr>
            <p:xfrm>
              <a:off x="947738" y="2651760"/>
              <a:ext cx="10801350" cy="1554480"/>
            </p:xfrm>
            <a:graphic>
              <a:graphicData uri="http://schemas.openxmlformats.org/drawingml/2006/table">
                <a:tbl>
                  <a:tblPr firstRow="1" bandRow="1">
                    <a:tableStyleId>{0E3FDE45-AF77-4B5C-9715-49D594BDF05E}</a:tableStyleId>
                  </a:tblPr>
                  <a:tblGrid>
                    <a:gridCol w="4784397">
                      <a:extLst>
                        <a:ext uri="{9D8B030D-6E8A-4147-A177-3AD203B41FA5}">
                          <a16:colId xmlns:a16="http://schemas.microsoft.com/office/drawing/2014/main" val="3230914906"/>
                        </a:ext>
                      </a:extLst>
                    </a:gridCol>
                    <a:gridCol w="6016953">
                      <a:extLst>
                        <a:ext uri="{9D8B030D-6E8A-4147-A177-3AD203B41FA5}">
                          <a16:colId xmlns:a16="http://schemas.microsoft.com/office/drawing/2014/main" val="2457890044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2800" dirty="0"/>
                            <a:t>Prediction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2800"/>
                            <a:t>Control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569988100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2800" dirty="0" err="1"/>
                            <a:t>avalia</a:t>
                          </a:r>
                          <a:r>
                            <a:rPr lang="en-US" sz="2800" dirty="0"/>
                            <a:t> política fixa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2800" dirty="0" err="1"/>
                            <a:t>muda</a:t>
                          </a:r>
                          <a:r>
                            <a:rPr lang="en-US" sz="2800" dirty="0"/>
                            <a:t> a política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471616813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2800" dirty="0"/>
                            <a:t>usa (</a:t>
                          </a:r>
                          <a14:m>
                            <m:oMath xmlns:m="http://schemas.openxmlformats.org/officeDocument/2006/math"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oMath>
                          </a14:m>
                          <a:r>
                            <a:rPr lang="en-US" sz="2800" dirty="0"/>
                            <a:t>)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2800" dirty="0"/>
                            <a:t>usa (</a:t>
                          </a:r>
                          <a14:m>
                            <m:oMath xmlns:m="http://schemas.openxmlformats.org/officeDocument/2006/math">
                              <m:r>
                                <a:rPr lang="en-US" sz="2800" i="1" dirty="0" smtClean="0"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oMath>
                          </a14:m>
                          <a:r>
                            <a:rPr lang="en-US" sz="2800" dirty="0"/>
                            <a:t>)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20989798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77AA3FBA-290E-6D47-D9D4-0170D33EF5E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47869077"/>
                  </p:ext>
                </p:extLst>
              </p:nvPr>
            </p:nvGraphicFramePr>
            <p:xfrm>
              <a:off x="947738" y="2651760"/>
              <a:ext cx="10801350" cy="1554480"/>
            </p:xfrm>
            <a:graphic>
              <a:graphicData uri="http://schemas.openxmlformats.org/drawingml/2006/table">
                <a:tbl>
                  <a:tblPr firstRow="1" bandRow="1">
                    <a:tableStyleId>{0E3FDE45-AF77-4B5C-9715-49D594BDF05E}</a:tableStyleId>
                  </a:tblPr>
                  <a:tblGrid>
                    <a:gridCol w="4784397">
                      <a:extLst>
                        <a:ext uri="{9D8B030D-6E8A-4147-A177-3AD203B41FA5}">
                          <a16:colId xmlns:a16="http://schemas.microsoft.com/office/drawing/2014/main" val="3230914906"/>
                        </a:ext>
                      </a:extLst>
                    </a:gridCol>
                    <a:gridCol w="6016953">
                      <a:extLst>
                        <a:ext uri="{9D8B030D-6E8A-4147-A177-3AD203B41FA5}">
                          <a16:colId xmlns:a16="http://schemas.microsoft.com/office/drawing/2014/main" val="2457890044"/>
                        </a:ext>
                      </a:extLst>
                    </a:gridCol>
                  </a:tblGrid>
                  <a:tr h="51816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2800" dirty="0"/>
                            <a:t>Prediction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2800"/>
                            <a:t>Control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569988100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2800" dirty="0" err="1"/>
                            <a:t>avalia</a:t>
                          </a:r>
                          <a:r>
                            <a:rPr lang="en-US" sz="2800" dirty="0"/>
                            <a:t> política fixa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2800" dirty="0" err="1"/>
                            <a:t>muda</a:t>
                          </a:r>
                          <a:r>
                            <a:rPr lang="en-US" sz="2800" dirty="0"/>
                            <a:t> a política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471616813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anchor="ctr">
                        <a:blipFill>
                          <a:blip r:embed="rId2"/>
                          <a:stretch>
                            <a:fillRect t="-210588" r="-125987" b="-341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79453" t="-210588" r="-101" b="-3411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0989798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55171385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80047C-E015-4805-4C6C-4311C0E07A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1">
            <a:extLst>
              <a:ext uri="{FF2B5EF4-FFF2-40B4-BE49-F238E27FC236}">
                <a16:creationId xmlns:a16="http://schemas.microsoft.com/office/drawing/2014/main" id="{6930EA55-D072-1690-175C-14AD14CEED8E}"/>
              </a:ext>
            </a:extLst>
          </p:cNvPr>
          <p:cNvSpPr txBox="1"/>
          <p:nvPr/>
        </p:nvSpPr>
        <p:spPr>
          <a:xfrm>
            <a:off x="862833" y="727501"/>
            <a:ext cx="106197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b="1" kern="0" dirty="0">
                <a:latin typeface="Montserrat" panose="00000500000000000000" pitchFamily="50" charset="0"/>
                <a:cs typeface="Poppins" panose="02000000000000000000" pitchFamily="2" charset="0"/>
              </a:rPr>
              <a:t>Pontos fortes/fracos do MC</a:t>
            </a:r>
            <a:endParaRPr lang="en-ID" sz="4000" b="1" kern="0" dirty="0">
              <a:latin typeface="Montserrat" panose="00000500000000000000" pitchFamily="50" charset="0"/>
              <a:cs typeface="Poppins" panose="02000000000000000000" pitchFamily="2" charset="0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6B234B18-EB60-82C1-8DB4-FC1E233C576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52494296"/>
              </p:ext>
            </p:extLst>
          </p:nvPr>
        </p:nvGraphicFramePr>
        <p:xfrm>
          <a:off x="947738" y="2514600"/>
          <a:ext cx="10801350" cy="1828800"/>
        </p:xfrm>
        <a:graphic>
          <a:graphicData uri="http://schemas.openxmlformats.org/drawingml/2006/table">
            <a:tbl>
              <a:tblPr firstRow="1" bandRow="1">
                <a:tableStyleId>{0E3FDE45-AF77-4B5C-9715-49D594BDF05E}</a:tableStyleId>
              </a:tblPr>
              <a:tblGrid>
                <a:gridCol w="5400675">
                  <a:extLst>
                    <a:ext uri="{9D8B030D-6E8A-4147-A177-3AD203B41FA5}">
                      <a16:colId xmlns:a16="http://schemas.microsoft.com/office/drawing/2014/main" val="3950719435"/>
                    </a:ext>
                  </a:extLst>
                </a:gridCol>
                <a:gridCol w="5400675">
                  <a:extLst>
                    <a:ext uri="{9D8B030D-6E8A-4147-A177-3AD203B41FA5}">
                      <a16:colId xmlns:a16="http://schemas.microsoft.com/office/drawing/2014/main" val="231199605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Fortes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Fracos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403364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Simples de implementar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2400" dirty="0"/>
                        <a:t>Alta variância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868057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Conceito natural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2400" dirty="0"/>
                        <a:t>Precisa esperar o episódio terminar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63087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Ótimo para episódios curtos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2400" dirty="0"/>
                        <a:t>Ruim para tarefas contínuas longas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32587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2028028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08ECE2-C9BE-8EC5-A1E1-7F50962DC7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43">
                <a:extLst>
                  <a:ext uri="{FF2B5EF4-FFF2-40B4-BE49-F238E27FC236}">
                    <a16:creationId xmlns:a16="http://schemas.microsoft.com/office/drawing/2014/main" id="{B1148433-D1D8-738B-A27A-6497882654C0}"/>
                  </a:ext>
                </a:extLst>
              </p:cNvPr>
              <p:cNvSpPr txBox="1"/>
              <p:nvPr/>
            </p:nvSpPr>
            <p:spPr>
              <a:xfrm>
                <a:off x="947737" y="1682323"/>
                <a:ext cx="10449415" cy="3848699"/>
              </a:xfrm>
              <a:prstGeom prst="rect">
                <a:avLst/>
              </a:prstGeom>
              <a:noFill/>
            </p:spPr>
            <p:txBody>
              <a:bodyPr wrap="square">
                <a:noAutofit/>
              </a:bodyPr>
              <a:lstStyle/>
              <a:p>
                <a:pPr marL="457200" indent="-457200">
                  <a:lnSpc>
                    <a:spcPts val="3300"/>
                  </a:lnSpc>
                  <a:spcAft>
                    <a:spcPts val="1200"/>
                  </a:spcAft>
                  <a:buFont typeface="Arial" panose="020B0604020202020204" pitchFamily="34" charset="0"/>
                  <a:buChar char="•"/>
                </a:pPr>
                <a:endParaRPr lang="en-US" sz="2800" dirty="0"/>
              </a:p>
              <a:p>
                <a:pPr marL="457200" indent="-457200">
                  <a:lnSpc>
                    <a:spcPts val="3300"/>
                  </a:lnSpc>
                  <a:spcAft>
                    <a:spcPts val="1200"/>
                  </a:spcAft>
                  <a:buFont typeface="Wingdings" panose="05000000000000000000" pitchFamily="2" charset="2"/>
                  <a:buChar char="§"/>
                </a:pPr>
                <a:r>
                  <a:rPr lang="en-US" sz="2800" dirty="0"/>
                  <a:t>MC usa </a:t>
                </a:r>
                <a:r>
                  <a:rPr lang="en-US" sz="2800" b="1" dirty="0"/>
                  <a:t>retorno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2800" i="1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ar-AE" sz="28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sz="2800" dirty="0"/>
                  <a:t>;</a:t>
                </a:r>
              </a:p>
              <a:p>
                <a:pPr marL="457200" indent="-457200">
                  <a:lnSpc>
                    <a:spcPts val="3300"/>
                  </a:lnSpc>
                  <a:spcAft>
                    <a:spcPts val="1200"/>
                  </a:spcAft>
                  <a:buFont typeface="Wingdings" panose="05000000000000000000" pitchFamily="2" charset="2"/>
                  <a:buChar char="§"/>
                </a:pPr>
                <a:r>
                  <a:rPr lang="en-US" sz="2800" dirty="0"/>
                  <a:t>Prediction: política fixa;</a:t>
                </a:r>
              </a:p>
              <a:p>
                <a:pPr marL="457200" indent="-457200">
                  <a:lnSpc>
                    <a:spcPts val="3300"/>
                  </a:lnSpc>
                  <a:spcAft>
                    <a:spcPts val="1200"/>
                  </a:spcAft>
                  <a:buFont typeface="Wingdings" panose="05000000000000000000" pitchFamily="2" charset="2"/>
                  <a:buChar char="§"/>
                </a:pPr>
                <a:r>
                  <a:rPr lang="en-US" sz="2800" dirty="0"/>
                  <a:t>Control: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lang="en-US" sz="2800" dirty="0"/>
                  <a:t>-greedy + GLIE.</a:t>
                </a:r>
              </a:p>
            </p:txBody>
          </p:sp>
        </mc:Choice>
        <mc:Fallback xmlns="">
          <p:sp>
            <p:nvSpPr>
              <p:cNvPr id="3" name="TextBox 43">
                <a:extLst>
                  <a:ext uri="{FF2B5EF4-FFF2-40B4-BE49-F238E27FC236}">
                    <a16:creationId xmlns:a16="http://schemas.microsoft.com/office/drawing/2014/main" id="{B1148433-D1D8-738B-A27A-6497882654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7737" y="1682323"/>
                <a:ext cx="10449415" cy="3848699"/>
              </a:xfrm>
              <a:prstGeom prst="rect">
                <a:avLst/>
              </a:prstGeom>
              <a:blipFill>
                <a:blip r:embed="rId2"/>
                <a:stretch>
                  <a:fillRect l="-99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1">
            <a:extLst>
              <a:ext uri="{FF2B5EF4-FFF2-40B4-BE49-F238E27FC236}">
                <a16:creationId xmlns:a16="http://schemas.microsoft.com/office/drawing/2014/main" id="{16DF0810-FF2D-D08B-7016-7B7EB5573858}"/>
              </a:ext>
            </a:extLst>
          </p:cNvPr>
          <p:cNvSpPr txBox="1"/>
          <p:nvPr/>
        </p:nvSpPr>
        <p:spPr>
          <a:xfrm>
            <a:off x="862833" y="727501"/>
            <a:ext cx="106197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b="1" kern="0">
                <a:latin typeface="Montserrat" panose="00000500000000000000" pitchFamily="50" charset="0"/>
                <a:cs typeface="Poppins" panose="02000000000000000000" pitchFamily="2" charset="0"/>
              </a:rPr>
              <a:t>Resumo</a:t>
            </a:r>
            <a:endParaRPr lang="en-ID" sz="4000" b="1" kern="0" dirty="0">
              <a:latin typeface="Montserrat" panose="00000500000000000000" pitchFamily="50" charset="0"/>
              <a:cs typeface="Poppi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387482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27810865"/>
      </p:ext>
    </p:extLst>
  </p:cSld>
  <p:clrMapOvr>
    <a:masterClrMapping/>
  </p:clrMapOvr>
</p:sld>
</file>

<file path=ppt/theme/theme1.xml><?xml version="1.0" encoding="utf-8"?>
<a:theme xmlns:a="http://schemas.openxmlformats.org/drawingml/2006/main" name="10_Personalizar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5_Personalizar design">
  <a:themeElements>
    <a:clrScheme name="Azul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6_Personalizar design">
  <a:themeElements>
    <a:clrScheme name="Azul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7_Personalizar design">
  <a:themeElements>
    <a:clrScheme name="Azul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7D1042ECD13DF54ABFD3312BD93AC736" ma:contentTypeVersion="14" ma:contentTypeDescription="Crie um novo documento." ma:contentTypeScope="" ma:versionID="c3379b84d20a6d06fcaca77f4d02b37a">
  <xsd:schema xmlns:xsd="http://www.w3.org/2001/XMLSchema" xmlns:xs="http://www.w3.org/2001/XMLSchema" xmlns:p="http://schemas.microsoft.com/office/2006/metadata/properties" xmlns:ns2="942d5ec7-aacc-4a5b-a58b-71e198b95712" xmlns:ns3="dd515b78-c394-4c68-913b-64702d1b471e" targetNamespace="http://schemas.microsoft.com/office/2006/metadata/properties" ma:root="true" ma:fieldsID="5590a7ea86eaf6b97fecbb3d40b5a4d0" ns2:_="" ns3:_="">
    <xsd:import namespace="942d5ec7-aacc-4a5b-a58b-71e198b95712"/>
    <xsd:import namespace="dd515b78-c394-4c68-913b-64702d1b471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Location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42d5ec7-aacc-4a5b-a58b-71e198b9571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Marcações de imagem" ma:readOnly="false" ma:fieldId="{5cf76f15-5ced-4ddc-b409-7134ff3c332f}" ma:taxonomyMulti="true" ma:sspId="553fe116-42e8-49a4-86e5-3f68d57c9f9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20" nillable="true" ma:displayName="Location" ma:indexed="true" ma:internalName="MediaServiceLocation" ma:readOnly="true">
      <xsd:simpleType>
        <xsd:restriction base="dms:Text"/>
      </xsd:simpleType>
    </xsd:element>
    <xsd:element name="MediaServiceBillingMetadata" ma:index="21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d515b78-c394-4c68-913b-64702d1b471e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2de72ad8-281c-4dff-88d1-843eaf0c4a59}" ma:internalName="TaxCatchAll" ma:showField="CatchAllData" ma:web="dd515b78-c394-4c68-913b-64702d1b471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dd515b78-c394-4c68-913b-64702d1b471e" xsi:nil="true"/>
    <lcf76f155ced4ddcb4097134ff3c332f xmlns="942d5ec7-aacc-4a5b-a58b-71e198b95712">
      <Terms xmlns="http://schemas.microsoft.com/office/infopath/2007/PartnerControls"/>
    </lcf76f155ced4ddcb4097134ff3c332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32104143-3CEB-4097-94BB-623DD12C094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42d5ec7-aacc-4a5b-a58b-71e198b95712"/>
    <ds:schemaRef ds:uri="dd515b78-c394-4c68-913b-64702d1b471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8D3638F6-BC65-41E2-9B44-59D93528E064}">
  <ds:schemaRefs>
    <ds:schemaRef ds:uri="http://schemas.microsoft.com/office/2006/metadata/properties"/>
    <ds:schemaRef ds:uri="http://schemas.microsoft.com/office/infopath/2007/PartnerControls"/>
    <ds:schemaRef ds:uri="dd515b78-c394-4c68-913b-64702d1b471e"/>
    <ds:schemaRef ds:uri="942d5ec7-aacc-4a5b-a58b-71e198b95712"/>
  </ds:schemaRefs>
</ds:datastoreItem>
</file>

<file path=customXml/itemProps3.xml><?xml version="1.0" encoding="utf-8"?>
<ds:datastoreItem xmlns:ds="http://schemas.openxmlformats.org/officeDocument/2006/customXml" ds:itemID="{497EAF83-515B-4F93-9257-13101A4CE901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12767</TotalTime>
  <Words>434</Words>
  <Application>Microsoft Office PowerPoint</Application>
  <PresentationFormat>Widescreen</PresentationFormat>
  <Paragraphs>90</Paragraphs>
  <Slides>16</Slides>
  <Notes>2</Notes>
  <HiddenSlides>0</HiddenSlides>
  <MMClips>0</MMClips>
  <ScaleCrop>false</ScaleCrop>
  <HeadingPairs>
    <vt:vector size="6" baseType="variant">
      <vt:variant>
        <vt:lpstr>Fontes usadas</vt:lpstr>
      </vt:variant>
      <vt:variant>
        <vt:i4>7</vt:i4>
      </vt:variant>
      <vt:variant>
        <vt:lpstr>Tema</vt:lpstr>
      </vt:variant>
      <vt:variant>
        <vt:i4>4</vt:i4>
      </vt:variant>
      <vt:variant>
        <vt:lpstr>Títulos de slides</vt:lpstr>
      </vt:variant>
      <vt:variant>
        <vt:i4>16</vt:i4>
      </vt:variant>
    </vt:vector>
  </HeadingPairs>
  <TitlesOfParts>
    <vt:vector size="27" baseType="lpstr">
      <vt:lpstr>Wingdings</vt:lpstr>
      <vt:lpstr>Calibri</vt:lpstr>
      <vt:lpstr>Montserrat</vt:lpstr>
      <vt:lpstr>Aptos</vt:lpstr>
      <vt:lpstr>Cambria Math</vt:lpstr>
      <vt:lpstr>Arial</vt:lpstr>
      <vt:lpstr>Cronos Pro</vt:lpstr>
      <vt:lpstr>10_Personalizar design</vt:lpstr>
      <vt:lpstr>5_Personalizar design</vt:lpstr>
      <vt:lpstr>6_Personalizar design</vt:lpstr>
      <vt:lpstr>7_Personalizar design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Fernando José Ferreira</dc:creator>
  <cp:lastModifiedBy>Fernando José Ferreira</cp:lastModifiedBy>
  <cp:revision>90</cp:revision>
  <dcterms:created xsi:type="dcterms:W3CDTF">2025-06-11T21:44:24Z</dcterms:created>
  <dcterms:modified xsi:type="dcterms:W3CDTF">2025-12-18T16:48:12Z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0x0101007D1042ECD13DF54ABFD3312BD93AC736</vt:lpwstr>
  </property>
</Properties>
</file>