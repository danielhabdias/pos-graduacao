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7"/>
  </p:notesMasterIdLst>
  <p:sldIdLst>
    <p:sldId id="268" r:id="rId8"/>
    <p:sldId id="280" r:id="rId9"/>
    <p:sldId id="305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304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64" r:id="rId26"/>
  </p:sldIdLst>
  <p:sldSz cx="12192000" cy="6858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ronos Pro" panose="020C0502030403020304" pitchFamily="34" charset="0"/>
      <p:regular r:id="rId33"/>
      <p:bold r:id="rId34"/>
      <p:italic r:id="rId35"/>
    </p:embeddedFont>
    <p:embeddedFont>
      <p:font typeface="Montserrat" panose="00000500000000000000" pitchFamily="50" charset="0"/>
      <p:regular r:id="rId36"/>
      <p:bold r:id="rId37"/>
      <p:italic r:id="rId38"/>
      <p:boldItalic r:id="rId3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75143" autoAdjust="0"/>
  </p:normalViewPr>
  <p:slideViewPr>
    <p:cSldViewPr snapToGrid="0">
      <p:cViewPr varScale="1">
        <p:scale>
          <a:sx n="81" d="100"/>
          <a:sy n="81" d="100"/>
        </p:scale>
        <p:origin x="1494" y="84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12.fntdata"/><Relationship Id="rId21" Type="http://schemas.openxmlformats.org/officeDocument/2006/relationships/slide" Target="slides/slide14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2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913C-E57E-3B7E-E4A5-1C0D9209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F006C-A4AC-7645-D9C4-9DE0E1FF9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79E1D-8115-A971-A3C4-25F7E1075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5B66-0F6B-C963-D09C-AA8980505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75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C6C7-F667-B87A-FAF9-C51EF79BC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AAD60-978E-D418-C4F9-F6286A19F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D469C-1C92-64F5-DF82-A442381E5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4F34D-6C5E-7E97-949E-CD7DEDF76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20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FB2E-FD0F-3157-A3F8-9077B916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F3A61-6EA1-415B-C495-DF65CD1A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448A566-9458-C652-7A48-75C3D72F7E4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448A566-9458-C652-7A48-75C3D72F7E4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O propósito do SARSA é aprender não apenas o valor do estado, mas também o valor da ação dentro do estado. Isso permite escolher políticas melhores com o tempo, mas mantendo a natureza on-policy.”</a:t>
                </a:r>
              </a:p>
              <a:p>
                <a:r>
                  <a:rPr lang="en-US" dirty="0"/>
                  <a:t>O </a:t>
                </a:r>
                <a:r>
                  <a:rPr lang="en-US" dirty="0" err="1"/>
                  <a:t>objetivo</a:t>
                </a:r>
                <a:r>
                  <a:rPr lang="en-US" dirty="0"/>
                  <a:t> do SARSA é </a:t>
                </a:r>
                <a:r>
                  <a:rPr lang="en-US" dirty="0" err="1"/>
                  <a:t>aprender</a:t>
                </a:r>
                <a:r>
                  <a:rPr lang="en-US" dirty="0"/>
                  <a:t> </a:t>
                </a:r>
                <a:r>
                  <a:rPr lang="en-US" dirty="0" err="1"/>
                  <a:t>uma</a:t>
                </a:r>
                <a:r>
                  <a:rPr lang="en-US" dirty="0"/>
                  <a:t> boa </a:t>
                </a:r>
                <a:r>
                  <a:rPr lang="en-US" dirty="0" err="1"/>
                  <a:t>política</a:t>
                </a:r>
                <a:r>
                  <a:rPr lang="en-US" dirty="0"/>
                  <a:t> </a:t>
                </a:r>
                <a:r>
                  <a:rPr lang="en-US" dirty="0" err="1"/>
                  <a:t>aprendendo</a:t>
                </a:r>
                <a:r>
                  <a:rPr lang="en-US" dirty="0"/>
                  <a:t> </a:t>
                </a:r>
                <a:r>
                  <a:rPr lang="en-US" dirty="0" err="1"/>
                  <a:t>diretamente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(𝑠ⓜ,𝑎)</a:t>
                </a:r>
                <a:r>
                  <a:rPr lang="ar-AE" dirty="0"/>
                  <a:t>. </a:t>
                </a:r>
                <a:r>
                  <a:rPr lang="en-US" dirty="0"/>
                  <a:t>Se no TD Prediction </a:t>
                </a:r>
                <a:r>
                  <a:rPr lang="en-US" dirty="0" err="1"/>
                  <a:t>nós</a:t>
                </a:r>
                <a:r>
                  <a:rPr lang="en-US" dirty="0"/>
                  <a:t> </a:t>
                </a:r>
                <a:r>
                  <a:rPr lang="en-US" dirty="0" err="1"/>
                  <a:t>atualizávamos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(𝑠)</a:t>
                </a:r>
                <a:r>
                  <a:rPr lang="ar-AE" dirty="0"/>
                  <a:t>, </a:t>
                </a:r>
                <a:r>
                  <a:rPr lang="en-US" dirty="0"/>
                  <a:t>agora </a:t>
                </a:r>
                <a:r>
                  <a:rPr lang="en-US" dirty="0" err="1"/>
                  <a:t>passamos</a:t>
                </a:r>
                <a:r>
                  <a:rPr lang="en-US" dirty="0"/>
                  <a:t> a </a:t>
                </a:r>
                <a:r>
                  <a:rPr lang="en-US" dirty="0" err="1"/>
                  <a:t>atualizar</a:t>
                </a:r>
                <a:r>
                  <a:rPr lang="en-US" dirty="0"/>
                  <a:t> </a:t>
                </a:r>
                <a:r>
                  <a:rPr lang="en-US" dirty="0" err="1"/>
                  <a:t>valores</a:t>
                </a:r>
                <a:r>
                  <a:rPr lang="en-US" dirty="0"/>
                  <a:t> de </a:t>
                </a:r>
                <a:r>
                  <a:rPr lang="en-US" dirty="0" err="1"/>
                  <a:t>ações</a:t>
                </a:r>
                <a:r>
                  <a:rPr lang="en-US" dirty="0"/>
                  <a:t>. Com </a:t>
                </a:r>
                <a:r>
                  <a:rPr lang="en-US" dirty="0" err="1"/>
                  <a:t>isso</a:t>
                </a:r>
                <a:r>
                  <a:rPr lang="en-US" dirty="0"/>
                  <a:t>, o </a:t>
                </a:r>
                <a:r>
                  <a:rPr lang="en-US" dirty="0" err="1"/>
                  <a:t>agente</a:t>
                </a:r>
                <a:r>
                  <a:rPr lang="en-US" dirty="0"/>
                  <a:t> </a:t>
                </a:r>
                <a:r>
                  <a:rPr lang="en-US" dirty="0" err="1"/>
                  <a:t>não</a:t>
                </a:r>
                <a:r>
                  <a:rPr lang="en-US" dirty="0"/>
                  <a:t> </a:t>
                </a:r>
                <a:r>
                  <a:rPr lang="en-US" dirty="0" err="1"/>
                  <a:t>só</a:t>
                </a:r>
                <a:r>
                  <a:rPr lang="en-US" dirty="0"/>
                  <a:t> </a:t>
                </a:r>
                <a:r>
                  <a:rPr lang="en-US" dirty="0" err="1"/>
                  <a:t>avalia</a:t>
                </a:r>
                <a:r>
                  <a:rPr lang="en-US" dirty="0"/>
                  <a:t>, mas </a:t>
                </a:r>
                <a:r>
                  <a:rPr lang="en-US" dirty="0" err="1"/>
                  <a:t>também</a:t>
                </a:r>
                <a:r>
                  <a:rPr lang="en-US" dirty="0"/>
                  <a:t> decide o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fazer</a:t>
                </a:r>
                <a:r>
                  <a:rPr lang="en-US" dirty="0"/>
                  <a:t> </a:t>
                </a:r>
                <a:r>
                  <a:rPr lang="en-US" dirty="0" err="1"/>
                  <a:t>enquanto</a:t>
                </a:r>
                <a:r>
                  <a:rPr lang="en-US" dirty="0"/>
                  <a:t> </a:t>
                </a:r>
                <a:r>
                  <a:rPr lang="en-US" dirty="0" err="1"/>
                  <a:t>aprende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43386-1950-CEF9-A4BE-1FC1C5440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97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8658-F5C2-A105-10FA-2C340629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059FD-ABE9-3AA8-FEC4-B9F3BE294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D88DF-104F-E3B7-3FD3-4C2412556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C013F-0DAE-E96E-A994-32463BA05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6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AAC4-F41E-9759-EF94-B840E2E7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0553D-52BE-E178-B176-B501984BE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D53DA34-DF12-258F-122E-F806DE42B40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D53DA34-DF12-258F-122E-F806DE42B40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“A </a:t>
                </a:r>
                <a:r>
                  <a:rPr lang="en-US" dirty="0" err="1"/>
                  <a:t>única</a:t>
                </a:r>
                <a:r>
                  <a:rPr lang="en-US" dirty="0"/>
                  <a:t> </a:t>
                </a:r>
                <a:r>
                  <a:rPr lang="en-US" dirty="0" err="1"/>
                  <a:t>coisa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você</a:t>
                </a:r>
                <a:r>
                  <a:rPr lang="en-US" dirty="0"/>
                  <a:t> </a:t>
                </a:r>
                <a:r>
                  <a:rPr lang="en-US" dirty="0" err="1"/>
                  <a:t>precisa</a:t>
                </a:r>
                <a:r>
                  <a:rPr lang="en-US" dirty="0"/>
                  <a:t> </a:t>
                </a:r>
                <a:r>
                  <a:rPr lang="en-US" dirty="0" err="1"/>
                  <a:t>notar</a:t>
                </a:r>
                <a:r>
                  <a:rPr lang="en-US" dirty="0"/>
                  <a:t> </a:t>
                </a:r>
                <a:r>
                  <a:rPr lang="en-US" dirty="0" err="1"/>
                  <a:t>aqui</a:t>
                </a:r>
                <a:r>
                  <a:rPr lang="en-US" dirty="0"/>
                  <a:t> é a </a:t>
                </a:r>
                <a:r>
                  <a:rPr lang="en-US" dirty="0" err="1"/>
                  <a:t>presença</a:t>
                </a:r>
                <a:r>
                  <a:rPr lang="en-US" dirty="0"/>
                  <a:t> do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𝑎_(𝑡+1)</a:t>
                </a:r>
                <a:r>
                  <a:rPr lang="en-US" dirty="0"/>
                  <a:t>no </a:t>
                </a:r>
                <a:r>
                  <a:rPr lang="en-US" dirty="0" err="1"/>
                  <a:t>alvo</a:t>
                </a:r>
                <a:r>
                  <a:rPr lang="en-US" dirty="0"/>
                  <a:t>. É </a:t>
                </a:r>
                <a:r>
                  <a:rPr lang="en-US" dirty="0" err="1"/>
                  <a:t>isso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faz</a:t>
                </a:r>
                <a:r>
                  <a:rPr lang="en-US" dirty="0"/>
                  <a:t> o SARSA </a:t>
                </a:r>
                <a:r>
                  <a:rPr lang="en-US" dirty="0" err="1"/>
                  <a:t>aprender</a:t>
                </a:r>
                <a:r>
                  <a:rPr lang="en-US" dirty="0"/>
                  <a:t> com a </a:t>
                </a:r>
                <a:r>
                  <a:rPr lang="en-US" dirty="0" err="1"/>
                  <a:t>política</a:t>
                </a:r>
                <a:r>
                  <a:rPr lang="en-US" dirty="0"/>
                  <a:t> </a:t>
                </a:r>
                <a:r>
                  <a:rPr lang="en-US" dirty="0" err="1"/>
                  <a:t>atual</a:t>
                </a:r>
                <a:r>
                  <a:rPr lang="en-US" dirty="0"/>
                  <a:t>.”</a:t>
                </a:r>
              </a:p>
              <a:p>
                <a:endParaRPr lang="en-US" dirty="0"/>
              </a:p>
              <a:p>
                <a:r>
                  <a:rPr lang="en-US" dirty="0"/>
                  <a:t>Essa é a </a:t>
                </a:r>
                <a:r>
                  <a:rPr lang="en-US" dirty="0" err="1"/>
                  <a:t>atualização</a:t>
                </a:r>
                <a:r>
                  <a:rPr lang="en-US" dirty="0"/>
                  <a:t> do SARSA. Observe </a:t>
                </a:r>
                <a:r>
                  <a:rPr lang="en-US" dirty="0" err="1"/>
                  <a:t>que</a:t>
                </a:r>
                <a:r>
                  <a:rPr lang="en-US" dirty="0"/>
                  <a:t> o </a:t>
                </a:r>
                <a:r>
                  <a:rPr lang="en-US" dirty="0" err="1"/>
                  <a:t>alvo</a:t>
                </a:r>
                <a:r>
                  <a:rPr lang="en-US" dirty="0"/>
                  <a:t> </a:t>
                </a:r>
                <a:r>
                  <a:rPr lang="en-US" dirty="0" err="1"/>
                  <a:t>contém</a:t>
                </a:r>
                <a:r>
                  <a:rPr lang="en-US" dirty="0"/>
                  <a:t> </a:t>
                </a:r>
                <a:r>
                  <a:rPr lang="en-US" b="1" dirty="0"/>
                  <a:t>a </a:t>
                </a:r>
                <a:r>
                  <a:rPr lang="en-US" b="1" dirty="0" err="1"/>
                  <a:t>próxima</a:t>
                </a:r>
                <a:r>
                  <a:rPr lang="en-US" b="1" dirty="0"/>
                  <a:t> </a:t>
                </a:r>
                <a:r>
                  <a:rPr lang="en-US" b="1" dirty="0" err="1"/>
                  <a:t>ação</a:t>
                </a:r>
                <a:r>
                  <a:rPr lang="en-US" b="1" dirty="0"/>
                  <a:t> </a:t>
                </a:r>
                <a:r>
                  <a:rPr lang="en-US" b="1" dirty="0" err="1"/>
                  <a:t>realmente</a:t>
                </a:r>
                <a:r>
                  <a:rPr lang="en-US" b="1" dirty="0"/>
                  <a:t> </a:t>
                </a:r>
                <a:r>
                  <a:rPr lang="en-US" b="1" dirty="0" err="1"/>
                  <a:t>escolhida</a:t>
                </a:r>
                <a:r>
                  <a:rPr lang="en-US" b="1" dirty="0"/>
                  <a:t> pela </a:t>
                </a:r>
                <a:r>
                  <a:rPr lang="en-US" b="1" dirty="0" err="1"/>
                  <a:t>política</a:t>
                </a:r>
                <a:r>
                  <a:rPr lang="en-US" dirty="0"/>
                  <a:t>,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𝑎_(𝑡+1)</a:t>
                </a:r>
                <a:r>
                  <a:rPr lang="ar-AE" dirty="0"/>
                  <a:t>. </a:t>
                </a:r>
                <a:r>
                  <a:rPr lang="en-US" dirty="0"/>
                  <a:t>É </a:t>
                </a:r>
                <a:r>
                  <a:rPr lang="en-US" dirty="0" err="1"/>
                  <a:t>aqui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ele</a:t>
                </a:r>
                <a:r>
                  <a:rPr lang="en-US" dirty="0"/>
                  <a:t> se </a:t>
                </a:r>
                <a:r>
                  <a:rPr lang="en-US" dirty="0" err="1"/>
                  <a:t>diferencia</a:t>
                </a:r>
                <a:r>
                  <a:rPr lang="en-US" dirty="0"/>
                  <a:t> do Q-Learning. Vamos </a:t>
                </a:r>
                <a:r>
                  <a:rPr lang="en-US" dirty="0" err="1"/>
                  <a:t>destacar</a:t>
                </a:r>
                <a:r>
                  <a:rPr lang="en-US" dirty="0"/>
                  <a:t> o </a:t>
                </a:r>
                <a:r>
                  <a:rPr lang="en-US" dirty="0" err="1"/>
                  <a:t>erro</a:t>
                </a:r>
                <a:r>
                  <a:rPr lang="en-US" dirty="0"/>
                  <a:t> TD para </a:t>
                </a:r>
                <a:r>
                  <a:rPr lang="en-US" dirty="0" err="1"/>
                  <a:t>deixar</a:t>
                </a:r>
                <a:r>
                  <a:rPr lang="en-US" dirty="0"/>
                  <a:t> </a:t>
                </a:r>
                <a:r>
                  <a:rPr lang="en-US" dirty="0" err="1"/>
                  <a:t>isso</a:t>
                </a:r>
                <a:r>
                  <a:rPr lang="en-US" dirty="0"/>
                  <a:t> </a:t>
                </a:r>
                <a:r>
                  <a:rPr lang="en-US" dirty="0" err="1"/>
                  <a:t>cristalino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19563-DC12-D621-7CC9-9D6016935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29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EF05-1560-5A48-0914-35412D24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33E01-BF20-8283-2735-F629996E3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6E52E10-295C-EA9D-F3A8-A52C4A61D52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6E52E10-295C-EA9D-F3A8-A52C4A61D52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 SARSA é </a:t>
                </a:r>
                <a:r>
                  <a:rPr lang="en-US" dirty="0" err="1"/>
                  <a:t>movido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esse</a:t>
                </a:r>
                <a:r>
                  <a:rPr lang="en-US" dirty="0"/>
                  <a:t> </a:t>
                </a:r>
                <a:r>
                  <a:rPr lang="en-US" dirty="0" err="1"/>
                  <a:t>erro</a:t>
                </a:r>
                <a:r>
                  <a:rPr lang="en-US" dirty="0"/>
                  <a:t>: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𝛿_𝑡</a:t>
                </a:r>
                <a:r>
                  <a:rPr lang="ar-AE" dirty="0"/>
                  <a:t>. </a:t>
                </a:r>
                <a:r>
                  <a:rPr lang="en-US" dirty="0"/>
                  <a:t>Ele </a:t>
                </a:r>
                <a:r>
                  <a:rPr lang="en-US" dirty="0" err="1"/>
                  <a:t>diz</a:t>
                </a:r>
                <a:r>
                  <a:rPr lang="en-US" dirty="0"/>
                  <a:t> </a:t>
                </a:r>
                <a:r>
                  <a:rPr lang="en-US" dirty="0" err="1"/>
                  <a:t>ao</a:t>
                </a:r>
                <a:r>
                  <a:rPr lang="en-US" dirty="0"/>
                  <a:t> </a:t>
                </a:r>
                <a:r>
                  <a:rPr lang="en-US" dirty="0" err="1"/>
                  <a:t>agente</a:t>
                </a:r>
                <a:r>
                  <a:rPr lang="en-US" dirty="0"/>
                  <a:t> o </a:t>
                </a:r>
                <a:r>
                  <a:rPr lang="en-US" dirty="0" err="1"/>
                  <a:t>quanto</a:t>
                </a:r>
                <a:r>
                  <a:rPr lang="en-US" dirty="0"/>
                  <a:t> </a:t>
                </a:r>
                <a:r>
                  <a:rPr lang="en-US" dirty="0" err="1"/>
                  <a:t>ele</a:t>
                </a:r>
                <a:r>
                  <a:rPr lang="en-US" dirty="0"/>
                  <a:t> </a:t>
                </a:r>
                <a:r>
                  <a:rPr lang="en-US" dirty="0" err="1"/>
                  <a:t>errou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dirty="0" err="1"/>
                  <a:t>previsão</a:t>
                </a:r>
                <a:r>
                  <a:rPr lang="en-US" dirty="0"/>
                  <a:t> do </a:t>
                </a:r>
                <a:r>
                  <a:rPr lang="en-US" dirty="0" err="1"/>
                  <a:t>retorno</a:t>
                </a:r>
                <a:r>
                  <a:rPr lang="en-US" dirty="0"/>
                  <a:t> </a:t>
                </a:r>
                <a:r>
                  <a:rPr lang="en-US" dirty="0" err="1"/>
                  <a:t>futuro</a:t>
                </a:r>
                <a:r>
                  <a:rPr lang="en-US" dirty="0"/>
                  <a:t>.”</a:t>
                </a:r>
              </a:p>
              <a:p>
                <a:endParaRPr lang="en-US" dirty="0"/>
              </a:p>
              <a:p>
                <a:r>
                  <a:rPr lang="pt-BR" dirty="0"/>
                  <a:t>Aqui está o protagonista: o erro SARSA. Compare mentalmente com o erro TD da aula passada e veja que a estrutura é a mesma — o que muda é que agora o alvo usa a ação da política atual. Essa ação pode ser exploratória, e é isso que molda o comportamento do algoritmo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E012D-B890-9BB8-01F9-A536B4CB9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61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08CB-142A-7342-B0C2-47651E816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CA6CC-F6CE-CEE7-64B9-810C9E0C1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87A04-5CF5-BBB6-52EA-0D6402C8D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2CAA-428F-18EF-AF45-EFB91F055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80A1-C672-7BB5-8C57-CCEC4D22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C7EA0-D1FD-FE0A-6B8B-2F5D69A48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98CA9-7934-D728-157F-5A9C7E20F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81F53-0F1C-A760-4D6B-9BF66F795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94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CAEAC-CAAA-F3E6-5C46-2C17DFE4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6CFD3-9FEF-1EEB-52A4-39F16A159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D6614-1F30-7261-1923-34B094623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CEDF3-FB89-BBC8-B39E-1605F3C53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59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D97A-3F76-D45C-DC1A-089FD56A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85AE2-9B43-3871-7741-0023ED3C5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B84A6-40F0-9815-80C0-0583FDD17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E9C46-9053-829F-B42E-E117DF233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46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C738C-6BBC-B709-94FC-A9266E9CB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64BDB-B569-7F76-B552-954404C28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EADDE-C73E-1C45-BA53-C657084BA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DC8A2-A4FC-23F0-9732-B861F3E8D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2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8B16-CA39-2D9B-4112-090622F6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0EDFC-BA77-FDF8-7023-63850B426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ECB9A-5B40-13B7-031C-33067D64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60563-438B-E3C4-9E3C-E25590852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70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2E760-3352-44E4-0A79-BA6148AB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23EE3-9682-6589-8641-90055D558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E2AF9-07C3-8E4B-4911-4B816F6C2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E0ADF-D54F-93C8-1A35-703DE2109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29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7DA70-E2C6-CEAF-3A23-36BF4C00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95B34-B6B5-E045-477C-76A526BD3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15D08-FB09-583E-C885-CF3AE9A3D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175B4-3845-DC45-1A64-FED3A904B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77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984B8-3ADC-1E9D-7BF7-CDBFD0AE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98C68-56A8-3428-3EB5-62BB5F350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A3A10-A836-800E-31FC-2D65AB180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1634C-1D99-3999-2DE3-80150D20C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03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FFED-D65F-44EA-973F-A2CA9319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B7E58-1D77-CB6E-E380-96E291D5C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D9194-4EF7-AE70-DB4E-B42CDF063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D1DE2-3ABF-D1A1-1A2A-2F79BA7C8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06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SARSA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b="1" dirty="0"/>
              <a:t>S</a:t>
            </a:r>
            <a:r>
              <a:rPr lang="pt-BR" sz="2400" dirty="0"/>
              <a:t> — </a:t>
            </a:r>
            <a:r>
              <a:rPr lang="pt-BR" sz="2400" i="1" dirty="0"/>
              <a:t>State</a:t>
            </a:r>
            <a:r>
              <a:rPr lang="pt-BR" sz="2400" dirty="0"/>
              <a:t> (estado atual);</a:t>
            </a:r>
            <a:br>
              <a:rPr lang="pt-BR" sz="2400" dirty="0"/>
            </a:br>
            <a:r>
              <a:rPr lang="pt-BR" sz="2400" b="1" dirty="0"/>
              <a:t>A</a:t>
            </a:r>
            <a:r>
              <a:rPr lang="pt-BR" sz="2400" dirty="0"/>
              <a:t> — </a:t>
            </a:r>
            <a:r>
              <a:rPr lang="pt-BR" sz="2400" i="1" dirty="0"/>
              <a:t>Action</a:t>
            </a:r>
            <a:r>
              <a:rPr lang="pt-BR" sz="2400" dirty="0"/>
              <a:t> (ação tomada no estado atual);</a:t>
            </a:r>
            <a:br>
              <a:rPr lang="pt-BR" sz="2400" dirty="0"/>
            </a:br>
            <a:r>
              <a:rPr lang="pt-BR" sz="2400" b="1" dirty="0"/>
              <a:t>R</a:t>
            </a:r>
            <a:r>
              <a:rPr lang="pt-BR" sz="2400" dirty="0"/>
              <a:t> — </a:t>
            </a:r>
            <a:r>
              <a:rPr lang="pt-BR" sz="2400" i="1" dirty="0"/>
              <a:t>Reward</a:t>
            </a:r>
            <a:r>
              <a:rPr lang="pt-BR" sz="2400" dirty="0"/>
              <a:t> (recompensa recebida);</a:t>
            </a:r>
            <a:br>
              <a:rPr lang="pt-BR" sz="2400" dirty="0"/>
            </a:br>
            <a:r>
              <a:rPr lang="pt-BR" sz="2400" b="1" dirty="0"/>
              <a:t>S</a:t>
            </a:r>
            <a:r>
              <a:rPr lang="pt-BR" sz="2400" dirty="0"/>
              <a:t> — </a:t>
            </a:r>
            <a:r>
              <a:rPr lang="pt-BR" sz="2400" i="1" dirty="0"/>
              <a:t>Next State</a:t>
            </a:r>
            <a:r>
              <a:rPr lang="pt-BR" sz="2400" dirty="0"/>
              <a:t> (próximo estado);</a:t>
            </a:r>
            <a:br>
              <a:rPr lang="pt-BR" sz="2400" dirty="0"/>
            </a:br>
            <a:r>
              <a:rPr lang="pt-BR" sz="2400" b="1" dirty="0"/>
              <a:t>A</a:t>
            </a:r>
            <a:r>
              <a:rPr lang="pt-BR" sz="2400" dirty="0"/>
              <a:t> — </a:t>
            </a:r>
            <a:r>
              <a:rPr lang="pt-BR" sz="2400" i="1" dirty="0"/>
              <a:t>Next Action</a:t>
            </a:r>
            <a:r>
              <a:rPr lang="pt-BR" sz="2400" dirty="0"/>
              <a:t> (ação escolhida no próximo estado).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SARSA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FD11-D4BF-183E-525A-0086F4EC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C6602B8-4285-849B-827E-8154AAE89AC8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Algoritmo de controle baseado em TD;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Aprende valores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enquanto interage com o ambiente;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Política de comportamento = política de aprendizado (on-policy);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Comportamento mais </a:t>
                </a:r>
                <a:r>
                  <a:rPr lang="pt-BR" sz="2400" b="1" dirty="0"/>
                  <a:t>cauteloso</a:t>
                </a:r>
                <a:r>
                  <a:rPr lang="pt-BR" sz="2400" dirty="0"/>
                  <a:t> em ambientes de risco.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C6602B8-4285-849B-827E-8154AAE8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811A9617-70B3-00B5-071E-8BF305F1811A}"/>
              </a:ext>
            </a:extLst>
          </p:cNvPr>
          <p:cNvSpPr txBox="1"/>
          <p:nvPr/>
        </p:nvSpPr>
        <p:spPr>
          <a:xfrm>
            <a:off x="862833" y="799928"/>
            <a:ext cx="1088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SARSA: Controle On-Policy com TD Learning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80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EE11-7C2C-96F1-D5B2-6DB25270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E834DC0-0A31-B896-7D63-7783DC9C6AE5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MC: previsão lenta, alta variância</a:t>
                </a:r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TD(0): previsão mais rápida, bootstrapping</a:t>
                </a:r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b="1" dirty="0"/>
                  <a:t>SARSA</a:t>
                </a:r>
                <a:r>
                  <a:rPr lang="en-US" sz="2400" dirty="0"/>
                  <a:t>: controle com TD (aprende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);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Próximo passo: </a:t>
                </a:r>
                <a:r>
                  <a:rPr lang="en-US" sz="2400" b="1" dirty="0"/>
                  <a:t>Q-Learning (off-policy)</a:t>
                </a:r>
                <a:r>
                  <a:rPr lang="en-US" sz="2400" dirty="0"/>
                  <a:t>.</a:t>
                </a: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E834DC0-0A31-B896-7D63-7783DC9C6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AA6D07D2-C3F8-EFDC-0C69-E68A0A7D403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Onde o SARSA se encaixa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9F9C-941F-C5D0-BF13-0F4FE84C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6CC57E52-9704-20EC-234C-6C0BFD9A6286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Estimar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400" dirty="0"/>
                  <a:t> enquanto age;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Melhorar a política com base na experiência acumulada</a:t>
                </a:r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Aprender uma estratégia que evita punições pesadas;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Equilíbrio natural entre exploração e segurança</a:t>
                </a:r>
                <a:r>
                  <a:rPr lang="en-US" sz="2400" dirty="0"/>
                  <a:t>.</a:t>
                </a: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6CC57E52-9704-20EC-234C-6C0BFD9A6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723D5498-87BF-9C48-ACDB-CB4B19D6F5E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Objetivo do SARSA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978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E931E-32B4-C3FE-398D-23839ED5F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A3770907-B716-06EE-CADF-8A438874021E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Aprende com </a:t>
            </a:r>
            <a:r>
              <a:rPr lang="pt-BR" sz="2400" b="1" dirty="0"/>
              <a:t>as ações que realmente tomou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Inclui ações exploratórias no alvo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Exploração influencia diretamente o aprendizado;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Resultado: comportamento </a:t>
            </a:r>
            <a:r>
              <a:rPr lang="pt-BR" sz="2400" b="1" dirty="0"/>
              <a:t>prudente</a:t>
            </a:r>
            <a:r>
              <a:rPr lang="pt-BR" sz="2400" dirty="0"/>
              <a:t> em contextos perigosos</a:t>
            </a:r>
            <a:r>
              <a:rPr lang="en-US" sz="2400" dirty="0"/>
              <a:t>.</a:t>
            </a: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29B7063-6E28-19E1-DAD5-C00C3AA06A7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que Significa ser On-Policy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84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55A2A-9B44-5BDD-8DDD-7576A8FB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8278BEA-F021-9E0D-BB37-9C712D99048C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O alvo contém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400" dirty="0"/>
                  <a:t>,</a:t>
                </a:r>
                <a:r>
                  <a:rPr lang="pt-BR" sz="2400" dirty="0"/>
                  <a:t> </a:t>
                </a:r>
                <a:r>
                  <a:rPr lang="en-US" sz="2400" dirty="0"/>
                  <a:t>a ação escolhida pela política;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O valor-ação é aproximado passo a passo (bootstrapping)</a:t>
                </a:r>
                <a:r>
                  <a:rPr lang="en-US" sz="2400" dirty="0"/>
                  <a:t>.</a:t>
                </a: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8278BEA-F021-9E0D-BB37-9C712D990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91301EFF-5997-FA2F-B1AD-C80B361B65F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Fórmula do SARSA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563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1DA96-1268-E940-187D-FFA913F6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BC63708-C432-5C10-499C-064D82AD1457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Medida do erro de previsão do agente</a:t>
                </a:r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Positivo → ação melhor que o esperado</a:t>
                </a:r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Negativo → ação pior que o esperado</a:t>
                </a:r>
                <a:r>
                  <a:rPr lang="en-US" sz="2400" dirty="0"/>
                  <a:t>.</a:t>
                </a: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BC63708-C432-5C10-499C-064D82AD1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B70BE056-670D-FE98-ACFF-80A57859590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O Erro TD no SARSA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05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C5FFF-16DA-4B44-5938-2732834B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3984D489-12FC-5E64-4B0C-B32F6EA7A30F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endParaRPr lang="en-US" sz="2400" dirty="0"/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Exploração não é “ruído”: ela altera o alvo</a:t>
            </a:r>
            <a:r>
              <a:rPr lang="en-US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SARSA aprende conforme </a:t>
            </a:r>
            <a:r>
              <a:rPr lang="pt-BR" sz="2400" b="1" dirty="0"/>
              <a:t>comportamento exploratório</a:t>
            </a:r>
            <a:r>
              <a:rPr lang="en-US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Explorar e aprender são inseparáveis no on-policy;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GLIE (</a:t>
            </a:r>
            <a:r>
              <a:rPr lang="en-US" sz="2400" b="1" dirty="0"/>
              <a:t>Greedy in the Limit with Infinite Exploration</a:t>
            </a:r>
            <a:r>
              <a:rPr lang="en-US" sz="2400" dirty="0"/>
              <a:t> – Ganancioso no Limite com Exploração Infinita</a:t>
            </a:r>
            <a:r>
              <a:rPr lang="pt-BR" sz="2400" dirty="0"/>
              <a:t>)→ exploração inicial alta e redução gradual</a:t>
            </a:r>
            <a:r>
              <a:rPr lang="en-US" sz="2400" dirty="0"/>
              <a:t>.</a:t>
            </a: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ECE0DB8-66B3-4966-0284-4D83271ACBBD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Política </a:t>
            </a:r>
            <a:r>
              <a:rPr lang="el-G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ε-</a:t>
            </a:r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Greedy e SARSA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09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8FF7-B6F4-5219-B5B5-BF9A3C9C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8F3E15CC-BE57-BD3E-4345-8199F0CE41BD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endParaRPr lang="en-US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Episódio com risco extremo: o penhasco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Caminho seguro é mais longo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Caminho arriscado é curto, porém letal;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SARSA aprende a </a:t>
            </a:r>
            <a:r>
              <a:rPr lang="pt-BR" sz="2400" b="1" dirty="0"/>
              <a:t>evitar o perigo</a:t>
            </a:r>
            <a:r>
              <a:rPr lang="en-US" sz="2400" dirty="0"/>
              <a:t>.</a:t>
            </a: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0361CC97-70EF-9161-DB5B-6F218B31834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CliffWalking (o Campo de Prova Ideal)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438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D904-962E-7A6E-8054-ECA40EE48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0067040-FA4F-1E34-9E9A-29B31634DEB4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endParaRPr lang="en-US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26848D8-F256-FC45-94DE-8F20D4D90A2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CliffWalking (o Campo de Prova Ideal)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C299D-FE41-85B2-516A-D5FA01B50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318" y="1885530"/>
            <a:ext cx="9260819" cy="308694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5DD516E-16AD-44AD-BBB1-BDBC2253F16A}"/>
              </a:ext>
            </a:extLst>
          </p:cNvPr>
          <p:cNvSpPr txBox="1"/>
          <p:nvPr/>
        </p:nvSpPr>
        <p:spPr>
          <a:xfrm>
            <a:off x="3993501" y="4972470"/>
            <a:ext cx="42049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dirty="0"/>
              <a:t>Fonte</a:t>
            </a:r>
            <a:r>
              <a:rPr lang="pt-BR" sz="1000" dirty="0"/>
              <a:t>: https://gymnasium.farama.org/environments/toy_text/cliff_walking/.</a:t>
            </a:r>
          </a:p>
        </p:txBody>
      </p:sp>
    </p:spTree>
    <p:extLst>
      <p:ext uri="{BB962C8B-B14F-4D97-AF65-F5344CB8AC3E}">
        <p14:creationId xmlns:p14="http://schemas.microsoft.com/office/powerpoint/2010/main" val="2904286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5D37-4550-EDF6-3112-4E8B6021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D6D159CE-AFA2-2F2D-4E45-749097BF1EB6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endParaRPr lang="en-US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Explorar perto do penhasco = risco alto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Como a exploração entra no alvo, o SARSA </a:t>
            </a:r>
            <a:r>
              <a:rPr lang="pt-BR" sz="2400" b="1" dirty="0"/>
              <a:t>valoriza rotas seguras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Ele aprende o impacto do próprio comportamento exploratório</a:t>
            </a:r>
            <a:r>
              <a:rPr lang="en-US" sz="2400" dirty="0"/>
              <a:t>.</a:t>
            </a: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8A082C6-5362-64CE-06AD-F85A4891E1B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Comportamento On-Policy na Prática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465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829CF-2BF7-8ADA-C255-730E2589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3168882-5939-005F-62DE-A81E917BB9BB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endParaRPr lang="en-US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Política conservadora;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Caminho mais longo;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Menos quedas;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Menos variância nas penalidades.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7B33004-A100-2421-B8F4-2ADCC1E87B9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Consequência Natural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4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A2844-08A1-B9E8-5DB9-86F72F3F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8F8CA70B-D52A-3D4A-225D-97F28FDC203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 Direta com Q-Learning 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614B9F-ECA9-67D1-A4E0-C11B7916A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65441"/>
              </p:ext>
            </p:extLst>
          </p:nvPr>
        </p:nvGraphicFramePr>
        <p:xfrm>
          <a:off x="947738" y="2560320"/>
          <a:ext cx="10801350" cy="1737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400675">
                  <a:extLst>
                    <a:ext uri="{9D8B030D-6E8A-4147-A177-3AD203B41FA5}">
                      <a16:colId xmlns:a16="http://schemas.microsoft.com/office/drawing/2014/main" val="2455364792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1297301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SARSA (on-policy)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Q-Learning (off-policy)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Aprende com a ação tomada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Aprende com a melhor 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805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Cauteloso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Agressivo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108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2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FA0D-5A49-2A30-0062-CA7E909F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BCB0C5D-515C-6DED-656A-2AD8501D8E9C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endParaRPr lang="en-US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Mesmo núcleo: bootstrapping e erro TD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Agora aplicado a ações, não só estados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Incremental, online e contínuo.</a:t>
            </a: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7DC01CD-C183-90B9-6D55-1E62C602BD9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Ligação com TD Learning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9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3458-4AB1-E8AE-19B6-08050FEF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2F5F34E4-AF22-BD1A-847B-0307FA0DA0C1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Agir;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Observar estado e recompensa;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Calcular o erro TD;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Atualizar Q;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Repetir.</a:t>
            </a:r>
            <a:endParaRPr lang="en-US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4BB6551-97D9-EDB9-6F0E-20C4F7B3917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Fluxo de Atualização do SARSA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21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6BA15-0A5A-8FA6-C12F-8B925EC4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548C202-9B62-56C8-3BD8-0F16F7D0636A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Garantia on-policy;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sz="2400" dirty="0"/>
                  <a:t> decresce ao longo do tempo</a:t>
                </a:r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Exploração ainda existe, mas cada vez menos</a:t>
                </a:r>
                <a:r>
                  <a:rPr lang="en-US" sz="2400" dirty="0"/>
                  <a:t>.</a:t>
                </a: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548C202-9B62-56C8-3BD8-0F16F7D06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0DD0BCF3-4840-CBCF-112F-C4DF9C00BD1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Convergência e GLIE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396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6DD2-0B27-0DE6-8437-BD0E9D6E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4934E7A-F33A-D74D-69E7-D684F11F6DE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Pontos Fortes e Limitações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0CBF22-7639-7E51-C15D-580CA7985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49058"/>
              </p:ext>
            </p:extLst>
          </p:nvPr>
        </p:nvGraphicFramePr>
        <p:xfrm>
          <a:off x="947736" y="2651760"/>
          <a:ext cx="10801352" cy="15544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400676">
                  <a:extLst>
                    <a:ext uri="{9D8B030D-6E8A-4147-A177-3AD203B41FA5}">
                      <a16:colId xmlns:a16="http://schemas.microsoft.com/office/drawing/2014/main" val="1727271285"/>
                    </a:ext>
                  </a:extLst>
                </a:gridCol>
                <a:gridCol w="5400676">
                  <a:extLst>
                    <a:ext uri="{9D8B030D-6E8A-4147-A177-3AD203B41FA5}">
                      <a16:colId xmlns:a16="http://schemas.microsoft.com/office/drawing/2014/main" val="506849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Fracos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06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Seguro em ambientes punitivos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Pode ser conservador demais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95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Fácil de implementar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Política final pode ser subótima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047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432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33EFD7-8B77-4413-B9BA-DA988F8E8885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2.xml><?xml version="1.0" encoding="utf-8"?>
<ds:datastoreItem xmlns:ds="http://schemas.openxmlformats.org/officeDocument/2006/customXml" ds:itemID="{6462F089-827A-45E3-A8BC-0BA65E353A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D506FB-9404-4C9C-957F-E513CC55C4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12916</TotalTime>
  <Words>592</Words>
  <Application>Microsoft Office PowerPoint</Application>
  <PresentationFormat>Widescreen</PresentationFormat>
  <Paragraphs>114</Paragraphs>
  <Slides>19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19</vt:i4>
      </vt:variant>
    </vt:vector>
  </HeadingPairs>
  <TitlesOfParts>
    <vt:vector size="30" baseType="lpstr">
      <vt:lpstr>Wingdings</vt:lpstr>
      <vt:lpstr>Calibri</vt:lpstr>
      <vt:lpstr>Montserrat</vt:lpstr>
      <vt:lpstr>Aptos</vt:lpstr>
      <vt:lpstr>Cambria Math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93</cp:revision>
  <dcterms:created xsi:type="dcterms:W3CDTF">2025-06-11T21:44:24Z</dcterms:created>
  <dcterms:modified xsi:type="dcterms:W3CDTF">2025-12-18T16:50:23Z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