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5"/>
  </p:notesMasterIdLst>
  <p:sldIdLst>
    <p:sldId id="268" r:id="rId8"/>
    <p:sldId id="280" r:id="rId9"/>
    <p:sldId id="294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ronos Pro" panose="020C0502030403020304" pitchFamily="34" charset="0"/>
      <p:regular r:id="rId31"/>
      <p:bold r:id="rId32"/>
      <p:italic r:id="rId33"/>
    </p:embeddedFont>
    <p:embeddedFont>
      <p:font typeface="Montserrat" panose="00000500000000000000" pitchFamily="50" charset="0"/>
      <p:regular r:id="rId34"/>
      <p:bold r:id="rId35"/>
      <p:italic r:id="rId36"/>
      <p:boldItalic r:id="rId3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79496" autoAdjust="0"/>
  </p:normalViewPr>
  <p:slideViewPr>
    <p:cSldViewPr snapToGrid="0">
      <p:cViewPr varScale="1">
        <p:scale>
          <a:sx n="86" d="100"/>
          <a:sy n="86" d="100"/>
        </p:scale>
        <p:origin x="1296" y="108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font" Target="fonts/font9.fntdata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32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47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C32C-766B-FFA0-F793-5E6792AB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EE9E0-02A2-E2BA-B04E-7649A5ED5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E4C2D-8A69-8A16-E592-E0161F751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D5122-F061-92DB-3DC1-0CE88EB44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1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O TD troca o retorno completo por uma previsão sobre o futuro. Ele olha apenas a próxima recompensa e o valor estimado do próximo estado. Isso se chama </a:t>
                </a:r>
                <a:r>
                  <a:rPr lang="pt-BR" b="1" dirty="0"/>
                  <a:t>bootstrapping</a:t>
                </a:r>
                <a:r>
                  <a:rPr lang="pt-BR" dirty="0"/>
                  <a:t>: usar uma estimativa para atualizar outra estimativa. Isso deixa o aprendizado mais rápido e mais estável</a:t>
                </a:r>
              </a:p>
              <a:p>
                <a:endParaRPr lang="pt-BR" dirty="0"/>
              </a:p>
              <a:p>
                <a:r>
                  <a:rPr lang="en-US" dirty="0"/>
                  <a:t>Esse </a:t>
                </a:r>
                <a:r>
                  <a:rPr lang="en-US" dirty="0" err="1"/>
                  <a:t>termo</a:t>
                </a:r>
                <a:r>
                  <a:rPr lang="en-US" dirty="0"/>
                  <a:t> </a:t>
                </a:r>
                <a:r>
                  <a:rPr lang="en-US" dirty="0" err="1"/>
                  <a:t>representa</a:t>
                </a:r>
                <a:r>
                  <a:rPr lang="en-US" dirty="0"/>
                  <a:t> o </a:t>
                </a:r>
                <a:r>
                  <a:rPr lang="en-US" dirty="0" err="1"/>
                  <a:t>alvo</a:t>
                </a:r>
                <a:r>
                  <a:rPr lang="en-US" dirty="0"/>
                  <a:t> de </a:t>
                </a:r>
                <a:r>
                  <a:rPr lang="en-US" dirty="0" err="1"/>
                  <a:t>aprendizado</a:t>
                </a:r>
                <a:r>
                  <a:rPr lang="en-US" dirty="0"/>
                  <a:t> </a:t>
                </a:r>
                <a:r>
                  <a:rPr lang="en-US" dirty="0" err="1"/>
                  <a:t>nos</a:t>
                </a:r>
                <a:r>
                  <a:rPr lang="en-US" dirty="0"/>
                  <a:t> </a:t>
                </a:r>
                <a:r>
                  <a:rPr lang="en-US" dirty="0" err="1"/>
                  <a:t>métodos</a:t>
                </a:r>
                <a:r>
                  <a:rPr lang="en-US" dirty="0"/>
                  <a:t> TD. Ele </a:t>
                </a:r>
                <a:r>
                  <a:rPr lang="en-US" dirty="0" err="1"/>
                  <a:t>diz</a:t>
                </a:r>
                <a:r>
                  <a:rPr lang="en-US" dirty="0"/>
                  <a:t> o </a:t>
                </a:r>
                <a:r>
                  <a:rPr lang="en-US" dirty="0" err="1"/>
                  <a:t>quanto</a:t>
                </a:r>
                <a:r>
                  <a:rPr lang="en-US" dirty="0"/>
                  <a:t> </a:t>
                </a:r>
                <a:r>
                  <a:rPr lang="en-US" dirty="0" err="1"/>
                  <a:t>acreditamos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o </a:t>
                </a:r>
                <a:r>
                  <a:rPr lang="en-US" dirty="0" err="1"/>
                  <a:t>estado</a:t>
                </a:r>
                <a:r>
                  <a:rPr lang="en-US" dirty="0"/>
                  <a:t> </a:t>
                </a:r>
                <a:r>
                  <a:rPr lang="en-US" dirty="0" err="1"/>
                  <a:t>atual</a:t>
                </a:r>
                <a:r>
                  <a:rPr lang="en-US" dirty="0"/>
                  <a:t> </a:t>
                </a:r>
                <a:r>
                  <a:rPr lang="en-US" dirty="0" err="1"/>
                  <a:t>deveria</a:t>
                </a:r>
                <a:r>
                  <a:rPr lang="en-US" dirty="0"/>
                  <a:t> </a:t>
                </a:r>
                <a:r>
                  <a:rPr lang="en-US" dirty="0" err="1"/>
                  <a:t>valer</a:t>
                </a:r>
                <a:r>
                  <a:rPr lang="en-US" dirty="0"/>
                  <a:t>, </a:t>
                </a:r>
                <a:r>
                  <a:rPr lang="en-US" dirty="0" err="1"/>
                  <a:t>considerando</a:t>
                </a:r>
                <a:r>
                  <a:rPr lang="en-US" dirty="0"/>
                  <a:t> a </a:t>
                </a:r>
                <a:r>
                  <a:rPr lang="en-US" dirty="0" err="1"/>
                  <a:t>recompensa</a:t>
                </a:r>
                <a:r>
                  <a:rPr lang="en-US" dirty="0"/>
                  <a:t> </a:t>
                </a:r>
                <a:r>
                  <a:rPr lang="en-US" dirty="0" err="1"/>
                  <a:t>recebida</a:t>
                </a:r>
                <a:r>
                  <a:rPr lang="en-US" dirty="0"/>
                  <a:t> e o valor </a:t>
                </a:r>
                <a:r>
                  <a:rPr lang="en-US" dirty="0" err="1"/>
                  <a:t>esperado</a:t>
                </a:r>
                <a:r>
                  <a:rPr lang="en-US" dirty="0"/>
                  <a:t> do </a:t>
                </a:r>
                <a:r>
                  <a:rPr lang="en-US" dirty="0" err="1"/>
                  <a:t>próximo</a:t>
                </a:r>
                <a:r>
                  <a:rPr lang="en-US" dirty="0"/>
                  <a:t> </a:t>
                </a:r>
                <a:r>
                  <a:rPr lang="en-US" dirty="0" err="1"/>
                  <a:t>estado</a:t>
                </a:r>
                <a:r>
                  <a:rPr lang="en-US" dirty="0"/>
                  <a:t>. Esse </a:t>
                </a:r>
                <a:r>
                  <a:rPr lang="en-US" dirty="0" err="1"/>
                  <a:t>alvo</a:t>
                </a:r>
                <a:r>
                  <a:rPr lang="en-US" dirty="0"/>
                  <a:t> é </a:t>
                </a:r>
                <a:r>
                  <a:rPr lang="en-US" dirty="0" err="1"/>
                  <a:t>comparado</a:t>
                </a:r>
                <a:r>
                  <a:rPr lang="en-US" dirty="0"/>
                  <a:t> com a </a:t>
                </a:r>
                <a:r>
                  <a:rPr lang="en-US" dirty="0" err="1"/>
                  <a:t>nossa</a:t>
                </a:r>
                <a:r>
                  <a:rPr lang="en-US" dirty="0"/>
                  <a:t> </a:t>
                </a:r>
                <a:r>
                  <a:rPr lang="en-US" dirty="0" err="1"/>
                  <a:t>estimativa</a:t>
                </a:r>
                <a:r>
                  <a:rPr lang="en-US" dirty="0"/>
                  <a:t> </a:t>
                </a:r>
                <a:r>
                  <a:rPr lang="en-US" dirty="0" err="1"/>
                  <a:t>atual</a:t>
                </a:r>
                <a:r>
                  <a:rPr lang="en-US" dirty="0"/>
                  <a:t>, </a:t>
                </a:r>
                <a:r>
                  <a:rPr lang="en-US" dirty="0" err="1"/>
                  <a:t>gerando</a:t>
                </a:r>
                <a:r>
                  <a:rPr lang="en-US" dirty="0"/>
                  <a:t> o </a:t>
                </a:r>
                <a:r>
                  <a:rPr lang="en-US" dirty="0" err="1"/>
                  <a:t>erro</a:t>
                </a:r>
                <a:r>
                  <a:rPr lang="en-US" dirty="0"/>
                  <a:t> temporal,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corrige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(𝑠)</a:t>
                </a:r>
                <a:r>
                  <a:rPr lang="en-US" dirty="0" err="1"/>
                  <a:t>passo</a:t>
                </a:r>
                <a:r>
                  <a:rPr lang="en-US" dirty="0"/>
                  <a:t> a </a:t>
                </a:r>
                <a:r>
                  <a:rPr lang="en-US" dirty="0" err="1"/>
                  <a:t>passo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09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Essa é a </a:t>
                </a:r>
                <a:r>
                  <a:rPr lang="en-US" dirty="0" err="1"/>
                  <a:t>equação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define o TD Learning. O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ela</a:t>
                </a:r>
                <a:r>
                  <a:rPr lang="en-US" dirty="0"/>
                  <a:t> </a:t>
                </a:r>
                <a:r>
                  <a:rPr lang="en-US" dirty="0" err="1"/>
                  <a:t>faz</a:t>
                </a:r>
                <a:r>
                  <a:rPr lang="en-US" dirty="0"/>
                  <a:t>? Ela </a:t>
                </a:r>
                <a:r>
                  <a:rPr lang="en-US" dirty="0" err="1"/>
                  <a:t>pega</a:t>
                </a:r>
                <a:r>
                  <a:rPr lang="en-US" dirty="0"/>
                  <a:t> o valor </a:t>
                </a:r>
                <a:r>
                  <a:rPr lang="en-US" dirty="0" err="1"/>
                  <a:t>atual</a:t>
                </a:r>
                <a:r>
                  <a:rPr lang="en-US" dirty="0"/>
                  <a:t>, </a:t>
                </a:r>
                <a:r>
                  <a:rPr lang="en-US" dirty="0" err="1"/>
                  <a:t>calcula</a:t>
                </a:r>
                <a:r>
                  <a:rPr lang="en-US" dirty="0"/>
                  <a:t> o </a:t>
                </a:r>
                <a:r>
                  <a:rPr lang="en-US" dirty="0" err="1"/>
                  <a:t>erro</a:t>
                </a:r>
                <a:r>
                  <a:rPr lang="en-US" dirty="0"/>
                  <a:t> entre o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esperávamos</a:t>
                </a:r>
                <a:r>
                  <a:rPr lang="en-US" dirty="0"/>
                  <a:t> e o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observamos</a:t>
                </a:r>
                <a:r>
                  <a:rPr lang="en-US" dirty="0"/>
                  <a:t>, e move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(𝑠)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dirty="0" err="1"/>
                  <a:t>direção</a:t>
                </a:r>
                <a:r>
                  <a:rPr lang="en-US" dirty="0"/>
                  <a:t> </a:t>
                </a:r>
                <a:r>
                  <a:rPr lang="en-US" dirty="0" err="1"/>
                  <a:t>correta</a:t>
                </a:r>
                <a:r>
                  <a:rPr lang="en-US" dirty="0"/>
                  <a:t>, </a:t>
                </a:r>
                <a:r>
                  <a:rPr lang="en-US" dirty="0" err="1"/>
                  <a:t>usando</a:t>
                </a:r>
                <a:r>
                  <a:rPr lang="en-US" dirty="0"/>
                  <a:t> </a:t>
                </a:r>
                <a:r>
                  <a:rPr lang="en-US" dirty="0" err="1"/>
                  <a:t>uma</a:t>
                </a:r>
                <a:r>
                  <a:rPr lang="en-US" dirty="0"/>
                  <a:t> taxa de </a:t>
                </a:r>
                <a:r>
                  <a:rPr lang="en-US" dirty="0" err="1"/>
                  <a:t>aprendizado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en-US" dirty="0"/>
                  <a:t>. Agora </a:t>
                </a:r>
                <a:r>
                  <a:rPr lang="en-US" dirty="0" err="1"/>
                  <a:t>vamos</a:t>
                </a:r>
                <a:r>
                  <a:rPr lang="en-US" dirty="0"/>
                  <a:t> </a:t>
                </a:r>
                <a:r>
                  <a:rPr lang="en-US" dirty="0" err="1"/>
                  <a:t>destacar</a:t>
                </a:r>
                <a:r>
                  <a:rPr lang="en-US" dirty="0"/>
                  <a:t> o </a:t>
                </a:r>
                <a:r>
                  <a:rPr lang="en-US" dirty="0" err="1"/>
                  <a:t>erro</a:t>
                </a:r>
                <a:r>
                  <a:rPr lang="en-US" dirty="0"/>
                  <a:t> TD, </a:t>
                </a:r>
                <a:r>
                  <a:rPr lang="en-US" dirty="0" err="1"/>
                  <a:t>porque</a:t>
                </a:r>
                <a:r>
                  <a:rPr lang="en-US" dirty="0"/>
                  <a:t> </a:t>
                </a:r>
                <a:r>
                  <a:rPr lang="en-US" dirty="0" err="1"/>
                  <a:t>ele</a:t>
                </a:r>
                <a:r>
                  <a:rPr lang="en-US" dirty="0"/>
                  <a:t> é o </a:t>
                </a:r>
                <a:r>
                  <a:rPr lang="en-US" dirty="0" err="1"/>
                  <a:t>ator</a:t>
                </a:r>
                <a:r>
                  <a:rPr lang="en-US" dirty="0"/>
                  <a:t> principal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55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Esse </a:t>
                </a:r>
                <a:r>
                  <a:rPr lang="en-US" dirty="0" err="1"/>
                  <a:t>termo</a:t>
                </a:r>
                <a:r>
                  <a:rPr lang="en-US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𝛿_𝑡</a:t>
                </a:r>
                <a:r>
                  <a:rPr lang="en-US" dirty="0" err="1"/>
                  <a:t>mede</a:t>
                </a:r>
                <a:r>
                  <a:rPr lang="en-US" dirty="0"/>
                  <a:t> o </a:t>
                </a:r>
                <a:r>
                  <a:rPr lang="en-US" dirty="0" err="1"/>
                  <a:t>quanto</a:t>
                </a:r>
                <a:r>
                  <a:rPr lang="en-US" dirty="0"/>
                  <a:t> </a:t>
                </a:r>
                <a:r>
                  <a:rPr lang="en-US" dirty="0" err="1"/>
                  <a:t>nossa</a:t>
                </a:r>
                <a:r>
                  <a:rPr lang="en-US" dirty="0"/>
                  <a:t> </a:t>
                </a:r>
                <a:r>
                  <a:rPr lang="en-US" dirty="0" err="1"/>
                  <a:t>previsão</a:t>
                </a:r>
                <a:r>
                  <a:rPr lang="en-US" dirty="0"/>
                  <a:t> </a:t>
                </a:r>
                <a:r>
                  <a:rPr lang="en-US" dirty="0" err="1"/>
                  <a:t>estava</a:t>
                </a:r>
                <a:r>
                  <a:rPr lang="en-US" dirty="0"/>
                  <a:t> </a:t>
                </a:r>
                <a:r>
                  <a:rPr lang="en-US" dirty="0" err="1"/>
                  <a:t>errada</a:t>
                </a:r>
                <a:r>
                  <a:rPr lang="en-US" dirty="0"/>
                  <a:t>. Se a </a:t>
                </a:r>
                <a:r>
                  <a:rPr lang="en-US" dirty="0" err="1"/>
                  <a:t>realidade</a:t>
                </a:r>
                <a:r>
                  <a:rPr lang="en-US" dirty="0"/>
                  <a:t> </a:t>
                </a:r>
                <a:r>
                  <a:rPr lang="en-US" dirty="0" err="1"/>
                  <a:t>foi</a:t>
                </a:r>
                <a:r>
                  <a:rPr lang="en-US" dirty="0"/>
                  <a:t> </a:t>
                </a:r>
                <a:r>
                  <a:rPr lang="en-US" dirty="0" err="1"/>
                  <a:t>melhor</a:t>
                </a:r>
                <a:r>
                  <a:rPr lang="en-US" dirty="0"/>
                  <a:t> do </a:t>
                </a:r>
                <a:r>
                  <a:rPr lang="en-US" dirty="0" err="1"/>
                  <a:t>que</a:t>
                </a:r>
                <a:r>
                  <a:rPr lang="en-US" dirty="0"/>
                  <a:t> o </a:t>
                </a:r>
                <a:r>
                  <a:rPr lang="en-US" dirty="0" err="1"/>
                  <a:t>esperado</a:t>
                </a:r>
                <a:r>
                  <a:rPr lang="en-US" dirty="0"/>
                  <a:t>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</a:t>
                </a:r>
                <a:r>
                  <a:rPr lang="en-US" dirty="0"/>
                  <a:t>é </a:t>
                </a:r>
                <a:r>
                  <a:rPr lang="en-US" dirty="0" err="1"/>
                  <a:t>positivo</a:t>
                </a:r>
                <a:r>
                  <a:rPr lang="en-US" dirty="0"/>
                  <a:t> e </a:t>
                </a:r>
                <a:r>
                  <a:rPr lang="en-US" dirty="0" err="1"/>
                  <a:t>aumentamos</a:t>
                </a:r>
                <a:r>
                  <a:rPr lang="en-US" dirty="0"/>
                  <a:t> o valor do </a:t>
                </a:r>
                <a:r>
                  <a:rPr lang="en-US" dirty="0" err="1"/>
                  <a:t>estado</a:t>
                </a:r>
                <a:r>
                  <a:rPr lang="en-US" dirty="0"/>
                  <a:t>. Se </a:t>
                </a:r>
                <a:r>
                  <a:rPr lang="en-US" dirty="0" err="1"/>
                  <a:t>foi</a:t>
                </a:r>
                <a:r>
                  <a:rPr lang="en-US" dirty="0"/>
                  <a:t> </a:t>
                </a:r>
                <a:r>
                  <a:rPr lang="en-US" dirty="0" err="1"/>
                  <a:t>pior</a:t>
                </a:r>
                <a:r>
                  <a:rPr lang="en-US" dirty="0"/>
                  <a:t>, </a:t>
                </a:r>
                <a:r>
                  <a:rPr lang="en-US" dirty="0" err="1"/>
                  <a:t>reduzimos</a:t>
                </a:r>
                <a:r>
                  <a:rPr lang="en-US" dirty="0"/>
                  <a:t>. </a:t>
                </a:r>
                <a:r>
                  <a:rPr lang="en-US" dirty="0" err="1"/>
                  <a:t>Guardem</a:t>
                </a:r>
                <a:r>
                  <a:rPr lang="en-US" dirty="0"/>
                  <a:t> </a:t>
                </a:r>
                <a:r>
                  <a:rPr lang="en-US" dirty="0" err="1"/>
                  <a:t>isso</a:t>
                </a:r>
                <a:r>
                  <a:rPr lang="en-US" dirty="0"/>
                  <a:t>: RL </a:t>
                </a:r>
                <a:r>
                  <a:rPr lang="en-US" dirty="0" err="1"/>
                  <a:t>adora</a:t>
                </a:r>
                <a:r>
                  <a:rPr lang="en-US" dirty="0"/>
                  <a:t> </a:t>
                </a:r>
                <a:r>
                  <a:rPr lang="en-US" b="1" dirty="0" err="1"/>
                  <a:t>corrigir</a:t>
                </a:r>
                <a:r>
                  <a:rPr lang="en-US" b="1" dirty="0"/>
                  <a:t> </a:t>
                </a:r>
                <a:r>
                  <a:rPr lang="en-US" b="1" dirty="0" err="1"/>
                  <a:t>previsão</a:t>
                </a:r>
                <a:r>
                  <a:rPr lang="en-US" b="1" dirty="0"/>
                  <a:t> com </a:t>
                </a:r>
                <a:r>
                  <a:rPr lang="en-US" b="1" dirty="0" err="1"/>
                  <a:t>erro</a:t>
                </a:r>
                <a:r>
                  <a:rPr lang="en-US" dirty="0"/>
                  <a:t> — e o TD é a forma </a:t>
                </a:r>
                <a:r>
                  <a:rPr lang="en-US" dirty="0" err="1"/>
                  <a:t>mais</a:t>
                </a:r>
                <a:r>
                  <a:rPr lang="en-US" dirty="0"/>
                  <a:t> pura dessa </a:t>
                </a:r>
                <a:r>
                  <a:rPr lang="en-US" dirty="0" err="1"/>
                  <a:t>ideia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01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62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32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38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53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7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48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3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TD Learning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400" dirty="0"/>
              <a:t>A sigla TD significa </a:t>
            </a:r>
            <a:r>
              <a:rPr lang="en-US" sz="2400" b="1" dirty="0"/>
              <a:t>“Temporal Difference” </a:t>
            </a:r>
            <a:r>
              <a:rPr lang="en-US" sz="2400" dirty="0"/>
              <a:t>(Diferença Temporal).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algn="ctr"/>
            <a:endParaRPr lang="pt-BR" sz="2400" dirty="0"/>
          </a:p>
          <a:p>
            <a:pPr algn="ctr"/>
            <a:r>
              <a:rPr lang="pt-BR" sz="2400" b="1" dirty="0"/>
              <a:t>TD Learning é um método de aprendizagem por reforço, sem a necessidade de um modelo do ambiente, no qual um agente aprende a prever a recompensa futura. Ele combina ideias dos métodos de Monte Carlo e da programação dinâmica para realizar atualizações a cada passo, usando a diferença entre a estimativa atual e uma estimativa futura mais precisa para refinar seu conhecimento.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TD Learning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0FA3-B570-072D-5865-C8AFFED3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B33450D-884A-6252-418E-1ABF58DA0A82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en-US" sz="2400" dirty="0"/>
                  <a:t>MC recapitulado</a:t>
                </a:r>
                <a:r>
                  <a:rPr lang="pt-BR" sz="2400" dirty="0"/>
                  <a:t>: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Aprende só </a:t>
                </a:r>
                <a:r>
                  <a:rPr lang="pt-BR" sz="2400" b="1" dirty="0"/>
                  <a:t>após o episódio terminar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Usa </a:t>
                </a:r>
                <a:r>
                  <a:rPr lang="en-US" sz="2400" b="1" dirty="0"/>
                  <a:t>retorno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como alvo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Funciona bem, mas </a:t>
                </a:r>
                <a:r>
                  <a:rPr lang="pt-BR" sz="2400" b="1" dirty="0"/>
                  <a:t>é lento e de alta variância</a:t>
                </a:r>
                <a:r>
                  <a:rPr lang="pt-BR" sz="2400" dirty="0"/>
                  <a:t>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B33450D-884A-6252-418E-1ABF58DA0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875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157DC654-0781-1754-6D59-001E453724D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Relembrando</a:t>
            </a:r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 Monte Carlo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10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219D9-565E-AEB7-0FB7-4D8D9294F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46903C0-3C67-7FAF-7A59-133E061ED4ED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Limitações principais: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Precisa esperar o episódio;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Alta variância;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Ruim para episódios longos.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54B75BC-32E0-2BC9-0ED4-1DF24AD5C3E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</a:t>
            </a:r>
            <a:r>
              <a:rPr lang="en-US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Problema</a:t>
            </a:r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 do MC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90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A4BB-05FD-C171-BEB9-AEE578AA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2F830CBC-B89D-C044-F269-2D3F5FE81FE0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801351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Aprender com</a:t>
                </a:r>
                <a:r>
                  <a:rPr lang="pt-BR" sz="2400" dirty="0"/>
                  <a:t>:</a:t>
                </a: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É o “alvo” que o agente usa para atualizar o valor do estado atual, combinando a recompensa recebida agora e o valor esperado do futuro.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2F830CBC-B89D-C044-F269-2D3F5FE81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801351" cy="3848699"/>
              </a:xfrm>
              <a:prstGeom prst="rect">
                <a:avLst/>
              </a:prstGeom>
              <a:blipFill>
                <a:blip r:embed="rId3"/>
                <a:stretch>
                  <a:fillRect l="-734" t="-475" r="-9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CA9E8447-86ED-F46C-8B2E-13CD3B1A4AF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latin typeface="Montserrat" panose="00000500000000000000" pitchFamily="50" charset="0"/>
                <a:cs typeface="Poppins" panose="02000000000000000000" pitchFamily="2" charset="0"/>
              </a:rPr>
              <a:t>Ideia Central do TD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02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A90C0-DDCD-E013-274F-87D65C7B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B20FCF8-F1AE-E3BC-2979-B9E9237B6CCD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algn="just"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BR" sz="2400" dirty="0"/>
                  <a:t>O novo valor do estado = valor antigo + um ajuste baseado no erro de previsão.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B20FCF8-F1AE-E3BC-2979-B9E9237B6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8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4ED0C288-8C95-B72C-930F-03F3FF50D12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Atualização TD(0) – Forma Completa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8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CCE09-EE92-9C3C-30FB-D53902F6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3C680CA9-C7E6-6736-46BB-13E1C7C6804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Erro TD (o </a:t>
            </a:r>
            <a:r>
              <a:rPr lang="en-US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Protagonista</a:t>
            </a:r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43">
                <a:extLst>
                  <a:ext uri="{FF2B5EF4-FFF2-40B4-BE49-F238E27FC236}">
                    <a16:creationId xmlns:a16="http://schemas.microsoft.com/office/drawing/2014/main" id="{92B835F8-9964-D938-B398-13F02BC4C014}"/>
                  </a:ext>
                </a:extLst>
              </p:cNvPr>
              <p:cNvSpPr txBox="1"/>
              <p:nvPr/>
            </p:nvSpPr>
            <p:spPr>
              <a:xfrm>
                <a:off x="947738" y="1682323"/>
                <a:ext cx="10801349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algn="just"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BR" sz="2400" dirty="0"/>
                  <a:t>O TD Error diz “o quanto eu estava enganado” sobre o valor do estado atual, considerando a recompensa recebida e o valor do próximo estado.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2" name="TextBox 43">
                <a:extLst>
                  <a:ext uri="{FF2B5EF4-FFF2-40B4-BE49-F238E27FC236}">
                    <a16:creationId xmlns:a16="http://schemas.microsoft.com/office/drawing/2014/main" id="{92B835F8-9964-D938-B398-13F02BC4C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8" y="1682323"/>
                <a:ext cx="10801349" cy="3848699"/>
              </a:xfrm>
              <a:prstGeom prst="rect">
                <a:avLst/>
              </a:prstGeom>
              <a:blipFill>
                <a:blip r:embed="rId3"/>
                <a:stretch>
                  <a:fillRect l="-847" r="-9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643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C4CA4-5A39-43F9-ABCB-4377C325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A6019D2C-0875-9064-ACA4-FA1E3CE06676}"/>
              </a:ext>
            </a:extLst>
          </p:cNvPr>
          <p:cNvSpPr txBox="1"/>
          <p:nvPr/>
        </p:nvSpPr>
        <p:spPr>
          <a:xfrm>
            <a:off x="947738" y="873125"/>
            <a:ext cx="10619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 MC × TD (Núcleo Conceitual)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300AC9-0D18-723E-22CD-365D6526F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711643"/>
                  </p:ext>
                </p:extLst>
              </p:nvPr>
            </p:nvGraphicFramePr>
            <p:xfrm>
              <a:off x="947738" y="2651760"/>
              <a:ext cx="10801350" cy="155448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600450">
                      <a:extLst>
                        <a:ext uri="{9D8B030D-6E8A-4147-A177-3AD203B41FA5}">
                          <a16:colId xmlns:a16="http://schemas.microsoft.com/office/drawing/2014/main" val="2553868304"/>
                        </a:ext>
                      </a:extLst>
                    </a:gridCol>
                    <a:gridCol w="3600450">
                      <a:extLst>
                        <a:ext uri="{9D8B030D-6E8A-4147-A177-3AD203B41FA5}">
                          <a16:colId xmlns:a16="http://schemas.microsoft.com/office/drawing/2014/main" val="305633318"/>
                        </a:ext>
                      </a:extLst>
                    </a:gridCol>
                    <a:gridCol w="3600450">
                      <a:extLst>
                        <a:ext uri="{9D8B030D-6E8A-4147-A177-3AD203B41FA5}">
                          <a16:colId xmlns:a16="http://schemas.microsoft.com/office/drawing/2014/main" val="276841288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Método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Alvo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Aprende quando?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0371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MC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fim do episódio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00753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TD(0)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80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a cada passo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84305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8300AC9-0D18-723E-22CD-365D6526F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711643"/>
                  </p:ext>
                </p:extLst>
              </p:nvPr>
            </p:nvGraphicFramePr>
            <p:xfrm>
              <a:off x="947738" y="2651760"/>
              <a:ext cx="10801350" cy="155448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600450">
                      <a:extLst>
                        <a:ext uri="{9D8B030D-6E8A-4147-A177-3AD203B41FA5}">
                          <a16:colId xmlns:a16="http://schemas.microsoft.com/office/drawing/2014/main" val="2553868304"/>
                        </a:ext>
                      </a:extLst>
                    </a:gridCol>
                    <a:gridCol w="3600450">
                      <a:extLst>
                        <a:ext uri="{9D8B030D-6E8A-4147-A177-3AD203B41FA5}">
                          <a16:colId xmlns:a16="http://schemas.microsoft.com/office/drawing/2014/main" val="305633318"/>
                        </a:ext>
                      </a:extLst>
                    </a:gridCol>
                    <a:gridCol w="3600450">
                      <a:extLst>
                        <a:ext uri="{9D8B030D-6E8A-4147-A177-3AD203B41FA5}">
                          <a16:colId xmlns:a16="http://schemas.microsoft.com/office/drawing/2014/main" val="276841288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Método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Alvo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Aprende quando?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903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MC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110588" r="-100169" b="-1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fim do episódio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00753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TD(0)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210588" r="-100169" b="-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a cada passo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84305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4662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C4E2E-2184-75E7-9617-F437AFD0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72B514F-8CF0-CEBE-A12E-4D2FED3B47E0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TD </a:t>
            </a:r>
            <a:r>
              <a:rPr lang="pt-BR" sz="2400" b="1" dirty="0"/>
              <a:t>aprende mais rápido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TD </a:t>
            </a:r>
            <a:r>
              <a:rPr lang="pt-BR" sz="2400" b="1" dirty="0"/>
              <a:t>reduz variância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TD </a:t>
            </a:r>
            <a:r>
              <a:rPr lang="pt-BR" sz="2400" b="1" dirty="0"/>
              <a:t>generaliza melhor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372FEFE1-23B7-BEBB-A712-838194E7597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Consequência</a:t>
            </a:r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 dessa </a:t>
            </a:r>
            <a:r>
              <a:rPr lang="en-US" sz="4000" b="1" kern="0" dirty="0" err="1">
                <a:latin typeface="Montserrat" panose="00000500000000000000" pitchFamily="50" charset="0"/>
                <a:cs typeface="Poppins" panose="02000000000000000000" pitchFamily="2" charset="0"/>
              </a:rPr>
              <a:t>Mudança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898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E491-3250-ADEB-C473-DDE76BB8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A4E1C6F-5DE9-8124-23F9-97DFDE951AC9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MC:  episódio → retorno → aprendizado;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TD:  passo → passo → passo → aprendizado contínuo.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AC9813E-8A54-6E01-42E4-EF4553FA673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Intuição Visual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41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9064-EB2E-EFEE-A636-DCF7EFA2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6C58DDE7-9A56-F0BC-30E6-775830D69CF1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it-IT" sz="2400" dirty="0"/>
                  <a:t>TD(0) usa 1 passo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MC usa todos os passos;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TD(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400" dirty="0"/>
                  <a:t>) mistura os dois.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6C58DDE7-9A56-F0BC-30E6-775830D69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F46A1A0-51CD-89C4-F558-8CCB164E7CF3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TD(</a:t>
                </a:r>
                <a14:m>
                  <m:oMath xmlns:m="http://schemas.openxmlformats.org/officeDocument/2006/math">
                    <m:r>
                      <a:rPr lang="el-GR" sz="4000" b="1" i="1" kern="0" dirty="0" smtClean="0">
                        <a:latin typeface="Cambria Math" panose="02040503050406030204" pitchFamily="18" charset="0"/>
                        <a:cs typeface="Poppins" panose="02000000000000000000" pitchFamily="2" charset="0"/>
                      </a:rPr>
                      <m:t>𝝀</m:t>
                    </m:r>
                  </m:oMath>
                </a14:m>
                <a:r>
                  <a:rPr lang="el-G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): </a:t>
                </a:r>
                <a:r>
                  <a:rPr lang="en-US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Motivação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4F46A1A0-51CD-89C4-F558-8CCB164E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4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796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83A3-76F9-E97F-6F1B-C8D33DF3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AAEE6EC6-8E00-21CF-DDD7-D9A886AE75F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TD(λ) na Linha do Tempo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D468A6C-B773-E487-4239-01563DC577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0970700"/>
                  </p:ext>
                </p:extLst>
              </p:nvPr>
            </p:nvGraphicFramePr>
            <p:xfrm>
              <a:off x="947738" y="2560320"/>
              <a:ext cx="10801350" cy="231648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4299609">
                      <a:extLst>
                        <a:ext uri="{9D8B030D-6E8A-4147-A177-3AD203B41FA5}">
                          <a16:colId xmlns:a16="http://schemas.microsoft.com/office/drawing/2014/main" val="2576774968"/>
                        </a:ext>
                      </a:extLst>
                    </a:gridCol>
                    <a:gridCol w="6501741">
                      <a:extLst>
                        <a:ext uri="{9D8B030D-6E8A-4147-A177-3AD203B41FA5}">
                          <a16:colId xmlns:a16="http://schemas.microsoft.com/office/drawing/2014/main" val="63804693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3200" i="1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/>
                            <a:t>Se aproxima de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35619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TD(0)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688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n-step TD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071001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MC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606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D468A6C-B773-E487-4239-01563DC577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0970700"/>
                  </p:ext>
                </p:extLst>
              </p:nvPr>
            </p:nvGraphicFramePr>
            <p:xfrm>
              <a:off x="947738" y="2560320"/>
              <a:ext cx="10801350" cy="231648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4299609">
                      <a:extLst>
                        <a:ext uri="{9D8B030D-6E8A-4147-A177-3AD203B41FA5}">
                          <a16:colId xmlns:a16="http://schemas.microsoft.com/office/drawing/2014/main" val="2576774968"/>
                        </a:ext>
                      </a:extLst>
                    </a:gridCol>
                    <a:gridCol w="6501741">
                      <a:extLst>
                        <a:ext uri="{9D8B030D-6E8A-4147-A177-3AD203B41FA5}">
                          <a16:colId xmlns:a16="http://schemas.microsoft.com/office/drawing/2014/main" val="638046933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13684" r="-151275" b="-33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/>
                            <a:t>Se aproxima de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35619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TD(0)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68847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n-step TD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071001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3200" dirty="0"/>
                            <a:t>MC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0606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495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9F2CC-5717-B675-DC09-A845DC54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2DD145F7-9975-0D3F-9DC3-4C5356C5C4F0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Bootstrapping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Erro TD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Atualização incremental;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sz="2400" dirty="0"/>
                  <a:t> </a:t>
                </a:r>
                <a:r>
                  <a:rPr lang="en-US" sz="2400" dirty="0"/>
                  <a:t>como ponte</a:t>
                </a:r>
                <a:r>
                  <a:rPr lang="pt-BR" sz="2400" dirty="0"/>
                  <a:t>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2DD145F7-9975-0D3F-9DC3-4C5356C5C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9AD20236-EAA9-060C-CCB2-F92C5136DB1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Recapitulando Conceitos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032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45D38-F302-06C0-5F0C-4E770B607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CD91CE3F-5551-FE6A-1B2A-83CCF91C6416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Episódios longos;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Ambientes contínuos;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Aprendizado online.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5C2579D-0FDC-9382-30FD-69978EE7924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Onde o TD se Destaca?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162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A4A3-A7D5-1149-F424-180B441F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73C58EC-4F6E-8737-727B-0EA62054686F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36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𝑒𝑛𝑡𝑜</m:t>
                          </m:r>
                        </m:e>
                      </m:groupCh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𝑇𝐷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𝑝𝑖𝑑𝑜</m:t>
                          </m:r>
                        </m:e>
                      </m:groupCh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36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73C58EC-4F6E-8737-727B-0EA62054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7D66CFA8-0070-75E4-0FE0-E4B59E19F5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Resumo Conceitual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8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9AF5-1C77-D491-713C-0EA56C15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DB5CCBE5-758F-09CB-522D-65B235C0647B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TD resolve o atraso do MC;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TD mantém simplicidade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TD prepara o terreno para controle.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0B80406-EBA6-8A52-F87D-3A167BCA4B4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Conclusão da Teoria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860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B94AB9-55B9-440A-94BD-B6992C6883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562928-172B-4A02-A345-B53B7157CA93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3.xml><?xml version="1.0" encoding="utf-8"?>
<ds:datastoreItem xmlns:ds="http://schemas.openxmlformats.org/officeDocument/2006/customXml" ds:itemID="{355AA997-2E2C-4985-BFF6-4032B39BCD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12740</TotalTime>
  <Words>452</Words>
  <Application>Microsoft Office PowerPoint</Application>
  <PresentationFormat>Widescreen</PresentationFormat>
  <Paragraphs>101</Paragraphs>
  <Slides>17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17</vt:i4>
      </vt:variant>
    </vt:vector>
  </HeadingPairs>
  <TitlesOfParts>
    <vt:vector size="28" baseType="lpstr">
      <vt:lpstr>Wingdings</vt:lpstr>
      <vt:lpstr>Calibri</vt:lpstr>
      <vt:lpstr>Montserrat</vt:lpstr>
      <vt:lpstr>Aptos</vt:lpstr>
      <vt:lpstr>Cambria Math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92</cp:revision>
  <dcterms:created xsi:type="dcterms:W3CDTF">2025-06-11T21:44:24Z</dcterms:created>
  <dcterms:modified xsi:type="dcterms:W3CDTF">2025-12-18T16:48:53Z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