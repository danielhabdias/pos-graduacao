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4"/>
    <p:sldMasterId id="2147483672" r:id="rId5"/>
    <p:sldMasterId id="2147483675" r:id="rId6"/>
    <p:sldMasterId id="2147483677" r:id="rId7"/>
  </p:sldMasterIdLst>
  <p:notesMasterIdLst>
    <p:notesMasterId r:id="rId22"/>
  </p:notesMasterIdLst>
  <p:sldIdLst>
    <p:sldId id="268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64" r:id="rId21"/>
  </p:sldIdLst>
  <p:sldSz cx="12192000" cy="6858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ronos Pro" panose="020C0502030403020304" pitchFamily="34" charset="0"/>
      <p:regular r:id="rId27"/>
      <p:bold r:id="rId28"/>
      <p:italic r:id="rId29"/>
    </p:embeddedFont>
    <p:embeddedFont>
      <p:font typeface="Montserrat" panose="00000500000000000000" pitchFamily="50" charset="0"/>
      <p:regular r:id="rId30"/>
      <p:bold r:id="rId31"/>
      <p:italic r:id="rId32"/>
      <p:bold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597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230"/>
    <a:srgbClr val="2087C6"/>
    <a:srgbClr val="379FDE"/>
    <a:srgbClr val="4BA8DE"/>
    <a:srgbClr val="E6E6E6"/>
    <a:srgbClr val="43A9E7"/>
    <a:srgbClr val="56B6F1"/>
    <a:srgbClr val="FFD639"/>
    <a:srgbClr val="1772A5"/>
    <a:srgbClr val="3CA3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7" autoAdjust="0"/>
    <p:restoredTop sz="75573" autoAdjust="0"/>
  </p:normalViewPr>
  <p:slideViewPr>
    <p:cSldViewPr snapToGrid="0">
      <p:cViewPr varScale="1">
        <p:scale>
          <a:sx n="81" d="100"/>
          <a:sy n="81" d="100"/>
        </p:scale>
        <p:origin x="1494" y="96"/>
      </p:cViewPr>
      <p:guideLst>
        <p:guide orient="horz" pos="3725"/>
        <p:guide pos="597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font" Target="fonts/font4.fntdata"/><Relationship Id="rId21" Type="http://schemas.openxmlformats.org/officeDocument/2006/relationships/slide" Target="slides/slide14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font" Target="fonts/font7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font" Target="fonts/font9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45A95-A2DF-4770-B285-FE21F9240552}" type="datetimeFigureOut">
              <a:rPr lang="en-US" smtClean="0"/>
              <a:t>12/18/2025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52A541-A226-4611-A5F2-C8546E102C6A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54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176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CEE60-EFAC-8E66-A99C-9BDD4FE71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CC3E3-9F16-689B-374F-8EDD18CE9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742118-1726-9FB2-D04B-2E465BFDA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62601-B3B0-A380-1CCF-895C240ACD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3984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382B-2B48-446E-CB2D-C6652C9D5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4675A-9064-0496-4CC0-DA06ACF77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5377D-E5A7-21B1-C35C-FDBCF7EB4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960BC-B5F1-353C-DE08-F976679D3F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13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DDDF8-D257-4C3B-EC53-E5DA17043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5A32F0-28BC-286F-63B2-213E5F073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2FA073C-53B2-C8FD-07D7-F5348C0489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2FA073C-53B2-C8FD-07D7-F5348C0489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/>
                  <a:t>Um ponto fundamental é o tipo de interação entre os agentes.</a:t>
                </a:r>
              </a:p>
              <a:p>
                <a:r>
                  <a:rPr lang="pt-BR" dirty="0"/>
                  <a:t>Em cenários cooperativos, todos recebem a mesma recompensa, então aprender a colaborar é o objetivo.</a:t>
                </a:r>
              </a:p>
              <a:p>
                <a:r>
                  <a:rPr lang="pt-BR" dirty="0"/>
                  <a:t>No extremo oposto, em cenários competitivos, o ganho de um agente é a perda de outro — como em jogos zero-sum.</a:t>
                </a:r>
              </a:p>
              <a:p>
                <a:r>
                  <a:rPr lang="en-US" b="1" dirty="0"/>
                  <a:t>Teoria dos </a:t>
                </a:r>
                <a:r>
                  <a:rPr lang="en-US" b="1" dirty="0" err="1"/>
                  <a:t>Jogos</a:t>
                </a:r>
                <a:r>
                  <a:rPr lang="en-US" dirty="0"/>
                  <a:t> </a:t>
                </a:r>
              </a:p>
              <a:p>
                <a:r>
                  <a:rPr lang="pt-BR" dirty="0"/>
                  <a:t>Um jogo é </a:t>
                </a:r>
                <a:r>
                  <a:rPr lang="pt-BR" b="1" dirty="0"/>
                  <a:t>zero-sum</a:t>
                </a:r>
                <a:r>
                  <a:rPr lang="pt-BR" dirty="0"/>
                  <a:t> quando </a:t>
                </a:r>
                <a:r>
                  <a:rPr lang="pt-BR" b="1" dirty="0"/>
                  <a:t>o ganho de um jogador é exatamente a perda do outro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Ou seja, </a:t>
                </a:r>
                <a:r>
                  <a:rPr lang="pt-BR" b="1" dirty="0"/>
                  <a:t>a soma dos ganhos é zero</a:t>
                </a:r>
                <a:r>
                  <a:rPr lang="pt-BR" dirty="0"/>
                  <a:t>.</a:t>
                </a:r>
              </a:p>
              <a:p>
                <a:r>
                  <a:rPr lang="pt-BR" b="0" i="0">
                    <a:latin typeface="Cambria Math" panose="02040503050406030204" pitchFamily="18" charset="0"/>
                  </a:rPr>
                  <a:t>"Recompensa do Jogador A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"+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"Recompensa do Jogador B</a:t>
                </a:r>
                <a:r>
                  <a:rPr lang="pt-B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"=0</a:t>
                </a:r>
                <a:endParaRPr lang="pt-BR" b="0" dirty="0"/>
              </a:p>
              <a:p>
                <a:r>
                  <a:rPr lang="pt-BR" dirty="0"/>
                  <a:t>Se um ganha +5 → o outro obrigatoriamente perde -5.</a:t>
                </a:r>
              </a:p>
              <a:p>
                <a:endParaRPr lang="pt-BR" dirty="0"/>
              </a:p>
              <a:p>
                <a:r>
                  <a:rPr lang="pt-BR" dirty="0"/>
                  <a:t>E a maioria dos problemas reais está no centro: há incentivos compartilhados e também objetivos conflitantes.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8C11F-CE89-1487-B3D4-A546414B4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481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1A8DC-66BC-687A-B19E-67BED3DE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A3689A-B89D-0F3C-1119-D954671BAF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A55EAD-4505-6746-324A-741730E64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0FD2C-034C-B8B7-61AD-D47EDA66E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536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8FD77-8953-0D95-F128-93D6DA5A7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1AA29-F640-2D06-5ACB-1A157027A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62855-B18C-A657-1E53-F489FE7EA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05317-E5D8-2077-ACE8-2601D1C68F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542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806B7-8849-C4ED-D3C0-294485CCF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626F5D-C4DF-4F63-1EC3-14EC8FEEE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7D7CCA-96FA-8C76-9F00-C52AD6B81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37043-4EC8-91F4-B414-19FC32A95D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907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4D768-BB4C-2197-B6CB-33438CBE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9BA919-D52B-EB8D-7A0E-41C241148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D83B9-A87E-519D-4FEA-27A01F3FF1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91C4E-B4C7-1FAC-4D25-6D3CE3D9D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5359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27791-74FB-A1D9-F5F0-C5A68384C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D9CF97-5155-0EC8-B3B8-0F7B35C04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A9B03-C7D2-2F5E-16D9-217070181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9619F-5DE3-2CE9-E905-28DBE2CA15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160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1AE1A-D837-8890-439C-AEB3AB4B0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05FDD-24DD-30B3-3F6A-17BD89C21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2FC0EE-3486-593F-EFA7-052B551B4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AD543D-85AB-7AF7-C438-8A48C65CC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1888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DD574-442A-8B00-0478-DE41A211E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80DA3-7ACF-B604-DDCD-F464781B1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773B3-A3ED-AFF6-A6F8-7BAE7D7CE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4AB96-ED71-E579-2CA1-74C3D0226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56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90680-E516-8C97-11ED-D2C2586A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9FB6FB-F7FF-DDAF-C34E-1B1ECEECC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C318E-B1A0-DB41-ADBD-9001701BEF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C5FE2-905A-32BC-8868-278A4390B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52A541-A226-4611-A5F2-C8546E102C6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03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pFooter">
            <a:extLst>
              <a:ext uri="{FF2B5EF4-FFF2-40B4-BE49-F238E27FC236}">
                <a16:creationId xmlns:a16="http://schemas.microsoft.com/office/drawing/2014/main" id="{3811FE2C-F4C3-42BF-A394-5DCBACE4206D}"/>
              </a:ext>
            </a:extLst>
          </p:cNvPr>
          <p:cNvSpPr txBox="1"/>
          <p:nvPr/>
        </p:nvSpPr>
        <p:spPr bwMode="auto">
          <a:xfrm>
            <a:off x="957294" y="6373144"/>
            <a:ext cx="607538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defTabSz="45712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D" sz="1000" dirty="0">
                <a:solidFill>
                  <a:srgbClr val="3CA3E1"/>
                </a:solidFill>
                <a:latin typeface="Cronos Pro" panose="020C0502030403020304" pitchFamily="34" charset="0"/>
              </a:rPr>
              <a:t>PUC MINAS</a:t>
            </a:r>
            <a:endParaRPr lang="en-ID" sz="1100" b="1" dirty="0">
              <a:solidFill>
                <a:srgbClr val="3CA3E1"/>
              </a:solidFill>
              <a:latin typeface="Cronos Pro" panose="020C05020304030203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66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FD478C7-31D7-4DCB-B3BC-9B1090C6B445}"/>
              </a:ext>
            </a:extLst>
          </p:cNvPr>
          <p:cNvSpPr/>
          <p:nvPr/>
        </p:nvSpPr>
        <p:spPr>
          <a:xfrm>
            <a:off x="1180011" y="2485756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43A9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55BA4B-DC22-4207-ABC8-3B491F765609}"/>
              </a:ext>
            </a:extLst>
          </p:cNvPr>
          <p:cNvSpPr txBox="1"/>
          <p:nvPr/>
        </p:nvSpPr>
        <p:spPr>
          <a:xfrm>
            <a:off x="1180011" y="2551836"/>
            <a:ext cx="98319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kern="0" dirty="0">
                <a:solidFill>
                  <a:schemeClr val="bg1"/>
                </a:solidFill>
                <a:latin typeface="Montserrat" panose="00000500000000000000" pitchFamily="50" charset="0"/>
                <a:cs typeface="Poppins" panose="02000000000000000000" pitchFamily="2" charset="0"/>
              </a:rPr>
              <a:t>Multi-Agent Reinforcement Learning</a:t>
            </a:r>
            <a:endParaRPr lang="en-ID" sz="5400" b="1" kern="0" dirty="0">
              <a:solidFill>
                <a:schemeClr val="bg1"/>
              </a:solidFill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730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B8118-FB53-4D43-9C26-6F69F58BA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69F5B64-6542-BA31-2634-410B886A572A}"/>
              </a:ext>
            </a:extLst>
          </p:cNvPr>
          <p:cNvSpPr txBox="1"/>
          <p:nvPr/>
        </p:nvSpPr>
        <p:spPr>
          <a:xfrm>
            <a:off x="947737" y="1682323"/>
            <a:ext cx="10801351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Múltiplos agentes aprendendo simultaneamente no mesmo ambiente;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As ações de um agente afetam o aprendizado dos demais;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 ambiente deixa de ser estacionário;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Novos desafios: coordenação, comunicação e competição.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BE71B21-1BC2-F131-95F3-E0702391DA7F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Introdução ao MARL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94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AC4EF-B71F-D345-9D3B-C26B529D8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6D1A7966-4A57-73BC-C6B6-0C6325651462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Jogos competitivos (StarCraft, Dota, Futebol robótico);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Sistemas cooperativos (carros autônomos, drones em formação);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Mercados e negociações (agentes econômicos);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Controle de tráfego (vários semáforos “aprendendo juntos”).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80EDE80-EDBE-9C63-2C1D-4C229821F02E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Exemplos Reais de Multiagentes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271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3C22A-A3AB-AFE3-8BAD-079BA375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496B677D-70A8-FE6F-D759-6121407CDC90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Cada agente está aprendendo ao mesmo tempo;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 política dos outros agentes muda dinamicamente;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Logo: o ambiente </a:t>
            </a:r>
            <a:r>
              <a:rPr lang="pt-BR" sz="2400" b="1" dirty="0"/>
              <a:t>não é estável </a:t>
            </a:r>
            <a:r>
              <a:rPr lang="pt-BR" sz="2400" dirty="0"/>
              <a:t>durante o aprendizado.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BB9001D2-31EC-1183-817A-22399DC859B0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O Problema Central: </a:t>
            </a:r>
            <a:r>
              <a:rPr lang="pt-BR" sz="32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Não-Estacionariedade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887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0C3C3-D2ED-942D-C3E6-E1D64BF77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369D078-0C0F-1A0A-C6D8-B81D1CECB3E9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Cooperativo:</a:t>
            </a:r>
            <a:r>
              <a:rPr lang="pt-BR" sz="2400" dirty="0"/>
              <a:t> todos maximizam a mesma recompensa;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Competitivo:</a:t>
            </a:r>
            <a:r>
              <a:rPr lang="pt-BR" sz="2400" dirty="0"/>
              <a:t> a recompensa de um é prejuízo para outro;</a:t>
            </a:r>
          </a:p>
          <a:p>
            <a:pPr marL="342900" indent="-342900" algn="just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Misto:</a:t>
            </a:r>
            <a:r>
              <a:rPr lang="en-US" sz="2400" dirty="0"/>
              <a:t> parte cooperativa + parte competitiva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F14C4124-EF33-0449-B27E-65DA634B83A8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Tipos de Cenários Multiagentes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22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47281-3841-A909-A34B-DAF667675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75BA766B-3BA8-6FAE-650C-4BBBD66C6C1E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Cada agente percebe uma </a:t>
            </a:r>
            <a:r>
              <a:rPr lang="pt-BR" sz="2400" b="1" dirty="0"/>
              <a:t>observação parcial</a:t>
            </a:r>
            <a:r>
              <a:rPr lang="pt-BR" sz="2400" dirty="0"/>
              <a:t> do ambiente;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Agentes não veem o estado global;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Informações incompletas → incerteza + coordenação difícil.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6DE7C49-002A-7217-650D-F3D01ED23DB9}"/>
              </a:ext>
            </a:extLst>
          </p:cNvPr>
          <p:cNvSpPr txBox="1"/>
          <p:nvPr/>
        </p:nvSpPr>
        <p:spPr>
          <a:xfrm>
            <a:off x="862833" y="727501"/>
            <a:ext cx="106197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Representação de Estados e Observações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554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7C0A3-F49D-0F25-65B4-17E9AFCE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59FADD4-4EBC-F7DB-A5A6-9BB6872C2771}"/>
              </a:ext>
            </a:extLst>
          </p:cNvPr>
          <p:cNvSpPr txBox="1"/>
          <p:nvPr/>
        </p:nvSpPr>
        <p:spPr>
          <a:xfrm>
            <a:off x="947738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Cada agente executa Q-Learning isoladamente;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Outros agentes são tratados como parte do ambiente;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Simples, mas instável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72BD9B18-6E4C-DF22-18E0-DC17484743DF}"/>
              </a:ext>
            </a:extLst>
          </p:cNvPr>
          <p:cNvSpPr txBox="1"/>
          <p:nvPr/>
        </p:nvSpPr>
        <p:spPr>
          <a:xfrm>
            <a:off x="862833" y="727501"/>
            <a:ext cx="1088625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Extensão Direta: Independent Q-Learning</a:t>
            </a:r>
            <a:endParaRPr lang="en-ID" sz="38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287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3A692-FB88-DE83-2349-7BB7D794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AAE3A8E3-F8D3-4133-632B-6F33DC402EF4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Durante o treinamento → agentes podem ter informação compartilhada;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Durante a execução → cada agente age sozinho;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Chamamos isso de </a:t>
            </a:r>
            <a:r>
              <a:rPr lang="en-US" sz="2400" b="1" dirty="0"/>
              <a:t>CTDE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50CDB232-98E1-B136-8892-A792AEEBA095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Treinamento Centralizado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76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435C2-BFF1-2D03-F159-1F4D1549E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04289043-AB24-BC3A-C946-6CC3654724BB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Treino</a:t>
            </a:r>
            <a:r>
              <a:rPr lang="pt-BR" sz="2400" dirty="0"/>
              <a:t>:</a:t>
            </a:r>
            <a:r>
              <a:rPr lang="pt-BR" sz="2400" b="1" dirty="0"/>
              <a:t> </a:t>
            </a:r>
            <a:r>
              <a:rPr lang="pt-BR" sz="2400" dirty="0"/>
              <a:t>agentes + estado global + recompensas compartilhadas;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b="1" dirty="0"/>
              <a:t>Execução</a:t>
            </a:r>
            <a:r>
              <a:rPr lang="pt-BR" sz="2400" dirty="0"/>
              <a:t>:</a:t>
            </a:r>
            <a:r>
              <a:rPr lang="pt-BR" sz="2400" b="1" dirty="0"/>
              <a:t> </a:t>
            </a:r>
            <a:r>
              <a:rPr lang="pt-BR" sz="2400" dirty="0"/>
              <a:t>cada agente observa apenas sua parte e age sozinho.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EB5CDB82-05C2-D30A-8183-2BF94CD7091D}"/>
              </a:ext>
            </a:extLst>
          </p:cNvPr>
          <p:cNvSpPr txBox="1"/>
          <p:nvPr/>
        </p:nvSpPr>
        <p:spPr>
          <a:xfrm>
            <a:off x="862833" y="873125"/>
            <a:ext cx="108862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CTDE (Centralized Training, Decentralized Execution)</a:t>
            </a:r>
            <a:endParaRPr lang="en-ID" sz="3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773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1A638-931E-4B15-5C93-75A40604F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EFF6743D-9CDC-D4E3-B497-0A11A0440FD0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Cada semáforo é um agente;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Recompensa conjunta → fluxo global de tráfego;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Coordenação emerge sem supervisão direta.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95DA904C-9767-77B2-DF83-B430870E818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 Prático: Controle de Tráfego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265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79A2F-7F16-7FCF-B865-D2DBFCB30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71538D5-E1CF-0542-AE17-DD21E2C809F9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StarCraft II → agentes coordenando unidades;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Dota &amp; futebol robótico → agentes competindo e cooperando;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Treino multiagente é essencial para estratégia.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81FBB7B-6C93-D20C-EBA4-6B7B85E27A6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Exemplo Competitivo: Jogos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91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FD38D-30A1-0D95-21EB-644D10434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404C0502-7EA1-BBF5-A23A-1DC0EA1BD36A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Estabilidade e convergência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Comunicação eficiente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Escalabilidade para muitos agentes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Aprendizado sob informação limitada</a:t>
            </a:r>
            <a:r>
              <a:rPr lang="pt-BR" sz="2400" dirty="0"/>
              <a:t>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C9CCDDE3-B0A2-042A-4A01-2AE394E67FD4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Principais Desafios Abertos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50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8DB48-88EE-FBC5-ADC9-920AF032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3">
            <a:extLst>
              <a:ext uri="{FF2B5EF4-FFF2-40B4-BE49-F238E27FC236}">
                <a16:creationId xmlns:a16="http://schemas.microsoft.com/office/drawing/2014/main" id="{9B019F3E-905E-E438-8B8E-793984345E2C}"/>
              </a:ext>
            </a:extLst>
          </p:cNvPr>
          <p:cNvSpPr txBox="1"/>
          <p:nvPr/>
        </p:nvSpPr>
        <p:spPr>
          <a:xfrm>
            <a:off x="947737" y="1682323"/>
            <a:ext cx="10449415" cy="384869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  <a:spcAft>
                <a:spcPts val="1200"/>
              </a:spcAft>
            </a:pPr>
            <a:endParaRPr lang="pt-BR" sz="2400" dirty="0"/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MARL amplia RL para cenários realistas;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Coordenação é essencial</a:t>
            </a:r>
            <a:r>
              <a:rPr lang="pt-BR" sz="2400" dirty="0"/>
              <a:t>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CTDE é o paradigma dominante;</a:t>
            </a:r>
          </a:p>
          <a:p>
            <a:pPr marL="342900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400" dirty="0"/>
              <a:t>Base para estudos avançados em Deep Multi-Agent RL.</a:t>
            </a:r>
          </a:p>
          <a:p>
            <a:pPr marL="800100" lvl="1" indent="-342900">
              <a:lnSpc>
                <a:spcPts val="33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4254FAEA-860C-E540-FEA5-BC01D70CD0AC}"/>
              </a:ext>
            </a:extLst>
          </p:cNvPr>
          <p:cNvSpPr txBox="1"/>
          <p:nvPr/>
        </p:nvSpPr>
        <p:spPr>
          <a:xfrm>
            <a:off x="862833" y="727501"/>
            <a:ext cx="106197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kern="0" dirty="0">
                <a:latin typeface="Montserrat" panose="00000500000000000000" pitchFamily="50" charset="0"/>
                <a:cs typeface="Poppins" panose="02000000000000000000" pitchFamily="2" charset="0"/>
              </a:rPr>
              <a:t>Conclusão</a:t>
            </a:r>
            <a:endParaRPr lang="en-ID" sz="4000" b="1" kern="0" dirty="0">
              <a:latin typeface="Montserrat" panose="00000500000000000000" pitchFamily="50" charset="0"/>
              <a:cs typeface="Poppi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03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d515b78-c394-4c68-913b-64702d1b471e" xsi:nil="true"/>
    <lcf76f155ced4ddcb4097134ff3c332f xmlns="942d5ec7-aacc-4a5b-a58b-71e198b9571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D1042ECD13DF54ABFD3312BD93AC736" ma:contentTypeVersion="14" ma:contentTypeDescription="Crie um novo documento." ma:contentTypeScope="" ma:versionID="c3379b84d20a6d06fcaca77f4d02b37a">
  <xsd:schema xmlns:xsd="http://www.w3.org/2001/XMLSchema" xmlns:xs="http://www.w3.org/2001/XMLSchema" xmlns:p="http://schemas.microsoft.com/office/2006/metadata/properties" xmlns:ns2="942d5ec7-aacc-4a5b-a58b-71e198b95712" xmlns:ns3="dd515b78-c394-4c68-913b-64702d1b471e" targetNamespace="http://schemas.microsoft.com/office/2006/metadata/properties" ma:root="true" ma:fieldsID="5590a7ea86eaf6b97fecbb3d40b5a4d0" ns2:_="" ns3:_="">
    <xsd:import namespace="942d5ec7-aacc-4a5b-a58b-71e198b95712"/>
    <xsd:import namespace="dd515b78-c394-4c68-913b-64702d1b47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5ec7-aacc-4a5b-a58b-71e198b957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553fe116-42e8-49a4-86e5-3f68d57c9f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15b78-c394-4c68-913b-64702d1b471e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de72ad8-281c-4dff-88d1-843eaf0c4a59}" ma:internalName="TaxCatchAll" ma:showField="CatchAllData" ma:web="dd515b78-c394-4c68-913b-64702d1b47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D5DE505-D0D8-4790-B146-C2EEEE8FF146}">
  <ds:schemaRefs>
    <ds:schemaRef ds:uri="http://schemas.microsoft.com/office/2006/metadata/properties"/>
    <ds:schemaRef ds:uri="http://schemas.microsoft.com/office/infopath/2007/PartnerControls"/>
    <ds:schemaRef ds:uri="dd515b78-c394-4c68-913b-64702d1b471e"/>
    <ds:schemaRef ds:uri="942d5ec7-aacc-4a5b-a58b-71e198b95712"/>
  </ds:schemaRefs>
</ds:datastoreItem>
</file>

<file path=customXml/itemProps2.xml><?xml version="1.0" encoding="utf-8"?>
<ds:datastoreItem xmlns:ds="http://schemas.openxmlformats.org/officeDocument/2006/customXml" ds:itemID="{F8EC6890-A52A-49A2-B308-D6BE557AD4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30A762-66A1-4168-9D01-F4AA657944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5ec7-aacc-4a5b-a58b-71e198b95712"/>
    <ds:schemaRef ds:uri="dd515b78-c394-4c68-913b-64702d1b47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12823</TotalTime>
  <Words>368</Words>
  <Application>Microsoft Office PowerPoint</Application>
  <PresentationFormat>Widescreen</PresentationFormat>
  <Paragraphs>77</Paragraphs>
  <Slides>14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4" baseType="lpstr">
      <vt:lpstr>Wingdings</vt:lpstr>
      <vt:lpstr>Calibri</vt:lpstr>
      <vt:lpstr>Montserrat</vt:lpstr>
      <vt:lpstr>Aptos</vt:lpstr>
      <vt:lpstr>Arial</vt:lpstr>
      <vt:lpstr>Cronos Pro</vt:lpstr>
      <vt:lpstr>10_Personalizar design</vt:lpstr>
      <vt:lpstr>5_Personalizar design</vt:lpstr>
      <vt:lpstr>6_Personalizar design</vt:lpstr>
      <vt:lpstr>7_Personalizar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Fernando José Ferreira</cp:lastModifiedBy>
  <cp:revision>91</cp:revision>
  <dcterms:created xsi:type="dcterms:W3CDTF">2025-06-11T21:44:24Z</dcterms:created>
  <dcterms:modified xsi:type="dcterms:W3CDTF">2025-12-18T16:52:19Z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0x0101007D1042ECD13DF54ABFD3312BD93AC736</vt:lpwstr>
  </property>
</Properties>
</file>