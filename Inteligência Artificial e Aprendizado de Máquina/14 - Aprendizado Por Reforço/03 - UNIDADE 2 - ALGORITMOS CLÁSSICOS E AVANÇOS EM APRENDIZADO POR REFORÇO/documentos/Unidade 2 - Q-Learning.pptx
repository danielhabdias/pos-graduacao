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25"/>
  </p:notesMasterIdLst>
  <p:sldIdLst>
    <p:sldId id="268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64" r:id="rId24"/>
  </p:sldIdLst>
  <p:sldSz cx="12192000" cy="6858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ronos Pro" panose="020C0502030403020304" pitchFamily="34" charset="0"/>
      <p:regular r:id="rId31"/>
      <p:bold r:id="rId32"/>
      <p:italic r:id="rId33"/>
    </p:embeddedFont>
    <p:embeddedFont>
      <p:font typeface="Montserrat" panose="00000500000000000000" pitchFamily="50" charset="0"/>
      <p:regular r:id="rId34"/>
      <p:bold r:id="rId35"/>
      <p:italic r:id="rId36"/>
      <p:boldItalic r:id="rId3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84816" autoAdjust="0"/>
  </p:normalViewPr>
  <p:slideViewPr>
    <p:cSldViewPr snapToGrid="0">
      <p:cViewPr varScale="1">
        <p:scale>
          <a:sx n="92" d="100"/>
          <a:sy n="92" d="100"/>
        </p:scale>
        <p:origin x="1056" y="84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14.xml"/><Relationship Id="rId34" Type="http://schemas.openxmlformats.org/officeDocument/2006/relationships/font" Target="fonts/font9.fntdata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95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15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614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62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90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Reforce: “A diferença com SARSA não é o TD, é o alvo.” Essa frase deve ser dita com ênfase</a:t>
                </a:r>
              </a:p>
              <a:p>
                <a:endParaRPr lang="pt-BR" dirty="0"/>
              </a:p>
              <a:p>
                <a:r>
                  <a:rPr lang="en-US" dirty="0"/>
                  <a:t>Esse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𝛿_𝑡</a:t>
                </a:r>
                <a:r>
                  <a:rPr lang="en-US" dirty="0"/>
                  <a:t>continua </a:t>
                </a:r>
                <a:r>
                  <a:rPr lang="en-US" dirty="0" err="1"/>
                  <a:t>sendo</a:t>
                </a:r>
                <a:r>
                  <a:rPr lang="en-US" dirty="0"/>
                  <a:t> o </a:t>
                </a:r>
                <a:r>
                  <a:rPr lang="en-US" dirty="0" err="1"/>
                  <a:t>piloto</a:t>
                </a:r>
                <a:r>
                  <a:rPr lang="en-US" dirty="0"/>
                  <a:t> do </a:t>
                </a:r>
                <a:r>
                  <a:rPr lang="en-US" dirty="0" err="1"/>
                  <a:t>aprendizado</a:t>
                </a:r>
                <a:r>
                  <a:rPr lang="en-US" dirty="0"/>
                  <a:t>. A </a:t>
                </a:r>
                <a:r>
                  <a:rPr lang="en-US" dirty="0" err="1"/>
                  <a:t>diferença</a:t>
                </a:r>
                <a:r>
                  <a:rPr lang="en-US" dirty="0"/>
                  <a:t>, </a:t>
                </a:r>
                <a:r>
                  <a:rPr lang="en-US" dirty="0" err="1"/>
                  <a:t>novamente</a:t>
                </a:r>
                <a:r>
                  <a:rPr lang="en-US" dirty="0"/>
                  <a:t>, </a:t>
                </a:r>
                <a:r>
                  <a:rPr lang="en-US" dirty="0" err="1"/>
                  <a:t>está</a:t>
                </a:r>
                <a:r>
                  <a:rPr lang="en-US" dirty="0"/>
                  <a:t> no </a:t>
                </a:r>
                <a:r>
                  <a:rPr lang="en-US" dirty="0" err="1"/>
                  <a:t>alvo</a:t>
                </a:r>
                <a:r>
                  <a:rPr lang="en-US" dirty="0"/>
                  <a:t>. (pausa) Com </a:t>
                </a:r>
                <a:r>
                  <a:rPr lang="en-US" dirty="0" err="1"/>
                  <a:t>isso</a:t>
                </a:r>
                <a:r>
                  <a:rPr lang="en-US" dirty="0"/>
                  <a:t>, o Q-Learning se </a:t>
                </a:r>
                <a:r>
                  <a:rPr lang="en-US" dirty="0" err="1"/>
                  <a:t>mantém</a:t>
                </a:r>
                <a:r>
                  <a:rPr lang="en-US" dirty="0"/>
                  <a:t> incremental, </a:t>
                </a:r>
                <a:r>
                  <a:rPr lang="en-US" dirty="0" err="1"/>
                  <a:t>estável</a:t>
                </a:r>
                <a:r>
                  <a:rPr lang="en-US" dirty="0"/>
                  <a:t> e </a:t>
                </a:r>
                <a:r>
                  <a:rPr lang="en-US" dirty="0" err="1"/>
                  <a:t>eficiente</a:t>
                </a:r>
                <a:r>
                  <a:rPr lang="en-US" dirty="0"/>
                  <a:t> — mas </a:t>
                </a:r>
                <a:r>
                  <a:rPr lang="en-US" dirty="0" err="1"/>
                  <a:t>mentalmente</a:t>
                </a:r>
                <a:r>
                  <a:rPr lang="en-US" dirty="0"/>
                  <a:t>, </a:t>
                </a:r>
                <a:r>
                  <a:rPr lang="en-US" dirty="0" err="1"/>
                  <a:t>ele</a:t>
                </a:r>
                <a:r>
                  <a:rPr lang="en-US" dirty="0"/>
                  <a:t> sempre ‘</a:t>
                </a:r>
                <a:r>
                  <a:rPr lang="en-US" dirty="0" err="1"/>
                  <a:t>sonha</a:t>
                </a:r>
                <a:r>
                  <a:rPr lang="en-US" dirty="0"/>
                  <a:t> alto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74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88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31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30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46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66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950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708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58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34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55BA4B-DC22-4207-ABC8-3B491F765609}"/>
                  </a:ext>
                </a:extLst>
              </p:cNvPr>
              <p:cNvSpPr txBox="1"/>
              <p:nvPr/>
            </p:nvSpPr>
            <p:spPr>
              <a:xfrm>
                <a:off x="1180010" y="2988814"/>
                <a:ext cx="983197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sz="5400" b="1" i="1" kern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𝑸</m:t>
                    </m:r>
                  </m:oMath>
                </a14:m>
                <a:r>
                  <a:rPr lang="pt-BR" sz="5400" b="1" kern="0" dirty="0">
                    <a:solidFill>
                      <a:schemeClr val="bg1"/>
                    </a:solidFill>
                    <a:latin typeface="Montserrat" panose="00000500000000000000" pitchFamily="50" charset="0"/>
                    <a:cs typeface="Poppins" panose="02000000000000000000" pitchFamily="2" charset="0"/>
                  </a:rPr>
                  <a:t>-Learning</a:t>
                </a:r>
                <a:endParaRPr lang="en-ID" sz="5400" b="1" kern="0" dirty="0">
                  <a:solidFill>
                    <a:schemeClr val="bg1"/>
                  </a:solidFill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55BA4B-DC22-4207-ABC8-3B491F765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010" y="2988814"/>
                <a:ext cx="9831977" cy="923330"/>
              </a:xfrm>
              <a:prstGeom prst="rect">
                <a:avLst/>
              </a:prstGeom>
              <a:blipFill>
                <a:blip r:embed="rId3"/>
                <a:stretch>
                  <a:fillRect t="-18421" b="-38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69F5B64-6542-BA31-2634-410B886A572A}"/>
                  </a:ext>
                </a:extLst>
              </p:cNvPr>
              <p:cNvSpPr txBox="1"/>
              <p:nvPr/>
            </p:nvSpPr>
            <p:spPr>
              <a:xfrm>
                <a:off x="947738" y="1682323"/>
                <a:ext cx="10801350" cy="4448176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Algoritmo TD de controle que aprende valores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400" dirty="0"/>
                  <a:t> visando </a:t>
                </a:r>
                <a:r>
                  <a:rPr lang="en-US" sz="2400" b="1" dirty="0"/>
                  <a:t>maximizar o retorno</a:t>
                </a:r>
                <a:r>
                  <a:rPr lang="pt-BR" sz="2400" dirty="0"/>
                  <a:t>;</a:t>
                </a:r>
              </a:p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Diferente do SARSA, o Q-Learning atualiza usando a </a:t>
                </a:r>
                <a:r>
                  <a:rPr lang="pt-BR" sz="2400" b="1" dirty="0"/>
                  <a:t>melhor ação possível</a:t>
                </a:r>
                <a:r>
                  <a:rPr lang="pt-BR" sz="2400" dirty="0"/>
                  <a:t>, não a ação realmente tomada;</a:t>
                </a:r>
              </a:p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Essa característica faz do Q-Learning um algoritmo </a:t>
                </a:r>
                <a:r>
                  <a:rPr lang="pt-BR" sz="2400" b="1" dirty="0"/>
                  <a:t>off-policy</a:t>
                </a:r>
                <a:r>
                  <a:rPr lang="pt-BR" sz="2400" dirty="0"/>
                  <a:t>, aprendendo como agir idealmente, mesmo durante exploração;</a:t>
                </a:r>
              </a:p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No CliffWalking, esse comportamento se traduz em rotas </a:t>
                </a:r>
                <a:r>
                  <a:rPr lang="pt-BR" sz="2400" b="1" dirty="0"/>
                  <a:t>mais ousadas e curtas</a:t>
                </a:r>
                <a:r>
                  <a:rPr lang="pt-BR" sz="2400" dirty="0"/>
                  <a:t>, mesmo perto do penhasco.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69F5B64-6542-BA31-2634-410B886A5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8" y="1682323"/>
                <a:ext cx="10801350" cy="4448176"/>
              </a:xfrm>
              <a:prstGeom prst="rect">
                <a:avLst/>
              </a:prstGeom>
              <a:blipFill>
                <a:blip r:embed="rId3"/>
                <a:stretch>
                  <a:fillRect l="-734" t="-411" r="-9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4BE71B21-1BC2-F131-95F3-E0702391DA7F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𝑸</m:t>
                    </m:r>
                  </m:oMath>
                </a14:m>
                <a:r>
                  <a:rPr lang="en-US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-Learning: </a:t>
                </a:r>
                <a:r>
                  <a:rPr lang="en-US" sz="36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Controle Off-Policy com TD</a:t>
                </a:r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4BE71B21-1BC2-F131-95F3-E0702391D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4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815B0-8335-71E2-CE4C-847FF71E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35383C6F-1E05-C408-1FC0-49250E02D550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Evolução lógica do controle por TD: </a:t>
            </a:r>
            <a:r>
              <a:rPr lang="pt-BR" sz="2400" b="1" dirty="0"/>
              <a:t>SARSA → Q-Learning → (depois DQN)</a:t>
            </a:r>
            <a:r>
              <a:rPr lang="pt-BR" sz="2400" dirty="0"/>
              <a:t>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Se o SARSA aprende </a:t>
            </a:r>
            <a:r>
              <a:rPr lang="pt-BR" sz="2400" b="1" dirty="0"/>
              <a:t>com o que fez</a:t>
            </a:r>
            <a:r>
              <a:rPr lang="pt-BR" sz="2400" dirty="0"/>
              <a:t>, o Q-Learning aprende </a:t>
            </a:r>
            <a:r>
              <a:rPr lang="pt-BR" sz="2400" b="1" dirty="0"/>
              <a:t>com o que faria de melhor</a:t>
            </a:r>
            <a:r>
              <a:rPr lang="pt-BR" sz="2400" dirty="0"/>
              <a:t>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Esse contraste é fundamental para entender on-policy </a:t>
            </a:r>
            <a:r>
              <a:rPr lang="pt-BR" sz="2400" i="1" dirty="0"/>
              <a:t>vs</a:t>
            </a:r>
            <a:r>
              <a:rPr lang="pt-BR" sz="2400" dirty="0"/>
              <a:t>. off-policy;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CliffWalking continuará sendo nosso laboratório comparativo.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444150C-F697-B4F2-0605-4A2F4D98AA5D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Contexto no Módulo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67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9580-A67A-6B67-5ABB-D618F5927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7DBB7CDF-422D-F5DA-1834-CFC5EDC16BDF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Em SARSA, a exploração influencia diretamente o alvo → política conservadora;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Mas em muitos cenários queremos ações </a:t>
            </a:r>
            <a:r>
              <a:rPr lang="pt-BR" sz="2400" b="1" dirty="0"/>
              <a:t>arrojadas e otimizadas</a:t>
            </a:r>
            <a:r>
              <a:rPr lang="pt-BR" sz="2400" dirty="0"/>
              <a:t>, mesmo convivendo com exploração;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Q-Learning permite </a:t>
            </a:r>
            <a:r>
              <a:rPr lang="pt-BR" sz="2400" b="1" dirty="0"/>
              <a:t>aprender a melhor política</a:t>
            </a:r>
            <a:r>
              <a:rPr lang="pt-BR" sz="2400" dirty="0"/>
              <a:t>, sem ficar preso aos efeitos da exploração;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É ideal quando o objetivo é o </a:t>
            </a:r>
            <a:r>
              <a:rPr lang="pt-BR" sz="2400" b="1" dirty="0"/>
              <a:t>ótimo global</a:t>
            </a:r>
            <a:r>
              <a:rPr lang="pt-BR" sz="2400" dirty="0"/>
              <a:t>, e não apenas “jogar seguro”.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096B3FB1-EDE0-507A-3EF9-61FD13CF943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O Problema que o Q-Learning Resolve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6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A285-79BE-395E-BA58-80AEBA67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EAFA1B6-EA5C-7FBB-05B5-00ACC42F6AD6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)]</m:t>
                          </m:r>
                        </m:e>
                      </m:func>
                    </m:oMath>
                  </m:oMathPara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algn="ctr"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pt-BR" sz="2400" dirty="0"/>
                  <a:t>Destaque no </a:t>
                </a:r>
                <a:r>
                  <a:rPr lang="pt-BR" sz="2400" b="1" dirty="0"/>
                  <a:t>alvo</a:t>
                </a:r>
                <a:r>
                  <a:rPr lang="pt-BR" sz="24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O valor futuro é estimado assumindo a </a:t>
                </a:r>
                <a:r>
                  <a:rPr lang="pt-BR" sz="2400" b="1" dirty="0"/>
                  <a:t>melhor ação possível</a:t>
                </a:r>
                <a:r>
                  <a:rPr lang="pt-BR" sz="2400" dirty="0"/>
                  <a:t>, não a executada;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Isso desconecta aprendizado e comportamento → essência do off-policy.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EAFA1B6-EA5C-7FBB-05B5-00ACC42F6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 b="-53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3008F892-AD55-88CC-6B56-36F7EB55250A}"/>
              </a:ext>
            </a:extLst>
          </p:cNvPr>
          <p:cNvSpPr txBox="1"/>
          <p:nvPr/>
        </p:nvSpPr>
        <p:spPr>
          <a:xfrm>
            <a:off x="947738" y="775725"/>
            <a:ext cx="10619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Atualização do Q-Learning (TD Off-Policy)</a:t>
            </a:r>
            <a:endParaRPr lang="en-ID" sz="36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75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B712B-4707-C2D0-CE26-05C4A27C1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20075138-F397-4FB0-F673-14C76D3153FC}"/>
                  </a:ext>
                </a:extLst>
              </p:cNvPr>
              <p:cNvSpPr txBox="1"/>
              <p:nvPr/>
            </p:nvSpPr>
            <p:spPr>
              <a:xfrm>
                <a:off x="833160" y="1682323"/>
                <a:ext cx="10915927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algn="ctr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pt-BR" sz="2400" dirty="0"/>
              </a:p>
              <a:p>
                <a:pPr algn="ctr"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Estrutura geral do TD se mantém, mudando apenas o alvo;</a:t>
                </a:r>
              </a:p>
              <a:p>
                <a:pPr marL="800100" lvl="1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(</a:t>
                </a:r>
                <a:r>
                  <a:rPr lang="pt-BR" sz="2400" dirty="0"/>
                  <a:t>erros positivos</a:t>
                </a:r>
                <a:r>
                  <a:rPr lang="en-US" sz="2400" dirty="0"/>
                  <a:t>) reforça uma boa previsão;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(</a:t>
                </a:r>
                <a:r>
                  <a:rPr lang="pt-BR" sz="2400" dirty="0"/>
                  <a:t>negativos</a:t>
                </a:r>
                <a:r>
                  <a:rPr lang="en-US" sz="2400" dirty="0"/>
                  <a:t>) corrige previsões ruins</a:t>
                </a:r>
                <a:r>
                  <a:rPr lang="pt-BR" sz="2400" dirty="0"/>
                  <a:t>;</a:t>
                </a:r>
              </a:p>
              <a:p>
                <a:pPr marL="800100" lvl="1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Atualizações incrementais aceleram a convergência.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20075138-F397-4FB0-F673-14C76D315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0" y="1682323"/>
                <a:ext cx="10915927" cy="3848699"/>
              </a:xfrm>
              <a:prstGeom prst="rect">
                <a:avLst/>
              </a:prstGeom>
              <a:blipFill>
                <a:blip r:embed="rId3"/>
                <a:stretch>
                  <a:fillRect r="-838" b="-1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F2066702-9C76-CD12-BEBE-5E4CA2F63FD1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Erro TD no Q-Learning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21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59BB7-506D-69BB-4604-27E1C8AA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8E21BE80-8AD3-FEE6-29B0-B8A97C59F840}"/>
              </a:ext>
            </a:extLst>
          </p:cNvPr>
          <p:cNvSpPr txBox="1"/>
          <p:nvPr/>
        </p:nvSpPr>
        <p:spPr>
          <a:xfrm>
            <a:off x="833160" y="1682323"/>
            <a:ext cx="10915927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Q-Learning </a:t>
            </a:r>
            <a:r>
              <a:rPr lang="pt-BR" sz="2400" b="1" dirty="0"/>
              <a:t>não incorpora o risco da exploração</a:t>
            </a:r>
            <a:r>
              <a:rPr lang="pt-BR" sz="2400" dirty="0"/>
              <a:t> no aprendizado;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Aprende uma política </a:t>
            </a:r>
            <a:r>
              <a:rPr lang="pt-BR" sz="2400" b="1" dirty="0"/>
              <a:t>mais agressiva</a:t>
            </a:r>
            <a:r>
              <a:rPr lang="pt-BR" sz="2400" dirty="0"/>
              <a:t>, focada no melhor retorno possível;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Busca consistentemente rotas curtas e otimizadas, ignorando atalhos perigosos apenas quando a recompensa final não compensa;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No CliffWalking, isso faz o agente “andar na beira do penhasco”.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7187484-F902-B9C3-2E42-CFCBB0079F7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Consequência do Alvo com MAX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61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53BDF-3264-0673-CAA0-F196D2FD2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08489103-82B2-9BA2-5005-B4D0E80EF97F}"/>
              </a:ext>
            </a:extLst>
          </p:cNvPr>
          <p:cNvSpPr txBox="1"/>
          <p:nvPr/>
        </p:nvSpPr>
        <p:spPr>
          <a:xfrm>
            <a:off x="947738" y="752901"/>
            <a:ext cx="108862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Comparação Direta: SARSA </a:t>
            </a:r>
            <a:r>
              <a:rPr lang="pt-BR" sz="3800" b="1" i="1" kern="0" dirty="0">
                <a:latin typeface="Montserrat" panose="00000500000000000000" pitchFamily="50" charset="0"/>
                <a:cs typeface="Poppins" panose="02000000000000000000" pitchFamily="2" charset="0"/>
              </a:rPr>
              <a:t>vs</a:t>
            </a:r>
            <a:r>
              <a:rPr lang="pt-BR" sz="38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. Q-Learning</a:t>
            </a:r>
            <a:endParaRPr lang="en-ID" sz="38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C8456B-5583-4265-A73E-1A598F852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348230"/>
              </p:ext>
            </p:extLst>
          </p:nvPr>
        </p:nvGraphicFramePr>
        <p:xfrm>
          <a:off x="947738" y="2133600"/>
          <a:ext cx="10801350" cy="25908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253570188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859181546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1091521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Característica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SARSA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Q-Learning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84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Política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On-policy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Off-policy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435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Alvo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ação tomada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ação ótima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2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Comportamento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cauteloso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agressivo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010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Trajetória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segura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curta e arriscada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523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120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3974-7CBB-D984-EAFC-9037A7AFE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BF967FD7-AD1A-40AF-DE13-213E9B4A165B}"/>
              </a:ext>
            </a:extLst>
          </p:cNvPr>
          <p:cNvSpPr txBox="1"/>
          <p:nvPr/>
        </p:nvSpPr>
        <p:spPr>
          <a:xfrm>
            <a:off x="947738" y="1682323"/>
            <a:ext cx="10801349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agente pode </a:t>
            </a:r>
            <a:r>
              <a:rPr lang="pt-BR" sz="2400" b="1" dirty="0"/>
              <a:t>explorar à vontade</a:t>
            </a:r>
            <a:r>
              <a:rPr lang="pt-BR" sz="2400" dirty="0"/>
              <a:t>, mas aprender </a:t>
            </a:r>
            <a:r>
              <a:rPr lang="pt-BR" sz="2400" b="1" dirty="0"/>
              <a:t>como se sempre escolhesse o ótimo</a:t>
            </a:r>
            <a:r>
              <a:rPr lang="pt-BR" sz="2400" dirty="0"/>
              <a:t>.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Isso separa:</a:t>
            </a:r>
          </a:p>
          <a:p>
            <a:pPr marL="800100" lvl="1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Comportamento real (exploratório);</a:t>
            </a:r>
          </a:p>
          <a:p>
            <a:pPr marL="800100" lvl="1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Aprendizado ideal (ganancioso).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Estratégia útil quando buscar o ótimo é mais importante do que evitar riscos.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199FC52-CA89-ED22-2147-BE2CD0325A40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Filosofia Off-Policy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681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8980-0889-6581-8D66-410B52258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01BAD5A2-70E1-FDF4-ADB2-495D3AEA3297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Caminho curto: rápido, porém arriscado;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Caminho longo: seguro, porém lento;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SARSA → evita o risco;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b="1" dirty="0"/>
              <a:t>Q-Learning → escolhe o curto, mesmo com risco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C5D56B1-FCA7-81BA-734A-3E8642B1B73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CliffWalking como Laboratório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671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31D8-6EA0-79EF-F60D-CAFC8BD2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9F5FE675-BF08-84E5-2A17-9D1036EF66A0}"/>
              </a:ext>
            </a:extLst>
          </p:cNvPr>
          <p:cNvSpPr txBox="1"/>
          <p:nvPr/>
        </p:nvSpPr>
        <p:spPr>
          <a:xfrm>
            <a:off x="947738" y="1504650"/>
            <a:ext cx="10534886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agente deve “beirar o penhasco” ao longo dos episódios;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Quedas ocorrerão mais no início → faz parte do processo;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Política final terá </a:t>
            </a:r>
            <a:r>
              <a:rPr lang="pt-BR" sz="2400" b="1" dirty="0"/>
              <a:t>rota curta e arrojada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88D7C3A-D3CA-0113-2E9C-36833B7E41E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 err="1">
                <a:latin typeface="Montserrat" panose="00000500000000000000" pitchFamily="50" charset="0"/>
                <a:cs typeface="Poppins" panose="02000000000000000000" pitchFamily="2" charset="0"/>
              </a:rPr>
              <a:t>Expectativa</a:t>
            </a:r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 do Comportamento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740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5858-A775-97C8-4547-A394E278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343749B4-6641-9749-8F3C-787BCC3238FC}"/>
              </a:ext>
            </a:extLst>
          </p:cNvPr>
          <p:cNvSpPr txBox="1"/>
          <p:nvPr/>
        </p:nvSpPr>
        <p:spPr>
          <a:xfrm>
            <a:off x="947738" y="1682323"/>
            <a:ext cx="10801350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Exploração gera dados → aprendizado usa apenas o </a:t>
            </a:r>
            <a:r>
              <a:rPr lang="pt-BR" sz="2400" b="1" dirty="0"/>
              <a:t>melhor desses cenários</a:t>
            </a:r>
            <a:r>
              <a:rPr lang="pt-BR" sz="2400" dirty="0"/>
              <a:t>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comportamento serve apenas como “gerador de experiências”;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aprendizado é </a:t>
            </a:r>
            <a:r>
              <a:rPr lang="pt-BR" sz="2400" b="1" dirty="0"/>
              <a:t>independente</a:t>
            </a:r>
            <a:r>
              <a:rPr lang="pt-BR" sz="2400" dirty="0"/>
              <a:t> da ação exploratória escolhida.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30A7875-6225-7CF7-5454-96EB77C698DD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Anatomia do Off-Policy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168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ED5A1-4C5E-5B75-5BDB-59FC45DA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1A216C21-74F7-C1C6-9454-C3FF61552BA9}"/>
              </a:ext>
            </a:extLst>
          </p:cNvPr>
          <p:cNvSpPr txBox="1"/>
          <p:nvPr/>
        </p:nvSpPr>
        <p:spPr>
          <a:xfrm>
            <a:off x="947739" y="1682323"/>
            <a:ext cx="10449414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Com GLIE, o Q-Learning converge para o ótimo;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É estável e eficiente em muitos domínios;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Base de diversos algoritmos modernos, incluindo </a:t>
            </a:r>
            <a:r>
              <a:rPr lang="pt-BR" sz="2400" b="1" dirty="0"/>
              <a:t>DQN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61E9B22-E777-56B5-A6CD-D5D24F420509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Convergência do Q-Learning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747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AC8E-6B41-FE18-5B7E-FE3EE8E1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0091CAB-0102-DBFF-F843-3C28D3A07254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Observar → Escolher ação → Receber recompensa → Atualizar com MAX → Repetir;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TD incremental, aprendizado contínuo</a:t>
            </a:r>
            <a:r>
              <a:rPr lang="pt-BR" sz="2400" dirty="0"/>
              <a:t>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Simples e poderoso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A6970C86-D303-753D-985D-9C34A56B9EAB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Ciclo do </a:t>
                </a:r>
                <a14:m>
                  <m:oMath xmlns:m="http://schemas.openxmlformats.org/officeDocument/2006/math">
                    <m:r>
                      <a:rPr lang="en-US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𝑸</m:t>
                    </m:r>
                  </m:oMath>
                </a14:m>
                <a:r>
                  <a:rPr lang="en-US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-Learning</a:t>
                </a:r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A6970C86-D303-753D-985D-9C34A56B9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3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660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D6367-DAD5-D33B-E4B5-37BC6560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28B7BAE4-BA5C-823B-EFB0-C957438B5CC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Pontos Fortes e Fracos do Q-Learning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EA9C83-4456-9BB2-C81D-B55BF8210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899712"/>
              </p:ext>
            </p:extLst>
          </p:nvPr>
        </p:nvGraphicFramePr>
        <p:xfrm>
          <a:off x="947737" y="2283460"/>
          <a:ext cx="10801352" cy="29260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400676">
                  <a:extLst>
                    <a:ext uri="{9D8B030D-6E8A-4147-A177-3AD203B41FA5}">
                      <a16:colId xmlns:a16="http://schemas.microsoft.com/office/drawing/2014/main" val="1650498972"/>
                    </a:ext>
                  </a:extLst>
                </a:gridCol>
                <a:gridCol w="5400676">
                  <a:extLst>
                    <a:ext uri="{9D8B030D-6E8A-4147-A177-3AD203B41FA5}">
                      <a16:colId xmlns:a16="http://schemas.microsoft.com/office/drawing/2014/main" val="417389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Fortes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Fracos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680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Busca o </a:t>
                      </a:r>
                      <a:r>
                        <a:rPr lang="en-US" sz="2400" b="1" dirty="0"/>
                        <a:t>ótimo global</a:t>
                      </a:r>
                      <a:r>
                        <a:rPr lang="en-US" sz="2400" b="0" dirty="0"/>
                        <a:t>.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Pode se aproximar demais de áreas perigosas.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7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Indiferente ao comportamento exploratório.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Nem sempre é desejável em contextos que exigem segurança.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44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Funciona bem em diversos ambientes.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Exploração pode gerar grandes punições iniciais.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983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115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0CC46-BD03-B6D6-723D-71CCD5ED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D13BD45A-21EF-458B-8BC3-41541B7DEF69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Off-policy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Alvo com MAX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Política agressiva;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Busca ótimo global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CCAA219-9708-E1E9-9093-8B9DAF6D69C5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Resumo do Q-Learning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21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8D6C28-71BE-488F-BC00-E8F195073C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4C27D7-C6A0-4806-A039-20E067465E63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customXml/itemProps3.xml><?xml version="1.0" encoding="utf-8"?>
<ds:datastoreItem xmlns:ds="http://schemas.openxmlformats.org/officeDocument/2006/customXml" ds:itemID="{6093D737-0A20-4477-BE51-FACE0CBAFB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12751</TotalTime>
  <Words>681</Words>
  <Application>Microsoft Office PowerPoint</Application>
  <PresentationFormat>Widescreen</PresentationFormat>
  <Paragraphs>115</Paragraphs>
  <Slides>17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17</vt:i4>
      </vt:variant>
    </vt:vector>
  </HeadingPairs>
  <TitlesOfParts>
    <vt:vector size="28" baseType="lpstr">
      <vt:lpstr>Wingdings</vt:lpstr>
      <vt:lpstr>Calibri</vt:lpstr>
      <vt:lpstr>Montserrat</vt:lpstr>
      <vt:lpstr>Aptos</vt:lpstr>
      <vt:lpstr>Cambria Math</vt:lpstr>
      <vt:lpstr>Arial</vt:lpstr>
      <vt:lpstr>Cronos Pro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91</cp:revision>
  <dcterms:created xsi:type="dcterms:W3CDTF">2025-06-11T21:44:24Z</dcterms:created>
  <dcterms:modified xsi:type="dcterms:W3CDTF">2025-12-18T16:51:02Z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