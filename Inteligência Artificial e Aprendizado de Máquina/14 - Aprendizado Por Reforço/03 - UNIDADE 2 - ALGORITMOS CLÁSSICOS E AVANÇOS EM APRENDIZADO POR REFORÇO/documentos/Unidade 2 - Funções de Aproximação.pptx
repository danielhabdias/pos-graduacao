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0"/>
  </p:notesMasterIdLst>
  <p:sldIdLst>
    <p:sldId id="26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64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mbria Math" panose="02040503050406030204" pitchFamily="18" charset="0"/>
      <p:regular r:id="rId25"/>
    </p:embeddedFont>
    <p:embeddedFont>
      <p:font typeface="Cronos Pro" panose="020C0502030403020304" pitchFamily="34" charset="0"/>
      <p:regular r:id="rId26"/>
      <p:bold r:id="rId27"/>
      <p:italic r:id="rId28"/>
    </p:embeddedFont>
    <p:embeddedFont>
      <p:font typeface="Montserrat" panose="00000500000000000000" pitchFamily="50" charset="0"/>
      <p:regular r:id="rId29"/>
      <p:bold r:id="rId30"/>
      <p:italic r:id="rId31"/>
      <p:boldItalic r:id="rId3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84816" autoAdjust="0"/>
  </p:normalViewPr>
  <p:slideViewPr>
    <p:cSldViewPr snapToGrid="0">
      <p:cViewPr varScale="1">
        <p:scale>
          <a:sx n="92" d="100"/>
          <a:sy n="92" d="100"/>
        </p:scale>
        <p:origin x="1056" y="84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1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BEC6A-003F-DB32-A5F1-77B139C7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DA7E7-2EEB-CEFA-14D2-239D77F3F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314512-A49E-4408-55AB-DAA6DA691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AA356-D40F-3B82-A71F-F64F00050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699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B49D8-BF2D-4AF1-409B-A2227C893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ECFE7-6E87-2397-2C0F-C1C3B8F3CF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6D6DA-B7C9-45AE-D22E-A1760F7A5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B5B9A-16B7-9FD5-23DF-8B2B33FDA3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24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5F843-C765-C400-8817-DC09084EA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95CB37-1E97-220D-83CE-2D13E3100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2DBE5-21DC-B043-CA26-601465EB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B9E7F-8053-9FF0-B42A-CAB024C93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A473-9100-2AB0-0015-ED22FD79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779418-B0BE-29F4-5C25-E1DDFD3C8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86991-F859-938E-61A1-A03196963B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B96E7-E221-4AA6-CAF1-097015BCF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880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014C-D529-2989-9207-2C3BAEFB3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601E4B-E3CF-A555-88E3-DAAAD907F4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9A98245-C4EB-065E-F306-ABA56372A6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9A98245-C4EB-065E-F306-ABA56372A6B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Agora, </a:t>
                </a:r>
                <a:r>
                  <a:rPr lang="en-US" dirty="0" err="1"/>
                  <a:t>ao</a:t>
                </a:r>
                <a:r>
                  <a:rPr lang="en-US" dirty="0"/>
                  <a:t> </a:t>
                </a:r>
                <a:r>
                  <a:rPr lang="en-US" dirty="0" err="1"/>
                  <a:t>invés</a:t>
                </a:r>
                <a:r>
                  <a:rPr lang="en-US" dirty="0"/>
                  <a:t> de </a:t>
                </a:r>
                <a:r>
                  <a:rPr lang="en-US" dirty="0" err="1"/>
                  <a:t>atualizar</a:t>
                </a:r>
                <a:r>
                  <a:rPr lang="en-US" dirty="0"/>
                  <a:t> </a:t>
                </a:r>
                <a:r>
                  <a:rPr lang="en-US" dirty="0" err="1"/>
                  <a:t>uma</a:t>
                </a:r>
                <a:r>
                  <a:rPr lang="en-US" dirty="0"/>
                  <a:t> entrada da </a:t>
                </a:r>
                <a:r>
                  <a:rPr lang="en-US" dirty="0" err="1"/>
                  <a:t>tabela</a:t>
                </a:r>
                <a:r>
                  <a:rPr lang="en-US" dirty="0"/>
                  <a:t>, </a:t>
                </a:r>
                <a:r>
                  <a:rPr lang="en-US" dirty="0" err="1"/>
                  <a:t>atualizamos</a:t>
                </a:r>
                <a:r>
                  <a:rPr lang="en-US" dirty="0"/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</a:t>
                </a:r>
                <a:r>
                  <a:rPr lang="en-US" b="1" dirty="0"/>
                  <a:t>pesos</a:t>
                </a:r>
                <a:r>
                  <a:rPr lang="en-US" dirty="0"/>
                  <a:t> da </a:t>
                </a:r>
                <a:r>
                  <a:rPr lang="en-US" dirty="0" err="1"/>
                  <a:t>função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O </a:t>
                </a:r>
                <a:r>
                  <a:rPr lang="en-US" dirty="0" err="1"/>
                  <a:t>termo</a:t>
                </a:r>
                <a:r>
                  <a:rPr lang="en-US" dirty="0"/>
                  <a:t>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(𝑣_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"target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−𝑉 ̂(𝑠ⓜ;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𝐰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))</a:t>
                </a:r>
                <a:r>
                  <a:rPr lang="en-US" dirty="0"/>
                  <a:t>é o </a:t>
                </a:r>
                <a:r>
                  <a:rPr lang="en-US" dirty="0" err="1"/>
                  <a:t>erro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 err="1"/>
                  <a:t>Multiplicamos</a:t>
                </a:r>
                <a:r>
                  <a:rPr lang="en-US" dirty="0"/>
                  <a:t> esse </a:t>
                </a:r>
                <a:r>
                  <a:rPr lang="en-US" dirty="0" err="1"/>
                  <a:t>erro</a:t>
                </a:r>
                <a:r>
                  <a:rPr lang="en-US" dirty="0"/>
                  <a:t> </a:t>
                </a:r>
                <a:r>
                  <a:rPr lang="en-US" dirty="0" err="1"/>
                  <a:t>pelas</a:t>
                </a:r>
                <a:r>
                  <a:rPr lang="en-US" dirty="0"/>
                  <a:t> </a:t>
                </a:r>
                <a:r>
                  <a:rPr lang="en-US" dirty="0" err="1"/>
                  <a:t>características</a:t>
                </a:r>
                <a:r>
                  <a:rPr lang="en-US" dirty="0"/>
                  <a:t> do </a:t>
                </a:r>
                <a:r>
                  <a:rPr lang="en-US" dirty="0" err="1"/>
                  <a:t>estado</a:t>
                </a:r>
                <a:r>
                  <a:rPr lang="en-US" dirty="0"/>
                  <a:t> e </a:t>
                </a:r>
                <a:r>
                  <a:rPr lang="en-US" dirty="0" err="1"/>
                  <a:t>ajustamos</a:t>
                </a:r>
                <a:r>
                  <a:rPr lang="en-US" dirty="0"/>
                  <a:t> </a:t>
                </a:r>
                <a:r>
                  <a:rPr lang="en-US" dirty="0" err="1"/>
                  <a:t>os</a:t>
                </a:r>
                <a:r>
                  <a:rPr lang="en-US" dirty="0"/>
                  <a:t> pesos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direção</a:t>
                </a:r>
                <a:r>
                  <a:rPr lang="en-US" dirty="0"/>
                  <a:t> </a:t>
                </a:r>
                <a:r>
                  <a:rPr lang="en-US" dirty="0" err="1"/>
                  <a:t>que</a:t>
                </a:r>
                <a:r>
                  <a:rPr lang="en-US" dirty="0"/>
                  <a:t> </a:t>
                </a:r>
                <a:r>
                  <a:rPr lang="en-US" dirty="0" err="1"/>
                  <a:t>reduz</a:t>
                </a:r>
                <a:r>
                  <a:rPr lang="en-US" dirty="0"/>
                  <a:t> esse </a:t>
                </a:r>
                <a:r>
                  <a:rPr lang="en-US" dirty="0" err="1"/>
                  <a:t>erro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É o </a:t>
                </a:r>
                <a:r>
                  <a:rPr lang="en-US" dirty="0" err="1"/>
                  <a:t>mesmo</a:t>
                </a:r>
                <a:r>
                  <a:rPr lang="en-US" dirty="0"/>
                  <a:t> </a:t>
                </a:r>
                <a:r>
                  <a:rPr lang="en-US" dirty="0" err="1"/>
                  <a:t>princípio</a:t>
                </a:r>
                <a:r>
                  <a:rPr lang="en-US" dirty="0"/>
                  <a:t> do </a:t>
                </a:r>
                <a:r>
                  <a:rPr lang="en-US" dirty="0" err="1"/>
                  <a:t>gradiente</a:t>
                </a:r>
                <a:r>
                  <a:rPr lang="en-US" dirty="0"/>
                  <a:t> </a:t>
                </a:r>
                <a:r>
                  <a:rPr lang="en-US" dirty="0" err="1"/>
                  <a:t>descendente</a:t>
                </a:r>
                <a:r>
                  <a:rPr lang="en-US" dirty="0"/>
                  <a:t> </a:t>
                </a:r>
                <a:r>
                  <a:rPr lang="en-US" dirty="0" err="1"/>
                  <a:t>em</a:t>
                </a:r>
                <a:r>
                  <a:rPr lang="en-US" dirty="0"/>
                  <a:t> </a:t>
                </a:r>
                <a:r>
                  <a:rPr lang="en-US" dirty="0" err="1"/>
                  <a:t>aprendizado</a:t>
                </a:r>
                <a:r>
                  <a:rPr lang="en-US" dirty="0"/>
                  <a:t> </a:t>
                </a:r>
                <a:r>
                  <a:rPr lang="en-US" dirty="0" err="1"/>
                  <a:t>supervisionado</a:t>
                </a:r>
                <a:r>
                  <a:rPr lang="en-US" dirty="0"/>
                  <a:t> — </a:t>
                </a:r>
                <a:r>
                  <a:rPr lang="en-US" dirty="0" err="1"/>
                  <a:t>porque</a:t>
                </a:r>
                <a:r>
                  <a:rPr lang="en-US" dirty="0"/>
                  <a:t>, </a:t>
                </a:r>
                <a:r>
                  <a:rPr lang="en-US" dirty="0" err="1"/>
                  <a:t>na</a:t>
                </a:r>
                <a:r>
                  <a:rPr lang="en-US" dirty="0"/>
                  <a:t> </a:t>
                </a:r>
                <a:r>
                  <a:rPr lang="en-US" dirty="0" err="1"/>
                  <a:t>prática</a:t>
                </a:r>
                <a:r>
                  <a:rPr lang="en-US" dirty="0"/>
                  <a:t>, </a:t>
                </a:r>
                <a:r>
                  <a:rPr lang="en-US" dirty="0" err="1"/>
                  <a:t>estamos</a:t>
                </a:r>
                <a:r>
                  <a:rPr lang="en-US" dirty="0"/>
                  <a:t> </a:t>
                </a:r>
                <a:r>
                  <a:rPr lang="en-US" dirty="0" err="1"/>
                  <a:t>fazendo</a:t>
                </a:r>
                <a:r>
                  <a:rPr lang="en-US" dirty="0"/>
                  <a:t> </a:t>
                </a:r>
                <a:r>
                  <a:rPr lang="en-US" b="1" i="1" dirty="0" err="1"/>
                  <a:t>regressão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em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valores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C70BB-C0A5-ED19-A837-511784869B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27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DFCF5-8D2B-A9A6-2E4E-134A14EE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72447-3059-6838-9B61-43E4CE8AC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682A1-A931-08E5-3AC7-AED29B68B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8B170-FC0B-6C50-4295-D99F8E6DF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75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5A51-29F1-BCB0-A2AA-CDAAE2E3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E4A20-1345-478B-4481-D042B7AF0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12884-6F36-36C2-723C-CE6FCF290B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5F54B-66A1-CDA9-6B2A-5BDF3804E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717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7B3D-75E2-B90E-7813-EBB0E8B0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23596-26EE-D627-F130-4FE4B9F82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63FF4-2BF2-37F8-98B5-DF557AD8D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A2812-8B37-52A5-1FE8-79FFEA7A8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46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D3CD-EE64-6F21-7913-B41C62FA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CD5E08-42D3-C03C-703A-DD7B4A7A8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A15DA-8EAF-9354-ED28-A0650B8DF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0E0E6-BF34-058F-6541-0AB505837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77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0" y="2988814"/>
            <a:ext cx="98319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Funções de Aproximação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69F5B64-6542-BA31-2634-410B886A572A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801351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Métodos tabulares funcionam apenas quando o número de estados é pequeno;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Em muitos problemas reais, o espaço de estados é </a:t>
                </a:r>
                <a:r>
                  <a:rPr lang="pt-BR" sz="2400" b="1" dirty="0"/>
                  <a:t>contínuo</a:t>
                </a:r>
                <a:r>
                  <a:rPr lang="pt-BR" sz="2400" dirty="0"/>
                  <a:t> ou </a:t>
                </a:r>
                <a:r>
                  <a:rPr lang="pt-BR" sz="2400" b="1" dirty="0"/>
                  <a:t>gigantesco</a:t>
                </a:r>
                <a:r>
                  <a:rPr lang="pt-BR" sz="2400" dirty="0"/>
                  <a:t>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Precisamos de modelos que </a:t>
                </a:r>
                <a:r>
                  <a:rPr lang="pt-BR" sz="2400" b="1" dirty="0"/>
                  <a:t>generalizem</a:t>
                </a:r>
                <a:r>
                  <a:rPr lang="pt-BR" sz="2400" dirty="0"/>
                  <a:t> a partir da experiência;</a:t>
                </a:r>
              </a:p>
              <a:p>
                <a:pPr marL="342900" indent="-342900" algn="just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Usar </a:t>
                </a:r>
                <a:r>
                  <a:rPr lang="pt-BR" sz="2400" b="1" dirty="0"/>
                  <a:t>funções parametrizadas</a:t>
                </a:r>
                <a:r>
                  <a:rPr lang="pt-BR" sz="2400" dirty="0"/>
                  <a:t> para aproximar valores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sz="2400" dirty="0"/>
                  <a:t>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E69F5B64-6542-BA31-2634-410B886A5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801351" cy="3848699"/>
              </a:xfrm>
              <a:prstGeom prst="rect">
                <a:avLst/>
              </a:prstGeom>
              <a:blipFill>
                <a:blip r:embed="rId3"/>
                <a:stretch>
                  <a:fillRect l="-734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Funções de Aproximação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B2591-FF4C-1269-4493-40A4D3FB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7FF2110-DFB5-4C20-5F18-72A3AD547E3F}"/>
                  </a:ext>
                </a:extLst>
              </p:cNvPr>
              <p:cNvSpPr txBox="1"/>
              <p:nvPr/>
            </p:nvSpPr>
            <p:spPr>
              <a:xfrm>
                <a:off x="948020" y="1435387"/>
                <a:ext cx="10449415" cy="408321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Tabelas assumem: cada estado possui uma entrada explícita;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Estados semelhantes são tratados como completamente diferentes;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Escalabilidade limitada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Armazenar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ou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400" dirty="0"/>
                  <a:t> passa a ser </a:t>
                </a:r>
                <a:r>
                  <a:rPr lang="en-US" sz="2400" b="1" dirty="0"/>
                  <a:t>impossível</a:t>
                </a:r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Ineficiente para ambientes reais;</a:t>
                </a: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Solução: representar o valor com </a:t>
                </a:r>
                <a:r>
                  <a:rPr lang="pt-BR" sz="2400" b="1" dirty="0"/>
                  <a:t>parâmetros ajustáveis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7FF2110-DFB5-4C20-5F18-72A3AD547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20" y="1435387"/>
                <a:ext cx="10449415" cy="4083210"/>
              </a:xfrm>
              <a:prstGeom prst="rect">
                <a:avLst/>
              </a:prstGeom>
              <a:blipFill>
                <a:blip r:embed="rId3"/>
                <a:stretch>
                  <a:fillRect l="-817" t="-4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319AE32A-C191-ADFC-ECE1-32BE0DD6FE6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Limitações dos Métodos Tabulares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31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72006-ED75-47E9-1AEA-0E346A9A9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6403905-5F14-8DA8-EDB7-7554A2822E5A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r>
                        <a:rPr lang="pt-BR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pt-BR" sz="2400" b="1" i="1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pt-BR" sz="2400" i="1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pt-BR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 função é definida por </a:t>
                </a:r>
                <a:r>
                  <a:rPr lang="pt-BR" sz="2400" b="1" dirty="0"/>
                  <a:t>parâmetros </a:t>
                </a:r>
                <a:r>
                  <a:rPr lang="en-US" sz="2400" dirty="0"/>
                  <a:t>ajustáveis:</a:t>
                </a:r>
                <a:r>
                  <a:rPr lang="pt-BR" sz="2400" dirty="0"/>
                  <a:t> </a:t>
                </a:r>
                <a14:m>
                  <m:oMath xmlns:m="http://schemas.openxmlformats.org/officeDocument/2006/math">
                    <m:r>
                      <a:rPr lang="pt-BR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pt-BR" sz="2400" dirty="0"/>
                  <a:t>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Aprender RL agora significa </a:t>
                </a:r>
                <a:r>
                  <a:rPr lang="pt-BR" sz="2400" b="1" dirty="0"/>
                  <a:t>ajustar parâmetros</a:t>
                </a:r>
                <a:r>
                  <a:rPr lang="pt-BR" sz="2400" dirty="0"/>
                  <a:t>, não preencher tabelas.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6403905-5F14-8DA8-EDB7-7554A2822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3691BE3F-D520-CB21-A699-1B774244F05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Ideia Central da Aproximação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05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BCE6-7EED-F43B-CC59-03E9813FE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">
            <a:extLst>
              <a:ext uri="{FF2B5EF4-FFF2-40B4-BE49-F238E27FC236}">
                <a16:creationId xmlns:a16="http://schemas.microsoft.com/office/drawing/2014/main" id="{419C3E59-705C-68EC-4E4D-73325E03298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Tipos de Funções de Aproximação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4040EF-DAF0-236D-6FE9-1E126CC15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255522"/>
              </p:ext>
            </p:extLst>
          </p:nvPr>
        </p:nvGraphicFramePr>
        <p:xfrm>
          <a:off x="947738" y="2512636"/>
          <a:ext cx="10801350" cy="294524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488123879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3844365711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3548955467"/>
                    </a:ext>
                  </a:extLst>
                </a:gridCol>
              </a:tblGrid>
              <a:tr h="384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Método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Prós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Contras</a:t>
                      </a:r>
                    </a:p>
                  </a:txBody>
                  <a:tcPr marL="96231" marR="96231" marT="48116" marB="48116" anchor="ctr"/>
                </a:tc>
                <a:extLst>
                  <a:ext uri="{0D108BD9-81ED-4DB2-BD59-A6C34878D82A}">
                    <a16:rowId xmlns:a16="http://schemas.microsoft.com/office/drawing/2014/main" val="4107162760"/>
                  </a:ext>
                </a:extLst>
              </a:tr>
              <a:tr h="384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Linear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Simples, convergência estável, eficiente.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Capacidade limitada.</a:t>
                      </a:r>
                    </a:p>
                  </a:txBody>
                  <a:tcPr marL="96231" marR="96231" marT="48116" marB="48116" anchor="ctr"/>
                </a:tc>
                <a:extLst>
                  <a:ext uri="{0D108BD9-81ED-4DB2-BD59-A6C34878D82A}">
                    <a16:rowId xmlns:a16="http://schemas.microsoft.com/office/drawing/2014/main" val="3295120050"/>
                  </a:ext>
                </a:extLst>
              </a:tr>
              <a:tr h="673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Features polinomiais/manuais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Melhor quando conhecemos o domínio.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Depende de engenharia de features.</a:t>
                      </a:r>
                    </a:p>
                  </a:txBody>
                  <a:tcPr marL="96231" marR="96231" marT="48116" marB="48116" anchor="ctr"/>
                </a:tc>
                <a:extLst>
                  <a:ext uri="{0D108BD9-81ED-4DB2-BD59-A6C34878D82A}">
                    <a16:rowId xmlns:a16="http://schemas.microsoft.com/office/drawing/2014/main" val="282050091"/>
                  </a:ext>
                </a:extLst>
              </a:tr>
              <a:tr h="384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Redes Neurais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Alta capacidade → Deep RL.</a:t>
                      </a:r>
                    </a:p>
                  </a:txBody>
                  <a:tcPr marL="96231" marR="96231" marT="48116" marB="48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400" dirty="0"/>
                        <a:t>Pode ser instável ou divergir.</a:t>
                      </a:r>
                    </a:p>
                  </a:txBody>
                  <a:tcPr marL="96231" marR="96231" marT="48116" marB="48116" anchor="ctr"/>
                </a:tc>
                <a:extLst>
                  <a:ext uri="{0D108BD9-81ED-4DB2-BD59-A6C34878D82A}">
                    <a16:rowId xmlns:a16="http://schemas.microsoft.com/office/drawing/2014/main" val="3952972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102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7CFB-0849-EBAF-EFA0-80BB4F3D8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5E00D03-0089-86AC-1C0C-BD130DEBDC93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/>
                            <m:t>⊤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pt-BR" sz="2400" dirty="0">
                  <a:ea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x(s): vetor de características (features);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w: pesos ajustáveis durante o aprendizado;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Ajustamos </a:t>
                </a:r>
                <a14:m>
                  <m:oMath xmlns:m="http://schemas.openxmlformats.org/officeDocument/2006/math">
                    <m:r>
                      <a:rPr lang="pt-BR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pt-BR" sz="2400" dirty="0"/>
                  <a:t> usando </a:t>
                </a:r>
                <a:r>
                  <a:rPr lang="pt-BR" sz="2400" b="1" dirty="0"/>
                  <a:t>gradiente descendente</a:t>
                </a:r>
                <a:r>
                  <a:rPr lang="pt-BR" sz="2400" dirty="0"/>
                  <a:t>.</a:t>
                </a:r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C5E00D03-0089-86AC-1C0C-BD130DEBD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363E451C-6685-BD61-544E-301C5934BAC9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Aproximação Linear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874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F86E5-8EBB-3CB9-ED8C-CA7910293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FA225A3-CE79-6E1F-B378-1336554FEFCD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Queremos minimizar o erro quadrático: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  <a:p>
                <a:pPr lvl="1"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𝜐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𝑡𝑎𝑟𝑔𝑒𝑡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4FA225A3-CE79-6E1F-B378-1336554FE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885DB94B-A5B9-0FCA-D0F6-DCFD9BDAD73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Atualização por Gradiente (Prediction)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22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DE86B-8DF5-6A89-3665-B9CAD187C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58E7EA4E-A6D6-5B08-C3A5-DC20E4BEB9C8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Substituímos “valor tabular” pela função parametrizada:</a:t>
                </a:r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acc>
                        <m:accPr>
                          <m:chr m:val="̂"/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𝛼𝛿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  <a:p>
                <a:pPr marL="800100" lvl="1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58E7EA4E-A6D6-5B08-C3A5-DC20E4BEB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 t="-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47105B00-9666-BCCA-A7A1-2980580B4CF2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>
                <a:latin typeface="Montserrat" panose="00000500000000000000" pitchFamily="50" charset="0"/>
                <a:cs typeface="Poppins" panose="02000000000000000000" pitchFamily="2" charset="0"/>
              </a:rPr>
              <a:t>TD(0) com Função de Aproximação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85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BF5E5-4AC3-9DB0-802F-5D3216D2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7AC7C195-0E69-A04E-ED69-8432D2F907BF}"/>
                  </a:ext>
                </a:extLst>
              </p:cNvPr>
              <p:cNvSpPr txBox="1"/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acc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sz="2400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en-US" sz="2400"/>
                            <m:t>⊤</m:t>
                          </m:r>
                        </m:sup>
                      </m:sSup>
                      <m:r>
                        <a:rPr lang="pt-BR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>
                  <a:lnSpc>
                    <a:spcPts val="3300"/>
                  </a:lnSpc>
                  <a:spcAft>
                    <a:spcPts val="1200"/>
                  </a:spcAft>
                </a:pPr>
                <a:endParaRPr lang="pt-BR" sz="2400" dirty="0"/>
              </a:p>
              <a:p>
                <a:pPr marL="342900" indent="-342900">
                  <a:lnSpc>
                    <a:spcPts val="3300"/>
                  </a:lnSpc>
                  <a:spcAft>
                    <a:spcPts val="1200"/>
                  </a:spcAft>
                  <a:buFont typeface="Wingdings" panose="05000000000000000000" pitchFamily="2" charset="2"/>
                  <a:buChar char="§"/>
                </a:pPr>
                <a:r>
                  <a:rPr lang="en-US" sz="2400" dirty="0"/>
                  <a:t>Aplicável a SARSA, Q-Learning e Expected SARSA.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TextBox 43">
                <a:extLst>
                  <a:ext uri="{FF2B5EF4-FFF2-40B4-BE49-F238E27FC236}">
                    <a16:creationId xmlns:a16="http://schemas.microsoft.com/office/drawing/2014/main" id="{7AC7C195-0E69-A04E-ED69-8432D2F90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737" y="1682323"/>
                <a:ext cx="10449415" cy="3848699"/>
              </a:xfrm>
              <a:prstGeom prst="rect">
                <a:avLst/>
              </a:prstGeom>
              <a:blipFill>
                <a:blip r:embed="rId3"/>
                <a:stretch>
                  <a:fillRect l="-7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1">
            <a:extLst>
              <a:ext uri="{FF2B5EF4-FFF2-40B4-BE49-F238E27FC236}">
                <a16:creationId xmlns:a16="http://schemas.microsoft.com/office/drawing/2014/main" id="{B9B551C1-5367-B942-A6D5-1DC498FC29E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Aproximação para Q (s, a)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325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47D2A-8054-0DFB-0FD4-14B4873A1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159BA7E-60AA-BB33-F878-1921FD001835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 função pode aprender padrões úteis → </a:t>
            </a:r>
            <a:r>
              <a:rPr lang="pt-BR" sz="2400" b="1" dirty="0"/>
              <a:t>generalização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Mas também pode aprender ruído → </a:t>
            </a:r>
            <a:r>
              <a:rPr lang="pt-BR" sz="2400" b="1" dirty="0"/>
              <a:t>overfitting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Escolha de features é crucial.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959A27B6-2AD0-71CA-D895-B43D661613D6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Generalização </a:t>
            </a:r>
            <a:r>
              <a:rPr lang="pt-BR" sz="4000" b="1" i="1" kern="0" dirty="0">
                <a:latin typeface="Montserrat" panose="00000500000000000000" pitchFamily="50" charset="0"/>
                <a:cs typeface="Poppins" panose="02000000000000000000" pitchFamily="2" charset="0"/>
              </a:rPr>
              <a:t>vs</a:t>
            </a:r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. Overfitting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232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D96C9-133D-2A8D-1E58-765D9535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98741A1-9E79-57EF-3C40-EFBB47E14083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Substituímos a função linear por uma rede neural;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 lógica de atualização continua sendo </a:t>
            </a:r>
            <a:r>
              <a:rPr lang="pt-BR" sz="2400" b="1" dirty="0"/>
              <a:t>gradiente do erro TD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A2F0BF9-5D0B-B0A6-1ABF-A786FF5555F1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Deep Q-Network (DQN)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895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37ED4D-47C7-46F7-B246-E0E8418433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FFA3FF-CE01-4D1A-9CD3-7C43307B7812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3.xml><?xml version="1.0" encoding="utf-8"?>
<ds:datastoreItem xmlns:ds="http://schemas.openxmlformats.org/officeDocument/2006/customXml" ds:itemID="{7D00FE49-C73B-4FFB-B6E8-A36CBB4067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12845</TotalTime>
  <Words>376</Words>
  <Application>Microsoft Office PowerPoint</Application>
  <PresentationFormat>Widescreen</PresentationFormat>
  <Paragraphs>72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12</vt:i4>
      </vt:variant>
    </vt:vector>
  </HeadingPairs>
  <TitlesOfParts>
    <vt:vector size="23" baseType="lpstr">
      <vt:lpstr>Wingdings</vt:lpstr>
      <vt:lpstr>Calibri</vt:lpstr>
      <vt:lpstr>Montserrat</vt:lpstr>
      <vt:lpstr>Aptos</vt:lpstr>
      <vt:lpstr>Cambria Math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90</cp:revision>
  <dcterms:created xsi:type="dcterms:W3CDTF">2025-06-11T21:44:24Z</dcterms:created>
  <dcterms:modified xsi:type="dcterms:W3CDTF">2025-12-18T16:49:39Z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