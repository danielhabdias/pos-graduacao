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7"/>
  </p:notesMasterIdLst>
  <p:sldIdLst>
    <p:sldId id="1173" r:id="rId5"/>
    <p:sldId id="297" r:id="rId6"/>
    <p:sldId id="1201" r:id="rId7"/>
    <p:sldId id="1190" r:id="rId8"/>
    <p:sldId id="1194" r:id="rId9"/>
    <p:sldId id="1204" r:id="rId10"/>
    <p:sldId id="1202" r:id="rId11"/>
    <p:sldId id="1203" r:id="rId12"/>
    <p:sldId id="1197" r:id="rId13"/>
    <p:sldId id="1205" r:id="rId14"/>
    <p:sldId id="264" r:id="rId15"/>
    <p:sldId id="1192" r:id="rId16"/>
  </p:sldIdLst>
  <p:sldSz cx="12192000" cy="6858000"/>
  <p:notesSz cx="6858000" cy="9144000"/>
  <p:embeddedFontLst>
    <p:embeddedFont>
      <p:font typeface="Cronos Pro" panose="020C0502030403020304" charset="0"/>
      <p:regular r:id="rId18"/>
      <p:bold r:id="rId19"/>
      <p: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C8B08-3008-422D-88AE-CB6D9B4C861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48A2705D-1CFD-4250-BC80-6E669D277068}">
      <dgm:prSet phldrT="[Texto]"/>
      <dgm:spPr/>
      <dgm:t>
        <a:bodyPr/>
        <a:lstStyle/>
        <a:p>
          <a:r>
            <a:rPr lang="pt-BR" dirty="0"/>
            <a:t>Era Pré-</a:t>
          </a:r>
          <a:r>
            <a:rPr lang="pt-BR" i="1" dirty="0"/>
            <a:t>Transformers</a:t>
          </a:r>
        </a:p>
      </dgm:t>
    </dgm:pt>
    <dgm:pt modelId="{068CFE2F-7C6F-4E42-AC5F-3C41E0BB651D}" type="parTrans" cxnId="{AC7911A7-2582-49AE-A698-EBA85A5188E3}">
      <dgm:prSet/>
      <dgm:spPr/>
      <dgm:t>
        <a:bodyPr/>
        <a:lstStyle/>
        <a:p>
          <a:endParaRPr lang="pt-BR"/>
        </a:p>
      </dgm:t>
    </dgm:pt>
    <dgm:pt modelId="{DC4B1E50-BA77-42E9-965E-092C4283EE37}" type="sibTrans" cxnId="{AC7911A7-2582-49AE-A698-EBA85A5188E3}">
      <dgm:prSet/>
      <dgm:spPr/>
      <dgm:t>
        <a:bodyPr/>
        <a:lstStyle/>
        <a:p>
          <a:endParaRPr lang="pt-BR"/>
        </a:p>
      </dgm:t>
    </dgm:pt>
    <dgm:pt modelId="{A1381E3D-0130-445C-94C1-DE75512ECB01}">
      <dgm:prSet phldrT="[Texto]"/>
      <dgm:spPr/>
      <dgm:t>
        <a:bodyPr/>
        <a:lstStyle/>
        <a:p>
          <a:r>
            <a:rPr lang="en-US" b="1" i="1" dirty="0"/>
            <a:t>Embeddings</a:t>
          </a:r>
          <a:r>
            <a:rPr lang="en-US" b="1" dirty="0"/>
            <a:t> (Ex: Word2Vec, </a:t>
          </a:r>
          <a:r>
            <a:rPr lang="en-US" b="1" dirty="0" err="1"/>
            <a:t>GloVe</a:t>
          </a:r>
          <a:r>
            <a:rPr lang="en-US" b="1" dirty="0"/>
            <a:t>)</a:t>
          </a:r>
          <a:endParaRPr lang="pt-BR" b="1" dirty="0"/>
        </a:p>
      </dgm:t>
    </dgm:pt>
    <dgm:pt modelId="{8DFBC955-EB01-4754-BDA0-110078442ABE}" type="parTrans" cxnId="{5E753B0B-AF29-43C7-A497-6CA1F41ED3A2}">
      <dgm:prSet/>
      <dgm:spPr/>
      <dgm:t>
        <a:bodyPr/>
        <a:lstStyle/>
        <a:p>
          <a:endParaRPr lang="pt-BR"/>
        </a:p>
      </dgm:t>
    </dgm:pt>
    <dgm:pt modelId="{2ADFAFA8-D2AB-4AC8-AD8D-33389B0579AF}" type="sibTrans" cxnId="{5E753B0B-AF29-43C7-A497-6CA1F41ED3A2}">
      <dgm:prSet/>
      <dgm:spPr/>
      <dgm:t>
        <a:bodyPr/>
        <a:lstStyle/>
        <a:p>
          <a:endParaRPr lang="pt-BR"/>
        </a:p>
      </dgm:t>
    </dgm:pt>
    <dgm:pt modelId="{05A8A3F5-3400-42EF-B041-D3BE2B94B582}">
      <dgm:prSet phldrT="[Texto]"/>
      <dgm:spPr/>
      <dgm:t>
        <a:bodyPr/>
        <a:lstStyle/>
        <a:p>
          <a:r>
            <a:rPr lang="pt-BR" i="1" dirty="0"/>
            <a:t>Transformers</a:t>
          </a:r>
        </a:p>
      </dgm:t>
    </dgm:pt>
    <dgm:pt modelId="{E1E8FF95-97D2-48E5-A546-1ECEBD672956}" type="parTrans" cxnId="{81DB61D8-9612-40D0-A945-7BCFBFAAC3F7}">
      <dgm:prSet/>
      <dgm:spPr/>
      <dgm:t>
        <a:bodyPr/>
        <a:lstStyle/>
        <a:p>
          <a:endParaRPr lang="pt-BR"/>
        </a:p>
      </dgm:t>
    </dgm:pt>
    <dgm:pt modelId="{A9A5BB60-E962-47F8-9DDC-8C442DDA0A93}" type="sibTrans" cxnId="{81DB61D8-9612-40D0-A945-7BCFBFAAC3F7}">
      <dgm:prSet/>
      <dgm:spPr/>
      <dgm:t>
        <a:bodyPr/>
        <a:lstStyle/>
        <a:p>
          <a:endParaRPr lang="pt-BR"/>
        </a:p>
      </dgm:t>
    </dgm:pt>
    <dgm:pt modelId="{EC9B2FA6-D06B-4DB7-AF7A-CA60FB44BF34}">
      <dgm:prSet phldrT="[Texto]"/>
      <dgm:spPr/>
      <dgm:t>
        <a:bodyPr/>
        <a:lstStyle/>
        <a:p>
          <a:r>
            <a:rPr lang="pt-BR" dirty="0"/>
            <a:t>Introduzida em 2017 com o </a:t>
          </a:r>
          <a:r>
            <a:rPr lang="pt-BR" dirty="0" err="1"/>
            <a:t>paper</a:t>
          </a:r>
          <a:r>
            <a:rPr lang="pt-BR" dirty="0"/>
            <a:t> "</a:t>
          </a:r>
          <a:r>
            <a:rPr lang="pt-BR" i="1" dirty="0" err="1"/>
            <a:t>Attention</a:t>
          </a:r>
          <a:r>
            <a:rPr lang="pt-BR" i="1" dirty="0"/>
            <a:t> </a:t>
          </a:r>
          <a:r>
            <a:rPr lang="pt-BR" i="1" dirty="0" err="1"/>
            <a:t>is</a:t>
          </a:r>
          <a:r>
            <a:rPr lang="pt-BR" i="1" dirty="0"/>
            <a:t> </a:t>
          </a:r>
          <a:r>
            <a:rPr lang="pt-BR" i="1" dirty="0" err="1"/>
            <a:t>All</a:t>
          </a:r>
          <a:r>
            <a:rPr lang="pt-BR" i="1" dirty="0"/>
            <a:t> You </a:t>
          </a:r>
          <a:r>
            <a:rPr lang="pt-BR" i="1" dirty="0" err="1"/>
            <a:t>Need</a:t>
          </a:r>
          <a:r>
            <a:rPr lang="pt-BR" dirty="0"/>
            <a:t>", a arquitetura </a:t>
          </a:r>
          <a:r>
            <a:rPr lang="pt-BR" i="1" dirty="0" err="1"/>
            <a:t>Transformer</a:t>
          </a:r>
          <a:r>
            <a:rPr lang="pt-BR" dirty="0"/>
            <a:t> mudou tudo e é a base de modelos como o BERT e o GPT</a:t>
          </a:r>
        </a:p>
      </dgm:t>
    </dgm:pt>
    <dgm:pt modelId="{99B8DCD5-9CAA-45DB-AC83-B4A0EEC1C956}" type="parTrans" cxnId="{071C750D-7C75-424B-8850-4CAB1715FA81}">
      <dgm:prSet/>
      <dgm:spPr/>
      <dgm:t>
        <a:bodyPr/>
        <a:lstStyle/>
        <a:p>
          <a:endParaRPr lang="pt-BR"/>
        </a:p>
      </dgm:t>
    </dgm:pt>
    <dgm:pt modelId="{E9361DDA-DFF2-4C16-8535-7365C4302737}" type="sibTrans" cxnId="{071C750D-7C75-424B-8850-4CAB1715FA81}">
      <dgm:prSet/>
      <dgm:spPr/>
      <dgm:t>
        <a:bodyPr/>
        <a:lstStyle/>
        <a:p>
          <a:endParaRPr lang="pt-BR"/>
        </a:p>
      </dgm:t>
    </dgm:pt>
    <dgm:pt modelId="{539E93ED-5F99-48A2-90E1-843AF6DE3713}">
      <dgm:prSet phldrT="[Texto]"/>
      <dgm:spPr/>
      <dgm:t>
        <a:bodyPr/>
        <a:lstStyle/>
        <a:p>
          <a:r>
            <a:rPr lang="pt-BR" b="1" dirty="0"/>
            <a:t>Redes Neurais Recorrentes (</a:t>
          </a:r>
          <a:r>
            <a:rPr lang="pt-BR" b="1" dirty="0" err="1"/>
            <a:t>RNNs</a:t>
          </a:r>
          <a:r>
            <a:rPr lang="pt-BR" b="1" dirty="0"/>
            <a:t> e </a:t>
          </a:r>
          <a:r>
            <a:rPr lang="pt-BR" b="1" dirty="0" err="1"/>
            <a:t>LSTMs</a:t>
          </a:r>
          <a:r>
            <a:rPr lang="pt-BR" b="1" dirty="0"/>
            <a:t>)</a:t>
          </a:r>
        </a:p>
      </dgm:t>
    </dgm:pt>
    <dgm:pt modelId="{5D28DD94-25FB-4A76-98A5-675CD5C0FC5F}" type="parTrans" cxnId="{35781FA2-C947-4311-BDF3-7178389038A9}">
      <dgm:prSet/>
      <dgm:spPr/>
      <dgm:t>
        <a:bodyPr/>
        <a:lstStyle/>
        <a:p>
          <a:endParaRPr lang="pt-BR"/>
        </a:p>
      </dgm:t>
    </dgm:pt>
    <dgm:pt modelId="{7E6F9712-41E2-4BBE-8973-39B9FB4D17BF}" type="sibTrans" cxnId="{35781FA2-C947-4311-BDF3-7178389038A9}">
      <dgm:prSet/>
      <dgm:spPr/>
      <dgm:t>
        <a:bodyPr/>
        <a:lstStyle/>
        <a:p>
          <a:endParaRPr lang="pt-BR"/>
        </a:p>
      </dgm:t>
    </dgm:pt>
    <dgm:pt modelId="{F04F4C7A-599E-446D-9A12-7BA23D59FA3D}">
      <dgm:prSet phldrT="[Texto]"/>
      <dgm:spPr/>
      <dgm:t>
        <a:bodyPr/>
        <a:lstStyle/>
        <a:p>
          <a:r>
            <a:rPr lang="pt-BR" b="0" dirty="0"/>
            <a:t>Em vez de </a:t>
          </a:r>
          <a:r>
            <a:rPr lang="pt-BR" b="0" dirty="0" err="1"/>
            <a:t>BoW</a:t>
          </a:r>
          <a:r>
            <a:rPr lang="pt-BR" b="0" dirty="0"/>
            <a:t> e TF-IDF, cada palavra é mapeada para um vetor denso (uma lista de números, </a:t>
          </a:r>
          <a:r>
            <a:rPr lang="pt-BR" b="0" dirty="0" err="1"/>
            <a:t>ex</a:t>
          </a:r>
          <a:r>
            <a:rPr lang="pt-BR" b="0" dirty="0"/>
            <a:t>: 300 dimensões) em um espaço geométrico</a:t>
          </a:r>
        </a:p>
      </dgm:t>
    </dgm:pt>
    <dgm:pt modelId="{7F3A6835-0FFB-4E60-969A-23603813FD78}" type="parTrans" cxnId="{4CECE116-B7AC-4E50-A83E-B49DCF6E6F14}">
      <dgm:prSet/>
      <dgm:spPr/>
      <dgm:t>
        <a:bodyPr/>
        <a:lstStyle/>
        <a:p>
          <a:endParaRPr lang="pt-BR"/>
        </a:p>
      </dgm:t>
    </dgm:pt>
    <dgm:pt modelId="{67E64D6F-2819-4C28-8C3F-6D3EFFE4931D}" type="sibTrans" cxnId="{4CECE116-B7AC-4E50-A83E-B49DCF6E6F14}">
      <dgm:prSet/>
      <dgm:spPr/>
      <dgm:t>
        <a:bodyPr/>
        <a:lstStyle/>
        <a:p>
          <a:endParaRPr lang="pt-BR"/>
        </a:p>
      </dgm:t>
    </dgm:pt>
    <dgm:pt modelId="{4A9FCCC5-A265-459F-ADBF-FB9281BDDDEF}">
      <dgm:prSet phldrT="[Texto]"/>
      <dgm:spPr/>
      <dgm:t>
        <a:bodyPr/>
        <a:lstStyle/>
        <a:p>
          <a:r>
            <a:rPr lang="pt-BR" b="0" dirty="0"/>
            <a:t>Palavras com significados semelhantes ficam próximas nesse espaço</a:t>
          </a:r>
        </a:p>
      </dgm:t>
    </dgm:pt>
    <dgm:pt modelId="{48160725-3C7E-4CD3-8783-F058EEE36F91}" type="parTrans" cxnId="{8A7D44B1-C42E-459C-A71A-092BBDD05E70}">
      <dgm:prSet/>
      <dgm:spPr/>
      <dgm:t>
        <a:bodyPr/>
        <a:lstStyle/>
        <a:p>
          <a:endParaRPr lang="pt-BR"/>
        </a:p>
      </dgm:t>
    </dgm:pt>
    <dgm:pt modelId="{E88BBA7B-B6D8-4319-966F-54C22A4A3FBE}" type="sibTrans" cxnId="{8A7D44B1-C42E-459C-A71A-092BBDD05E70}">
      <dgm:prSet/>
      <dgm:spPr/>
      <dgm:t>
        <a:bodyPr/>
        <a:lstStyle/>
        <a:p>
          <a:endParaRPr lang="pt-BR"/>
        </a:p>
      </dgm:t>
    </dgm:pt>
    <dgm:pt modelId="{C8709365-3184-403C-BBA4-B05AA3023591}">
      <dgm:prSet phldrT="[Texto]"/>
      <dgm:spPr/>
      <dgm:t>
        <a:bodyPr/>
        <a:lstStyle/>
        <a:p>
          <a:r>
            <a:rPr lang="pt-BR" dirty="0"/>
            <a:t>Processam o texto sequencialmente, palavra por palavra, mantendo uma "memória" do que viram antes (melhor que os N-</a:t>
          </a:r>
          <a:r>
            <a:rPr lang="pt-BR" dirty="0" err="1"/>
            <a:t>grams</a:t>
          </a:r>
          <a:r>
            <a:rPr lang="pt-BR" dirty="0"/>
            <a:t>)</a:t>
          </a:r>
        </a:p>
      </dgm:t>
    </dgm:pt>
    <dgm:pt modelId="{6B7E9347-80A0-4736-BFF3-6549BB0855F9}" type="parTrans" cxnId="{FD4D4ABD-5A21-4424-8F4A-AF4CDAB6B5BC}">
      <dgm:prSet/>
      <dgm:spPr/>
      <dgm:t>
        <a:bodyPr/>
        <a:lstStyle/>
        <a:p>
          <a:endParaRPr lang="pt-BR"/>
        </a:p>
      </dgm:t>
    </dgm:pt>
    <dgm:pt modelId="{DACE8C80-93A0-4B81-90F9-2FD9CEEC66A4}" type="sibTrans" cxnId="{FD4D4ABD-5A21-4424-8F4A-AF4CDAB6B5BC}">
      <dgm:prSet/>
      <dgm:spPr/>
      <dgm:t>
        <a:bodyPr/>
        <a:lstStyle/>
        <a:p>
          <a:endParaRPr lang="pt-BR"/>
        </a:p>
      </dgm:t>
    </dgm:pt>
    <dgm:pt modelId="{524DCD14-A70A-4E95-9B4D-C53F08D26775}">
      <dgm:prSet/>
      <dgm:spPr/>
      <dgm:t>
        <a:bodyPr/>
        <a:lstStyle/>
        <a:p>
          <a:r>
            <a:rPr lang="pt-BR" dirty="0"/>
            <a:t>Diferente das </a:t>
          </a:r>
          <a:r>
            <a:rPr lang="pt-BR" dirty="0" err="1"/>
            <a:t>RNNs</a:t>
          </a:r>
          <a:r>
            <a:rPr lang="pt-BR" dirty="0"/>
            <a:t> que leem sequencialmente, os </a:t>
          </a:r>
          <a:r>
            <a:rPr lang="pt-BR" i="1" dirty="0"/>
            <a:t>Transformers</a:t>
          </a:r>
          <a:r>
            <a:rPr lang="pt-BR" dirty="0"/>
            <a:t> leem a frase inteira de uma vez</a:t>
          </a:r>
        </a:p>
      </dgm:t>
    </dgm:pt>
    <dgm:pt modelId="{A71DAADE-CF8A-402C-9272-2B1DBB08ED14}" type="parTrans" cxnId="{B2EF75A8-B668-49D8-8A65-00315F0875B1}">
      <dgm:prSet/>
      <dgm:spPr/>
      <dgm:t>
        <a:bodyPr/>
        <a:lstStyle/>
        <a:p>
          <a:endParaRPr lang="pt-BR"/>
        </a:p>
      </dgm:t>
    </dgm:pt>
    <dgm:pt modelId="{537FFB1D-2828-43AF-B93D-4CEEBF3811CD}" type="sibTrans" cxnId="{B2EF75A8-B668-49D8-8A65-00315F0875B1}">
      <dgm:prSet/>
      <dgm:spPr/>
      <dgm:t>
        <a:bodyPr/>
        <a:lstStyle/>
        <a:p>
          <a:endParaRPr lang="pt-BR"/>
        </a:p>
      </dgm:t>
    </dgm:pt>
    <dgm:pt modelId="{DDA79278-528E-4D42-8981-8E060B9703CF}">
      <dgm:prSet/>
      <dgm:spPr/>
      <dgm:t>
        <a:bodyPr/>
        <a:lstStyle/>
        <a:p>
          <a:r>
            <a:rPr lang="pt-BR" dirty="0"/>
            <a:t>O segredo é o Mecanismo de </a:t>
          </a:r>
          <a:r>
            <a:rPr lang="pt-BR" dirty="0" err="1"/>
            <a:t>Auto-Atenção</a:t>
          </a:r>
          <a:r>
            <a:rPr lang="pt-BR" dirty="0"/>
            <a:t> (Self-</a:t>
          </a:r>
          <a:r>
            <a:rPr lang="pt-BR" dirty="0" err="1"/>
            <a:t>Attention</a:t>
          </a:r>
          <a:r>
            <a:rPr lang="pt-BR" dirty="0"/>
            <a:t>)</a:t>
          </a:r>
        </a:p>
      </dgm:t>
    </dgm:pt>
    <dgm:pt modelId="{CAC2E116-B393-4E92-B6F9-BBE2181D1D61}" type="parTrans" cxnId="{AD996D0B-110D-40AB-BA74-635485EB7D8D}">
      <dgm:prSet/>
      <dgm:spPr/>
      <dgm:t>
        <a:bodyPr/>
        <a:lstStyle/>
        <a:p>
          <a:endParaRPr lang="pt-BR"/>
        </a:p>
      </dgm:t>
    </dgm:pt>
    <dgm:pt modelId="{C5BE22E3-2132-41D3-A4D6-85277DF5DA9E}" type="sibTrans" cxnId="{AD996D0B-110D-40AB-BA74-635485EB7D8D}">
      <dgm:prSet/>
      <dgm:spPr/>
      <dgm:t>
        <a:bodyPr/>
        <a:lstStyle/>
        <a:p>
          <a:endParaRPr lang="pt-BR"/>
        </a:p>
      </dgm:t>
    </dgm:pt>
    <dgm:pt modelId="{9DC89012-509A-45CA-B648-D617206CF1D7}">
      <dgm:prSet phldrT="[Texto]"/>
      <dgm:spPr/>
      <dgm:t>
        <a:bodyPr/>
        <a:lstStyle/>
        <a:p>
          <a:r>
            <a:rPr lang="pt-BR" b="1" dirty="0"/>
            <a:t>Mecanismo de Atenção</a:t>
          </a:r>
        </a:p>
      </dgm:t>
    </dgm:pt>
    <dgm:pt modelId="{516535FD-C231-445B-AAFC-7481E512C4F8}" type="parTrans" cxnId="{2095432E-7808-4BA1-B534-F785C8D9963A}">
      <dgm:prSet/>
      <dgm:spPr/>
      <dgm:t>
        <a:bodyPr/>
        <a:lstStyle/>
        <a:p>
          <a:endParaRPr lang="pt-BR"/>
        </a:p>
      </dgm:t>
    </dgm:pt>
    <dgm:pt modelId="{F6181070-53CF-4C9E-9C68-F4DD2ED6D1CA}" type="sibTrans" cxnId="{2095432E-7808-4BA1-B534-F785C8D9963A}">
      <dgm:prSet/>
      <dgm:spPr/>
      <dgm:t>
        <a:bodyPr/>
        <a:lstStyle/>
        <a:p>
          <a:endParaRPr lang="pt-BR"/>
        </a:p>
      </dgm:t>
    </dgm:pt>
    <dgm:pt modelId="{4B8CB157-DF84-4FAA-B11F-23B6AF0B6B7F}" type="pres">
      <dgm:prSet presAssocID="{973C8B08-3008-422D-88AE-CB6D9B4C8612}" presName="Name0" presStyleCnt="0">
        <dgm:presLayoutVars>
          <dgm:dir/>
          <dgm:animLvl val="lvl"/>
          <dgm:resizeHandles val="exact"/>
        </dgm:presLayoutVars>
      </dgm:prSet>
      <dgm:spPr/>
    </dgm:pt>
    <dgm:pt modelId="{6229C25A-6592-4A6B-8C42-6632EAC61266}" type="pres">
      <dgm:prSet presAssocID="{48A2705D-1CFD-4250-BC80-6E669D277068}" presName="composite" presStyleCnt="0"/>
      <dgm:spPr/>
    </dgm:pt>
    <dgm:pt modelId="{EEFEEB4F-9799-4B4C-8691-515EF762DADF}" type="pres">
      <dgm:prSet presAssocID="{48A2705D-1CFD-4250-BC80-6E669D27706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F291C7E-7377-49E9-9002-38026ACB9CB7}" type="pres">
      <dgm:prSet presAssocID="{48A2705D-1CFD-4250-BC80-6E669D277068}" presName="desTx" presStyleLbl="alignAccFollowNode1" presStyleIdx="0" presStyleCnt="2">
        <dgm:presLayoutVars>
          <dgm:bulletEnabled val="1"/>
        </dgm:presLayoutVars>
      </dgm:prSet>
      <dgm:spPr/>
    </dgm:pt>
    <dgm:pt modelId="{B2DC7A86-BEA6-4884-8C69-752C79D5F052}" type="pres">
      <dgm:prSet presAssocID="{DC4B1E50-BA77-42E9-965E-092C4283EE37}" presName="space" presStyleCnt="0"/>
      <dgm:spPr/>
    </dgm:pt>
    <dgm:pt modelId="{57EF7C15-7F18-4DE5-AC42-07FBB7BBD749}" type="pres">
      <dgm:prSet presAssocID="{05A8A3F5-3400-42EF-B041-D3BE2B94B582}" presName="composite" presStyleCnt="0"/>
      <dgm:spPr/>
    </dgm:pt>
    <dgm:pt modelId="{906AFC85-CDCE-440D-B83B-9B2DA33BA24D}" type="pres">
      <dgm:prSet presAssocID="{05A8A3F5-3400-42EF-B041-D3BE2B94B58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FCED207-CBC8-4CA8-A8FF-4B80E8C6D29F}" type="pres">
      <dgm:prSet presAssocID="{05A8A3F5-3400-42EF-B041-D3BE2B94B58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E753B0B-AF29-43C7-A497-6CA1F41ED3A2}" srcId="{48A2705D-1CFD-4250-BC80-6E669D277068}" destId="{A1381E3D-0130-445C-94C1-DE75512ECB01}" srcOrd="0" destOrd="0" parTransId="{8DFBC955-EB01-4754-BDA0-110078442ABE}" sibTransId="{2ADFAFA8-D2AB-4AC8-AD8D-33389B0579AF}"/>
    <dgm:cxn modelId="{AD996D0B-110D-40AB-BA74-635485EB7D8D}" srcId="{05A8A3F5-3400-42EF-B041-D3BE2B94B582}" destId="{DDA79278-528E-4D42-8981-8E060B9703CF}" srcOrd="3" destOrd="0" parTransId="{CAC2E116-B393-4E92-B6F9-BBE2181D1D61}" sibTransId="{C5BE22E3-2132-41D3-A4D6-85277DF5DA9E}"/>
    <dgm:cxn modelId="{071C750D-7C75-424B-8850-4CAB1715FA81}" srcId="{05A8A3F5-3400-42EF-B041-D3BE2B94B582}" destId="{EC9B2FA6-D06B-4DB7-AF7A-CA60FB44BF34}" srcOrd="1" destOrd="0" parTransId="{99B8DCD5-9CAA-45DB-AC83-B4A0EEC1C956}" sibTransId="{E9361DDA-DFF2-4C16-8535-7365C4302737}"/>
    <dgm:cxn modelId="{4CECE116-B7AC-4E50-A83E-B49DCF6E6F14}" srcId="{A1381E3D-0130-445C-94C1-DE75512ECB01}" destId="{F04F4C7A-599E-446D-9A12-7BA23D59FA3D}" srcOrd="0" destOrd="0" parTransId="{7F3A6835-0FFB-4E60-969A-23603813FD78}" sibTransId="{67E64D6F-2819-4C28-8C3F-6D3EFFE4931D}"/>
    <dgm:cxn modelId="{B7C1281A-9C0D-4B2B-AD08-E7F2B32D49AA}" type="presOf" srcId="{9DC89012-509A-45CA-B648-D617206CF1D7}" destId="{9FCED207-CBC8-4CA8-A8FF-4B80E8C6D29F}" srcOrd="0" destOrd="0" presId="urn:microsoft.com/office/officeart/2005/8/layout/hList1"/>
    <dgm:cxn modelId="{2095432E-7808-4BA1-B534-F785C8D9963A}" srcId="{05A8A3F5-3400-42EF-B041-D3BE2B94B582}" destId="{9DC89012-509A-45CA-B648-D617206CF1D7}" srcOrd="0" destOrd="0" parTransId="{516535FD-C231-445B-AAFC-7481E512C4F8}" sibTransId="{F6181070-53CF-4C9E-9C68-F4DD2ED6D1CA}"/>
    <dgm:cxn modelId="{DAC4DE2E-3458-41DE-83DE-3807838FE883}" type="presOf" srcId="{F04F4C7A-599E-446D-9A12-7BA23D59FA3D}" destId="{FF291C7E-7377-49E9-9002-38026ACB9CB7}" srcOrd="0" destOrd="1" presId="urn:microsoft.com/office/officeart/2005/8/layout/hList1"/>
    <dgm:cxn modelId="{F3E77E51-2668-4700-97E7-2F2753D4A445}" type="presOf" srcId="{973C8B08-3008-422D-88AE-CB6D9B4C8612}" destId="{4B8CB157-DF84-4FAA-B11F-23B6AF0B6B7F}" srcOrd="0" destOrd="0" presId="urn:microsoft.com/office/officeart/2005/8/layout/hList1"/>
    <dgm:cxn modelId="{D72EC076-C9A5-4834-9B12-2C6F84E38430}" type="presOf" srcId="{48A2705D-1CFD-4250-BC80-6E669D277068}" destId="{EEFEEB4F-9799-4B4C-8691-515EF762DADF}" srcOrd="0" destOrd="0" presId="urn:microsoft.com/office/officeart/2005/8/layout/hList1"/>
    <dgm:cxn modelId="{F6C93D7C-2A97-41CF-84AE-D7F84A03B152}" type="presOf" srcId="{524DCD14-A70A-4E95-9B4D-C53F08D26775}" destId="{9FCED207-CBC8-4CA8-A8FF-4B80E8C6D29F}" srcOrd="0" destOrd="2" presId="urn:microsoft.com/office/officeart/2005/8/layout/hList1"/>
    <dgm:cxn modelId="{A0A47185-C9EA-46D5-BC10-4692D8D000B6}" type="presOf" srcId="{4A9FCCC5-A265-459F-ADBF-FB9281BDDDEF}" destId="{FF291C7E-7377-49E9-9002-38026ACB9CB7}" srcOrd="0" destOrd="2" presId="urn:microsoft.com/office/officeart/2005/8/layout/hList1"/>
    <dgm:cxn modelId="{DCF8FD9B-DD8A-48BC-97A0-F0FAF336151D}" type="presOf" srcId="{A1381E3D-0130-445C-94C1-DE75512ECB01}" destId="{FF291C7E-7377-49E9-9002-38026ACB9CB7}" srcOrd="0" destOrd="0" presId="urn:microsoft.com/office/officeart/2005/8/layout/hList1"/>
    <dgm:cxn modelId="{35781FA2-C947-4311-BDF3-7178389038A9}" srcId="{48A2705D-1CFD-4250-BC80-6E669D277068}" destId="{539E93ED-5F99-48A2-90E1-843AF6DE3713}" srcOrd="1" destOrd="0" parTransId="{5D28DD94-25FB-4A76-98A5-675CD5C0FC5F}" sibTransId="{7E6F9712-41E2-4BBE-8973-39B9FB4D17BF}"/>
    <dgm:cxn modelId="{AC7911A7-2582-49AE-A698-EBA85A5188E3}" srcId="{973C8B08-3008-422D-88AE-CB6D9B4C8612}" destId="{48A2705D-1CFD-4250-BC80-6E669D277068}" srcOrd="0" destOrd="0" parTransId="{068CFE2F-7C6F-4E42-AC5F-3C41E0BB651D}" sibTransId="{DC4B1E50-BA77-42E9-965E-092C4283EE37}"/>
    <dgm:cxn modelId="{B2EF75A8-B668-49D8-8A65-00315F0875B1}" srcId="{05A8A3F5-3400-42EF-B041-D3BE2B94B582}" destId="{524DCD14-A70A-4E95-9B4D-C53F08D26775}" srcOrd="2" destOrd="0" parTransId="{A71DAADE-CF8A-402C-9272-2B1DBB08ED14}" sibTransId="{537FFB1D-2828-43AF-B93D-4CEEBF3811CD}"/>
    <dgm:cxn modelId="{8A7D44B1-C42E-459C-A71A-092BBDD05E70}" srcId="{A1381E3D-0130-445C-94C1-DE75512ECB01}" destId="{4A9FCCC5-A265-459F-ADBF-FB9281BDDDEF}" srcOrd="1" destOrd="0" parTransId="{48160725-3C7E-4CD3-8783-F058EEE36F91}" sibTransId="{E88BBA7B-B6D8-4319-966F-54C22A4A3FBE}"/>
    <dgm:cxn modelId="{30F3DDB6-033F-4B8D-8329-B32599C37AC0}" type="presOf" srcId="{05A8A3F5-3400-42EF-B041-D3BE2B94B582}" destId="{906AFC85-CDCE-440D-B83B-9B2DA33BA24D}" srcOrd="0" destOrd="0" presId="urn:microsoft.com/office/officeart/2005/8/layout/hList1"/>
    <dgm:cxn modelId="{A71607B9-165D-4989-BB8D-B7E4BCA683C9}" type="presOf" srcId="{EC9B2FA6-D06B-4DB7-AF7A-CA60FB44BF34}" destId="{9FCED207-CBC8-4CA8-A8FF-4B80E8C6D29F}" srcOrd="0" destOrd="1" presId="urn:microsoft.com/office/officeart/2005/8/layout/hList1"/>
    <dgm:cxn modelId="{FD4D4ABD-5A21-4424-8F4A-AF4CDAB6B5BC}" srcId="{539E93ED-5F99-48A2-90E1-843AF6DE3713}" destId="{C8709365-3184-403C-BBA4-B05AA3023591}" srcOrd="0" destOrd="0" parTransId="{6B7E9347-80A0-4736-BFF3-6549BB0855F9}" sibTransId="{DACE8C80-93A0-4B81-90F9-2FD9CEEC66A4}"/>
    <dgm:cxn modelId="{B7EC1CCB-5DEC-4224-856D-5A19F0E7C376}" type="presOf" srcId="{DDA79278-528E-4D42-8981-8E060B9703CF}" destId="{9FCED207-CBC8-4CA8-A8FF-4B80E8C6D29F}" srcOrd="0" destOrd="3" presId="urn:microsoft.com/office/officeart/2005/8/layout/hList1"/>
    <dgm:cxn modelId="{998BBFCE-2C1F-422C-85B0-41010180D775}" type="presOf" srcId="{C8709365-3184-403C-BBA4-B05AA3023591}" destId="{FF291C7E-7377-49E9-9002-38026ACB9CB7}" srcOrd="0" destOrd="4" presId="urn:microsoft.com/office/officeart/2005/8/layout/hList1"/>
    <dgm:cxn modelId="{81DB61D8-9612-40D0-A945-7BCFBFAAC3F7}" srcId="{973C8B08-3008-422D-88AE-CB6D9B4C8612}" destId="{05A8A3F5-3400-42EF-B041-D3BE2B94B582}" srcOrd="1" destOrd="0" parTransId="{E1E8FF95-97D2-48E5-A546-1ECEBD672956}" sibTransId="{A9A5BB60-E962-47F8-9DDC-8C442DDA0A93}"/>
    <dgm:cxn modelId="{24DCF2F8-758E-4CD1-BF79-C2F49B1E1937}" type="presOf" srcId="{539E93ED-5F99-48A2-90E1-843AF6DE3713}" destId="{FF291C7E-7377-49E9-9002-38026ACB9CB7}" srcOrd="0" destOrd="3" presId="urn:microsoft.com/office/officeart/2005/8/layout/hList1"/>
    <dgm:cxn modelId="{F244D388-2FE1-42EC-B02A-3659C04197A5}" type="presParOf" srcId="{4B8CB157-DF84-4FAA-B11F-23B6AF0B6B7F}" destId="{6229C25A-6592-4A6B-8C42-6632EAC61266}" srcOrd="0" destOrd="0" presId="urn:microsoft.com/office/officeart/2005/8/layout/hList1"/>
    <dgm:cxn modelId="{7FFF4207-405C-4E41-89AE-3210A1D306AD}" type="presParOf" srcId="{6229C25A-6592-4A6B-8C42-6632EAC61266}" destId="{EEFEEB4F-9799-4B4C-8691-515EF762DADF}" srcOrd="0" destOrd="0" presId="urn:microsoft.com/office/officeart/2005/8/layout/hList1"/>
    <dgm:cxn modelId="{B7EDFFFF-9F81-4315-BEC8-7076EE869FC1}" type="presParOf" srcId="{6229C25A-6592-4A6B-8C42-6632EAC61266}" destId="{FF291C7E-7377-49E9-9002-38026ACB9CB7}" srcOrd="1" destOrd="0" presId="urn:microsoft.com/office/officeart/2005/8/layout/hList1"/>
    <dgm:cxn modelId="{E1A39DFB-FE44-49E1-A469-A624CC24ECD0}" type="presParOf" srcId="{4B8CB157-DF84-4FAA-B11F-23B6AF0B6B7F}" destId="{B2DC7A86-BEA6-4884-8C69-752C79D5F052}" srcOrd="1" destOrd="0" presId="urn:microsoft.com/office/officeart/2005/8/layout/hList1"/>
    <dgm:cxn modelId="{42F85E13-1145-460B-8FCE-BE1880C45083}" type="presParOf" srcId="{4B8CB157-DF84-4FAA-B11F-23B6AF0B6B7F}" destId="{57EF7C15-7F18-4DE5-AC42-07FBB7BBD749}" srcOrd="2" destOrd="0" presId="urn:microsoft.com/office/officeart/2005/8/layout/hList1"/>
    <dgm:cxn modelId="{9B9FAE5E-AA66-495F-B1DD-F9FC57B45AFB}" type="presParOf" srcId="{57EF7C15-7F18-4DE5-AC42-07FBB7BBD749}" destId="{906AFC85-CDCE-440D-B83B-9B2DA33BA24D}" srcOrd="0" destOrd="0" presId="urn:microsoft.com/office/officeart/2005/8/layout/hList1"/>
    <dgm:cxn modelId="{566A0EA7-6C81-497B-9B51-8FABDE5468F7}" type="presParOf" srcId="{57EF7C15-7F18-4DE5-AC42-07FBB7BBD749}" destId="{9FCED207-CBC8-4CA8-A8FF-4B80E8C6D29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C4EEFD-CD20-415F-994A-AC350166CD6D}" type="doc">
      <dgm:prSet loTypeId="urn:microsoft.com/office/officeart/2005/8/layout/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5B1C891C-F2F4-4090-A7D9-61270E00FAA4}">
      <dgm:prSet phldrT="[Texto]"/>
      <dgm:spPr/>
      <dgm:t>
        <a:bodyPr/>
        <a:lstStyle/>
        <a:p>
          <a:r>
            <a:rPr lang="pt-BR" b="1" i="1" dirty="0" err="1"/>
            <a:t>Embeddings</a:t>
          </a:r>
          <a:r>
            <a:rPr lang="pt-BR" b="1" dirty="0"/>
            <a:t> de palavras</a:t>
          </a:r>
        </a:p>
      </dgm:t>
    </dgm:pt>
    <dgm:pt modelId="{299918B6-1D7F-4F7C-9412-A32DF0B17E49}" type="parTrans" cxnId="{E162DD04-4961-4282-B096-8D31A4FAC49F}">
      <dgm:prSet/>
      <dgm:spPr/>
      <dgm:t>
        <a:bodyPr/>
        <a:lstStyle/>
        <a:p>
          <a:endParaRPr lang="pt-BR" b="0"/>
        </a:p>
      </dgm:t>
    </dgm:pt>
    <dgm:pt modelId="{04B325C4-7D3C-471F-A575-C3F0DDB38F0C}" type="sibTrans" cxnId="{E162DD04-4961-4282-B096-8D31A4FAC49F}">
      <dgm:prSet/>
      <dgm:spPr/>
      <dgm:t>
        <a:bodyPr/>
        <a:lstStyle/>
        <a:p>
          <a:endParaRPr lang="pt-BR" b="0"/>
        </a:p>
      </dgm:t>
    </dgm:pt>
    <dgm:pt modelId="{ECF6D764-9F76-4CBB-AF32-F6C89B0E5A96}">
      <dgm:prSet/>
      <dgm:spPr/>
      <dgm:t>
        <a:bodyPr/>
        <a:lstStyle/>
        <a:p>
          <a:r>
            <a:rPr lang="pt-BR" b="0" dirty="0"/>
            <a:t>Cada palavra é mapeada para um vetor de números reais (tipicamente 100-1000 dimensões)</a:t>
          </a:r>
        </a:p>
      </dgm:t>
    </dgm:pt>
    <dgm:pt modelId="{2532DC29-5504-48AB-8CA8-405CC62DEFB1}" type="parTrans" cxnId="{9C6E664C-D8E2-4107-8051-25116C683ECE}">
      <dgm:prSet/>
      <dgm:spPr/>
      <dgm:t>
        <a:bodyPr/>
        <a:lstStyle/>
        <a:p>
          <a:endParaRPr lang="pt-BR" b="0"/>
        </a:p>
      </dgm:t>
    </dgm:pt>
    <dgm:pt modelId="{4C82EAA6-682C-4080-BA62-5A621498C433}" type="sibTrans" cxnId="{9C6E664C-D8E2-4107-8051-25116C683ECE}">
      <dgm:prSet/>
      <dgm:spPr/>
      <dgm:t>
        <a:bodyPr/>
        <a:lstStyle/>
        <a:p>
          <a:endParaRPr lang="pt-BR" b="0"/>
        </a:p>
      </dgm:t>
    </dgm:pt>
    <dgm:pt modelId="{02753BBA-438E-4AC4-9E11-CC9D8796307F}">
      <dgm:prSet/>
      <dgm:spPr/>
      <dgm:t>
        <a:bodyPr/>
        <a:lstStyle/>
        <a:p>
          <a:r>
            <a:rPr lang="pt-BR" b="1"/>
            <a:t>Aprendizagem hierárquica</a:t>
          </a:r>
          <a:endParaRPr lang="pt-BR" b="1" dirty="0"/>
        </a:p>
      </dgm:t>
    </dgm:pt>
    <dgm:pt modelId="{8181CCD5-34A7-49FF-9EAE-3B61AAB62BF8}" type="parTrans" cxnId="{651A13D8-9131-4D28-857A-630E146B615E}">
      <dgm:prSet/>
      <dgm:spPr/>
      <dgm:t>
        <a:bodyPr/>
        <a:lstStyle/>
        <a:p>
          <a:endParaRPr lang="pt-BR" b="0"/>
        </a:p>
      </dgm:t>
    </dgm:pt>
    <dgm:pt modelId="{7852DEC1-26AB-4477-A4CA-211B423F5BAC}" type="sibTrans" cxnId="{651A13D8-9131-4D28-857A-630E146B615E}">
      <dgm:prSet/>
      <dgm:spPr/>
      <dgm:t>
        <a:bodyPr/>
        <a:lstStyle/>
        <a:p>
          <a:endParaRPr lang="pt-BR" b="0"/>
        </a:p>
      </dgm:t>
    </dgm:pt>
    <dgm:pt modelId="{E995FA19-D2EE-4B35-BF00-879DB937CDAE}">
      <dgm:prSet/>
      <dgm:spPr/>
      <dgm:t>
        <a:bodyPr/>
        <a:lstStyle/>
        <a:p>
          <a:r>
            <a:rPr lang="pt-BR" b="0" dirty="0"/>
            <a:t>Processam informação em camadas sucessivas</a:t>
          </a:r>
        </a:p>
      </dgm:t>
    </dgm:pt>
    <dgm:pt modelId="{2CD8658A-7663-4562-99BB-2AEEBB940FCA}" type="parTrans" cxnId="{CD322284-86B2-4B1F-A708-B05569EE4D5A}">
      <dgm:prSet/>
      <dgm:spPr/>
      <dgm:t>
        <a:bodyPr/>
        <a:lstStyle/>
        <a:p>
          <a:endParaRPr lang="pt-BR" b="0"/>
        </a:p>
      </dgm:t>
    </dgm:pt>
    <dgm:pt modelId="{3B9891AA-A445-4518-9EFC-02AA2B4D93F2}" type="sibTrans" cxnId="{CD322284-86B2-4B1F-A708-B05569EE4D5A}">
      <dgm:prSet/>
      <dgm:spPr/>
      <dgm:t>
        <a:bodyPr/>
        <a:lstStyle/>
        <a:p>
          <a:endParaRPr lang="pt-BR" b="0"/>
        </a:p>
      </dgm:t>
    </dgm:pt>
    <dgm:pt modelId="{333311EE-4F63-4EB2-96B4-DC786E8A9061}">
      <dgm:prSet/>
      <dgm:spPr/>
      <dgm:t>
        <a:bodyPr/>
        <a:lstStyle/>
        <a:p>
          <a:r>
            <a:rPr lang="pt-BR" b="0" dirty="0"/>
            <a:t>Camadas mais profundas capturam conceitos mais complexos</a:t>
          </a:r>
        </a:p>
      </dgm:t>
    </dgm:pt>
    <dgm:pt modelId="{C6D1B632-9A4A-4CFC-AC0C-55E6FE9A465F}" type="parTrans" cxnId="{98D64169-BE4E-49A1-8C99-B660CBC8C9B9}">
      <dgm:prSet/>
      <dgm:spPr/>
      <dgm:t>
        <a:bodyPr/>
        <a:lstStyle/>
        <a:p>
          <a:endParaRPr lang="pt-BR" b="0"/>
        </a:p>
      </dgm:t>
    </dgm:pt>
    <dgm:pt modelId="{0DB9BD5A-2AFF-45F1-8558-B22416D56C50}" type="sibTrans" cxnId="{98D64169-BE4E-49A1-8C99-B660CBC8C9B9}">
      <dgm:prSet/>
      <dgm:spPr/>
      <dgm:t>
        <a:bodyPr/>
        <a:lstStyle/>
        <a:p>
          <a:endParaRPr lang="pt-BR" b="0"/>
        </a:p>
      </dgm:t>
    </dgm:pt>
    <dgm:pt modelId="{ADB9DD94-A2CF-41F6-AF62-7EC7D3398D06}">
      <dgm:prSet/>
      <dgm:spPr/>
      <dgm:t>
        <a:bodyPr/>
        <a:lstStyle/>
        <a:p>
          <a:r>
            <a:rPr lang="pt-BR" b="1"/>
            <a:t>Processamento sequencial</a:t>
          </a:r>
          <a:endParaRPr lang="pt-BR" b="1" dirty="0"/>
        </a:p>
      </dgm:t>
    </dgm:pt>
    <dgm:pt modelId="{7B3DC85E-6916-41A1-B341-BEABAEDA3CD8}" type="parTrans" cxnId="{61F0716E-F1F3-46B4-8AFD-2F7F0E318B6D}">
      <dgm:prSet/>
      <dgm:spPr/>
      <dgm:t>
        <a:bodyPr/>
        <a:lstStyle/>
        <a:p>
          <a:endParaRPr lang="pt-BR" b="0"/>
        </a:p>
      </dgm:t>
    </dgm:pt>
    <dgm:pt modelId="{C010372A-B70A-46C9-82F4-32255B31847A}" type="sibTrans" cxnId="{61F0716E-F1F3-46B4-8AFD-2F7F0E318B6D}">
      <dgm:prSet/>
      <dgm:spPr/>
      <dgm:t>
        <a:bodyPr/>
        <a:lstStyle/>
        <a:p>
          <a:endParaRPr lang="pt-BR" b="0"/>
        </a:p>
      </dgm:t>
    </dgm:pt>
    <dgm:pt modelId="{00032169-0982-4199-8B7E-A99E2264A2AE}">
      <dgm:prSet/>
      <dgm:spPr/>
      <dgm:t>
        <a:bodyPr/>
        <a:lstStyle/>
        <a:p>
          <a:r>
            <a:rPr lang="pt-BR" b="0" dirty="0"/>
            <a:t>Processa o texto como sequências ordenadas para capturar dependências temporais e contextuais</a:t>
          </a:r>
        </a:p>
      </dgm:t>
    </dgm:pt>
    <dgm:pt modelId="{BD066AA3-763F-4D56-ABB7-CA832A909F65}" type="parTrans" cxnId="{46731455-8BCD-437E-80D4-51BF865F3744}">
      <dgm:prSet/>
      <dgm:spPr/>
      <dgm:t>
        <a:bodyPr/>
        <a:lstStyle/>
        <a:p>
          <a:endParaRPr lang="pt-BR" b="0"/>
        </a:p>
      </dgm:t>
    </dgm:pt>
    <dgm:pt modelId="{7C7E3FFB-C31D-4566-99BD-A80ACC7A82AF}" type="sibTrans" cxnId="{46731455-8BCD-437E-80D4-51BF865F3744}">
      <dgm:prSet/>
      <dgm:spPr/>
      <dgm:t>
        <a:bodyPr/>
        <a:lstStyle/>
        <a:p>
          <a:endParaRPr lang="pt-BR" b="0"/>
        </a:p>
      </dgm:t>
    </dgm:pt>
    <dgm:pt modelId="{9764396A-0ABE-4FB5-B2FA-44A4E26FCD06}">
      <dgm:prSet/>
      <dgm:spPr/>
      <dgm:t>
        <a:bodyPr/>
        <a:lstStyle/>
        <a:p>
          <a:r>
            <a:rPr lang="pt-BR" b="1" dirty="0"/>
            <a:t>Aprendizagem </a:t>
          </a:r>
          <a:br>
            <a:rPr lang="pt-BR" b="1" dirty="0"/>
          </a:br>
          <a:r>
            <a:rPr lang="pt-BR" b="1" dirty="0" err="1"/>
            <a:t>end-to-end</a:t>
          </a:r>
          <a:endParaRPr lang="pt-BR" b="1" dirty="0"/>
        </a:p>
      </dgm:t>
    </dgm:pt>
    <dgm:pt modelId="{51F02391-A237-4875-9FD0-8C55F7232335}" type="parTrans" cxnId="{0B175637-B38F-4916-816C-8B2BF8D77007}">
      <dgm:prSet/>
      <dgm:spPr/>
      <dgm:t>
        <a:bodyPr/>
        <a:lstStyle/>
        <a:p>
          <a:endParaRPr lang="pt-BR" b="0"/>
        </a:p>
      </dgm:t>
    </dgm:pt>
    <dgm:pt modelId="{8F851BC7-A258-422A-BD53-80B5B9633740}" type="sibTrans" cxnId="{0B175637-B38F-4916-816C-8B2BF8D77007}">
      <dgm:prSet/>
      <dgm:spPr/>
      <dgm:t>
        <a:bodyPr/>
        <a:lstStyle/>
        <a:p>
          <a:endParaRPr lang="pt-BR" b="0"/>
        </a:p>
      </dgm:t>
    </dgm:pt>
    <dgm:pt modelId="{2F8435D9-3A26-4E36-9872-EFCE3FFD3354}">
      <dgm:prSet/>
      <dgm:spPr/>
      <dgm:t>
        <a:bodyPr/>
        <a:lstStyle/>
        <a:p>
          <a:r>
            <a:rPr lang="pt-BR" b="0" dirty="0"/>
            <a:t>O modelo de análise de sentimentos é treinado de forma simultânea</a:t>
          </a:r>
        </a:p>
      </dgm:t>
    </dgm:pt>
    <dgm:pt modelId="{2F7817D2-A0E4-414A-A8FC-D93F51D63BEE}" type="parTrans" cxnId="{472DABC7-0207-4D57-8627-21CF8B386340}">
      <dgm:prSet/>
      <dgm:spPr/>
      <dgm:t>
        <a:bodyPr/>
        <a:lstStyle/>
        <a:p>
          <a:endParaRPr lang="pt-BR" b="0"/>
        </a:p>
      </dgm:t>
    </dgm:pt>
    <dgm:pt modelId="{D9E9E40D-733B-4FEA-8FC8-CBD9602437CB}" type="sibTrans" cxnId="{472DABC7-0207-4D57-8627-21CF8B386340}">
      <dgm:prSet/>
      <dgm:spPr/>
      <dgm:t>
        <a:bodyPr/>
        <a:lstStyle/>
        <a:p>
          <a:endParaRPr lang="pt-BR" b="0"/>
        </a:p>
      </dgm:t>
    </dgm:pt>
    <dgm:pt modelId="{F9F38A32-A620-4BF0-B141-7A7C506DB111}">
      <dgm:prSet/>
      <dgm:spPr/>
      <dgm:t>
        <a:bodyPr/>
        <a:lstStyle/>
        <a:p>
          <a:r>
            <a:rPr lang="pt-BR" b="0" dirty="0"/>
            <a:t>Cada camada extrai características mais abstratas que a anterior</a:t>
          </a:r>
        </a:p>
      </dgm:t>
    </dgm:pt>
    <dgm:pt modelId="{4DBAC07A-17DF-465F-B592-E5220FFB5334}" type="parTrans" cxnId="{F520D640-7A20-444F-81E2-9A5574795D5C}">
      <dgm:prSet/>
      <dgm:spPr/>
      <dgm:t>
        <a:bodyPr/>
        <a:lstStyle/>
        <a:p>
          <a:endParaRPr lang="pt-BR"/>
        </a:p>
      </dgm:t>
    </dgm:pt>
    <dgm:pt modelId="{F94CADE2-0A38-4E7A-BEEB-A464A0F12410}" type="sibTrans" cxnId="{F520D640-7A20-444F-81E2-9A5574795D5C}">
      <dgm:prSet/>
      <dgm:spPr/>
      <dgm:t>
        <a:bodyPr/>
        <a:lstStyle/>
        <a:p>
          <a:endParaRPr lang="pt-BR"/>
        </a:p>
      </dgm:t>
    </dgm:pt>
    <dgm:pt modelId="{71E8B569-FB76-4E23-8344-EC2B8987CBEA}">
      <dgm:prSet/>
      <dgm:spPr/>
      <dgm:t>
        <a:bodyPr/>
        <a:lstStyle/>
        <a:p>
          <a:r>
            <a:rPr lang="pt-BR" b="0" dirty="0"/>
            <a:t>Palavras semanticamente similares ficam próximas no espaço vetorial</a:t>
          </a:r>
        </a:p>
      </dgm:t>
    </dgm:pt>
    <dgm:pt modelId="{126E0327-553D-4EC0-B243-1950357F3371}" type="parTrans" cxnId="{DA32FED5-77A3-4405-A537-4B64BCBC8813}">
      <dgm:prSet/>
      <dgm:spPr/>
      <dgm:t>
        <a:bodyPr/>
        <a:lstStyle/>
        <a:p>
          <a:endParaRPr lang="pt-BR"/>
        </a:p>
      </dgm:t>
    </dgm:pt>
    <dgm:pt modelId="{97A67455-589A-4B27-9191-E469A1AE8441}" type="sibTrans" cxnId="{DA32FED5-77A3-4405-A537-4B64BCBC8813}">
      <dgm:prSet/>
      <dgm:spPr/>
      <dgm:t>
        <a:bodyPr/>
        <a:lstStyle/>
        <a:p>
          <a:endParaRPr lang="pt-BR"/>
        </a:p>
      </dgm:t>
    </dgm:pt>
    <dgm:pt modelId="{5AE6544D-702C-4CE2-8F87-BD33B03351BA}">
      <dgm:prSet/>
      <dgm:spPr/>
      <dgm:t>
        <a:bodyPr/>
        <a:lstStyle/>
        <a:p>
          <a:r>
            <a:rPr lang="pt-BR" b="0" dirty="0"/>
            <a:t>O significado de uma palavra pode mudar das outras palavras mais próximas</a:t>
          </a:r>
        </a:p>
      </dgm:t>
    </dgm:pt>
    <dgm:pt modelId="{CC4DA42E-14A0-4D29-BAA9-D1F6B9EDEFEB}" type="parTrans" cxnId="{A66AA2B6-458E-4751-B5BA-4896A974B675}">
      <dgm:prSet/>
      <dgm:spPr/>
      <dgm:t>
        <a:bodyPr/>
        <a:lstStyle/>
        <a:p>
          <a:endParaRPr lang="pt-BR"/>
        </a:p>
      </dgm:t>
    </dgm:pt>
    <dgm:pt modelId="{343DAD78-2172-4DAD-932F-BCCCC70571E5}" type="sibTrans" cxnId="{A66AA2B6-458E-4751-B5BA-4896A974B675}">
      <dgm:prSet/>
      <dgm:spPr/>
      <dgm:t>
        <a:bodyPr/>
        <a:lstStyle/>
        <a:p>
          <a:endParaRPr lang="pt-BR"/>
        </a:p>
      </dgm:t>
    </dgm:pt>
    <dgm:pt modelId="{1972E086-B6C3-462F-898C-F268BE87396B}">
      <dgm:prSet/>
      <dgm:spPr/>
      <dgm:t>
        <a:bodyPr/>
        <a:lstStyle/>
        <a:p>
          <a:r>
            <a:rPr lang="pt-BR" b="0" dirty="0"/>
            <a:t>Usa gradiente descendente para otimizar todos os componentes</a:t>
          </a:r>
        </a:p>
      </dgm:t>
    </dgm:pt>
    <dgm:pt modelId="{FD3CF4C4-B74D-4432-9344-C11C31873DB5}" type="parTrans" cxnId="{8A7238EC-2E88-4173-8E95-BD6016FC8D52}">
      <dgm:prSet/>
      <dgm:spPr/>
      <dgm:t>
        <a:bodyPr/>
        <a:lstStyle/>
        <a:p>
          <a:endParaRPr lang="pt-BR"/>
        </a:p>
      </dgm:t>
    </dgm:pt>
    <dgm:pt modelId="{3C014426-4C0D-4878-BD0D-A17D358620E9}" type="sibTrans" cxnId="{8A7238EC-2E88-4173-8E95-BD6016FC8D52}">
      <dgm:prSet/>
      <dgm:spPr/>
      <dgm:t>
        <a:bodyPr/>
        <a:lstStyle/>
        <a:p>
          <a:endParaRPr lang="pt-BR"/>
        </a:p>
      </dgm:t>
    </dgm:pt>
    <dgm:pt modelId="{A795D128-13DA-42E8-98D9-8D588AA76501}" type="pres">
      <dgm:prSet presAssocID="{C5C4EEFD-CD20-415F-994A-AC350166CD6D}" presName="linearFlow" presStyleCnt="0">
        <dgm:presLayoutVars>
          <dgm:dir/>
          <dgm:animLvl val="lvl"/>
          <dgm:resizeHandles val="exact"/>
        </dgm:presLayoutVars>
      </dgm:prSet>
      <dgm:spPr/>
    </dgm:pt>
    <dgm:pt modelId="{FBD3CC19-E543-4E78-BBAB-2D79A467250D}" type="pres">
      <dgm:prSet presAssocID="{5B1C891C-F2F4-4090-A7D9-61270E00FAA4}" presName="composite" presStyleCnt="0"/>
      <dgm:spPr/>
    </dgm:pt>
    <dgm:pt modelId="{0D88D5CB-ACC5-4058-953E-F6F107F8C503}" type="pres">
      <dgm:prSet presAssocID="{5B1C891C-F2F4-4090-A7D9-61270E00FAA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611C1F-EB5D-4999-B959-982EF54540E4}" type="pres">
      <dgm:prSet presAssocID="{5B1C891C-F2F4-4090-A7D9-61270E00FAA4}" presName="parSh" presStyleLbl="node1" presStyleIdx="0" presStyleCnt="4"/>
      <dgm:spPr/>
    </dgm:pt>
    <dgm:pt modelId="{FA90D091-A429-47EE-AC64-92BFC7CC42C0}" type="pres">
      <dgm:prSet presAssocID="{5B1C891C-F2F4-4090-A7D9-61270E00FAA4}" presName="desTx" presStyleLbl="fgAcc1" presStyleIdx="0" presStyleCnt="4">
        <dgm:presLayoutVars>
          <dgm:bulletEnabled val="1"/>
        </dgm:presLayoutVars>
      </dgm:prSet>
      <dgm:spPr/>
    </dgm:pt>
    <dgm:pt modelId="{7C0791D4-D45A-4198-BA53-040682FD29FA}" type="pres">
      <dgm:prSet presAssocID="{04B325C4-7D3C-471F-A575-C3F0DDB38F0C}" presName="sibTrans" presStyleLbl="sibTrans2D1" presStyleIdx="0" presStyleCnt="3"/>
      <dgm:spPr/>
    </dgm:pt>
    <dgm:pt modelId="{48B71B0C-953B-42E9-BE33-AED1AA3F517F}" type="pres">
      <dgm:prSet presAssocID="{04B325C4-7D3C-471F-A575-C3F0DDB38F0C}" presName="connTx" presStyleLbl="sibTrans2D1" presStyleIdx="0" presStyleCnt="3"/>
      <dgm:spPr/>
    </dgm:pt>
    <dgm:pt modelId="{25B79742-6DF0-4F08-B8BD-16D6F4E9F51C}" type="pres">
      <dgm:prSet presAssocID="{02753BBA-438E-4AC4-9E11-CC9D8796307F}" presName="composite" presStyleCnt="0"/>
      <dgm:spPr/>
    </dgm:pt>
    <dgm:pt modelId="{A4468BA2-236F-40DC-AEE7-72FB636F78F2}" type="pres">
      <dgm:prSet presAssocID="{02753BBA-438E-4AC4-9E11-CC9D8796307F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F776473-2B55-4367-ADB6-892BAFB8902C}" type="pres">
      <dgm:prSet presAssocID="{02753BBA-438E-4AC4-9E11-CC9D8796307F}" presName="parSh" presStyleLbl="node1" presStyleIdx="1" presStyleCnt="4"/>
      <dgm:spPr/>
    </dgm:pt>
    <dgm:pt modelId="{EAD281DB-045A-4E95-B4CF-2C4DAEE93529}" type="pres">
      <dgm:prSet presAssocID="{02753BBA-438E-4AC4-9E11-CC9D8796307F}" presName="desTx" presStyleLbl="fgAcc1" presStyleIdx="1" presStyleCnt="4">
        <dgm:presLayoutVars>
          <dgm:bulletEnabled val="1"/>
        </dgm:presLayoutVars>
      </dgm:prSet>
      <dgm:spPr/>
    </dgm:pt>
    <dgm:pt modelId="{415712D0-05B2-449A-8C32-5308079DADBA}" type="pres">
      <dgm:prSet presAssocID="{7852DEC1-26AB-4477-A4CA-211B423F5BAC}" presName="sibTrans" presStyleLbl="sibTrans2D1" presStyleIdx="1" presStyleCnt="3"/>
      <dgm:spPr/>
    </dgm:pt>
    <dgm:pt modelId="{7FD67A2C-B02B-4E7F-93EB-C1F82B5F3D40}" type="pres">
      <dgm:prSet presAssocID="{7852DEC1-26AB-4477-A4CA-211B423F5BAC}" presName="connTx" presStyleLbl="sibTrans2D1" presStyleIdx="1" presStyleCnt="3"/>
      <dgm:spPr/>
    </dgm:pt>
    <dgm:pt modelId="{C54DCF7C-C210-4993-99F9-701666308B3B}" type="pres">
      <dgm:prSet presAssocID="{ADB9DD94-A2CF-41F6-AF62-7EC7D3398D06}" presName="composite" presStyleCnt="0"/>
      <dgm:spPr/>
    </dgm:pt>
    <dgm:pt modelId="{54D36A40-EF49-4BAE-A615-7D2665BA4C2B}" type="pres">
      <dgm:prSet presAssocID="{ADB9DD94-A2CF-41F6-AF62-7EC7D3398D0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C5BF7C0-72D1-4AEE-B6F5-19290243493D}" type="pres">
      <dgm:prSet presAssocID="{ADB9DD94-A2CF-41F6-AF62-7EC7D3398D06}" presName="parSh" presStyleLbl="node1" presStyleIdx="2" presStyleCnt="4"/>
      <dgm:spPr/>
    </dgm:pt>
    <dgm:pt modelId="{66E799E7-F738-4303-8F7E-B5E773C85C64}" type="pres">
      <dgm:prSet presAssocID="{ADB9DD94-A2CF-41F6-AF62-7EC7D3398D06}" presName="desTx" presStyleLbl="fgAcc1" presStyleIdx="2" presStyleCnt="4">
        <dgm:presLayoutVars>
          <dgm:bulletEnabled val="1"/>
        </dgm:presLayoutVars>
      </dgm:prSet>
      <dgm:spPr/>
    </dgm:pt>
    <dgm:pt modelId="{A064FAC1-C61C-4EC8-B158-942B8FF5E46F}" type="pres">
      <dgm:prSet presAssocID="{C010372A-B70A-46C9-82F4-32255B31847A}" presName="sibTrans" presStyleLbl="sibTrans2D1" presStyleIdx="2" presStyleCnt="3"/>
      <dgm:spPr/>
    </dgm:pt>
    <dgm:pt modelId="{F5441EF9-926D-40BD-85EE-92C23C4E1DC7}" type="pres">
      <dgm:prSet presAssocID="{C010372A-B70A-46C9-82F4-32255B31847A}" presName="connTx" presStyleLbl="sibTrans2D1" presStyleIdx="2" presStyleCnt="3"/>
      <dgm:spPr/>
    </dgm:pt>
    <dgm:pt modelId="{A7E15FE8-940C-4D15-8A9D-8AC152D73638}" type="pres">
      <dgm:prSet presAssocID="{9764396A-0ABE-4FB5-B2FA-44A4E26FCD06}" presName="composite" presStyleCnt="0"/>
      <dgm:spPr/>
    </dgm:pt>
    <dgm:pt modelId="{74492FB0-0257-4320-B332-92B4179E8899}" type="pres">
      <dgm:prSet presAssocID="{9764396A-0ABE-4FB5-B2FA-44A4E26FCD06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06F3BD2-E3CE-4F7A-8B03-DEC05180446A}" type="pres">
      <dgm:prSet presAssocID="{9764396A-0ABE-4FB5-B2FA-44A4E26FCD06}" presName="parSh" presStyleLbl="node1" presStyleIdx="3" presStyleCnt="4"/>
      <dgm:spPr/>
    </dgm:pt>
    <dgm:pt modelId="{7BCC6756-59E4-4838-88CF-C05E3EAFC766}" type="pres">
      <dgm:prSet presAssocID="{9764396A-0ABE-4FB5-B2FA-44A4E26FCD06}" presName="desTx" presStyleLbl="fgAcc1" presStyleIdx="3" presStyleCnt="4">
        <dgm:presLayoutVars>
          <dgm:bulletEnabled val="1"/>
        </dgm:presLayoutVars>
      </dgm:prSet>
      <dgm:spPr/>
    </dgm:pt>
  </dgm:ptLst>
  <dgm:cxnLst>
    <dgm:cxn modelId="{E162DD04-4961-4282-B096-8D31A4FAC49F}" srcId="{C5C4EEFD-CD20-415F-994A-AC350166CD6D}" destId="{5B1C891C-F2F4-4090-A7D9-61270E00FAA4}" srcOrd="0" destOrd="0" parTransId="{299918B6-1D7F-4F7C-9412-A32DF0B17E49}" sibTransId="{04B325C4-7D3C-471F-A575-C3F0DDB38F0C}"/>
    <dgm:cxn modelId="{58D19407-8E61-407D-B7E4-1CD3A2A6FA78}" type="presOf" srcId="{333311EE-4F63-4EB2-96B4-DC786E8A9061}" destId="{EAD281DB-045A-4E95-B4CF-2C4DAEE93529}" srcOrd="0" destOrd="2" presId="urn:microsoft.com/office/officeart/2005/8/layout/process3"/>
    <dgm:cxn modelId="{B4E8A607-8A8E-4C6C-B05A-37EB0FBDC784}" type="presOf" srcId="{E995FA19-D2EE-4B35-BF00-879DB937CDAE}" destId="{EAD281DB-045A-4E95-B4CF-2C4DAEE93529}" srcOrd="0" destOrd="0" presId="urn:microsoft.com/office/officeart/2005/8/layout/process3"/>
    <dgm:cxn modelId="{42D15813-F0C7-4DE0-85A4-5A3D2E898289}" type="presOf" srcId="{5B1C891C-F2F4-4090-A7D9-61270E00FAA4}" destId="{A0611C1F-EB5D-4999-B959-982EF54540E4}" srcOrd="1" destOrd="0" presId="urn:microsoft.com/office/officeart/2005/8/layout/process3"/>
    <dgm:cxn modelId="{CDA27D14-6873-481C-93B4-0F34563A3156}" type="presOf" srcId="{ADB9DD94-A2CF-41F6-AF62-7EC7D3398D06}" destId="{54D36A40-EF49-4BAE-A615-7D2665BA4C2B}" srcOrd="0" destOrd="0" presId="urn:microsoft.com/office/officeart/2005/8/layout/process3"/>
    <dgm:cxn modelId="{1603DF2C-B1EB-4AF7-8311-1783E795BC37}" type="presOf" srcId="{71E8B569-FB76-4E23-8344-EC2B8987CBEA}" destId="{FA90D091-A429-47EE-AC64-92BFC7CC42C0}" srcOrd="0" destOrd="1" presId="urn:microsoft.com/office/officeart/2005/8/layout/process3"/>
    <dgm:cxn modelId="{177DD133-FDD2-4BF9-BB7A-DC6D6013B40A}" type="presOf" srcId="{04B325C4-7D3C-471F-A575-C3F0DDB38F0C}" destId="{48B71B0C-953B-42E9-BE33-AED1AA3F517F}" srcOrd="1" destOrd="0" presId="urn:microsoft.com/office/officeart/2005/8/layout/process3"/>
    <dgm:cxn modelId="{0B175637-B38F-4916-816C-8B2BF8D77007}" srcId="{C5C4EEFD-CD20-415F-994A-AC350166CD6D}" destId="{9764396A-0ABE-4FB5-B2FA-44A4E26FCD06}" srcOrd="3" destOrd="0" parTransId="{51F02391-A237-4875-9FD0-8C55F7232335}" sibTransId="{8F851BC7-A258-422A-BD53-80B5B9633740}"/>
    <dgm:cxn modelId="{F520D640-7A20-444F-81E2-9A5574795D5C}" srcId="{02753BBA-438E-4AC4-9E11-CC9D8796307F}" destId="{F9F38A32-A620-4BF0-B141-7A7C506DB111}" srcOrd="1" destOrd="0" parTransId="{4DBAC07A-17DF-465F-B592-E5220FFB5334}" sibTransId="{F94CADE2-0A38-4E7A-BEEB-A464A0F12410}"/>
    <dgm:cxn modelId="{5E432244-9C23-4FA9-911D-5A67C3B0C212}" type="presOf" srcId="{C5C4EEFD-CD20-415F-994A-AC350166CD6D}" destId="{A795D128-13DA-42E8-98D9-8D588AA76501}" srcOrd="0" destOrd="0" presId="urn:microsoft.com/office/officeart/2005/8/layout/process3"/>
    <dgm:cxn modelId="{BFD0C047-4E1A-4158-B7F2-F3A7C1655987}" type="presOf" srcId="{9764396A-0ABE-4FB5-B2FA-44A4E26FCD06}" destId="{74492FB0-0257-4320-B332-92B4179E8899}" srcOrd="0" destOrd="0" presId="urn:microsoft.com/office/officeart/2005/8/layout/process3"/>
    <dgm:cxn modelId="{98D64169-BE4E-49A1-8C99-B660CBC8C9B9}" srcId="{02753BBA-438E-4AC4-9E11-CC9D8796307F}" destId="{333311EE-4F63-4EB2-96B4-DC786E8A9061}" srcOrd="2" destOrd="0" parTransId="{C6D1B632-9A4A-4CFC-AC0C-55E6FE9A465F}" sibTransId="{0DB9BD5A-2AFF-45F1-8558-B22416D56C50}"/>
    <dgm:cxn modelId="{9C6E664C-D8E2-4107-8051-25116C683ECE}" srcId="{5B1C891C-F2F4-4090-A7D9-61270E00FAA4}" destId="{ECF6D764-9F76-4CBB-AF32-F6C89B0E5A96}" srcOrd="0" destOrd="0" parTransId="{2532DC29-5504-48AB-8CA8-405CC62DEFB1}" sibTransId="{4C82EAA6-682C-4080-BA62-5A621498C433}"/>
    <dgm:cxn modelId="{9088294E-551B-40CE-A933-F0E34106AB44}" type="presOf" srcId="{7852DEC1-26AB-4477-A4CA-211B423F5BAC}" destId="{415712D0-05B2-449A-8C32-5308079DADBA}" srcOrd="0" destOrd="0" presId="urn:microsoft.com/office/officeart/2005/8/layout/process3"/>
    <dgm:cxn modelId="{61F0716E-F1F3-46B4-8AFD-2F7F0E318B6D}" srcId="{C5C4EEFD-CD20-415F-994A-AC350166CD6D}" destId="{ADB9DD94-A2CF-41F6-AF62-7EC7D3398D06}" srcOrd="2" destOrd="0" parTransId="{7B3DC85E-6916-41A1-B341-BEABAEDA3CD8}" sibTransId="{C010372A-B70A-46C9-82F4-32255B31847A}"/>
    <dgm:cxn modelId="{F495A46E-E417-40DF-B69C-57E4CA3EFF15}" type="presOf" srcId="{00032169-0982-4199-8B7E-A99E2264A2AE}" destId="{66E799E7-F738-4303-8F7E-B5E773C85C64}" srcOrd="0" destOrd="0" presId="urn:microsoft.com/office/officeart/2005/8/layout/process3"/>
    <dgm:cxn modelId="{37F7E572-AC0E-426B-9B97-D3798675A5BD}" type="presOf" srcId="{04B325C4-7D3C-471F-A575-C3F0DDB38F0C}" destId="{7C0791D4-D45A-4198-BA53-040682FD29FA}" srcOrd="0" destOrd="0" presId="urn:microsoft.com/office/officeart/2005/8/layout/process3"/>
    <dgm:cxn modelId="{F9219774-B169-414E-8630-0C441FADD6F7}" type="presOf" srcId="{ADB9DD94-A2CF-41F6-AF62-7EC7D3398D06}" destId="{9C5BF7C0-72D1-4AEE-B6F5-19290243493D}" srcOrd="1" destOrd="0" presId="urn:microsoft.com/office/officeart/2005/8/layout/process3"/>
    <dgm:cxn modelId="{1307F654-5CBA-4C51-847B-C263EA8E7128}" type="presOf" srcId="{9764396A-0ABE-4FB5-B2FA-44A4E26FCD06}" destId="{B06F3BD2-E3CE-4F7A-8B03-DEC05180446A}" srcOrd="1" destOrd="0" presId="urn:microsoft.com/office/officeart/2005/8/layout/process3"/>
    <dgm:cxn modelId="{46731455-8BCD-437E-80D4-51BF865F3744}" srcId="{ADB9DD94-A2CF-41F6-AF62-7EC7D3398D06}" destId="{00032169-0982-4199-8B7E-A99E2264A2AE}" srcOrd="0" destOrd="0" parTransId="{BD066AA3-763F-4D56-ABB7-CA832A909F65}" sibTransId="{7C7E3FFB-C31D-4566-99BD-A80ACC7A82AF}"/>
    <dgm:cxn modelId="{87921E56-7265-4683-838D-6638B2426FF5}" type="presOf" srcId="{ECF6D764-9F76-4CBB-AF32-F6C89B0E5A96}" destId="{FA90D091-A429-47EE-AC64-92BFC7CC42C0}" srcOrd="0" destOrd="0" presId="urn:microsoft.com/office/officeart/2005/8/layout/process3"/>
    <dgm:cxn modelId="{AD749576-4E7C-42AA-A118-12D633BDF948}" type="presOf" srcId="{2F8435D9-3A26-4E36-9872-EFCE3FFD3354}" destId="{7BCC6756-59E4-4838-88CF-C05E3EAFC766}" srcOrd="0" destOrd="0" presId="urn:microsoft.com/office/officeart/2005/8/layout/process3"/>
    <dgm:cxn modelId="{4D9A1C57-F3BB-4892-B2B5-219C400F6186}" type="presOf" srcId="{C010372A-B70A-46C9-82F4-32255B31847A}" destId="{A064FAC1-C61C-4EC8-B158-942B8FF5E46F}" srcOrd="0" destOrd="0" presId="urn:microsoft.com/office/officeart/2005/8/layout/process3"/>
    <dgm:cxn modelId="{CD322284-86B2-4B1F-A708-B05569EE4D5A}" srcId="{02753BBA-438E-4AC4-9E11-CC9D8796307F}" destId="{E995FA19-D2EE-4B35-BF00-879DB937CDAE}" srcOrd="0" destOrd="0" parTransId="{2CD8658A-7663-4562-99BB-2AEEBB940FCA}" sibTransId="{3B9891AA-A445-4518-9EFC-02AA2B4D93F2}"/>
    <dgm:cxn modelId="{7E3EEE84-EE52-466A-9C4E-A1120CF4BAA0}" type="presOf" srcId="{1972E086-B6C3-462F-898C-F268BE87396B}" destId="{7BCC6756-59E4-4838-88CF-C05E3EAFC766}" srcOrd="0" destOrd="1" presId="urn:microsoft.com/office/officeart/2005/8/layout/process3"/>
    <dgm:cxn modelId="{D100268C-7976-48A0-AA24-F1B9C010539A}" type="presOf" srcId="{02753BBA-438E-4AC4-9E11-CC9D8796307F}" destId="{A4468BA2-236F-40DC-AEE7-72FB636F78F2}" srcOrd="0" destOrd="0" presId="urn:microsoft.com/office/officeart/2005/8/layout/process3"/>
    <dgm:cxn modelId="{DB85F8AC-E535-45E6-8A56-9BB80BAF3D7B}" type="presOf" srcId="{F9F38A32-A620-4BF0-B141-7A7C506DB111}" destId="{EAD281DB-045A-4E95-B4CF-2C4DAEE93529}" srcOrd="0" destOrd="1" presId="urn:microsoft.com/office/officeart/2005/8/layout/process3"/>
    <dgm:cxn modelId="{A66AA2B6-458E-4751-B5BA-4896A974B675}" srcId="{ADB9DD94-A2CF-41F6-AF62-7EC7D3398D06}" destId="{5AE6544D-702C-4CE2-8F87-BD33B03351BA}" srcOrd="1" destOrd="0" parTransId="{CC4DA42E-14A0-4D29-BAA9-D1F6B9EDEFEB}" sibTransId="{343DAD78-2172-4DAD-932F-BCCCC70571E5}"/>
    <dgm:cxn modelId="{484AA9BA-5CA8-45F8-82AD-41FAD7F50008}" type="presOf" srcId="{02753BBA-438E-4AC4-9E11-CC9D8796307F}" destId="{FF776473-2B55-4367-ADB6-892BAFB8902C}" srcOrd="1" destOrd="0" presId="urn:microsoft.com/office/officeart/2005/8/layout/process3"/>
    <dgm:cxn modelId="{3C3371C3-F6A1-4871-BD0D-4816D0C538B4}" type="presOf" srcId="{5B1C891C-F2F4-4090-A7D9-61270E00FAA4}" destId="{0D88D5CB-ACC5-4058-953E-F6F107F8C503}" srcOrd="0" destOrd="0" presId="urn:microsoft.com/office/officeart/2005/8/layout/process3"/>
    <dgm:cxn modelId="{472DABC7-0207-4D57-8627-21CF8B386340}" srcId="{9764396A-0ABE-4FB5-B2FA-44A4E26FCD06}" destId="{2F8435D9-3A26-4E36-9872-EFCE3FFD3354}" srcOrd="0" destOrd="0" parTransId="{2F7817D2-A0E4-414A-A8FC-D93F51D63BEE}" sibTransId="{D9E9E40D-733B-4FEA-8FC8-CBD9602437CB}"/>
    <dgm:cxn modelId="{FDF32EC9-F3DE-4EAE-9D8F-230D255BE78A}" type="presOf" srcId="{C010372A-B70A-46C9-82F4-32255B31847A}" destId="{F5441EF9-926D-40BD-85EE-92C23C4E1DC7}" srcOrd="1" destOrd="0" presId="urn:microsoft.com/office/officeart/2005/8/layout/process3"/>
    <dgm:cxn modelId="{DA32FED5-77A3-4405-A537-4B64BCBC8813}" srcId="{5B1C891C-F2F4-4090-A7D9-61270E00FAA4}" destId="{71E8B569-FB76-4E23-8344-EC2B8987CBEA}" srcOrd="1" destOrd="0" parTransId="{126E0327-553D-4EC0-B243-1950357F3371}" sibTransId="{97A67455-589A-4B27-9191-E469A1AE8441}"/>
    <dgm:cxn modelId="{C6B29FD6-4D76-45F2-9718-A078CCB8D429}" type="presOf" srcId="{7852DEC1-26AB-4477-A4CA-211B423F5BAC}" destId="{7FD67A2C-B02B-4E7F-93EB-C1F82B5F3D40}" srcOrd="1" destOrd="0" presId="urn:microsoft.com/office/officeart/2005/8/layout/process3"/>
    <dgm:cxn modelId="{651A13D8-9131-4D28-857A-630E146B615E}" srcId="{C5C4EEFD-CD20-415F-994A-AC350166CD6D}" destId="{02753BBA-438E-4AC4-9E11-CC9D8796307F}" srcOrd="1" destOrd="0" parTransId="{8181CCD5-34A7-49FF-9EAE-3B61AAB62BF8}" sibTransId="{7852DEC1-26AB-4477-A4CA-211B423F5BAC}"/>
    <dgm:cxn modelId="{8A7238EC-2E88-4173-8E95-BD6016FC8D52}" srcId="{9764396A-0ABE-4FB5-B2FA-44A4E26FCD06}" destId="{1972E086-B6C3-462F-898C-F268BE87396B}" srcOrd="1" destOrd="0" parTransId="{FD3CF4C4-B74D-4432-9344-C11C31873DB5}" sibTransId="{3C014426-4C0D-4878-BD0D-A17D358620E9}"/>
    <dgm:cxn modelId="{920BF3F8-A5BF-45AD-8354-F17940BBE2E0}" type="presOf" srcId="{5AE6544D-702C-4CE2-8F87-BD33B03351BA}" destId="{66E799E7-F738-4303-8F7E-B5E773C85C64}" srcOrd="0" destOrd="1" presId="urn:microsoft.com/office/officeart/2005/8/layout/process3"/>
    <dgm:cxn modelId="{5E4467CF-29C1-4A19-AFCE-29388CC1324C}" type="presParOf" srcId="{A795D128-13DA-42E8-98D9-8D588AA76501}" destId="{FBD3CC19-E543-4E78-BBAB-2D79A467250D}" srcOrd="0" destOrd="0" presId="urn:microsoft.com/office/officeart/2005/8/layout/process3"/>
    <dgm:cxn modelId="{620D7543-C6DC-4502-9D4A-F1DF265D34AD}" type="presParOf" srcId="{FBD3CC19-E543-4E78-BBAB-2D79A467250D}" destId="{0D88D5CB-ACC5-4058-953E-F6F107F8C503}" srcOrd="0" destOrd="0" presId="urn:microsoft.com/office/officeart/2005/8/layout/process3"/>
    <dgm:cxn modelId="{FC008FCB-944B-410D-AFD2-ED7F63D88044}" type="presParOf" srcId="{FBD3CC19-E543-4E78-BBAB-2D79A467250D}" destId="{A0611C1F-EB5D-4999-B959-982EF54540E4}" srcOrd="1" destOrd="0" presId="urn:microsoft.com/office/officeart/2005/8/layout/process3"/>
    <dgm:cxn modelId="{D4729C5E-B937-4199-A099-3D2F2A24148D}" type="presParOf" srcId="{FBD3CC19-E543-4E78-BBAB-2D79A467250D}" destId="{FA90D091-A429-47EE-AC64-92BFC7CC42C0}" srcOrd="2" destOrd="0" presId="urn:microsoft.com/office/officeart/2005/8/layout/process3"/>
    <dgm:cxn modelId="{E33A22BC-1DDD-4DF6-9820-46BF45F705E7}" type="presParOf" srcId="{A795D128-13DA-42E8-98D9-8D588AA76501}" destId="{7C0791D4-D45A-4198-BA53-040682FD29FA}" srcOrd="1" destOrd="0" presId="urn:microsoft.com/office/officeart/2005/8/layout/process3"/>
    <dgm:cxn modelId="{57C76AD6-8A12-4DE2-98DF-DEB60AE34F7B}" type="presParOf" srcId="{7C0791D4-D45A-4198-BA53-040682FD29FA}" destId="{48B71B0C-953B-42E9-BE33-AED1AA3F517F}" srcOrd="0" destOrd="0" presId="urn:microsoft.com/office/officeart/2005/8/layout/process3"/>
    <dgm:cxn modelId="{9533F0FD-8106-4EB5-9073-EB7A491C7F89}" type="presParOf" srcId="{A795D128-13DA-42E8-98D9-8D588AA76501}" destId="{25B79742-6DF0-4F08-B8BD-16D6F4E9F51C}" srcOrd="2" destOrd="0" presId="urn:microsoft.com/office/officeart/2005/8/layout/process3"/>
    <dgm:cxn modelId="{D40BF083-39CB-4930-AB25-CE74DC574811}" type="presParOf" srcId="{25B79742-6DF0-4F08-B8BD-16D6F4E9F51C}" destId="{A4468BA2-236F-40DC-AEE7-72FB636F78F2}" srcOrd="0" destOrd="0" presId="urn:microsoft.com/office/officeart/2005/8/layout/process3"/>
    <dgm:cxn modelId="{BB883C6B-1668-4E16-BE02-6CBF45955BEF}" type="presParOf" srcId="{25B79742-6DF0-4F08-B8BD-16D6F4E9F51C}" destId="{FF776473-2B55-4367-ADB6-892BAFB8902C}" srcOrd="1" destOrd="0" presId="urn:microsoft.com/office/officeart/2005/8/layout/process3"/>
    <dgm:cxn modelId="{11D7342D-6C84-4C27-9107-DC7B1ABC48FA}" type="presParOf" srcId="{25B79742-6DF0-4F08-B8BD-16D6F4E9F51C}" destId="{EAD281DB-045A-4E95-B4CF-2C4DAEE93529}" srcOrd="2" destOrd="0" presId="urn:microsoft.com/office/officeart/2005/8/layout/process3"/>
    <dgm:cxn modelId="{5F9847B0-21E7-4087-B1B7-9CE23DD7DB21}" type="presParOf" srcId="{A795D128-13DA-42E8-98D9-8D588AA76501}" destId="{415712D0-05B2-449A-8C32-5308079DADBA}" srcOrd="3" destOrd="0" presId="urn:microsoft.com/office/officeart/2005/8/layout/process3"/>
    <dgm:cxn modelId="{E9D2CC3C-FC7F-46EE-BD8D-C14C16276F66}" type="presParOf" srcId="{415712D0-05B2-449A-8C32-5308079DADBA}" destId="{7FD67A2C-B02B-4E7F-93EB-C1F82B5F3D40}" srcOrd="0" destOrd="0" presId="urn:microsoft.com/office/officeart/2005/8/layout/process3"/>
    <dgm:cxn modelId="{2EA13907-52D9-4887-9419-A63F36491A3C}" type="presParOf" srcId="{A795D128-13DA-42E8-98D9-8D588AA76501}" destId="{C54DCF7C-C210-4993-99F9-701666308B3B}" srcOrd="4" destOrd="0" presId="urn:microsoft.com/office/officeart/2005/8/layout/process3"/>
    <dgm:cxn modelId="{09FBBC63-B2AE-47A9-A9A7-DF5836BA006C}" type="presParOf" srcId="{C54DCF7C-C210-4993-99F9-701666308B3B}" destId="{54D36A40-EF49-4BAE-A615-7D2665BA4C2B}" srcOrd="0" destOrd="0" presId="urn:microsoft.com/office/officeart/2005/8/layout/process3"/>
    <dgm:cxn modelId="{01DC28CA-B1C3-4957-996A-6F09666F89EE}" type="presParOf" srcId="{C54DCF7C-C210-4993-99F9-701666308B3B}" destId="{9C5BF7C0-72D1-4AEE-B6F5-19290243493D}" srcOrd="1" destOrd="0" presId="urn:microsoft.com/office/officeart/2005/8/layout/process3"/>
    <dgm:cxn modelId="{A231EB6E-3BC8-4CA0-BFF5-A25EFA7A94B7}" type="presParOf" srcId="{C54DCF7C-C210-4993-99F9-701666308B3B}" destId="{66E799E7-F738-4303-8F7E-B5E773C85C64}" srcOrd="2" destOrd="0" presId="urn:microsoft.com/office/officeart/2005/8/layout/process3"/>
    <dgm:cxn modelId="{8E287DE6-06A9-4D73-868E-6253BF49B766}" type="presParOf" srcId="{A795D128-13DA-42E8-98D9-8D588AA76501}" destId="{A064FAC1-C61C-4EC8-B158-942B8FF5E46F}" srcOrd="5" destOrd="0" presId="urn:microsoft.com/office/officeart/2005/8/layout/process3"/>
    <dgm:cxn modelId="{956F00EC-8BFC-412C-850F-EB641BB5185E}" type="presParOf" srcId="{A064FAC1-C61C-4EC8-B158-942B8FF5E46F}" destId="{F5441EF9-926D-40BD-85EE-92C23C4E1DC7}" srcOrd="0" destOrd="0" presId="urn:microsoft.com/office/officeart/2005/8/layout/process3"/>
    <dgm:cxn modelId="{59FBE095-AB8E-4FE4-8D8A-BE7250479789}" type="presParOf" srcId="{A795D128-13DA-42E8-98D9-8D588AA76501}" destId="{A7E15FE8-940C-4D15-8A9D-8AC152D73638}" srcOrd="6" destOrd="0" presId="urn:microsoft.com/office/officeart/2005/8/layout/process3"/>
    <dgm:cxn modelId="{10725F27-D973-46B3-A296-0DAE60C25949}" type="presParOf" srcId="{A7E15FE8-940C-4D15-8A9D-8AC152D73638}" destId="{74492FB0-0257-4320-B332-92B4179E8899}" srcOrd="0" destOrd="0" presId="urn:microsoft.com/office/officeart/2005/8/layout/process3"/>
    <dgm:cxn modelId="{1280527E-D2E9-4864-8E0A-5CCDCD0D683B}" type="presParOf" srcId="{A7E15FE8-940C-4D15-8A9D-8AC152D73638}" destId="{B06F3BD2-E3CE-4F7A-8B03-DEC05180446A}" srcOrd="1" destOrd="0" presId="urn:microsoft.com/office/officeart/2005/8/layout/process3"/>
    <dgm:cxn modelId="{39E57FA5-D06E-4381-8431-69887E567779}" type="presParOf" srcId="{A7E15FE8-940C-4D15-8A9D-8AC152D73638}" destId="{7BCC6756-59E4-4838-88CF-C05E3EAFC76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EEB4F-9799-4B4C-8691-515EF762DADF}">
      <dsp:nvSpPr>
        <dsp:cNvPr id="0" name=""/>
        <dsp:cNvSpPr/>
      </dsp:nvSpPr>
      <dsp:spPr>
        <a:xfrm>
          <a:off x="54" y="165078"/>
          <a:ext cx="5173419" cy="547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Era Pré-</a:t>
          </a:r>
          <a:r>
            <a:rPr lang="pt-BR" sz="1900" i="1" kern="1200" dirty="0"/>
            <a:t>Transformers</a:t>
          </a:r>
        </a:p>
      </dsp:txBody>
      <dsp:txXfrm>
        <a:off x="54" y="165078"/>
        <a:ext cx="5173419" cy="547200"/>
      </dsp:txXfrm>
    </dsp:sp>
    <dsp:sp modelId="{FF291C7E-7377-49E9-9002-38026ACB9CB7}">
      <dsp:nvSpPr>
        <dsp:cNvPr id="0" name=""/>
        <dsp:cNvSpPr/>
      </dsp:nvSpPr>
      <dsp:spPr>
        <a:xfrm>
          <a:off x="54" y="712278"/>
          <a:ext cx="5173419" cy="34422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1" kern="1200" dirty="0"/>
            <a:t>Embeddings</a:t>
          </a:r>
          <a:r>
            <a:rPr lang="en-US" sz="1900" b="1" kern="1200" dirty="0"/>
            <a:t> (Ex: Word2Vec, </a:t>
          </a:r>
          <a:r>
            <a:rPr lang="en-US" sz="1900" b="1" kern="1200" dirty="0" err="1"/>
            <a:t>GloVe</a:t>
          </a:r>
          <a:r>
            <a:rPr lang="en-US" sz="1900" b="1" kern="1200" dirty="0"/>
            <a:t>)</a:t>
          </a:r>
          <a:endParaRPr lang="pt-BR" sz="1900" b="1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b="0" kern="1200" dirty="0"/>
            <a:t>Em vez de </a:t>
          </a:r>
          <a:r>
            <a:rPr lang="pt-BR" sz="1900" b="0" kern="1200" dirty="0" err="1"/>
            <a:t>BoW</a:t>
          </a:r>
          <a:r>
            <a:rPr lang="pt-BR" sz="1900" b="0" kern="1200" dirty="0"/>
            <a:t> e TF-IDF, cada palavra é mapeada para um vetor denso (uma lista de números, </a:t>
          </a:r>
          <a:r>
            <a:rPr lang="pt-BR" sz="1900" b="0" kern="1200" dirty="0" err="1"/>
            <a:t>ex</a:t>
          </a:r>
          <a:r>
            <a:rPr lang="pt-BR" sz="1900" b="0" kern="1200" dirty="0"/>
            <a:t>: 300 dimensões) em um espaço geométrico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b="0" kern="1200" dirty="0"/>
            <a:t>Palavras com significados semelhantes ficam próximas nesse espaço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b="1" kern="1200" dirty="0"/>
            <a:t>Redes Neurais Recorrentes (</a:t>
          </a:r>
          <a:r>
            <a:rPr lang="pt-BR" sz="1900" b="1" kern="1200" dirty="0" err="1"/>
            <a:t>RNNs</a:t>
          </a:r>
          <a:r>
            <a:rPr lang="pt-BR" sz="1900" b="1" kern="1200" dirty="0"/>
            <a:t> e </a:t>
          </a:r>
          <a:r>
            <a:rPr lang="pt-BR" sz="1900" b="1" kern="1200" dirty="0" err="1"/>
            <a:t>LSTMs</a:t>
          </a:r>
          <a:r>
            <a:rPr lang="pt-BR" sz="1900" b="1" kern="1200" dirty="0"/>
            <a:t>)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Processam o texto sequencialmente, palavra por palavra, mantendo uma "memória" do que viram antes (melhor que os N-</a:t>
          </a:r>
          <a:r>
            <a:rPr lang="pt-BR" sz="1900" kern="1200" dirty="0" err="1"/>
            <a:t>grams</a:t>
          </a:r>
          <a:r>
            <a:rPr lang="pt-BR" sz="1900" kern="1200" dirty="0"/>
            <a:t>)</a:t>
          </a:r>
        </a:p>
      </dsp:txBody>
      <dsp:txXfrm>
        <a:off x="54" y="712278"/>
        <a:ext cx="5173419" cy="3442229"/>
      </dsp:txXfrm>
    </dsp:sp>
    <dsp:sp modelId="{906AFC85-CDCE-440D-B83B-9B2DA33BA24D}">
      <dsp:nvSpPr>
        <dsp:cNvPr id="0" name=""/>
        <dsp:cNvSpPr/>
      </dsp:nvSpPr>
      <dsp:spPr>
        <a:xfrm>
          <a:off x="5897751" y="165078"/>
          <a:ext cx="5173419" cy="5472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i="1" kern="1200" dirty="0"/>
            <a:t>Transformers</a:t>
          </a:r>
        </a:p>
      </dsp:txBody>
      <dsp:txXfrm>
        <a:off x="5897751" y="165078"/>
        <a:ext cx="5173419" cy="547200"/>
      </dsp:txXfrm>
    </dsp:sp>
    <dsp:sp modelId="{9FCED207-CBC8-4CA8-A8FF-4B80E8C6D29F}">
      <dsp:nvSpPr>
        <dsp:cNvPr id="0" name=""/>
        <dsp:cNvSpPr/>
      </dsp:nvSpPr>
      <dsp:spPr>
        <a:xfrm>
          <a:off x="5897751" y="712278"/>
          <a:ext cx="5173419" cy="3442229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b="1" kern="1200" dirty="0"/>
            <a:t>Mecanismo de Atenção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Introduzida em 2017 com o </a:t>
          </a:r>
          <a:r>
            <a:rPr lang="pt-BR" sz="1900" kern="1200" dirty="0" err="1"/>
            <a:t>paper</a:t>
          </a:r>
          <a:r>
            <a:rPr lang="pt-BR" sz="1900" kern="1200" dirty="0"/>
            <a:t> "</a:t>
          </a:r>
          <a:r>
            <a:rPr lang="pt-BR" sz="1900" i="1" kern="1200" dirty="0" err="1"/>
            <a:t>Attention</a:t>
          </a:r>
          <a:r>
            <a:rPr lang="pt-BR" sz="1900" i="1" kern="1200" dirty="0"/>
            <a:t> </a:t>
          </a:r>
          <a:r>
            <a:rPr lang="pt-BR" sz="1900" i="1" kern="1200" dirty="0" err="1"/>
            <a:t>is</a:t>
          </a:r>
          <a:r>
            <a:rPr lang="pt-BR" sz="1900" i="1" kern="1200" dirty="0"/>
            <a:t> </a:t>
          </a:r>
          <a:r>
            <a:rPr lang="pt-BR" sz="1900" i="1" kern="1200" dirty="0" err="1"/>
            <a:t>All</a:t>
          </a:r>
          <a:r>
            <a:rPr lang="pt-BR" sz="1900" i="1" kern="1200" dirty="0"/>
            <a:t> You </a:t>
          </a:r>
          <a:r>
            <a:rPr lang="pt-BR" sz="1900" i="1" kern="1200" dirty="0" err="1"/>
            <a:t>Need</a:t>
          </a:r>
          <a:r>
            <a:rPr lang="pt-BR" sz="1900" kern="1200" dirty="0"/>
            <a:t>", a arquitetura </a:t>
          </a:r>
          <a:r>
            <a:rPr lang="pt-BR" sz="1900" i="1" kern="1200" dirty="0" err="1"/>
            <a:t>Transformer</a:t>
          </a:r>
          <a:r>
            <a:rPr lang="pt-BR" sz="1900" kern="1200" dirty="0"/>
            <a:t> mudou tudo e é a base de modelos como o BERT e o GPT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Diferente das </a:t>
          </a:r>
          <a:r>
            <a:rPr lang="pt-BR" sz="1900" kern="1200" dirty="0" err="1"/>
            <a:t>RNNs</a:t>
          </a:r>
          <a:r>
            <a:rPr lang="pt-BR" sz="1900" kern="1200" dirty="0"/>
            <a:t> que leem sequencialmente, os </a:t>
          </a:r>
          <a:r>
            <a:rPr lang="pt-BR" sz="1900" i="1" kern="1200" dirty="0"/>
            <a:t>Transformers</a:t>
          </a:r>
          <a:r>
            <a:rPr lang="pt-BR" sz="1900" kern="1200" dirty="0"/>
            <a:t> leem a frase inteira de uma vez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O segredo é o Mecanismo de </a:t>
          </a:r>
          <a:r>
            <a:rPr lang="pt-BR" sz="1900" kern="1200" dirty="0" err="1"/>
            <a:t>Auto-Atenção</a:t>
          </a:r>
          <a:r>
            <a:rPr lang="pt-BR" sz="1900" kern="1200" dirty="0"/>
            <a:t> (Self-</a:t>
          </a:r>
          <a:r>
            <a:rPr lang="pt-BR" sz="1900" kern="1200" dirty="0" err="1"/>
            <a:t>Attention</a:t>
          </a:r>
          <a:r>
            <a:rPr lang="pt-BR" sz="1900" kern="1200" dirty="0"/>
            <a:t>)</a:t>
          </a:r>
        </a:p>
      </dsp:txBody>
      <dsp:txXfrm>
        <a:off x="5897751" y="712278"/>
        <a:ext cx="5173419" cy="3442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11C1F-EB5D-4999-B959-982EF54540E4}">
      <dsp:nvSpPr>
        <dsp:cNvPr id="0" name=""/>
        <dsp:cNvSpPr/>
      </dsp:nvSpPr>
      <dsp:spPr>
        <a:xfrm>
          <a:off x="1462" y="180556"/>
          <a:ext cx="1837374" cy="8752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i="1" kern="1200" dirty="0" err="1"/>
            <a:t>Embeddings</a:t>
          </a:r>
          <a:r>
            <a:rPr lang="pt-BR" sz="1500" b="1" kern="1200" dirty="0"/>
            <a:t> de palavras</a:t>
          </a:r>
        </a:p>
      </dsp:txBody>
      <dsp:txXfrm>
        <a:off x="1462" y="180556"/>
        <a:ext cx="1837374" cy="583474"/>
      </dsp:txXfrm>
    </dsp:sp>
    <dsp:sp modelId="{FA90D091-A429-47EE-AC64-92BFC7CC42C0}">
      <dsp:nvSpPr>
        <dsp:cNvPr id="0" name=""/>
        <dsp:cNvSpPr/>
      </dsp:nvSpPr>
      <dsp:spPr>
        <a:xfrm>
          <a:off x="377791" y="764030"/>
          <a:ext cx="1837374" cy="3375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Cada palavra é mapeada para um vetor de números reais (tipicamente 100-1000 dimensões)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Palavras semanticamente similares ficam próximas no espaço vetorial</a:t>
          </a:r>
        </a:p>
      </dsp:txBody>
      <dsp:txXfrm>
        <a:off x="431606" y="817845"/>
        <a:ext cx="1729744" cy="3267370"/>
      </dsp:txXfrm>
    </dsp:sp>
    <dsp:sp modelId="{7C0791D4-D45A-4198-BA53-040682FD29FA}">
      <dsp:nvSpPr>
        <dsp:cNvPr id="0" name=""/>
        <dsp:cNvSpPr/>
      </dsp:nvSpPr>
      <dsp:spPr>
        <a:xfrm>
          <a:off x="2117376" y="243566"/>
          <a:ext cx="590503" cy="4574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b="0" kern="1200"/>
        </a:p>
      </dsp:txBody>
      <dsp:txXfrm>
        <a:off x="2117376" y="335057"/>
        <a:ext cx="453267" cy="274471"/>
      </dsp:txXfrm>
    </dsp:sp>
    <dsp:sp modelId="{FF776473-2B55-4367-ADB6-892BAFB8902C}">
      <dsp:nvSpPr>
        <dsp:cNvPr id="0" name=""/>
        <dsp:cNvSpPr/>
      </dsp:nvSpPr>
      <dsp:spPr>
        <a:xfrm>
          <a:off x="2952994" y="180556"/>
          <a:ext cx="1837374" cy="875212"/>
        </a:xfrm>
        <a:prstGeom prst="roundRect">
          <a:avLst>
            <a:gd name="adj" fmla="val 10000"/>
          </a:avLst>
        </a:prstGeom>
        <a:solidFill>
          <a:schemeClr val="accent2">
            <a:hueOff val="-279374"/>
            <a:satOff val="-3219"/>
            <a:lumOff val="7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Aprendizagem hierárquica</a:t>
          </a:r>
          <a:endParaRPr lang="pt-BR" sz="1500" b="1" kern="1200" dirty="0"/>
        </a:p>
      </dsp:txBody>
      <dsp:txXfrm>
        <a:off x="2952994" y="180556"/>
        <a:ext cx="1837374" cy="583474"/>
      </dsp:txXfrm>
    </dsp:sp>
    <dsp:sp modelId="{EAD281DB-045A-4E95-B4CF-2C4DAEE93529}">
      <dsp:nvSpPr>
        <dsp:cNvPr id="0" name=""/>
        <dsp:cNvSpPr/>
      </dsp:nvSpPr>
      <dsp:spPr>
        <a:xfrm>
          <a:off x="3329323" y="764030"/>
          <a:ext cx="1837374" cy="3375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Processam informação em camadas sucessivas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Cada camada extrai características mais abstratas que a anterior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Camadas mais profundas capturam conceitos mais complexos</a:t>
          </a:r>
        </a:p>
      </dsp:txBody>
      <dsp:txXfrm>
        <a:off x="3383138" y="817845"/>
        <a:ext cx="1729744" cy="3267370"/>
      </dsp:txXfrm>
    </dsp:sp>
    <dsp:sp modelId="{415712D0-05B2-449A-8C32-5308079DADBA}">
      <dsp:nvSpPr>
        <dsp:cNvPr id="0" name=""/>
        <dsp:cNvSpPr/>
      </dsp:nvSpPr>
      <dsp:spPr>
        <a:xfrm>
          <a:off x="5068908" y="243566"/>
          <a:ext cx="590503" cy="4574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b="0" kern="1200"/>
        </a:p>
      </dsp:txBody>
      <dsp:txXfrm>
        <a:off x="5068908" y="335057"/>
        <a:ext cx="453267" cy="274471"/>
      </dsp:txXfrm>
    </dsp:sp>
    <dsp:sp modelId="{9C5BF7C0-72D1-4AEE-B6F5-19290243493D}">
      <dsp:nvSpPr>
        <dsp:cNvPr id="0" name=""/>
        <dsp:cNvSpPr/>
      </dsp:nvSpPr>
      <dsp:spPr>
        <a:xfrm>
          <a:off x="5904526" y="180556"/>
          <a:ext cx="1837374" cy="875212"/>
        </a:xfrm>
        <a:prstGeom prst="roundRect">
          <a:avLst>
            <a:gd name="adj" fmla="val 10000"/>
          </a:avLst>
        </a:prstGeom>
        <a:solidFill>
          <a:schemeClr val="accent2">
            <a:hueOff val="-558749"/>
            <a:satOff val="-6439"/>
            <a:lumOff val="14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/>
            <a:t>Processamento sequencial</a:t>
          </a:r>
          <a:endParaRPr lang="pt-BR" sz="1500" b="1" kern="1200" dirty="0"/>
        </a:p>
      </dsp:txBody>
      <dsp:txXfrm>
        <a:off x="5904526" y="180556"/>
        <a:ext cx="1837374" cy="583474"/>
      </dsp:txXfrm>
    </dsp:sp>
    <dsp:sp modelId="{66E799E7-F738-4303-8F7E-B5E773C85C64}">
      <dsp:nvSpPr>
        <dsp:cNvPr id="0" name=""/>
        <dsp:cNvSpPr/>
      </dsp:nvSpPr>
      <dsp:spPr>
        <a:xfrm>
          <a:off x="6280856" y="764030"/>
          <a:ext cx="1837374" cy="3375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Processa o texto como sequências ordenadas para capturar dependências temporais e contextuais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O significado de uma palavra pode mudar das outras palavras mais próximas</a:t>
          </a:r>
        </a:p>
      </dsp:txBody>
      <dsp:txXfrm>
        <a:off x="6334671" y="817845"/>
        <a:ext cx="1729744" cy="3267370"/>
      </dsp:txXfrm>
    </dsp:sp>
    <dsp:sp modelId="{A064FAC1-C61C-4EC8-B158-942B8FF5E46F}">
      <dsp:nvSpPr>
        <dsp:cNvPr id="0" name=""/>
        <dsp:cNvSpPr/>
      </dsp:nvSpPr>
      <dsp:spPr>
        <a:xfrm>
          <a:off x="8020440" y="243566"/>
          <a:ext cx="590503" cy="4574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b="0" kern="1200"/>
        </a:p>
      </dsp:txBody>
      <dsp:txXfrm>
        <a:off x="8020440" y="335057"/>
        <a:ext cx="453267" cy="274471"/>
      </dsp:txXfrm>
    </dsp:sp>
    <dsp:sp modelId="{B06F3BD2-E3CE-4F7A-8B03-DEC05180446A}">
      <dsp:nvSpPr>
        <dsp:cNvPr id="0" name=""/>
        <dsp:cNvSpPr/>
      </dsp:nvSpPr>
      <dsp:spPr>
        <a:xfrm>
          <a:off x="8856058" y="180556"/>
          <a:ext cx="1837374" cy="875212"/>
        </a:xfrm>
        <a:prstGeom prst="roundRect">
          <a:avLst>
            <a:gd name="adj" fmla="val 10000"/>
          </a:avLst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Aprendizagem </a:t>
          </a:r>
          <a:br>
            <a:rPr lang="pt-BR" sz="1500" b="1" kern="1200" dirty="0"/>
          </a:br>
          <a:r>
            <a:rPr lang="pt-BR" sz="1500" b="1" kern="1200" dirty="0" err="1"/>
            <a:t>end-to-end</a:t>
          </a:r>
          <a:endParaRPr lang="pt-BR" sz="1500" b="1" kern="1200" dirty="0"/>
        </a:p>
      </dsp:txBody>
      <dsp:txXfrm>
        <a:off x="8856058" y="180556"/>
        <a:ext cx="1837374" cy="583474"/>
      </dsp:txXfrm>
    </dsp:sp>
    <dsp:sp modelId="{7BCC6756-59E4-4838-88CF-C05E3EAFC766}">
      <dsp:nvSpPr>
        <dsp:cNvPr id="0" name=""/>
        <dsp:cNvSpPr/>
      </dsp:nvSpPr>
      <dsp:spPr>
        <a:xfrm>
          <a:off x="9232388" y="764030"/>
          <a:ext cx="1837374" cy="3375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O modelo de análise de sentimentos é treinado de forma simultânea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b="0" kern="1200" dirty="0"/>
            <a:t>Usa gradiente descendente para otimizar todos os componentes</a:t>
          </a:r>
        </a:p>
      </dsp:txBody>
      <dsp:txXfrm>
        <a:off x="9286203" y="817845"/>
        <a:ext cx="1729744" cy="3267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/>
              <a:t>Abordagens baseadas </a:t>
            </a:r>
            <a:r>
              <a:rPr lang="pt-BR" sz="4800" dirty="0"/>
              <a:t>em </a:t>
            </a:r>
            <a:r>
              <a:rPr lang="pt-BR" sz="4800" dirty="0" err="1"/>
              <a:t>Deep</a:t>
            </a:r>
            <a:r>
              <a:rPr lang="pt-BR" sz="4800"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fontScale="92500"/>
          </a:bodyPr>
          <a:lstStyle/>
          <a:p>
            <a:r>
              <a:rPr lang="pt-BR" sz="2700" dirty="0"/>
              <a:t>Diferenciar as abordagens de </a:t>
            </a:r>
            <a:r>
              <a:rPr lang="pt-BR" sz="2700" i="1" dirty="0" err="1"/>
              <a:t>deep</a:t>
            </a:r>
            <a:r>
              <a:rPr lang="pt-BR" sz="2700" i="1" dirty="0"/>
              <a:t> learning </a:t>
            </a:r>
            <a:r>
              <a:rPr lang="pt-BR" sz="2700" dirty="0"/>
              <a:t>em relação ao </a:t>
            </a:r>
            <a:r>
              <a:rPr lang="pt-BR" sz="2700" i="1" dirty="0"/>
              <a:t>machine learning</a:t>
            </a:r>
            <a:r>
              <a:rPr lang="pt-BR" sz="2700" dirty="0"/>
              <a:t> clássico, identificando como elas superam limitações relacionadas à captura de contexto, ordem e significado das palavras</a:t>
            </a:r>
          </a:p>
          <a:p>
            <a:r>
              <a:rPr lang="pt-BR" sz="2700" dirty="0"/>
              <a:t>Explicar o conceito de </a:t>
            </a:r>
            <a:r>
              <a:rPr lang="pt-BR" sz="2700" i="1" dirty="0" err="1"/>
              <a:t>embeddings</a:t>
            </a:r>
            <a:r>
              <a:rPr lang="pt-BR" sz="2700" dirty="0"/>
              <a:t> como representações vetoriais densas que transformam texto em números contínuos para capturar semântica e similaridade </a:t>
            </a:r>
          </a:p>
          <a:p>
            <a:r>
              <a:rPr lang="pt-BR" sz="2700" dirty="0"/>
              <a:t>Descrever o funcionamento da arquitetura </a:t>
            </a:r>
            <a:r>
              <a:rPr lang="pt-BR" sz="2700" i="1" dirty="0"/>
              <a:t>Transformers</a:t>
            </a:r>
            <a:r>
              <a:rPr lang="pt-BR" sz="2700" dirty="0"/>
              <a:t> e o papel dos mecanismos de atenção na compreensão de dependências contextuais complexas</a:t>
            </a:r>
          </a:p>
          <a:p>
            <a:r>
              <a:rPr lang="pt-BR" sz="2700" dirty="0"/>
              <a:t>Identificar as vantagens do uso de modelos massivos pré-treinados (como BERT e GPT), do processamento bidirecional e da multimodalidade para uma análise de sentimentos mais precisa e rica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73818E6-FD37-291A-CF85-34CA38F1A5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3600" dirty="0"/>
              <a:t>Abordagens clássicas de ML tem algumas limitações</a:t>
            </a:r>
          </a:p>
          <a:p>
            <a:pPr lvl="1"/>
            <a:r>
              <a:rPr lang="pt-BR" sz="3200" dirty="0"/>
              <a:t>Usam representações simples de texto</a:t>
            </a:r>
          </a:p>
          <a:p>
            <a:pPr lvl="1"/>
            <a:r>
              <a:rPr lang="pt-BR" sz="3200" dirty="0"/>
              <a:t>Não capturam ordem, contexto, nem significado das palavras</a:t>
            </a:r>
          </a:p>
          <a:p>
            <a:pPr lvl="1"/>
            <a:r>
              <a:rPr lang="pt-BR" sz="3200" dirty="0"/>
              <a:t>Tem dificuldade para lidar com ironia ou sarcasmos</a:t>
            </a:r>
          </a:p>
          <a:p>
            <a:r>
              <a:rPr lang="pt-BR" sz="3600" dirty="0"/>
              <a:t>Modelos de </a:t>
            </a:r>
            <a:r>
              <a:rPr lang="pt-BR" sz="3600" i="1" dirty="0" err="1"/>
              <a:t>deep</a:t>
            </a:r>
            <a:r>
              <a:rPr lang="pt-BR" sz="3600" i="1" dirty="0"/>
              <a:t> learning </a:t>
            </a:r>
            <a:r>
              <a:rPr lang="pt-BR" sz="3600" dirty="0"/>
              <a:t>superam muitas limitações das abordagens de </a:t>
            </a:r>
            <a:r>
              <a:rPr lang="pt-BR" sz="3600" i="1" dirty="0"/>
              <a:t>machine learning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</a:t>
            </a:r>
            <a:r>
              <a:rPr lang="pt-BR" dirty="0" err="1"/>
              <a:t>Deep</a:t>
            </a:r>
            <a:r>
              <a:rPr lang="pt-BR"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263047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73818E6-FD37-291A-CF85-34CA38F1A5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As abordagens de </a:t>
            </a:r>
            <a:r>
              <a:rPr lang="pt-BR" i="1" dirty="0" err="1"/>
              <a:t>deep</a:t>
            </a:r>
            <a:r>
              <a:rPr lang="pt-BR" i="1" dirty="0"/>
              <a:t> learning</a:t>
            </a:r>
            <a:r>
              <a:rPr lang="pt-BR" dirty="0"/>
              <a:t> representam uma mudança fundamental na forma um texto é processado para análise de sentimentos</a:t>
            </a:r>
          </a:p>
          <a:p>
            <a:pPr lvl="1"/>
            <a:r>
              <a:rPr lang="pt-BR" dirty="0"/>
              <a:t>Aprendem representações automáticas </a:t>
            </a:r>
          </a:p>
          <a:p>
            <a:pPr lvl="1"/>
            <a:r>
              <a:rPr lang="pt-BR" dirty="0"/>
              <a:t>Capturam dependências contextuais complexas</a:t>
            </a:r>
          </a:p>
          <a:p>
            <a:r>
              <a:rPr lang="pt-BR" dirty="0"/>
              <a:t>Aprende automaticamente representações hierárquicas e contextuais do texto através de </a:t>
            </a:r>
            <a:r>
              <a:rPr lang="pt-BR" b="1" i="1" dirty="0" err="1">
                <a:solidFill>
                  <a:srgbClr val="0070C0"/>
                </a:solidFill>
              </a:rPr>
              <a:t>embeddings</a:t>
            </a:r>
            <a:r>
              <a:rPr lang="pt-BR" dirty="0"/>
              <a:t>, </a:t>
            </a:r>
            <a:r>
              <a:rPr lang="pt-BR" b="1" dirty="0">
                <a:solidFill>
                  <a:srgbClr val="0070C0"/>
                </a:solidFill>
              </a:rPr>
              <a:t>redes neurais profundas </a:t>
            </a:r>
            <a:r>
              <a:rPr lang="pt-BR" dirty="0"/>
              <a:t>e </a:t>
            </a:r>
            <a:r>
              <a:rPr lang="pt-BR" b="1" i="1" dirty="0" err="1">
                <a:solidFill>
                  <a:srgbClr val="0070C0"/>
                </a:solidFill>
              </a:rPr>
              <a:t>Transfomers</a:t>
            </a:r>
            <a:endParaRPr lang="pt-BR" b="1" i="1" dirty="0">
              <a:solidFill>
                <a:srgbClr val="0070C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</a:t>
            </a:r>
            <a:r>
              <a:rPr lang="pt-BR" dirty="0" err="1"/>
              <a:t>Deep</a:t>
            </a:r>
            <a:r>
              <a:rPr lang="pt-BR"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236098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</a:t>
            </a:r>
            <a:r>
              <a:rPr lang="pt-BR" dirty="0" err="1"/>
              <a:t>Deep</a:t>
            </a:r>
            <a:r>
              <a:rPr lang="pt-BR" dirty="0"/>
              <a:t> Learning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88D2033A-17F9-1719-DC8F-0E582505AD3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849574838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446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7AFD623-5723-9BE4-B818-22A14FF429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295" y="549000"/>
            <a:ext cx="10551409" cy="576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7001893-45C8-CE02-CC82-558166D4B39C}"/>
              </a:ext>
            </a:extLst>
          </p:cNvPr>
          <p:cNvSpPr txBox="1"/>
          <p:nvPr/>
        </p:nvSpPr>
        <p:spPr>
          <a:xfrm>
            <a:off x="3575999" y="6309000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90231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D425E7-5A76-4EEF-9908-049552E9B58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b="1" i="1" dirty="0" err="1">
                <a:solidFill>
                  <a:srgbClr val="0070C0"/>
                </a:solidFill>
              </a:rPr>
              <a:t>Embeddings</a:t>
            </a:r>
            <a:r>
              <a:rPr lang="pt-BR" dirty="0"/>
              <a:t> são representações vetoriais densas de palavras, frases ou documentos</a:t>
            </a:r>
          </a:p>
          <a:p>
            <a:pPr lvl="1"/>
            <a:r>
              <a:rPr lang="pt-BR" dirty="0"/>
              <a:t>Capturam </a:t>
            </a:r>
            <a:r>
              <a:rPr lang="pt-BR" b="1" dirty="0"/>
              <a:t>semântica</a:t>
            </a:r>
            <a:endParaRPr lang="pt-BR" dirty="0"/>
          </a:p>
          <a:p>
            <a:pPr lvl="1"/>
            <a:r>
              <a:rPr lang="pt-BR" dirty="0"/>
              <a:t>Representam </a:t>
            </a:r>
            <a:r>
              <a:rPr lang="pt-BR" b="1" dirty="0"/>
              <a:t>similaridade</a:t>
            </a:r>
            <a:endParaRPr lang="pt-BR" dirty="0"/>
          </a:p>
          <a:p>
            <a:pPr lvl="1"/>
            <a:r>
              <a:rPr lang="pt-BR" dirty="0"/>
              <a:t>Transformam texto em números </a:t>
            </a:r>
            <a:br>
              <a:rPr lang="pt-BR" dirty="0"/>
            </a:br>
            <a:r>
              <a:rPr lang="pt-BR" dirty="0"/>
              <a:t>contínuos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Embeddings</a:t>
            </a:r>
            <a:endParaRPr lang="pt-BR" i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8B7D78-2822-F3C1-9A70-C7AD26F8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571" y="2860288"/>
            <a:ext cx="4876799" cy="266223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07CE4AD-7624-03CF-9152-CFD851468B0E}"/>
              </a:ext>
            </a:extLst>
          </p:cNvPr>
          <p:cNvSpPr txBox="1"/>
          <p:nvPr/>
        </p:nvSpPr>
        <p:spPr>
          <a:xfrm>
            <a:off x="6203970" y="5522525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54588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F07CE4AD-7624-03CF-9152-CFD851468B0E}"/>
              </a:ext>
            </a:extLst>
          </p:cNvPr>
          <p:cNvSpPr txBox="1"/>
          <p:nvPr/>
        </p:nvSpPr>
        <p:spPr>
          <a:xfrm>
            <a:off x="3576000" y="5749690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FBC697B-7427-E2C5-9059-9048C18E4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96"/>
          <a:stretch/>
        </p:blipFill>
        <p:spPr>
          <a:xfrm>
            <a:off x="614859" y="954421"/>
            <a:ext cx="1096228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3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CCA04A-689B-519F-C264-69525831DA5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Modelos pré-treinados</a:t>
            </a:r>
          </a:p>
          <a:p>
            <a:pPr lvl="1"/>
            <a:r>
              <a:rPr lang="pt-BR" dirty="0"/>
              <a:t>Uso de modelos massivos pré-treinados (como BERT, </a:t>
            </a:r>
            <a:r>
              <a:rPr lang="pt-BR" dirty="0" err="1"/>
              <a:t>RoBERTa</a:t>
            </a:r>
            <a:r>
              <a:rPr lang="pt-BR" dirty="0"/>
              <a:t>, GPT) que aprenderam representações linguísticas gerais em enormes quantidades de texto</a:t>
            </a:r>
          </a:p>
          <a:p>
            <a:r>
              <a:rPr lang="pt-BR" dirty="0"/>
              <a:t>Processamento bidirecional</a:t>
            </a:r>
          </a:p>
          <a:p>
            <a:pPr lvl="1"/>
            <a:r>
              <a:rPr lang="pt-BR" dirty="0"/>
              <a:t>Processam texto em ambas as direções simultaneamente, obtendo compreensão mais completa do contexto</a:t>
            </a:r>
          </a:p>
          <a:p>
            <a:r>
              <a:rPr lang="pt-BR" dirty="0"/>
              <a:t>Multimodalidade</a:t>
            </a:r>
          </a:p>
          <a:p>
            <a:pPr lvl="1"/>
            <a:r>
              <a:rPr lang="pt-BR" dirty="0"/>
              <a:t>Integração de diferentes tipos de dados (texto, imagens, áudio) para análise de sentimentos mais rica e contextualizada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Arquitetura </a:t>
            </a:r>
            <a:r>
              <a:rPr lang="pt-BR" i="1" dirty="0"/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158476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8A7221C-817B-1E65-E9A4-8EF4C078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FED8E17-A1AF-9599-FDBA-D258CAEEF78C}"/>
              </a:ext>
            </a:extLst>
          </p:cNvPr>
          <p:cNvSpPr txBox="1"/>
          <p:nvPr/>
        </p:nvSpPr>
        <p:spPr>
          <a:xfrm>
            <a:off x="3576000" y="5937348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08552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FCB1E-8346-45E5-C596-F7ABBA07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baseadas em </a:t>
            </a:r>
            <a:r>
              <a:rPr lang="pt-BR" dirty="0" err="1"/>
              <a:t>Deep</a:t>
            </a:r>
            <a:r>
              <a:rPr lang="pt-BR" dirty="0"/>
              <a:t> Learning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7022BC72-B264-B59A-CC3D-73504945747B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07148971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8D96E872-4362-C2D3-14F5-E90812021FDF}"/>
              </a:ext>
            </a:extLst>
          </p:cNvPr>
          <p:cNvSpPr txBox="1"/>
          <p:nvPr/>
        </p:nvSpPr>
        <p:spPr>
          <a:xfrm>
            <a:off x="3576000" y="6151136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692247542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7601</TotalTime>
  <Words>595</Words>
  <Application>Microsoft Office PowerPoint</Application>
  <PresentationFormat>Widescreen</PresentationFormat>
  <Paragraphs>60</Paragraphs>
  <Slides>12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Montserrat</vt:lpstr>
      <vt:lpstr>Wingdings</vt:lpstr>
      <vt:lpstr>Arial</vt:lpstr>
      <vt:lpstr>Calibri</vt:lpstr>
      <vt:lpstr>Cronos Pro</vt:lpstr>
      <vt:lpstr>Aptos</vt:lpstr>
      <vt:lpstr>10_Personalizar design</vt:lpstr>
      <vt:lpstr>5_Personalizar design</vt:lpstr>
      <vt:lpstr>6_Personalizar design</vt:lpstr>
      <vt:lpstr>7_Personalizar design</vt:lpstr>
      <vt:lpstr>Abordagens baseadas em Deep Learning</vt:lpstr>
      <vt:lpstr>Objetivos de Aprendizagem</vt:lpstr>
      <vt:lpstr>Abordagens baseadas em Deep Learning</vt:lpstr>
      <vt:lpstr>Abordagens baseadas em Deep Learning</vt:lpstr>
      <vt:lpstr>Abordagens baseadas em Deep Learning</vt:lpstr>
      <vt:lpstr>Apresentação do PowerPoint</vt:lpstr>
      <vt:lpstr>Embeddings</vt:lpstr>
      <vt:lpstr>Apresentação do PowerPoint</vt:lpstr>
      <vt:lpstr>Arquitetura Transformers</vt:lpstr>
      <vt:lpstr>Apresentação do PowerPoint</vt:lpstr>
      <vt:lpstr>Apresentação do PowerPoint</vt:lpstr>
      <vt:lpstr>Abordagens baseadas em Deep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167</cp:revision>
  <dcterms:created xsi:type="dcterms:W3CDTF">2025-06-11T21:44:24Z</dcterms:created>
  <dcterms:modified xsi:type="dcterms:W3CDTF">2026-01-15T15:28:16Z</dcterms:modified>
</cp:coreProperties>
</file>