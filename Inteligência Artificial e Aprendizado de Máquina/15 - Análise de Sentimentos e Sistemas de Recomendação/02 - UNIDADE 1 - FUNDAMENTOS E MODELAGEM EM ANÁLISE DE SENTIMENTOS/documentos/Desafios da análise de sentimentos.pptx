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2"/>
  </p:notesMasterIdLst>
  <p:sldIdLst>
    <p:sldId id="1173" r:id="rId5"/>
    <p:sldId id="297" r:id="rId6"/>
    <p:sldId id="1179" r:id="rId7"/>
    <p:sldId id="1180" r:id="rId8"/>
    <p:sldId id="1181" r:id="rId9"/>
    <p:sldId id="1182" r:id="rId10"/>
    <p:sldId id="1184" r:id="rId11"/>
    <p:sldId id="1183" r:id="rId12"/>
    <p:sldId id="1185" r:id="rId13"/>
    <p:sldId id="1186" r:id="rId14"/>
    <p:sldId id="1189" r:id="rId15"/>
    <p:sldId id="1187" r:id="rId16"/>
    <p:sldId id="1191" r:id="rId17"/>
    <p:sldId id="1188" r:id="rId18"/>
    <p:sldId id="1192" r:id="rId19"/>
    <p:sldId id="1190" r:id="rId20"/>
    <p:sldId id="264" r:id="rId21"/>
  </p:sldIdLst>
  <p:sldSz cx="12192000" cy="6858000"/>
  <p:notesSz cx="6858000" cy="9144000"/>
  <p:embeddedFontLst>
    <p:embeddedFont>
      <p:font typeface="Cronos Pro" panose="020C0502030403020304" charset="0"/>
      <p:regular r:id="rId23"/>
      <p:bold r:id="rId24"/>
      <p: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Desafios da análise </a:t>
            </a:r>
            <a:br>
              <a:rPr lang="pt-BR" dirty="0"/>
            </a:br>
            <a:r>
              <a:rPr lang="pt-BR" dirty="0"/>
              <a:t>de sentimentos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Identificar os principais obstáculos linguísticos (como ironia, sarcasmo, gírias e erros ortográficos) que dificultam a interpretação automatizada da linguagem humana por máquinas</a:t>
            </a:r>
          </a:p>
          <a:p>
            <a:r>
              <a:rPr lang="pt-BR" sz="2700" dirty="0"/>
              <a:t>Explicar como o contexto situacional e a dependência de domínio influenciam a polaridade de termos ambíguos ou polissêmicos</a:t>
            </a:r>
          </a:p>
          <a:p>
            <a:r>
              <a:rPr lang="pt-BR" sz="2700" dirty="0"/>
              <a:t>Diferenciar as formas de negação e o papel das estruturas adversativas na mudança de direção do sentimento dentro de uma frase</a:t>
            </a:r>
          </a:p>
          <a:p>
            <a:r>
              <a:rPr lang="pt-BR" sz="2700" dirty="0"/>
              <a:t>Avaliar as vantagens e os novos desafios trazidos pelos </a:t>
            </a:r>
            <a:r>
              <a:rPr lang="pt-BR" sz="2700" dirty="0" err="1"/>
              <a:t>LLMs</a:t>
            </a:r>
            <a:r>
              <a:rPr lang="pt-BR" sz="2700" dirty="0"/>
              <a:t> para a análise de sentimentos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33E096E-FE60-FC88-CFB8-B7E5E335AE6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Por que a análise de sentimentos é difícil?</a:t>
            </a:r>
          </a:p>
          <a:p>
            <a:pPr lvl="1"/>
            <a:r>
              <a:rPr lang="pt-BR" dirty="0"/>
              <a:t>Linguagem humana é</a:t>
            </a:r>
          </a:p>
          <a:p>
            <a:pPr lvl="2"/>
            <a:r>
              <a:rPr lang="pt-BR" dirty="0"/>
              <a:t>Ambígua</a:t>
            </a:r>
          </a:p>
          <a:p>
            <a:pPr lvl="2"/>
            <a:r>
              <a:rPr lang="pt-BR" dirty="0"/>
              <a:t>Contextual</a:t>
            </a:r>
          </a:p>
          <a:p>
            <a:pPr lvl="2"/>
            <a:r>
              <a:rPr lang="pt-BR" dirty="0"/>
              <a:t>Cultural</a:t>
            </a:r>
          </a:p>
          <a:p>
            <a:pPr lvl="1"/>
            <a:r>
              <a:rPr lang="pt-BR" dirty="0"/>
              <a:t>Máquinas </a:t>
            </a:r>
            <a:r>
              <a:rPr lang="pt-BR" b="1" dirty="0"/>
              <a:t>não entendem emoções naturalmente</a:t>
            </a:r>
          </a:p>
          <a:p>
            <a:r>
              <a:rPr lang="pt-BR" dirty="0"/>
              <a:t>O PLN tenta ensinar máquinas a entender a complexidade, a nuance e a irregularidade da linguagem humana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118A42-F66E-0B2E-970C-56384D18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 da análise de sentimentos</a:t>
            </a:r>
          </a:p>
        </p:txBody>
      </p:sp>
    </p:spTree>
    <p:extLst>
      <p:ext uri="{BB962C8B-B14F-4D97-AF65-F5344CB8AC3E}">
        <p14:creationId xmlns:p14="http://schemas.microsoft.com/office/powerpoint/2010/main" val="197569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6059E74-0DFE-CB71-52D0-1C97A8DE8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97189"/>
            <a:ext cx="9753600" cy="532447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846DEAD-ECBF-4208-8A87-C6C3FE4B0422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971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33E096E-FE60-FC88-CFB8-B7E5E335AE6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Processamento em linguagem </a:t>
            </a:r>
            <a:br>
              <a:rPr lang="pt-BR" dirty="0"/>
            </a:br>
            <a:r>
              <a:rPr lang="pt-BR" dirty="0"/>
              <a:t>natural é uma tarefa difícil</a:t>
            </a:r>
          </a:p>
          <a:p>
            <a:pPr lvl="1"/>
            <a:r>
              <a:rPr lang="pt-BR" dirty="0"/>
              <a:t>Textos informais e subjetivos</a:t>
            </a:r>
          </a:p>
          <a:p>
            <a:pPr lvl="1"/>
            <a:r>
              <a:rPr lang="pt-BR" dirty="0"/>
              <a:t>Erros ortográficos e </a:t>
            </a:r>
            <a:br>
              <a:rPr lang="pt-BR" dirty="0"/>
            </a:br>
            <a:r>
              <a:rPr lang="pt-BR" dirty="0"/>
              <a:t>gramaticais</a:t>
            </a:r>
          </a:p>
          <a:p>
            <a:pPr lvl="1"/>
            <a:r>
              <a:rPr lang="pt-BR" dirty="0"/>
              <a:t>Gírias, ironias e sarcasmos</a:t>
            </a:r>
          </a:p>
          <a:p>
            <a:pPr lvl="1"/>
            <a:r>
              <a:rPr lang="pt-BR" dirty="0"/>
              <a:t>Palavras com duplo sentido</a:t>
            </a:r>
          </a:p>
          <a:p>
            <a:pPr lvl="1"/>
            <a:r>
              <a:rPr lang="pt-BR" i="1" dirty="0"/>
              <a:t>Emojis</a:t>
            </a:r>
            <a:r>
              <a:rPr lang="pt-BR" dirty="0"/>
              <a:t>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118A42-F66E-0B2E-970C-56384D18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 da análise de sentimentos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BA693B-27B5-45F8-B1F8-8B8494E2675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8073" y="2027847"/>
            <a:ext cx="6406181" cy="349712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9F95456-D909-830E-C271-BB3900B64F88}"/>
              </a:ext>
            </a:extLst>
          </p:cNvPr>
          <p:cNvSpPr txBox="1"/>
          <p:nvPr/>
        </p:nvSpPr>
        <p:spPr>
          <a:xfrm>
            <a:off x="6329162" y="552497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289068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57334D7-6720-B741-4A01-843A5DA14B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Palavras isoladas raramente carregam um sentimento fixo</a:t>
            </a:r>
          </a:p>
          <a:p>
            <a:pPr lvl="1"/>
            <a:r>
              <a:rPr lang="pt-BR" dirty="0"/>
              <a:t>O significado depende inteiramente do contexto ao redor</a:t>
            </a:r>
          </a:p>
          <a:p>
            <a:r>
              <a:rPr lang="pt-BR" dirty="0"/>
              <a:t>Polissemia</a:t>
            </a:r>
          </a:p>
          <a:p>
            <a:pPr lvl="1"/>
            <a:r>
              <a:rPr lang="pt-BR" dirty="0"/>
              <a:t>Uma mesma palavra pode ter significados drasticamente diferente</a:t>
            </a:r>
          </a:p>
          <a:p>
            <a:r>
              <a:rPr lang="pt-BR" dirty="0"/>
              <a:t>Ambiguidade de escopo e condicionalidade</a:t>
            </a:r>
          </a:p>
          <a:p>
            <a:pPr lvl="1"/>
            <a:r>
              <a:rPr lang="pt-BR" dirty="0"/>
              <a:t>O aplicativo não funciona bem quando a internet está lenta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56D3986-6E69-8804-8972-ABB9B38F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29865"/>
            <a:ext cx="11296507" cy="1200329"/>
          </a:xfrm>
        </p:spPr>
        <p:txBody>
          <a:bodyPr/>
          <a:lstStyle/>
          <a:p>
            <a:r>
              <a:rPr lang="pt-BR" dirty="0"/>
              <a:t>Desafio 1 – Contexto e Ambiguidade Semântica</a:t>
            </a:r>
          </a:p>
        </p:txBody>
      </p:sp>
    </p:spTree>
    <p:extLst>
      <p:ext uri="{BB962C8B-B14F-4D97-AF65-F5344CB8AC3E}">
        <p14:creationId xmlns:p14="http://schemas.microsoft.com/office/powerpoint/2010/main" val="256826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582FAD6-0ADE-D0FD-B75A-3E5C1546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04C6104-0D47-7A7E-7E74-E8B70128591A}"/>
              </a:ext>
            </a:extLst>
          </p:cNvPr>
          <p:cNvSpPr txBox="1"/>
          <p:nvPr/>
        </p:nvSpPr>
        <p:spPr>
          <a:xfrm>
            <a:off x="3883999" y="608978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59767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DE5F5E8-8CBB-613D-AEBC-CEB146207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Sarcasmo é o "calcanhar de Aquiles" da análise de sentimentos</a:t>
            </a:r>
          </a:p>
          <a:p>
            <a:r>
              <a:rPr lang="pt-BR" dirty="0"/>
              <a:t>A máquina processa o significado literal das palavras, enquanto a intenção real é oposta</a:t>
            </a:r>
          </a:p>
          <a:p>
            <a:r>
              <a:rPr lang="pt-BR" dirty="0"/>
              <a:t>Ausência de sinais não-verbais</a:t>
            </a:r>
          </a:p>
          <a:p>
            <a:pPr lvl="1"/>
            <a:r>
              <a:rPr lang="pt-BR" dirty="0"/>
              <a:t>Em texto escrito, perdemos o tom de voz, a expressão facial e a linguagem corporal, que são os principais marcadores de ironia na fala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9390DB3-BDD9-765E-C10D-A303097D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2 – Sarcasmo e Ironia</a:t>
            </a:r>
          </a:p>
        </p:txBody>
      </p:sp>
    </p:spTree>
    <p:extLst>
      <p:ext uri="{BB962C8B-B14F-4D97-AF65-F5344CB8AC3E}">
        <p14:creationId xmlns:p14="http://schemas.microsoft.com/office/powerpoint/2010/main" val="84710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BA1EEE-8CC1-024F-A7EF-54A9EAE8F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E907C4B-63EC-6B24-64F5-F7CDE83DAC1B}"/>
              </a:ext>
            </a:extLst>
          </p:cNvPr>
          <p:cNvSpPr txBox="1"/>
          <p:nvPr/>
        </p:nvSpPr>
        <p:spPr>
          <a:xfrm>
            <a:off x="3883999" y="608978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552246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7CBB805-222F-65AC-A954-FF9187FD22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A negação no PLN não é apenas inverter o sinal matemático</a:t>
            </a:r>
          </a:p>
          <a:p>
            <a:pPr lvl="1"/>
            <a:r>
              <a:rPr lang="pt-BR" dirty="0"/>
              <a:t>Existem formas sutis de negar</a:t>
            </a:r>
          </a:p>
          <a:p>
            <a:r>
              <a:rPr lang="pt-BR" dirty="0"/>
              <a:t>Negação Implícita</a:t>
            </a:r>
          </a:p>
          <a:p>
            <a:pPr lvl="1"/>
            <a:r>
              <a:rPr lang="pt-BR" dirty="0"/>
              <a:t>Frases que não usam "não", "nunca" ou "jamais", mas ainda expressam sentimento negativo</a:t>
            </a:r>
          </a:p>
          <a:p>
            <a:r>
              <a:rPr lang="pt-BR" dirty="0"/>
              <a:t>Estruturas Adversativas (Mas/Porém)</a:t>
            </a:r>
          </a:p>
          <a:p>
            <a:pPr lvl="1"/>
            <a:r>
              <a:rPr lang="pt-BR" dirty="0"/>
              <a:t>Conjunções que mudam a direção do sentimento no meio da frase</a:t>
            </a:r>
          </a:p>
          <a:p>
            <a:pPr lvl="1"/>
            <a:r>
              <a:rPr lang="pt-BR" dirty="0"/>
              <a:t>O modelo precisa ponderar qual parte da frase é mais importante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632D2E8-3D4F-FA50-AA97-251D01749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29865"/>
            <a:ext cx="11296507" cy="1200329"/>
          </a:xfrm>
        </p:spPr>
        <p:txBody>
          <a:bodyPr/>
          <a:lstStyle/>
          <a:p>
            <a:r>
              <a:rPr lang="pt-BR" dirty="0"/>
              <a:t>Desafio 3 – Negação Complexa e Estruturas Adversativas</a:t>
            </a:r>
          </a:p>
        </p:txBody>
      </p:sp>
    </p:spTree>
    <p:extLst>
      <p:ext uri="{BB962C8B-B14F-4D97-AF65-F5344CB8AC3E}">
        <p14:creationId xmlns:p14="http://schemas.microsoft.com/office/powerpoint/2010/main" val="1479193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DB69AF-DF2B-340D-7C5A-62B4E5FE5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83"/>
          <a:stretch/>
        </p:blipFill>
        <p:spPr>
          <a:xfrm>
            <a:off x="1219200" y="738188"/>
            <a:ext cx="9753600" cy="51457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32524BB-7EB3-7957-DD40-89E33A730874}"/>
              </a:ext>
            </a:extLst>
          </p:cNvPr>
          <p:cNvSpPr txBox="1"/>
          <p:nvPr/>
        </p:nvSpPr>
        <p:spPr>
          <a:xfrm>
            <a:off x="3883999" y="588396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93878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F9D799E-B86E-135D-06BA-43F830F2473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linguagem da internet evoluiu muito rápido</a:t>
            </a:r>
          </a:p>
          <a:p>
            <a:r>
              <a:rPr lang="pt-BR" dirty="0"/>
              <a:t>Gírias e "Internetês“</a:t>
            </a:r>
          </a:p>
          <a:p>
            <a:pPr lvl="1"/>
            <a:r>
              <a:rPr lang="pt-BR" dirty="0"/>
              <a:t>Termos como "trollar", "lacrou", "cringe" ou abreviações ("</a:t>
            </a:r>
            <a:r>
              <a:rPr lang="pt-BR" dirty="0" err="1"/>
              <a:t>vc</a:t>
            </a:r>
            <a:r>
              <a:rPr lang="pt-BR" dirty="0"/>
              <a:t>", "</a:t>
            </a:r>
            <a:r>
              <a:rPr lang="pt-BR" dirty="0" err="1"/>
              <a:t>td</a:t>
            </a:r>
            <a:r>
              <a:rPr lang="pt-BR" dirty="0"/>
              <a:t> bem") podem não existir em modelos pré-treinados formais ou podem mudar de polaridade rapidamente</a:t>
            </a:r>
          </a:p>
          <a:p>
            <a:r>
              <a:rPr lang="pt-BR" dirty="0"/>
              <a:t>A complexidade dos Emojis</a:t>
            </a:r>
          </a:p>
          <a:p>
            <a:pPr lvl="1"/>
            <a:r>
              <a:rPr lang="pt-BR" dirty="0"/>
              <a:t>Emojis não são apenas decorativos; eles carregam carga semântica e de sentimento pesada, e muitas vezes ambígua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F8DFF05-5695-D8D7-21C0-C8059A2A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29865"/>
            <a:ext cx="11296507" cy="1200329"/>
          </a:xfrm>
        </p:spPr>
        <p:txBody>
          <a:bodyPr/>
          <a:lstStyle/>
          <a:p>
            <a:r>
              <a:rPr lang="pt-BR" dirty="0"/>
              <a:t>Desafio 4 – A Evolução da Linguagem: Gírias, Neologismos e Emojis</a:t>
            </a:r>
          </a:p>
        </p:txBody>
      </p:sp>
    </p:spTree>
    <p:extLst>
      <p:ext uri="{BB962C8B-B14F-4D97-AF65-F5344CB8AC3E}">
        <p14:creationId xmlns:p14="http://schemas.microsoft.com/office/powerpoint/2010/main" val="2483861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DC37BDF-C031-03E9-E64A-923DA2DB3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75C0968F-E772-EECF-1213-9416E23F53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9AAB2B-D0E9-0A90-C21A-0B4A32091721}"/>
              </a:ext>
            </a:extLst>
          </p:cNvPr>
          <p:cNvSpPr txBox="1"/>
          <p:nvPr/>
        </p:nvSpPr>
        <p:spPr>
          <a:xfrm>
            <a:off x="3883999" y="600323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98168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3B37784-F4CD-10CE-71BE-C627EE00AF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Modelos de PLN treinados em um tipo de dado geralmente falham quando aplicados a outro</a:t>
            </a:r>
          </a:p>
          <a:p>
            <a:pPr lvl="1"/>
            <a:r>
              <a:rPr lang="pt-BR" dirty="0"/>
              <a:t>As palavras mudam de polaridade dependendo do domínio</a:t>
            </a:r>
          </a:p>
          <a:p>
            <a:r>
              <a:rPr lang="pt-BR" dirty="0"/>
              <a:t>O problema dos adjetivos</a:t>
            </a:r>
          </a:p>
          <a:p>
            <a:pPr lvl="1"/>
            <a:r>
              <a:rPr lang="pt-BR" i="1" dirty="0"/>
              <a:t>Domínio de Filmes:</a:t>
            </a:r>
            <a:r>
              <a:rPr lang="pt-BR" dirty="0"/>
              <a:t> "O filme é </a:t>
            </a:r>
            <a:r>
              <a:rPr lang="pt-BR" b="1" dirty="0"/>
              <a:t>imprevisível</a:t>
            </a:r>
            <a:r>
              <a:rPr lang="pt-BR" dirty="0"/>
              <a:t>." (Sentimento Positivo - um bom suspense)</a:t>
            </a:r>
          </a:p>
          <a:p>
            <a:pPr lvl="1"/>
            <a:r>
              <a:rPr lang="pt-BR" i="1" dirty="0"/>
              <a:t>Domínio de Engenharia/Automotivo:</a:t>
            </a:r>
            <a:r>
              <a:rPr lang="pt-BR" dirty="0"/>
              <a:t> "A direção do carro é </a:t>
            </a:r>
            <a:r>
              <a:rPr lang="pt-BR" b="1" dirty="0"/>
              <a:t>imprevisível</a:t>
            </a:r>
            <a:r>
              <a:rPr lang="pt-BR" dirty="0"/>
              <a:t>." (Sentimento Altamente Negativo - perigo)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123E8D5-39BE-A302-2577-B4D6A60BA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5 – Dependência de Domínio</a:t>
            </a:r>
          </a:p>
        </p:txBody>
      </p:sp>
    </p:spTree>
    <p:extLst>
      <p:ext uri="{BB962C8B-B14F-4D97-AF65-F5344CB8AC3E}">
        <p14:creationId xmlns:p14="http://schemas.microsoft.com/office/powerpoint/2010/main" val="4183039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AF651A-E884-0A50-E493-789465BAD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5816280-6DFC-3F14-9768-2F1355DDEAF3}"/>
              </a:ext>
            </a:extLst>
          </p:cNvPr>
          <p:cNvSpPr txBox="1"/>
          <p:nvPr/>
        </p:nvSpPr>
        <p:spPr>
          <a:xfrm>
            <a:off x="3883999" y="600323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944601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4503913-2ADE-FDAD-5178-C8A7FA87640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Os </a:t>
            </a:r>
            <a:r>
              <a:rPr lang="pt-BR" dirty="0" err="1"/>
              <a:t>LLMs</a:t>
            </a:r>
            <a:r>
              <a:rPr lang="pt-BR" dirty="0"/>
              <a:t> (</a:t>
            </a:r>
            <a:r>
              <a:rPr lang="pt-BR" i="1" dirty="0"/>
              <a:t>Large </a:t>
            </a:r>
            <a:r>
              <a:rPr lang="pt-BR" i="1" dirty="0" err="1"/>
              <a:t>Language</a:t>
            </a:r>
            <a:r>
              <a:rPr lang="pt-BR" i="1" dirty="0"/>
              <a:t> Models</a:t>
            </a:r>
            <a:r>
              <a:rPr lang="pt-BR" dirty="0"/>
              <a:t>) demonstraram uma capacidade surpreendente de lidar com muitos dos desafios anteriores devido à sua escala massiva e treinamento em dados variados</a:t>
            </a:r>
          </a:p>
          <a:p>
            <a:r>
              <a:rPr lang="pt-BR" dirty="0"/>
              <a:t>Mas precisam lidar também com novos desafios</a:t>
            </a:r>
          </a:p>
          <a:p>
            <a:pPr lvl="1"/>
            <a:r>
              <a:rPr lang="pt-BR" b="1" dirty="0"/>
              <a:t>Custo e Latência</a:t>
            </a:r>
          </a:p>
          <a:p>
            <a:pPr lvl="2"/>
            <a:r>
              <a:rPr lang="pt-BR" dirty="0"/>
              <a:t>Usar um LLM para analisar milhões de tweets é inviável (financeiramente e lento)</a:t>
            </a:r>
          </a:p>
          <a:p>
            <a:pPr lvl="1"/>
            <a:r>
              <a:rPr lang="pt-BR" b="1" dirty="0"/>
              <a:t>Alucinação e Inconsistência</a:t>
            </a:r>
          </a:p>
          <a:p>
            <a:pPr lvl="2"/>
            <a:r>
              <a:rPr lang="pt-BR" dirty="0" err="1"/>
              <a:t>LLMs</a:t>
            </a:r>
            <a:r>
              <a:rPr lang="pt-BR" dirty="0"/>
              <a:t> podem "inventar" justificativas para um sentimento ou mudar de opinião</a:t>
            </a:r>
          </a:p>
          <a:p>
            <a:pPr lvl="1"/>
            <a:r>
              <a:rPr lang="pt-BR" b="1" dirty="0"/>
              <a:t>Caixa Preta</a:t>
            </a:r>
          </a:p>
          <a:p>
            <a:pPr lvl="2"/>
            <a:r>
              <a:rPr lang="pt-BR" dirty="0"/>
              <a:t>É difícil explicar </a:t>
            </a:r>
            <a:r>
              <a:rPr lang="pt-BR" i="1" dirty="0"/>
              <a:t>por que</a:t>
            </a:r>
            <a:r>
              <a:rPr lang="pt-BR" dirty="0"/>
              <a:t> um LLM decidiu que uma frase complexa é negativa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4F712DD-3F4A-18FE-9371-E76DE1B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Debate Atual – </a:t>
            </a:r>
            <a:r>
              <a:rPr lang="pt-BR" dirty="0" err="1"/>
              <a:t>LLMs</a:t>
            </a:r>
            <a:r>
              <a:rPr lang="pt-BR" dirty="0"/>
              <a:t> resolvem tudo?</a:t>
            </a:r>
          </a:p>
        </p:txBody>
      </p:sp>
    </p:spTree>
    <p:extLst>
      <p:ext uri="{BB962C8B-B14F-4D97-AF65-F5344CB8AC3E}">
        <p14:creationId xmlns:p14="http://schemas.microsoft.com/office/powerpoint/2010/main" val="386349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7424</TotalTime>
  <Words>678</Words>
  <Application>Microsoft Office PowerPoint</Application>
  <PresentationFormat>Widescreen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Wingdings</vt:lpstr>
      <vt:lpstr>Cronos Pro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Desafios da análise  de sentimentos</vt:lpstr>
      <vt:lpstr>Objetivos de Aprendizagem</vt:lpstr>
      <vt:lpstr>Desafios da análise de sentimentos</vt:lpstr>
      <vt:lpstr>Apresentação do PowerPoint</vt:lpstr>
      <vt:lpstr>Desafios da análise de sentimentos</vt:lpstr>
      <vt:lpstr>Desafio 1 – Contexto e Ambiguidade Semântica</vt:lpstr>
      <vt:lpstr>Apresentação do PowerPoint</vt:lpstr>
      <vt:lpstr>Desafio 2 – Sarcasmo e Ironia</vt:lpstr>
      <vt:lpstr>Apresentação do PowerPoint</vt:lpstr>
      <vt:lpstr>Desafio 3 – Negação Complexa e Estruturas Adversativas</vt:lpstr>
      <vt:lpstr>Apresentação do PowerPoint</vt:lpstr>
      <vt:lpstr>Desafio 4 – A Evolução da Linguagem: Gírias, Neologismos e Emojis</vt:lpstr>
      <vt:lpstr>Apresentação do PowerPoint</vt:lpstr>
      <vt:lpstr>Desafio 5 – Dependência de Domínio</vt:lpstr>
      <vt:lpstr>Apresentação do PowerPoint</vt:lpstr>
      <vt:lpstr>Debate Atual – LLMs resolvem tudo?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143</cp:revision>
  <dcterms:created xsi:type="dcterms:W3CDTF">2025-06-11T21:44:24Z</dcterms:created>
  <dcterms:modified xsi:type="dcterms:W3CDTF">2026-01-10T21:31:25Z</dcterms:modified>
</cp:coreProperties>
</file>