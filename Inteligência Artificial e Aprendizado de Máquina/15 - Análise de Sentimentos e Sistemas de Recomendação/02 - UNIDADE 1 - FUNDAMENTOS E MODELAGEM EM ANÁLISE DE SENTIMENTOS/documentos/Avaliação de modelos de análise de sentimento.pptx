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9"/>
  </p:notesMasterIdLst>
  <p:sldIdLst>
    <p:sldId id="1173" r:id="rId5"/>
    <p:sldId id="297" r:id="rId6"/>
    <p:sldId id="1051" r:id="rId7"/>
    <p:sldId id="1184" r:id="rId8"/>
    <p:sldId id="752" r:id="rId9"/>
    <p:sldId id="753" r:id="rId10"/>
    <p:sldId id="754" r:id="rId11"/>
    <p:sldId id="1120" r:id="rId12"/>
    <p:sldId id="1121" r:id="rId13"/>
    <p:sldId id="1052" r:id="rId14"/>
    <p:sldId id="1056" r:id="rId15"/>
    <p:sldId id="1119" r:id="rId16"/>
    <p:sldId id="1054" r:id="rId17"/>
    <p:sldId id="264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Cronos Pro" panose="020C0502030403020304" charset="0"/>
      <p:regular r:id="rId21"/>
      <p:bold r:id="rId22"/>
      <p:italic r:id="rId23"/>
    </p:embeddedFont>
    <p:embeddedFont>
      <p:font typeface="Fira Sans Extra Condensed" panose="020B0503050000020004" pitchFamily="34" charset="0"/>
      <p:regular r:id="rId24"/>
      <p:bold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082063-D3EF-4CA1-B02C-3A9F53A6B357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849D39E7-79CB-44BE-87FA-5765D91F0286}">
      <dgm:prSet phldrT="[Texto]" custT="1"/>
      <dgm:spPr/>
      <dgm:t>
        <a:bodyPr/>
        <a:lstStyle/>
        <a:p>
          <a:r>
            <a:rPr lang="pt-BR" sz="2800" b="1" dirty="0"/>
            <a:t>Precisão</a:t>
          </a:r>
        </a:p>
      </dgm:t>
    </dgm:pt>
    <dgm:pt modelId="{2C49F2CC-CF1E-4D46-9AF2-34C7F2C314F4}" type="parTrans" cxnId="{9E1B69A5-4D1B-4BEE-B906-6E374C9CE478}">
      <dgm:prSet/>
      <dgm:spPr/>
      <dgm:t>
        <a:bodyPr/>
        <a:lstStyle/>
        <a:p>
          <a:endParaRPr lang="pt-BR"/>
        </a:p>
      </dgm:t>
    </dgm:pt>
    <dgm:pt modelId="{0A74043E-6184-4E83-A7DE-97E269223BC8}" type="sibTrans" cxnId="{9E1B69A5-4D1B-4BEE-B906-6E374C9CE478}">
      <dgm:prSet/>
      <dgm:spPr/>
      <dgm:t>
        <a:bodyPr/>
        <a:lstStyle/>
        <a:p>
          <a:endParaRPr lang="pt-BR"/>
        </a:p>
      </dgm:t>
    </dgm:pt>
    <dgm:pt modelId="{D9876DD6-5756-4BA2-8737-6DCA3138258A}">
      <dgm:prSet phldrT="[Texto]"/>
      <dgm:spPr/>
      <dgm:t>
        <a:bodyPr/>
        <a:lstStyle/>
        <a:p>
          <a:r>
            <a:rPr lang="pt-BR" b="1" dirty="0"/>
            <a:t>Foco na qualidade da predição</a:t>
          </a:r>
          <a:endParaRPr lang="pt-BR" dirty="0"/>
        </a:p>
      </dgm:t>
    </dgm:pt>
    <dgm:pt modelId="{4686C481-EA48-491B-ACFA-62EA458937AF}" type="parTrans" cxnId="{EBDB71A3-79EB-421C-B2B3-3D7747D14CC2}">
      <dgm:prSet/>
      <dgm:spPr/>
      <dgm:t>
        <a:bodyPr/>
        <a:lstStyle/>
        <a:p>
          <a:endParaRPr lang="pt-BR"/>
        </a:p>
      </dgm:t>
    </dgm:pt>
    <dgm:pt modelId="{4F7A713B-7FE6-4091-BD6B-9DF329E35942}" type="sibTrans" cxnId="{EBDB71A3-79EB-421C-B2B3-3D7747D14CC2}">
      <dgm:prSet/>
      <dgm:spPr/>
      <dgm:t>
        <a:bodyPr/>
        <a:lstStyle/>
        <a:p>
          <a:endParaRPr lang="pt-BR"/>
        </a:p>
      </dgm:t>
    </dgm:pt>
    <dgm:pt modelId="{30E9AF11-2E47-46F5-AE36-AA42C2E891BC}">
      <dgm:prSet phldrT="[Texto]" custT="1"/>
      <dgm:spPr/>
      <dgm:t>
        <a:bodyPr/>
        <a:lstStyle/>
        <a:p>
          <a:r>
            <a:rPr lang="pt-BR" sz="2800" b="1" dirty="0" err="1"/>
            <a:t>Revocação</a:t>
          </a:r>
          <a:endParaRPr lang="pt-BR" sz="2800" b="1" dirty="0"/>
        </a:p>
      </dgm:t>
    </dgm:pt>
    <dgm:pt modelId="{0BFDAA5E-2F45-4219-A610-6939835EAF94}" type="parTrans" cxnId="{4E0227CD-E260-44D4-80EB-492F5CD1A995}">
      <dgm:prSet/>
      <dgm:spPr/>
      <dgm:t>
        <a:bodyPr/>
        <a:lstStyle/>
        <a:p>
          <a:endParaRPr lang="pt-BR"/>
        </a:p>
      </dgm:t>
    </dgm:pt>
    <dgm:pt modelId="{BD4E97FF-EAA5-4482-AA66-93271D038DFA}" type="sibTrans" cxnId="{4E0227CD-E260-44D4-80EB-492F5CD1A995}">
      <dgm:prSet/>
      <dgm:spPr/>
      <dgm:t>
        <a:bodyPr/>
        <a:lstStyle/>
        <a:p>
          <a:endParaRPr lang="pt-BR"/>
        </a:p>
      </dgm:t>
    </dgm:pt>
    <dgm:pt modelId="{AD8A9E31-EB75-4A71-ADCC-ACC6C2F6FEF3}">
      <dgm:prSet phldrT="[Texto]"/>
      <dgm:spPr/>
      <dgm:t>
        <a:bodyPr/>
        <a:lstStyle/>
        <a:p>
          <a:r>
            <a:rPr lang="pt-BR" b="1" dirty="0"/>
            <a:t>Foco na cobertura dos valores reais</a:t>
          </a:r>
        </a:p>
      </dgm:t>
    </dgm:pt>
    <dgm:pt modelId="{DE704FE9-9AE6-435C-9F51-038165AA9814}" type="parTrans" cxnId="{052207ED-1901-4521-87BE-8D0F9E721465}">
      <dgm:prSet/>
      <dgm:spPr/>
      <dgm:t>
        <a:bodyPr/>
        <a:lstStyle/>
        <a:p>
          <a:endParaRPr lang="pt-BR"/>
        </a:p>
      </dgm:t>
    </dgm:pt>
    <dgm:pt modelId="{CCDAE94C-E54E-40E3-8F52-5C9E129FFA29}" type="sibTrans" cxnId="{052207ED-1901-4521-87BE-8D0F9E721465}">
      <dgm:prSet/>
      <dgm:spPr/>
      <dgm:t>
        <a:bodyPr/>
        <a:lstStyle/>
        <a:p>
          <a:endParaRPr lang="pt-BR"/>
        </a:p>
      </dgm:t>
    </dgm:pt>
    <dgm:pt modelId="{358183C7-631F-4091-A58C-C75CF3E50DEB}">
      <dgm:prSet phldrT="[Texto]"/>
      <dgm:spPr/>
      <dgm:t>
        <a:bodyPr/>
        <a:lstStyle/>
        <a:p>
          <a:r>
            <a:rPr lang="pt-BR" i="1" dirty="0"/>
            <a:t>"Quando o modelo diz que é positivo, com que frequência ele está certo?"</a:t>
          </a:r>
          <a:endParaRPr lang="pt-BR" dirty="0"/>
        </a:p>
      </dgm:t>
    </dgm:pt>
    <dgm:pt modelId="{841F1A33-C967-4C65-8105-83AF669FCB64}" type="parTrans" cxnId="{3CD4DE0C-1B51-48FE-A405-BDAE4CBDC30E}">
      <dgm:prSet/>
      <dgm:spPr/>
      <dgm:t>
        <a:bodyPr/>
        <a:lstStyle/>
        <a:p>
          <a:endParaRPr lang="pt-BR"/>
        </a:p>
      </dgm:t>
    </dgm:pt>
    <dgm:pt modelId="{C2D8EFBA-FE69-463B-83CE-AA7DC203086C}" type="sibTrans" cxnId="{3CD4DE0C-1B51-48FE-A405-BDAE4CBDC30E}">
      <dgm:prSet/>
      <dgm:spPr/>
      <dgm:t>
        <a:bodyPr/>
        <a:lstStyle/>
        <a:p>
          <a:endParaRPr lang="pt-BR"/>
        </a:p>
      </dgm:t>
    </dgm:pt>
    <dgm:pt modelId="{584C8E49-0B86-498C-86F9-AD248897821E}">
      <dgm:prSet phldrT="[Texto]"/>
      <dgm:spPr/>
      <dgm:t>
        <a:bodyPr/>
        <a:lstStyle/>
        <a:p>
          <a:r>
            <a:rPr lang="pt-BR" dirty="0"/>
            <a:t>É a proporção de identificações positivas corretas em relação ao total de identificações positivas feitas pelo modelo</a:t>
          </a:r>
        </a:p>
      </dgm:t>
    </dgm:pt>
    <dgm:pt modelId="{B1BAF476-B8FA-4B61-AB09-F1023BBB90BA}" type="parTrans" cxnId="{447A6467-F33E-4689-A8F4-B43355588EDD}">
      <dgm:prSet/>
      <dgm:spPr/>
      <dgm:t>
        <a:bodyPr/>
        <a:lstStyle/>
        <a:p>
          <a:endParaRPr lang="pt-BR"/>
        </a:p>
      </dgm:t>
    </dgm:pt>
    <dgm:pt modelId="{7F178D32-8A5B-49CB-BF26-D2F771361042}" type="sibTrans" cxnId="{447A6467-F33E-4689-A8F4-B43355588EDD}">
      <dgm:prSet/>
      <dgm:spPr/>
      <dgm:t>
        <a:bodyPr/>
        <a:lstStyle/>
        <a:p>
          <a:endParaRPr lang="pt-BR"/>
        </a:p>
      </dgm:t>
    </dgm:pt>
    <dgm:pt modelId="{2C52E1CF-514B-482E-B23E-99991DB8A65B}">
      <dgm:prSet phldrT="[Texto]"/>
      <dgm:spPr/>
      <dgm:t>
        <a:bodyPr/>
        <a:lstStyle/>
        <a:p>
          <a:r>
            <a:rPr lang="pt-BR" dirty="0"/>
            <a:t>"</a:t>
          </a:r>
          <a:r>
            <a:rPr lang="pt-BR" i="1" dirty="0"/>
            <a:t>De todos os casos positivos que realmente existem, quantos o modelo conseguiu encontrar?</a:t>
          </a:r>
          <a:r>
            <a:rPr lang="pt-BR" dirty="0"/>
            <a:t>"</a:t>
          </a:r>
        </a:p>
      </dgm:t>
    </dgm:pt>
    <dgm:pt modelId="{CE16C8B4-4EF2-4416-9B9E-DB54DEFE40A7}" type="parTrans" cxnId="{3DAA5C90-B7FA-4A01-B651-B0A749A8D2A8}">
      <dgm:prSet/>
      <dgm:spPr/>
      <dgm:t>
        <a:bodyPr/>
        <a:lstStyle/>
        <a:p>
          <a:endParaRPr lang="pt-BR"/>
        </a:p>
      </dgm:t>
    </dgm:pt>
    <dgm:pt modelId="{33390EDD-2FFB-412D-B8B3-BCCDB79A2A14}" type="sibTrans" cxnId="{3DAA5C90-B7FA-4A01-B651-B0A749A8D2A8}">
      <dgm:prSet/>
      <dgm:spPr/>
      <dgm:t>
        <a:bodyPr/>
        <a:lstStyle/>
        <a:p>
          <a:endParaRPr lang="pt-BR"/>
        </a:p>
      </dgm:t>
    </dgm:pt>
    <dgm:pt modelId="{9FCC8A5C-4610-4A92-98E9-229C2DC06860}">
      <dgm:prSet phldrT="[Texto]"/>
      <dgm:spPr/>
      <dgm:t>
        <a:bodyPr/>
        <a:lstStyle/>
        <a:p>
          <a:r>
            <a:rPr lang="pt-BR" dirty="0"/>
            <a:t>É a proporção de identificações positivas corretas em relação ao total de casos positivos reais na base de dados</a:t>
          </a:r>
        </a:p>
      </dgm:t>
    </dgm:pt>
    <dgm:pt modelId="{0770DA3C-9D48-4032-B8EA-085EBFE3BD20}" type="parTrans" cxnId="{618AC488-4A8A-40A5-B1CE-CEF3FBA33828}">
      <dgm:prSet/>
      <dgm:spPr/>
      <dgm:t>
        <a:bodyPr/>
        <a:lstStyle/>
        <a:p>
          <a:endParaRPr lang="pt-BR"/>
        </a:p>
      </dgm:t>
    </dgm:pt>
    <dgm:pt modelId="{1EB6F87A-18A9-4C47-8944-01574679535A}" type="sibTrans" cxnId="{618AC488-4A8A-40A5-B1CE-CEF3FBA33828}">
      <dgm:prSet/>
      <dgm:spPr/>
      <dgm:t>
        <a:bodyPr/>
        <a:lstStyle/>
        <a:p>
          <a:endParaRPr lang="pt-BR"/>
        </a:p>
      </dgm:t>
    </dgm:pt>
    <dgm:pt modelId="{6D93FD47-9E7E-431F-8762-60DF763E337C}" type="pres">
      <dgm:prSet presAssocID="{BC082063-D3EF-4CA1-B02C-3A9F53A6B357}" presName="Name0" presStyleCnt="0">
        <dgm:presLayoutVars>
          <dgm:dir/>
          <dgm:animLvl val="lvl"/>
          <dgm:resizeHandles val="exact"/>
        </dgm:presLayoutVars>
      </dgm:prSet>
      <dgm:spPr/>
    </dgm:pt>
    <dgm:pt modelId="{97AC5C94-351F-451A-B2A3-D6486F43DF91}" type="pres">
      <dgm:prSet presAssocID="{849D39E7-79CB-44BE-87FA-5765D91F0286}" presName="composite" presStyleCnt="0"/>
      <dgm:spPr/>
    </dgm:pt>
    <dgm:pt modelId="{7D22500F-AA93-4ABE-9AE1-AA4695D94861}" type="pres">
      <dgm:prSet presAssocID="{849D39E7-79CB-44BE-87FA-5765D91F028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7102D5AD-93D6-46BF-9F5B-EFE8F4C9F05D}" type="pres">
      <dgm:prSet presAssocID="{849D39E7-79CB-44BE-87FA-5765D91F0286}" presName="desTx" presStyleLbl="alignAccFollowNode1" presStyleIdx="0" presStyleCnt="2">
        <dgm:presLayoutVars>
          <dgm:bulletEnabled val="1"/>
        </dgm:presLayoutVars>
      </dgm:prSet>
      <dgm:spPr/>
    </dgm:pt>
    <dgm:pt modelId="{4DE8DE50-D5E7-4F28-8509-0EC445927382}" type="pres">
      <dgm:prSet presAssocID="{0A74043E-6184-4E83-A7DE-97E269223BC8}" presName="space" presStyleCnt="0"/>
      <dgm:spPr/>
    </dgm:pt>
    <dgm:pt modelId="{C4322458-14FF-4A26-AB34-897AF4D7E182}" type="pres">
      <dgm:prSet presAssocID="{30E9AF11-2E47-46F5-AE36-AA42C2E891BC}" presName="composite" presStyleCnt="0"/>
      <dgm:spPr/>
    </dgm:pt>
    <dgm:pt modelId="{1620CE23-53DB-4644-93FF-FBBD2B70CFA5}" type="pres">
      <dgm:prSet presAssocID="{30E9AF11-2E47-46F5-AE36-AA42C2E891B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577F1A7-D761-4531-BC71-0FC55DDA032F}" type="pres">
      <dgm:prSet presAssocID="{30E9AF11-2E47-46F5-AE36-AA42C2E891B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CD4DE0C-1B51-48FE-A405-BDAE4CBDC30E}" srcId="{849D39E7-79CB-44BE-87FA-5765D91F0286}" destId="{358183C7-631F-4091-A58C-C75CF3E50DEB}" srcOrd="2" destOrd="0" parTransId="{841F1A33-C967-4C65-8105-83AF669FCB64}" sibTransId="{C2D8EFBA-FE69-463B-83CE-AA7DC203086C}"/>
    <dgm:cxn modelId="{21F6563C-9AC6-4A32-A614-092AD916030C}" type="presOf" srcId="{30E9AF11-2E47-46F5-AE36-AA42C2E891BC}" destId="{1620CE23-53DB-4644-93FF-FBBD2B70CFA5}" srcOrd="0" destOrd="0" presId="urn:microsoft.com/office/officeart/2005/8/layout/hList1"/>
    <dgm:cxn modelId="{096EFB41-4CE4-4F79-8A6C-048D6226AF55}" type="presOf" srcId="{BC082063-D3EF-4CA1-B02C-3A9F53A6B357}" destId="{6D93FD47-9E7E-431F-8762-60DF763E337C}" srcOrd="0" destOrd="0" presId="urn:microsoft.com/office/officeart/2005/8/layout/hList1"/>
    <dgm:cxn modelId="{447A6467-F33E-4689-A8F4-B43355588EDD}" srcId="{849D39E7-79CB-44BE-87FA-5765D91F0286}" destId="{584C8E49-0B86-498C-86F9-AD248897821E}" srcOrd="1" destOrd="0" parTransId="{B1BAF476-B8FA-4B61-AB09-F1023BBB90BA}" sibTransId="{7F178D32-8A5B-49CB-BF26-D2F771361042}"/>
    <dgm:cxn modelId="{3665265A-3BB3-40FE-9EF6-AFB39928962A}" type="presOf" srcId="{2C52E1CF-514B-482E-B23E-99991DB8A65B}" destId="{9577F1A7-D761-4531-BC71-0FC55DDA032F}" srcOrd="0" destOrd="2" presId="urn:microsoft.com/office/officeart/2005/8/layout/hList1"/>
    <dgm:cxn modelId="{40007B7F-6AD5-4DB8-B73A-8B010C09902F}" type="presOf" srcId="{358183C7-631F-4091-A58C-C75CF3E50DEB}" destId="{7102D5AD-93D6-46BF-9F5B-EFE8F4C9F05D}" srcOrd="0" destOrd="2" presId="urn:microsoft.com/office/officeart/2005/8/layout/hList1"/>
    <dgm:cxn modelId="{618AC488-4A8A-40A5-B1CE-CEF3FBA33828}" srcId="{30E9AF11-2E47-46F5-AE36-AA42C2E891BC}" destId="{9FCC8A5C-4610-4A92-98E9-229C2DC06860}" srcOrd="1" destOrd="0" parTransId="{0770DA3C-9D48-4032-B8EA-085EBFE3BD20}" sibTransId="{1EB6F87A-18A9-4C47-8944-01574679535A}"/>
    <dgm:cxn modelId="{3DAA5C90-B7FA-4A01-B651-B0A749A8D2A8}" srcId="{30E9AF11-2E47-46F5-AE36-AA42C2E891BC}" destId="{2C52E1CF-514B-482E-B23E-99991DB8A65B}" srcOrd="2" destOrd="0" parTransId="{CE16C8B4-4EF2-4416-9B9E-DB54DEFE40A7}" sibTransId="{33390EDD-2FFB-412D-B8B3-BCCDB79A2A14}"/>
    <dgm:cxn modelId="{EBDB71A3-79EB-421C-B2B3-3D7747D14CC2}" srcId="{849D39E7-79CB-44BE-87FA-5765D91F0286}" destId="{D9876DD6-5756-4BA2-8737-6DCA3138258A}" srcOrd="0" destOrd="0" parTransId="{4686C481-EA48-491B-ACFA-62EA458937AF}" sibTransId="{4F7A713B-7FE6-4091-BD6B-9DF329E35942}"/>
    <dgm:cxn modelId="{9E1B69A5-4D1B-4BEE-B906-6E374C9CE478}" srcId="{BC082063-D3EF-4CA1-B02C-3A9F53A6B357}" destId="{849D39E7-79CB-44BE-87FA-5765D91F0286}" srcOrd="0" destOrd="0" parTransId="{2C49F2CC-CF1E-4D46-9AF2-34C7F2C314F4}" sibTransId="{0A74043E-6184-4E83-A7DE-97E269223BC8}"/>
    <dgm:cxn modelId="{0A0F44AC-1256-4A9C-8BD5-BA3CC44B11F8}" type="presOf" srcId="{849D39E7-79CB-44BE-87FA-5765D91F0286}" destId="{7D22500F-AA93-4ABE-9AE1-AA4695D94861}" srcOrd="0" destOrd="0" presId="urn:microsoft.com/office/officeart/2005/8/layout/hList1"/>
    <dgm:cxn modelId="{F634DCAE-E768-4E42-9C55-E756E0F2FC3B}" type="presOf" srcId="{584C8E49-0B86-498C-86F9-AD248897821E}" destId="{7102D5AD-93D6-46BF-9F5B-EFE8F4C9F05D}" srcOrd="0" destOrd="1" presId="urn:microsoft.com/office/officeart/2005/8/layout/hList1"/>
    <dgm:cxn modelId="{CB2551BE-38E3-48F9-AB9E-B2969053255C}" type="presOf" srcId="{D9876DD6-5756-4BA2-8737-6DCA3138258A}" destId="{7102D5AD-93D6-46BF-9F5B-EFE8F4C9F05D}" srcOrd="0" destOrd="0" presId="urn:microsoft.com/office/officeart/2005/8/layout/hList1"/>
    <dgm:cxn modelId="{4E0227CD-E260-44D4-80EB-492F5CD1A995}" srcId="{BC082063-D3EF-4CA1-B02C-3A9F53A6B357}" destId="{30E9AF11-2E47-46F5-AE36-AA42C2E891BC}" srcOrd="1" destOrd="0" parTransId="{0BFDAA5E-2F45-4219-A610-6939835EAF94}" sibTransId="{BD4E97FF-EAA5-4482-AA66-93271D038DFA}"/>
    <dgm:cxn modelId="{2DD111D1-7547-4B94-A510-F5407C728BEA}" type="presOf" srcId="{9FCC8A5C-4610-4A92-98E9-229C2DC06860}" destId="{9577F1A7-D761-4531-BC71-0FC55DDA032F}" srcOrd="0" destOrd="1" presId="urn:microsoft.com/office/officeart/2005/8/layout/hList1"/>
    <dgm:cxn modelId="{052207ED-1901-4521-87BE-8D0F9E721465}" srcId="{30E9AF11-2E47-46F5-AE36-AA42C2E891BC}" destId="{AD8A9E31-EB75-4A71-ADCC-ACC6C2F6FEF3}" srcOrd="0" destOrd="0" parTransId="{DE704FE9-9AE6-435C-9F51-038165AA9814}" sibTransId="{CCDAE94C-E54E-40E3-8F52-5C9E129FFA29}"/>
    <dgm:cxn modelId="{98E45DEE-1095-4B30-BB3A-1D39CFB6D087}" type="presOf" srcId="{AD8A9E31-EB75-4A71-ADCC-ACC6C2F6FEF3}" destId="{9577F1A7-D761-4531-BC71-0FC55DDA032F}" srcOrd="0" destOrd="0" presId="urn:microsoft.com/office/officeart/2005/8/layout/hList1"/>
    <dgm:cxn modelId="{5FA3965D-1542-4DBD-9396-043E53CDEB46}" type="presParOf" srcId="{6D93FD47-9E7E-431F-8762-60DF763E337C}" destId="{97AC5C94-351F-451A-B2A3-D6486F43DF91}" srcOrd="0" destOrd="0" presId="urn:microsoft.com/office/officeart/2005/8/layout/hList1"/>
    <dgm:cxn modelId="{E7F2C597-7EC8-4E7A-B08F-0DB02FE801A3}" type="presParOf" srcId="{97AC5C94-351F-451A-B2A3-D6486F43DF91}" destId="{7D22500F-AA93-4ABE-9AE1-AA4695D94861}" srcOrd="0" destOrd="0" presId="urn:microsoft.com/office/officeart/2005/8/layout/hList1"/>
    <dgm:cxn modelId="{BEE2C006-F8A7-4B12-ACA3-BFDCB0F6A116}" type="presParOf" srcId="{97AC5C94-351F-451A-B2A3-D6486F43DF91}" destId="{7102D5AD-93D6-46BF-9F5B-EFE8F4C9F05D}" srcOrd="1" destOrd="0" presId="urn:microsoft.com/office/officeart/2005/8/layout/hList1"/>
    <dgm:cxn modelId="{69A7AAF7-BAD6-4995-B816-1880039C771D}" type="presParOf" srcId="{6D93FD47-9E7E-431F-8762-60DF763E337C}" destId="{4DE8DE50-D5E7-4F28-8509-0EC445927382}" srcOrd="1" destOrd="0" presId="urn:microsoft.com/office/officeart/2005/8/layout/hList1"/>
    <dgm:cxn modelId="{6E3DF0D3-A553-44FA-90B5-C9CEA097F9B4}" type="presParOf" srcId="{6D93FD47-9E7E-431F-8762-60DF763E337C}" destId="{C4322458-14FF-4A26-AB34-897AF4D7E182}" srcOrd="2" destOrd="0" presId="urn:microsoft.com/office/officeart/2005/8/layout/hList1"/>
    <dgm:cxn modelId="{356A7C30-A6CC-42AB-A008-940007F6964B}" type="presParOf" srcId="{C4322458-14FF-4A26-AB34-897AF4D7E182}" destId="{1620CE23-53DB-4644-93FF-FBBD2B70CFA5}" srcOrd="0" destOrd="0" presId="urn:microsoft.com/office/officeart/2005/8/layout/hList1"/>
    <dgm:cxn modelId="{9396C55E-C22F-4F44-8368-DE909BF55F28}" type="presParOf" srcId="{C4322458-14FF-4A26-AB34-897AF4D7E182}" destId="{9577F1A7-D761-4531-BC71-0FC55DDA03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22500F-AA93-4ABE-9AE1-AA4695D94861}">
      <dsp:nvSpPr>
        <dsp:cNvPr id="0" name=""/>
        <dsp:cNvSpPr/>
      </dsp:nvSpPr>
      <dsp:spPr>
        <a:xfrm>
          <a:off x="54" y="145352"/>
          <a:ext cx="5173419" cy="633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Precisão</a:t>
          </a:r>
        </a:p>
      </dsp:txBody>
      <dsp:txXfrm>
        <a:off x="54" y="145352"/>
        <a:ext cx="5173419" cy="633600"/>
      </dsp:txXfrm>
    </dsp:sp>
    <dsp:sp modelId="{7102D5AD-93D6-46BF-9F5B-EFE8F4C9F05D}">
      <dsp:nvSpPr>
        <dsp:cNvPr id="0" name=""/>
        <dsp:cNvSpPr/>
      </dsp:nvSpPr>
      <dsp:spPr>
        <a:xfrm>
          <a:off x="54" y="778952"/>
          <a:ext cx="5173419" cy="259676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b="1" kern="1200" dirty="0"/>
            <a:t>Foco na qualidade da predição</a:t>
          </a:r>
          <a:endParaRPr lang="pt-BR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 dirty="0"/>
            <a:t>É a proporção de identificações positivas corretas em relação ao total de identificações positivas feitas pelo modelo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i="1" kern="1200" dirty="0"/>
            <a:t>"Quando o modelo diz que é positivo, com que frequência ele está certo?"</a:t>
          </a:r>
          <a:endParaRPr lang="pt-BR" sz="2200" kern="1200" dirty="0"/>
        </a:p>
      </dsp:txBody>
      <dsp:txXfrm>
        <a:off x="54" y="778952"/>
        <a:ext cx="5173419" cy="2596769"/>
      </dsp:txXfrm>
    </dsp:sp>
    <dsp:sp modelId="{1620CE23-53DB-4644-93FF-FBBD2B70CFA5}">
      <dsp:nvSpPr>
        <dsp:cNvPr id="0" name=""/>
        <dsp:cNvSpPr/>
      </dsp:nvSpPr>
      <dsp:spPr>
        <a:xfrm>
          <a:off x="5897751" y="145352"/>
          <a:ext cx="5173419" cy="633600"/>
        </a:xfrm>
        <a:prstGeom prst="rect">
          <a:avLst/>
        </a:prstGeom>
        <a:solidFill>
          <a:schemeClr val="accent4">
            <a:hueOff val="-3519944"/>
            <a:satOff val="-36129"/>
            <a:lumOff val="15099"/>
            <a:alphaOff val="0"/>
          </a:schemeClr>
        </a:solidFill>
        <a:ln w="12700" cap="flat" cmpd="sng" algn="ctr">
          <a:solidFill>
            <a:schemeClr val="accent4">
              <a:hueOff val="-3519944"/>
              <a:satOff val="-36129"/>
              <a:lumOff val="150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 err="1"/>
            <a:t>Revocação</a:t>
          </a:r>
          <a:endParaRPr lang="pt-BR" sz="2800" b="1" kern="1200" dirty="0"/>
        </a:p>
      </dsp:txBody>
      <dsp:txXfrm>
        <a:off x="5897751" y="145352"/>
        <a:ext cx="5173419" cy="633600"/>
      </dsp:txXfrm>
    </dsp:sp>
    <dsp:sp modelId="{9577F1A7-D761-4531-BC71-0FC55DDA032F}">
      <dsp:nvSpPr>
        <dsp:cNvPr id="0" name=""/>
        <dsp:cNvSpPr/>
      </dsp:nvSpPr>
      <dsp:spPr>
        <a:xfrm>
          <a:off x="5897751" y="778952"/>
          <a:ext cx="5173419" cy="2596769"/>
        </a:xfrm>
        <a:prstGeom prst="rect">
          <a:avLst/>
        </a:prstGeom>
        <a:solidFill>
          <a:schemeClr val="accent4">
            <a:tint val="40000"/>
            <a:alpha val="90000"/>
            <a:hueOff val="-2615673"/>
            <a:satOff val="-9408"/>
            <a:lumOff val="102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-2615673"/>
              <a:satOff val="-9408"/>
              <a:lumOff val="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b="1" kern="1200" dirty="0"/>
            <a:t>Foco na cobertura dos valores reais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 dirty="0"/>
            <a:t>É a proporção de identificações positivas corretas em relação ao total de casos positivos reais na base de dados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 dirty="0"/>
            <a:t>"</a:t>
          </a:r>
          <a:r>
            <a:rPr lang="pt-BR" sz="2200" i="1" kern="1200" dirty="0"/>
            <a:t>De todos os casos positivos que realmente existem, quantos o modelo conseguiu encontrar?</a:t>
          </a:r>
          <a:r>
            <a:rPr lang="pt-BR" sz="2200" kern="1200" dirty="0"/>
            <a:t>"</a:t>
          </a:r>
        </a:p>
      </dsp:txBody>
      <dsp:txXfrm>
        <a:off x="5897751" y="778952"/>
        <a:ext cx="5173419" cy="2596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Avaliação de modelos de análise de sentimento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Explicar o propósito das métricas de desempenho (acurácia, precisão, </a:t>
            </a:r>
            <a:r>
              <a:rPr lang="pt-BR" sz="2700" dirty="0" err="1"/>
              <a:t>revocação</a:t>
            </a:r>
            <a:r>
              <a:rPr lang="pt-BR" sz="2700" dirty="0"/>
              <a:t> e F1-score) na distinção entre diferentes classes de sentimento.</a:t>
            </a:r>
          </a:p>
          <a:p>
            <a:r>
              <a:rPr lang="pt-BR" sz="2700" dirty="0"/>
              <a:t>Definir os componentes fundamentais de uma matriz de confusão.</a:t>
            </a:r>
          </a:p>
          <a:p>
            <a:r>
              <a:rPr lang="pt-BR" sz="2700" dirty="0"/>
              <a:t>Calcular as taxas de acurácia, erro, precisão e </a:t>
            </a:r>
            <a:r>
              <a:rPr lang="pt-BR" sz="2700" dirty="0" err="1"/>
              <a:t>revocação</a:t>
            </a:r>
            <a:r>
              <a:rPr lang="pt-BR" sz="2700" dirty="0"/>
              <a:t> de um classificador utilizando os dados extraídos de uma matriz de confusão</a:t>
            </a:r>
          </a:p>
          <a:p>
            <a:r>
              <a:rPr lang="pt-BR" sz="2700" dirty="0"/>
              <a:t>Interpretar os resultados obtidos em uma matriz de confusão para identificar o tipo de erro predominante do modelo em classes de interesse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EC5A00-1361-4373-8DC4-C2D95943CE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Para se avaliar o desempenho de um classificador, usa-se métricas que indicam o quão bem o modelo está distinguindo as diferentes classes</a:t>
            </a:r>
          </a:p>
          <a:p>
            <a:r>
              <a:rPr lang="pt-BR" dirty="0"/>
              <a:t>Geralmente, baseia-se na taxa de acerto geral do classificador (</a:t>
            </a:r>
            <a:r>
              <a:rPr lang="pt-BR" b="1" dirty="0">
                <a:solidFill>
                  <a:srgbClr val="0070C0"/>
                </a:solidFill>
              </a:rPr>
              <a:t>acurácia</a:t>
            </a:r>
            <a:r>
              <a:rPr lang="pt-BR" dirty="0"/>
              <a:t>) e também no acerto para cada classe (</a:t>
            </a:r>
            <a:r>
              <a:rPr lang="pt-BR" b="1" dirty="0">
                <a:solidFill>
                  <a:srgbClr val="0070C0"/>
                </a:solidFill>
              </a:rPr>
              <a:t>precisão</a:t>
            </a:r>
            <a:r>
              <a:rPr lang="pt-BR" dirty="0"/>
              <a:t> e </a:t>
            </a:r>
            <a:r>
              <a:rPr lang="pt-BR" b="1" dirty="0" err="1">
                <a:solidFill>
                  <a:srgbClr val="0070C0"/>
                </a:solidFill>
              </a:rPr>
              <a:t>revocação</a:t>
            </a:r>
            <a:r>
              <a:rPr lang="pt-BR" dirty="0"/>
              <a:t>)</a:t>
            </a:r>
          </a:p>
          <a:p>
            <a:r>
              <a:rPr lang="pt-BR" dirty="0"/>
              <a:t>A </a:t>
            </a:r>
            <a:r>
              <a:rPr lang="pt-BR" b="1" dirty="0">
                <a:solidFill>
                  <a:srgbClr val="0070C0"/>
                </a:solidFill>
              </a:rPr>
              <a:t>matriz de confusão </a:t>
            </a:r>
            <a:r>
              <a:rPr lang="pt-BR" dirty="0"/>
              <a:t>também é usada para avaliar a qualidade das predições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A4C7928-8FAF-4F1D-8EC8-10587063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Como avaliar um classificador?</a:t>
            </a:r>
          </a:p>
        </p:txBody>
      </p:sp>
    </p:spTree>
    <p:extLst>
      <p:ext uri="{BB962C8B-B14F-4D97-AF65-F5344CB8AC3E}">
        <p14:creationId xmlns:p14="http://schemas.microsoft.com/office/powerpoint/2010/main" val="291954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5905F9C-ABC4-EED3-0D5F-04CD6B3FD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43650"/>
            <a:ext cx="9753600" cy="53244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67BA0B1-458B-24C8-B6B8-8F44E42C7AA8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18688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Acurácia</a:t>
            </a:r>
            <a:r>
              <a:rPr lang="pt-BR" dirty="0"/>
              <a:t> é a porcentagem dos exemplos que foram corretamente classificados em relação ao total de exemplos</a:t>
            </a:r>
          </a:p>
          <a:p>
            <a:endParaRPr lang="pt-BR" dirty="0"/>
          </a:p>
          <a:p>
            <a:endParaRPr lang="pt-BR" b="1" dirty="0"/>
          </a:p>
          <a:p>
            <a:r>
              <a:rPr lang="pt-BR" b="1" dirty="0"/>
              <a:t>Taxa de erro </a:t>
            </a:r>
            <a:r>
              <a:rPr lang="pt-BR" dirty="0"/>
              <a:t>é a proporção dos exemplos que foram classificados incorretamente pelo classificador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Acurácia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3964419" y="3142383"/>
                <a:ext cx="4237762" cy="5732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𝐶𝑙𝑎𝑠𝑠𝑖𝑓𝑖𝑐𝑎𝑑𝑜𝑠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𝑐𝑜𝑟𝑟𝑒𝑡𝑎𝑚𝑒𝑛𝑡𝑒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𝑒𝑥𝑒𝑚𝑝𝑙𝑜𝑠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419" y="3142383"/>
                <a:ext cx="4237762" cy="573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EC31EA5-C670-40C9-B814-CFC6997B4503}"/>
                  </a:ext>
                </a:extLst>
              </p:cNvPr>
              <p:cNvSpPr txBox="1"/>
              <p:nvPr/>
            </p:nvSpPr>
            <p:spPr>
              <a:xfrm>
                <a:off x="3275675" y="5481625"/>
                <a:ext cx="5640647" cy="57323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𝐸𝑟𝑟𝑜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𝐶𝑙𝑎𝑠𝑠𝑖𝑓𝑖𝑐𝑎𝑑𝑜𝑠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𝑖𝑛𝑐𝑜𝑟𝑟𝑒𝑡𝑎𝑚𝑒𝑛𝑡𝑒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𝑒𝑥𝑒𝑚𝑝𝑙𝑜𝑠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EC31EA5-C670-40C9-B814-CFC6997B4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675" y="5481625"/>
                <a:ext cx="5640647" cy="573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06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C1 = sentimento positivo (40 </a:t>
            </a:r>
            <a:r>
              <a:rPr lang="pt-BR" i="1" dirty="0"/>
              <a:t>reviews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C2 = diagnóstico negativo (500 </a:t>
            </a:r>
            <a:r>
              <a:rPr lang="pt-BR" i="1" dirty="0"/>
              <a:t>reviews</a:t>
            </a:r>
            <a:r>
              <a:rPr lang="pt-BR" dirty="0"/>
              <a:t>)</a:t>
            </a:r>
          </a:p>
          <a:p>
            <a:endParaRPr lang="pt-BR" sz="2000" dirty="0"/>
          </a:p>
          <a:p>
            <a:r>
              <a:rPr lang="pt-BR" dirty="0"/>
              <a:t>Suponha que um classificador classificou corretamente </a:t>
            </a:r>
            <a:br>
              <a:rPr lang="pt-BR" dirty="0"/>
            </a:br>
            <a:r>
              <a:rPr lang="pt-BR" dirty="0"/>
              <a:t>494 </a:t>
            </a:r>
            <a:r>
              <a:rPr lang="pt-BR" i="1" dirty="0"/>
              <a:t>reviews</a:t>
            </a:r>
            <a:r>
              <a:rPr lang="pt-BR" dirty="0"/>
              <a:t> de produtos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/>
              <p:cNvSpPr txBox="1"/>
              <p:nvPr/>
            </p:nvSpPr>
            <p:spPr>
              <a:xfrm>
                <a:off x="4031261" y="5288632"/>
                <a:ext cx="4104077" cy="5305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494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40 +500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494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540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𝟗𝟏</m:t>
                      </m:r>
                      <m:r>
                        <a:rPr lang="pt-BR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pt-BR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61" y="5288632"/>
                <a:ext cx="4104077" cy="5305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15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Acurácia é boa </a:t>
            </a:r>
            <a:r>
              <a:rPr lang="pt-BR" sz="2800" dirty="0"/>
              <a:t>✅</a:t>
            </a:r>
            <a:r>
              <a:rPr lang="pt-BR" sz="3200" dirty="0"/>
              <a:t> quando as classes estão </a:t>
            </a:r>
            <a:r>
              <a:rPr lang="pt-BR" sz="3200" b="1" dirty="0"/>
              <a:t>balanceadas</a:t>
            </a:r>
            <a:r>
              <a:rPr lang="pt-BR" sz="3200" dirty="0"/>
              <a:t> </a:t>
            </a:r>
          </a:p>
          <a:p>
            <a:r>
              <a:rPr lang="pt-BR" sz="3200" dirty="0"/>
              <a:t>Acurácia tem problema⚠️ com classes </a:t>
            </a:r>
            <a:r>
              <a:rPr lang="pt-BR" sz="3200" b="1" dirty="0"/>
              <a:t>não balanceadas</a:t>
            </a:r>
          </a:p>
          <a:p>
            <a:r>
              <a:rPr lang="pt-BR" sz="3200" dirty="0"/>
              <a:t>Considere um problema de 2 classes</a:t>
            </a:r>
          </a:p>
          <a:p>
            <a:pPr lvl="1"/>
            <a:r>
              <a:rPr lang="pt-BR" sz="2400" dirty="0"/>
              <a:t>Nº de exemplos da classe A: </a:t>
            </a:r>
            <a:r>
              <a:rPr lang="pt-BR" sz="2400" dirty="0">
                <a:solidFill>
                  <a:srgbClr val="C00000"/>
                </a:solidFill>
              </a:rPr>
              <a:t>9.900</a:t>
            </a:r>
          </a:p>
          <a:p>
            <a:pPr lvl="1"/>
            <a:r>
              <a:rPr lang="pt-BR" sz="2400" dirty="0"/>
              <a:t>Nº de exemplos da classe B: </a:t>
            </a:r>
            <a:r>
              <a:rPr lang="pt-BR" sz="2400" dirty="0">
                <a:solidFill>
                  <a:srgbClr val="C00000"/>
                </a:solidFill>
              </a:rPr>
              <a:t>100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210332" y="5085184"/>
                <a:ext cx="5771334" cy="7000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9.9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9.9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 + 1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9.9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10.000</m:t>
                          </m:r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pt-BR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332" y="5085184"/>
                <a:ext cx="5771334" cy="700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Balão de Fala: Oval 5">
            <a:extLst>
              <a:ext uri="{FF2B5EF4-FFF2-40B4-BE49-F238E27FC236}">
                <a16:creationId xmlns:a16="http://schemas.microsoft.com/office/drawing/2014/main" id="{2D69A8CA-7E84-7100-6F9D-5DD8F00F5254}"/>
              </a:ext>
            </a:extLst>
          </p:cNvPr>
          <p:cNvSpPr/>
          <p:nvPr/>
        </p:nvSpPr>
        <p:spPr>
          <a:xfrm>
            <a:off x="8518991" y="3212976"/>
            <a:ext cx="2880320" cy="1584176"/>
          </a:xfrm>
          <a:prstGeom prst="wedgeEllipseCallout">
            <a:avLst>
              <a:gd name="adj1" fmla="val -46977"/>
              <a:gd name="adj2" fmla="val 713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 se o classificador predizer todos os resultados como </a:t>
            </a:r>
            <a:br>
              <a:rPr lang="pt-BR" dirty="0"/>
            </a:br>
            <a:r>
              <a:rPr lang="pt-BR" dirty="0"/>
              <a:t>sendo da classe A?</a:t>
            </a:r>
            <a:endParaRPr lang="pt-B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66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D4CE170-7253-B7A3-23C4-4F283448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6931" y="6497146"/>
            <a:ext cx="227093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pt-BR"/>
            </a:defPPr>
            <a:lvl1pPr marL="0" algn="r" defTabSz="914400" rtl="0" eaLnBrk="1" latinLnBrk="0" hangingPunct="1">
              <a:defRPr sz="1252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1E2FF6-93F7-41BC-B57B-70780702280D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9D97EB-1E32-5781-7D7F-676751CA776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293" y="549000"/>
            <a:ext cx="10551413" cy="576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98C18AB-ADC5-96A2-32F4-9A59F74FEDD5}"/>
              </a:ext>
            </a:extLst>
          </p:cNvPr>
          <p:cNvSpPr txBox="1"/>
          <p:nvPr/>
        </p:nvSpPr>
        <p:spPr>
          <a:xfrm>
            <a:off x="3883998" y="630900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69062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12A1EEA4-DDEF-AD1F-3BDC-06A42F77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388" y="877126"/>
            <a:ext cx="3842647" cy="1305201"/>
          </a:xfrm>
        </p:spPr>
        <p:txBody>
          <a:bodyPr/>
          <a:lstStyle/>
          <a:p>
            <a:pPr algn="l"/>
            <a:r>
              <a:rPr lang="pt-BR" dirty="0"/>
              <a:t>Precisão e</a:t>
            </a:r>
            <a:br>
              <a:rPr lang="pt-BR" dirty="0"/>
            </a:br>
            <a:r>
              <a:rPr lang="pt-BR" dirty="0" err="1"/>
              <a:t>Revocação</a:t>
            </a:r>
            <a:endParaRPr lang="pt-BR" dirty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242017BA-6C68-B335-600E-56F2172813B7}"/>
              </a:ext>
            </a:extLst>
          </p:cNvPr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687441277"/>
              </p:ext>
            </p:extLst>
          </p:nvPr>
        </p:nvGraphicFramePr>
        <p:xfrm>
          <a:off x="560388" y="2654300"/>
          <a:ext cx="11071225" cy="3521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o Explicativo: Linha com Borda e Ênfase 5">
            <a:extLst>
              <a:ext uri="{FF2B5EF4-FFF2-40B4-BE49-F238E27FC236}">
                <a16:creationId xmlns:a16="http://schemas.microsoft.com/office/drawing/2014/main" id="{D649F59A-A022-5EFB-F02B-BB8E82E3CD22}"/>
              </a:ext>
            </a:extLst>
          </p:cNvPr>
          <p:cNvSpPr/>
          <p:nvPr/>
        </p:nvSpPr>
        <p:spPr>
          <a:xfrm>
            <a:off x="6944899" y="682625"/>
            <a:ext cx="4674014" cy="1305201"/>
          </a:xfrm>
          <a:prstGeom prst="accentBorderCallout1">
            <a:avLst>
              <a:gd name="adj1" fmla="val 18750"/>
              <a:gd name="adj2" fmla="val -8333"/>
              <a:gd name="adj3" fmla="val 58559"/>
              <a:gd name="adj4" fmla="val -67941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</a:t>
            </a:r>
            <a:r>
              <a:rPr lang="pt-BR" b="1" dirty="0"/>
              <a:t>precisão</a:t>
            </a:r>
            <a:r>
              <a:rPr lang="pt-BR" dirty="0"/>
              <a:t> não quer errar quando faz a predição. </a:t>
            </a:r>
          </a:p>
          <a:p>
            <a:pPr algn="ctr"/>
            <a:r>
              <a:rPr lang="pt-BR" dirty="0"/>
              <a:t>Já a </a:t>
            </a:r>
            <a:r>
              <a:rPr lang="pt-BR" b="1" dirty="0" err="1"/>
              <a:t>revocação</a:t>
            </a:r>
            <a:r>
              <a:rPr lang="pt-BR" dirty="0"/>
              <a:t>, não quer deixar </a:t>
            </a:r>
            <a:br>
              <a:rPr lang="pt-BR" dirty="0"/>
            </a:br>
            <a:r>
              <a:rPr lang="pt-BR" dirty="0"/>
              <a:t>nada passar (achar todos).</a:t>
            </a:r>
            <a:endParaRPr lang="pt-B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9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A4C7928-8FAF-4F1D-8EC8-10587063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Matriz de confusão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062D6E6-0DAA-4127-9189-240133678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563715"/>
              </p:ext>
            </p:extLst>
          </p:nvPr>
        </p:nvGraphicFramePr>
        <p:xfrm>
          <a:off x="740740" y="2027582"/>
          <a:ext cx="4923212" cy="364308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30803">
                  <a:extLst>
                    <a:ext uri="{9D8B030D-6E8A-4147-A177-3AD203B41FA5}">
                      <a16:colId xmlns:a16="http://schemas.microsoft.com/office/drawing/2014/main" val="2993971231"/>
                    </a:ext>
                  </a:extLst>
                </a:gridCol>
                <a:gridCol w="1230803">
                  <a:extLst>
                    <a:ext uri="{9D8B030D-6E8A-4147-A177-3AD203B41FA5}">
                      <a16:colId xmlns:a16="http://schemas.microsoft.com/office/drawing/2014/main" val="505126749"/>
                    </a:ext>
                  </a:extLst>
                </a:gridCol>
                <a:gridCol w="1230803">
                  <a:extLst>
                    <a:ext uri="{9D8B030D-6E8A-4147-A177-3AD203B41FA5}">
                      <a16:colId xmlns:a16="http://schemas.microsoft.com/office/drawing/2014/main" val="2290059116"/>
                    </a:ext>
                  </a:extLst>
                </a:gridCol>
                <a:gridCol w="1230803">
                  <a:extLst>
                    <a:ext uri="{9D8B030D-6E8A-4147-A177-3AD203B41FA5}">
                      <a16:colId xmlns:a16="http://schemas.microsoft.com/office/drawing/2014/main" val="2898990064"/>
                    </a:ext>
                  </a:extLst>
                </a:gridCol>
              </a:tblGrid>
              <a:tr h="910771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bg1"/>
                          </a:solidFill>
                          <a:latin typeface="Fira Sans Extra Condensed" panose="020B0503050000020004" pitchFamily="34" charset="0"/>
                        </a:rPr>
                        <a:t>Matriz de Confusão Binária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Valores Preditos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922665"/>
                  </a:ext>
                </a:extLst>
              </a:tr>
              <a:tr h="910771">
                <a:tc gridSpan="2" vMerge="1"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latin typeface="Fira Sans Extra Condensed" panose="020B0503050000020004" pitchFamily="34" charset="0"/>
                        </a:rPr>
                        <a:t>Pos</a:t>
                      </a:r>
                      <a:r>
                        <a:rPr lang="pt-BR" sz="2400" b="1" dirty="0">
                          <a:latin typeface="Fira Sans Extra Condensed" panose="020B0503050000020004" pitchFamily="34" charset="0"/>
                        </a:rPr>
                        <a:t> (+)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latin typeface="Fira Sans Extra Condensed" panose="020B0503050000020004" pitchFamily="34" charset="0"/>
                        </a:rPr>
                        <a:t>Neg</a:t>
                      </a:r>
                      <a:r>
                        <a:rPr lang="pt-BR" sz="2400" b="1" dirty="0">
                          <a:latin typeface="Fira Sans Extra Condensed" panose="020B0503050000020004" pitchFamily="34" charset="0"/>
                        </a:rPr>
                        <a:t> (-)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7861"/>
                  </a:ext>
                </a:extLst>
              </a:tr>
              <a:tr h="910771">
                <a:tc rowSpan="2"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latin typeface="Fira Sans Extra Condensed" panose="020B0503050000020004" pitchFamily="34" charset="0"/>
                        </a:rPr>
                        <a:t>Valores Esperados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latin typeface="Fira Sans Extra Condensed" panose="020B0503050000020004" pitchFamily="34" charset="0"/>
                        </a:rPr>
                        <a:t>Pos</a:t>
                      </a:r>
                      <a:r>
                        <a:rPr lang="pt-BR" sz="2400" b="1" dirty="0">
                          <a:latin typeface="Fira Sans Extra Condensed" panose="020B0503050000020004" pitchFamily="34" charset="0"/>
                        </a:rPr>
                        <a:t> (+)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VP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FN</a:t>
                      </a: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84762"/>
                  </a:ext>
                </a:extLst>
              </a:tr>
              <a:tr h="910771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err="1">
                          <a:latin typeface="Fira Sans Extra Condensed" panose="020B0503050000020004" pitchFamily="34" charset="0"/>
                        </a:rPr>
                        <a:t>Neg</a:t>
                      </a:r>
                      <a:r>
                        <a:rPr lang="pt-BR" sz="2400" b="1" dirty="0">
                          <a:latin typeface="Fira Sans Extra Condensed" panose="020B0503050000020004" pitchFamily="34" charset="0"/>
                        </a:rPr>
                        <a:t> (-)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FP</a:t>
                      </a: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VN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176865"/>
                  </a:ext>
                </a:extLst>
              </a:tr>
            </a:tbl>
          </a:graphicData>
        </a:graphic>
      </p:graphicFrame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FE3CF48C-5461-4128-AD10-E81E46ED1F88}"/>
              </a:ext>
            </a:extLst>
          </p:cNvPr>
          <p:cNvSpPr txBox="1">
            <a:spLocks/>
          </p:cNvSpPr>
          <p:nvPr/>
        </p:nvSpPr>
        <p:spPr>
          <a:xfrm>
            <a:off x="5963478" y="2027582"/>
            <a:ext cx="5677138" cy="3806688"/>
          </a:xfrm>
          <a:prstGeom prst="rect">
            <a:avLst/>
          </a:prstGeom>
        </p:spPr>
        <p:txBody>
          <a:bodyPr vert="horz" lIns="108000" tIns="72000" rIns="108000" bIns="72000" rtlCol="0">
            <a:normAutofit fontScale="92500" lnSpcReduction="10000"/>
          </a:bodyPr>
          <a:lstStyle>
            <a:lvl1pPr marL="390323" indent="-390323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36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45700" indent="-325269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–"/>
              <a:defRPr sz="318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01077" indent="-260215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•"/>
              <a:defRPr sz="27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1508" indent="-260215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–"/>
              <a:defRPr sz="2277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2341938" indent="-260215" algn="l" defTabSz="1040862" rtl="0" eaLnBrk="1" latinLnBrk="0" hangingPunct="1">
              <a:lnSpc>
                <a:spcPct val="100000"/>
              </a:lnSpc>
              <a:spcBef>
                <a:spcPts val="683"/>
              </a:spcBef>
              <a:buFont typeface="Arial" panose="020B0604020202020204" pitchFamily="34" charset="0"/>
              <a:buChar char="»"/>
              <a:defRPr sz="2277" kern="1200">
                <a:solidFill>
                  <a:srgbClr val="0D2E47"/>
                </a:solidFill>
                <a:latin typeface="+mn-lt"/>
                <a:ea typeface="+mn-ea"/>
                <a:cs typeface="+mn-cs"/>
              </a:defRPr>
            </a:lvl5pPr>
            <a:lvl6pPr marL="2862369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2800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0323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23661" indent="-260215" algn="l" defTabSz="104086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Tabela que mostra os acertos e erros do modelo por classe</a:t>
            </a:r>
          </a:p>
          <a:p>
            <a:r>
              <a:rPr lang="pt-BR" sz="2400" dirty="0"/>
              <a:t>Classe de </a:t>
            </a:r>
            <a:r>
              <a:rPr lang="pt-BR" sz="2400" b="1" dirty="0"/>
              <a:t>interesse</a:t>
            </a:r>
            <a:r>
              <a:rPr lang="pt-BR" sz="2400" dirty="0"/>
              <a:t> seria positivo (+) </a:t>
            </a:r>
            <a:br>
              <a:rPr lang="pt-BR" sz="2400" dirty="0"/>
            </a:br>
            <a:r>
              <a:rPr lang="pt-BR" sz="2400" dirty="0"/>
              <a:t>e a outra seria um exemplo negativo (–)</a:t>
            </a:r>
          </a:p>
          <a:p>
            <a:r>
              <a:rPr lang="pt-BR" sz="2400" dirty="0"/>
              <a:t>Quando se classifica corretamente</a:t>
            </a:r>
          </a:p>
          <a:p>
            <a:pPr lvl="1"/>
            <a:r>
              <a:rPr lang="pt-BR" sz="2400" b="1" dirty="0"/>
              <a:t>Verdadeiro Positivo (VP)</a:t>
            </a:r>
          </a:p>
          <a:p>
            <a:pPr lvl="1"/>
            <a:r>
              <a:rPr lang="pt-BR" sz="2400" b="1" dirty="0"/>
              <a:t>Verdadeiro Negativo (VN)</a:t>
            </a:r>
          </a:p>
          <a:p>
            <a:r>
              <a:rPr lang="pt-BR" sz="2400" dirty="0"/>
              <a:t>Quando se erra</a:t>
            </a:r>
          </a:p>
          <a:p>
            <a:pPr lvl="1"/>
            <a:r>
              <a:rPr lang="pt-BR" sz="2400" b="1" dirty="0"/>
              <a:t>Falso Positivo (FP ou alarme falso)</a:t>
            </a:r>
          </a:p>
          <a:p>
            <a:pPr lvl="1"/>
            <a:r>
              <a:rPr lang="pt-BR" sz="2400" b="1" dirty="0"/>
              <a:t>Falso Negativo (FN)</a:t>
            </a:r>
          </a:p>
        </p:txBody>
      </p:sp>
    </p:spTree>
    <p:extLst>
      <p:ext uri="{BB962C8B-B14F-4D97-AF65-F5344CB8AC3E}">
        <p14:creationId xmlns:p14="http://schemas.microsoft.com/office/powerpoint/2010/main" val="139589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062D6E6-0DAA-4127-9189-24013367847F}"/>
              </a:ext>
            </a:extLst>
          </p:cNvPr>
          <p:cNvGraphicFramePr>
            <a:graphicFrameLocks/>
          </p:cNvGraphicFramePr>
          <p:nvPr/>
        </p:nvGraphicFramePr>
        <p:xfrm>
          <a:off x="8092555" y="659486"/>
          <a:ext cx="3421600" cy="21071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55400">
                  <a:extLst>
                    <a:ext uri="{9D8B030D-6E8A-4147-A177-3AD203B41FA5}">
                      <a16:colId xmlns:a16="http://schemas.microsoft.com/office/drawing/2014/main" val="2993971231"/>
                    </a:ext>
                  </a:extLst>
                </a:gridCol>
                <a:gridCol w="855400">
                  <a:extLst>
                    <a:ext uri="{9D8B030D-6E8A-4147-A177-3AD203B41FA5}">
                      <a16:colId xmlns:a16="http://schemas.microsoft.com/office/drawing/2014/main" val="505126749"/>
                    </a:ext>
                  </a:extLst>
                </a:gridCol>
                <a:gridCol w="855400">
                  <a:extLst>
                    <a:ext uri="{9D8B030D-6E8A-4147-A177-3AD203B41FA5}">
                      <a16:colId xmlns:a16="http://schemas.microsoft.com/office/drawing/2014/main" val="2290059116"/>
                    </a:ext>
                  </a:extLst>
                </a:gridCol>
                <a:gridCol w="855400">
                  <a:extLst>
                    <a:ext uri="{9D8B030D-6E8A-4147-A177-3AD203B41FA5}">
                      <a16:colId xmlns:a16="http://schemas.microsoft.com/office/drawing/2014/main" val="2898990064"/>
                    </a:ext>
                  </a:extLst>
                </a:gridCol>
              </a:tblGrid>
              <a:tr h="45083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  <a:latin typeface="Fira Sans Extra Condensed" panose="020B0503050000020004" pitchFamily="34" charset="0"/>
                        </a:rPr>
                        <a:t>Matriz de Confusão Binária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Fira Sans Extra Condensed" panose="020B0503050000020004" pitchFamily="34" charset="0"/>
                        </a:rPr>
                        <a:t>Valores Preditos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922665"/>
                  </a:ext>
                </a:extLst>
              </a:tr>
              <a:tr h="503696">
                <a:tc gridSpan="2" vMerge="1"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 err="1">
                          <a:latin typeface="Fira Sans Extra Condensed" panose="020B0503050000020004" pitchFamily="34" charset="0"/>
                        </a:rPr>
                        <a:t>Pos</a:t>
                      </a:r>
                      <a:r>
                        <a:rPr lang="pt-BR" sz="1800" b="1" dirty="0">
                          <a:latin typeface="Fira Sans Extra Condensed" panose="020B0503050000020004" pitchFamily="34" charset="0"/>
                        </a:rPr>
                        <a:t> (+)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 err="1">
                          <a:latin typeface="Fira Sans Extra Condensed" panose="020B0503050000020004" pitchFamily="34" charset="0"/>
                        </a:rPr>
                        <a:t>Neg</a:t>
                      </a:r>
                      <a:r>
                        <a:rPr lang="pt-BR" sz="1800" b="1" dirty="0">
                          <a:latin typeface="Fira Sans Extra Condensed" panose="020B0503050000020004" pitchFamily="34" charset="0"/>
                        </a:rPr>
                        <a:t> (-)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7861"/>
                  </a:ext>
                </a:extLst>
              </a:tr>
              <a:tr h="576292">
                <a:tc rowSpan="2"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Fira Sans Extra Condensed" panose="020B0503050000020004" pitchFamily="34" charset="0"/>
                        </a:rPr>
                        <a:t>Valores Esperados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 err="1">
                          <a:latin typeface="Fira Sans Extra Condensed" panose="020B0503050000020004" pitchFamily="34" charset="0"/>
                        </a:rPr>
                        <a:t>Pos</a:t>
                      </a:r>
                      <a:r>
                        <a:rPr lang="pt-BR" sz="1800" b="1" dirty="0">
                          <a:latin typeface="Fira Sans Extra Condensed" panose="020B0503050000020004" pitchFamily="34" charset="0"/>
                        </a:rPr>
                        <a:t> (+)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Fira Sans Extra Condensed" panose="020B0503050000020004" pitchFamily="34" charset="0"/>
                        </a:rPr>
                        <a:t>VP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Fira Sans Extra Condensed" panose="020B0503050000020004" pitchFamily="34" charset="0"/>
                        </a:rPr>
                        <a:t>FN</a:t>
                      </a: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84762"/>
                  </a:ext>
                </a:extLst>
              </a:tr>
              <a:tr h="576292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 err="1">
                          <a:latin typeface="Fira Sans Extra Condensed" panose="020B0503050000020004" pitchFamily="34" charset="0"/>
                        </a:rPr>
                        <a:t>Neg</a:t>
                      </a:r>
                      <a:r>
                        <a:rPr lang="pt-BR" sz="1800" b="1" dirty="0">
                          <a:latin typeface="Fira Sans Extra Condensed" panose="020B0503050000020004" pitchFamily="34" charset="0"/>
                        </a:rPr>
                        <a:t> (-)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Fira Sans Extra Condensed" panose="020B0503050000020004" pitchFamily="34" charset="0"/>
                        </a:rPr>
                        <a:t>FP</a:t>
                      </a: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Fira Sans Extra Condensed" panose="020B0503050000020004" pitchFamily="34" charset="0"/>
                        </a:rPr>
                        <a:t>VN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17686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D5E460D-C8C9-49FE-8CAE-1968DB45E497}"/>
                  </a:ext>
                </a:extLst>
              </p:cNvPr>
              <p:cNvSpPr txBox="1"/>
              <p:nvPr/>
            </p:nvSpPr>
            <p:spPr>
              <a:xfrm>
                <a:off x="829192" y="1800138"/>
                <a:ext cx="3367268" cy="52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D5E460D-C8C9-49FE-8CAE-1968DB45E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2" y="1800138"/>
                <a:ext cx="3367268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B80CBA4-8F5B-4E71-9A74-7171A7BFD10E}"/>
                  </a:ext>
                </a:extLst>
              </p:cNvPr>
              <p:cNvSpPr txBox="1"/>
              <p:nvPr/>
            </p:nvSpPr>
            <p:spPr>
              <a:xfrm>
                <a:off x="4450362" y="1783963"/>
                <a:ext cx="2938689" cy="52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𝐸𝑟𝑟𝑜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B80CBA4-8F5B-4E71-9A74-7171A7BF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362" y="1783963"/>
                <a:ext cx="2938689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2F52B33-E4AD-47F3-8327-C5A3E1163158}"/>
                  </a:ext>
                </a:extLst>
              </p:cNvPr>
              <p:cNvSpPr txBox="1"/>
              <p:nvPr/>
            </p:nvSpPr>
            <p:spPr>
              <a:xfrm>
                <a:off x="1564170" y="3016676"/>
                <a:ext cx="2275366" cy="52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𝑃𝑟𝑒𝑐𝑖𝑠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2F52B33-E4AD-47F3-8327-C5A3E1163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170" y="3016676"/>
                <a:ext cx="2275366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77FB48B-5075-4CA3-8C5B-7BF61A22920C}"/>
                  </a:ext>
                </a:extLst>
              </p:cNvPr>
              <p:cNvSpPr txBox="1"/>
              <p:nvPr/>
            </p:nvSpPr>
            <p:spPr>
              <a:xfrm>
                <a:off x="4732522" y="3006567"/>
                <a:ext cx="2493375" cy="52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𝑅𝑒𝑣𝑜𝑐𝑎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77FB48B-5075-4CA3-8C5B-7BF61A229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522" y="3006567"/>
                <a:ext cx="2493375" cy="5231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o Explicativo Retangular com Cantos Arredondados 4">
            <a:extLst>
              <a:ext uri="{FF2B5EF4-FFF2-40B4-BE49-F238E27FC236}">
                <a16:creationId xmlns:a16="http://schemas.microsoft.com/office/drawing/2014/main" id="{1147C40C-30A4-4C74-AB98-F1FC641E90EF}"/>
              </a:ext>
            </a:extLst>
          </p:cNvPr>
          <p:cNvSpPr/>
          <p:nvPr/>
        </p:nvSpPr>
        <p:spPr>
          <a:xfrm>
            <a:off x="501725" y="4007020"/>
            <a:ext cx="2268252" cy="1224136"/>
          </a:xfrm>
          <a:prstGeom prst="wedgeRoundRectCallout">
            <a:avLst>
              <a:gd name="adj1" fmla="val 61334"/>
              <a:gd name="adj2" fmla="val -7957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Precisão é o % classificado corretamente como positivo dentre todos os </a:t>
            </a:r>
            <a:r>
              <a:rPr lang="pt-BR" sz="1400" b="1" u="sng" dirty="0"/>
              <a:t>classificados</a:t>
            </a:r>
            <a:r>
              <a:rPr lang="pt-BR" sz="1400" dirty="0"/>
              <a:t> como positivos</a:t>
            </a:r>
          </a:p>
        </p:txBody>
      </p:sp>
      <p:sp>
        <p:nvSpPr>
          <p:cNvPr id="15" name="Texto Explicativo Retangular com Cantos Arredondados 13">
            <a:extLst>
              <a:ext uri="{FF2B5EF4-FFF2-40B4-BE49-F238E27FC236}">
                <a16:creationId xmlns:a16="http://schemas.microsoft.com/office/drawing/2014/main" id="{94498684-3477-466F-9277-68E0650CD528}"/>
              </a:ext>
            </a:extLst>
          </p:cNvPr>
          <p:cNvSpPr/>
          <p:nvPr/>
        </p:nvSpPr>
        <p:spPr>
          <a:xfrm>
            <a:off x="3598396" y="4007020"/>
            <a:ext cx="2268252" cy="1224136"/>
          </a:xfrm>
          <a:prstGeom prst="wedgeRoundRectCallout">
            <a:avLst>
              <a:gd name="adj1" fmla="val 59753"/>
              <a:gd name="adj2" fmla="val -8689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 err="1"/>
              <a:t>Revocação</a:t>
            </a:r>
            <a:r>
              <a:rPr lang="pt-BR" sz="1400" dirty="0"/>
              <a:t> é o % classificado corretamente como positivo dentre todos os que são </a:t>
            </a:r>
            <a:r>
              <a:rPr lang="pt-BR" sz="1400" b="1" u="sng" dirty="0"/>
              <a:t>realmente</a:t>
            </a:r>
            <a:r>
              <a:rPr lang="pt-BR" sz="1400" dirty="0"/>
              <a:t> positivos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4C8BECE-829C-4A08-B801-B142454D1A05}"/>
                  </a:ext>
                </a:extLst>
              </p:cNvPr>
              <p:cNvSpPr txBox="1"/>
              <p:nvPr/>
            </p:nvSpPr>
            <p:spPr>
              <a:xfrm>
                <a:off x="2590980" y="5709403"/>
                <a:ext cx="3381182" cy="5767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 . 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𝑃𝑟𝑒𝑐𝑖𝑠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𝑅𝑒𝑣𝑜𝑐𝑎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𝑃𝑟𝑒𝑐𝑖𝑠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𝑅𝑒𝑣𝑜𝑐𝑎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4C8BECE-829C-4A08-B801-B142454D1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80" y="5709403"/>
                <a:ext cx="3381182" cy="576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o Explicativo Retangular com Cantos Arredondados 15">
            <a:extLst>
              <a:ext uri="{FF2B5EF4-FFF2-40B4-BE49-F238E27FC236}">
                <a16:creationId xmlns:a16="http://schemas.microsoft.com/office/drawing/2014/main" id="{E8F5C05C-5B15-461E-B078-3C04278A130B}"/>
              </a:ext>
            </a:extLst>
          </p:cNvPr>
          <p:cNvSpPr/>
          <p:nvPr/>
        </p:nvSpPr>
        <p:spPr>
          <a:xfrm>
            <a:off x="6456040" y="4367546"/>
            <a:ext cx="2938689" cy="1285778"/>
          </a:xfrm>
          <a:prstGeom prst="wedgeRoundRectCallout">
            <a:avLst>
              <a:gd name="adj1" fmla="val -67302"/>
              <a:gd name="adj2" fmla="val 6363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F1 é a média harmônica entre a precisão e a </a:t>
            </a:r>
            <a:r>
              <a:rPr lang="pt-BR" sz="1400" dirty="0" err="1"/>
              <a:t>revocação</a:t>
            </a:r>
            <a:endParaRPr lang="pt-BR" sz="1400" dirty="0"/>
          </a:p>
          <a:p>
            <a:pPr algn="ctr"/>
            <a:endParaRPr lang="pt-BR" sz="1400" dirty="0"/>
          </a:p>
          <a:p>
            <a:pPr algn="ctr"/>
            <a:r>
              <a:rPr lang="pt-BR" sz="1400" dirty="0"/>
              <a:t>F1 alto implica que precisão e </a:t>
            </a:r>
            <a:r>
              <a:rPr lang="pt-BR" sz="1400" dirty="0" err="1"/>
              <a:t>revocação</a:t>
            </a:r>
            <a:r>
              <a:rPr lang="pt-BR" sz="1400" dirty="0"/>
              <a:t> são razoavelmente altos</a:t>
            </a:r>
          </a:p>
        </p:txBody>
      </p:sp>
      <p:sp>
        <p:nvSpPr>
          <p:cNvPr id="19" name="Texto Explicativo 1 16">
            <a:extLst>
              <a:ext uri="{FF2B5EF4-FFF2-40B4-BE49-F238E27FC236}">
                <a16:creationId xmlns:a16="http://schemas.microsoft.com/office/drawing/2014/main" id="{9C91B146-7A76-4D86-B2DD-8D8222352386}"/>
              </a:ext>
            </a:extLst>
          </p:cNvPr>
          <p:cNvSpPr/>
          <p:nvPr/>
        </p:nvSpPr>
        <p:spPr>
          <a:xfrm>
            <a:off x="9793032" y="3389384"/>
            <a:ext cx="1999841" cy="1219513"/>
          </a:xfrm>
          <a:prstGeom prst="borderCallout1">
            <a:avLst>
              <a:gd name="adj1" fmla="val -4843"/>
              <a:gd name="adj2" fmla="val 54039"/>
              <a:gd name="adj3" fmla="val -43220"/>
              <a:gd name="adj4" fmla="val 6154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Precisão e </a:t>
            </a:r>
            <a:r>
              <a:rPr lang="pt-BR" sz="1400" dirty="0" err="1"/>
              <a:t>Revocação</a:t>
            </a:r>
            <a:r>
              <a:rPr lang="pt-BR" sz="1400" dirty="0"/>
              <a:t> podem ser calculados também para a classe </a:t>
            </a:r>
            <a:r>
              <a:rPr lang="pt-BR" sz="1400" b="1" u="sng" dirty="0"/>
              <a:t>negativa</a:t>
            </a:r>
          </a:p>
        </p:txBody>
      </p:sp>
    </p:spTree>
    <p:extLst>
      <p:ext uri="{BB962C8B-B14F-4D97-AF65-F5344CB8AC3E}">
        <p14:creationId xmlns:p14="http://schemas.microsoft.com/office/powerpoint/2010/main" val="386987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8539ED67-19AA-309A-6B8F-E367533A3F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476" b="2469"/>
          <a:stretch/>
        </p:blipFill>
        <p:spPr>
          <a:xfrm>
            <a:off x="753753" y="476672"/>
            <a:ext cx="10526823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10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A4C7928-8FAF-4F1D-8EC8-10587063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p:graphicFrame>
        <p:nvGraphicFramePr>
          <p:cNvPr id="7" name="Tabela 7">
            <a:extLst>
              <a:ext uri="{FF2B5EF4-FFF2-40B4-BE49-F238E27FC236}">
                <a16:creationId xmlns:a16="http://schemas.microsoft.com/office/drawing/2014/main" id="{3831A50A-3167-427F-AB4F-44E94CD0F99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58249035"/>
              </p:ext>
            </p:extLst>
          </p:nvPr>
        </p:nvGraphicFramePr>
        <p:xfrm>
          <a:off x="618081" y="1953030"/>
          <a:ext cx="5400600" cy="3600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99397123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50512674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2900591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9899006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226358590"/>
                    </a:ext>
                  </a:extLst>
                </a:gridCol>
              </a:tblGrid>
              <a:tr h="72000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bg1"/>
                          </a:solidFill>
                          <a:latin typeface="Fira Sans Extra Condensed" panose="020B0503050000020004" pitchFamily="34" charset="0"/>
                        </a:rPr>
                        <a:t>Matriz de Confusão </a:t>
                      </a:r>
                      <a:r>
                        <a:rPr lang="pt-BR" sz="2000" dirty="0" err="1">
                          <a:solidFill>
                            <a:schemeClr val="bg1"/>
                          </a:solidFill>
                          <a:latin typeface="Fira Sans Extra Condensed" panose="020B0503050000020004" pitchFamily="34" charset="0"/>
                        </a:rPr>
                        <a:t>Multiclasse</a:t>
                      </a:r>
                      <a:endParaRPr lang="pt-BR" sz="2000" dirty="0">
                        <a:solidFill>
                          <a:schemeClr val="bg1"/>
                        </a:solidFill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Fira Sans Extra Condensed" panose="020B0503050000020004" pitchFamily="34" charset="0"/>
                        </a:rPr>
                        <a:t>Valores Preditos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922665"/>
                  </a:ext>
                </a:extLst>
              </a:tr>
              <a:tr h="720000">
                <a:tc gridSpan="2" vMerge="1"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B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C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7861"/>
                  </a:ext>
                </a:extLst>
              </a:tr>
              <a:tr h="720000">
                <a:tc rowSpan="3"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Fira Sans Extra Condensed" panose="020B0503050000020004" pitchFamily="34" charset="0"/>
                        </a:rPr>
                        <a:t>Valores Esperados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VA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FB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FC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A</a:t>
                      </a:r>
                      <a:endParaRPr lang="pt-BR" sz="2400" dirty="0"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784762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B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FA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B</a:t>
                      </a:r>
                      <a:endParaRPr lang="pt-BR" sz="2400" dirty="0"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VB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FC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B</a:t>
                      </a:r>
                      <a:endParaRPr lang="pt-BR" sz="2400" dirty="0"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176865"/>
                  </a:ext>
                </a:extLst>
              </a:tr>
              <a:tr h="720000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latin typeface="Fira Sans Extra Condensed" panose="020B0503050000020004" pitchFamily="34" charset="0"/>
                        </a:rPr>
                        <a:t>C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FA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C</a:t>
                      </a:r>
                      <a:endParaRPr lang="pt-BR" sz="2400" dirty="0"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FB</a:t>
                      </a:r>
                      <a:r>
                        <a:rPr lang="pt-BR" sz="2400" baseline="-25000" dirty="0">
                          <a:latin typeface="Fira Sans Extra Condensed" panose="020B0503050000020004" pitchFamily="34" charset="0"/>
                        </a:rPr>
                        <a:t>C</a:t>
                      </a:r>
                      <a:endParaRPr lang="pt-BR" sz="2400" dirty="0">
                        <a:latin typeface="Fira Sans Extra Condensed" panose="020B0503050000020004" pitchFamily="34" charset="0"/>
                      </a:endParaRPr>
                    </a:p>
                  </a:txBody>
                  <a:tcPr anchor="ctr">
                    <a:solidFill>
                      <a:srgbClr val="FF48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Fira Sans Extra Condensed" panose="020B0503050000020004" pitchFamily="34" charset="0"/>
                        </a:rPr>
                        <a:t>VC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722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2EA0522-B33D-443C-8D56-E429FC05EC5C}"/>
                  </a:ext>
                </a:extLst>
              </p:cNvPr>
              <p:cNvSpPr txBox="1"/>
              <p:nvPr/>
            </p:nvSpPr>
            <p:spPr>
              <a:xfrm>
                <a:off x="7103593" y="1844824"/>
                <a:ext cx="4064702" cy="5204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𝐴𝑐𝑢𝑟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𝑐𝑖𝑎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𝑉𝐴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𝑉𝐵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𝑆𝑜𝑚𝑎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𝑡𝑜𝑑𝑜𝑠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𝑜𝑠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2EA0522-B33D-443C-8D56-E429FC05E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593" y="1844824"/>
                <a:ext cx="4064702" cy="5204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971CEC1-41FE-41B9-9DC1-27571E31B36A}"/>
                  </a:ext>
                </a:extLst>
              </p:cNvPr>
              <p:cNvSpPr txBox="1"/>
              <p:nvPr/>
            </p:nvSpPr>
            <p:spPr>
              <a:xfrm>
                <a:off x="6636796" y="2801225"/>
                <a:ext cx="2305759" cy="4413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𝑟𝑒𝑐𝑖𝑠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𝑉𝐴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𝑉𝐴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𝐹𝐴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𝐹𝐴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971CEC1-41FE-41B9-9DC1-27571E31B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796" y="2801225"/>
                <a:ext cx="2305759" cy="441339"/>
              </a:xfrm>
              <a:prstGeom prst="rect">
                <a:avLst/>
              </a:prstGeom>
              <a:blipFill>
                <a:blip r:embed="rId3"/>
                <a:stretch>
                  <a:fillRect l="-1587" t="-1389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48653F8-2FB7-4C68-9938-E45BF9FACC8B}"/>
                  </a:ext>
                </a:extLst>
              </p:cNvPr>
              <p:cNvSpPr txBox="1"/>
              <p:nvPr/>
            </p:nvSpPr>
            <p:spPr>
              <a:xfrm>
                <a:off x="9120336" y="2801930"/>
                <a:ext cx="2416687" cy="4399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𝑅𝑒𝑣𝑜𝑐𝑎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çã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𝑉𝐴</m:t>
                          </m:r>
                        </m:num>
                        <m:den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𝑉𝐴</m:t>
                          </m:r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48653F8-2FB7-4C68-9938-E45BF9FAC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36" y="2801930"/>
                <a:ext cx="2416687" cy="439929"/>
              </a:xfrm>
              <a:prstGeom prst="rect">
                <a:avLst/>
              </a:prstGeom>
              <a:blipFill>
                <a:blip r:embed="rId4"/>
                <a:stretch>
                  <a:fillRect l="-2015" t="-1389" r="-252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80B4A42-3AFE-4090-9EAA-6B3EA8859AB5}"/>
                  </a:ext>
                </a:extLst>
              </p:cNvPr>
              <p:cNvSpPr txBox="1"/>
              <p:nvPr/>
            </p:nvSpPr>
            <p:spPr>
              <a:xfrm>
                <a:off x="6744072" y="5150418"/>
                <a:ext cx="4783745" cy="57676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𝑐𝑙𝑎𝑠𝑠𝑒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 . 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𝑃𝑟𝑒𝑐𝑖𝑠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𝑐𝑙𝑎𝑠𝑠𝑒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. 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𝑅𝑒𝑣𝑜𝑐𝑎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çã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𝑐𝑙𝑎𝑠𝑠𝑒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𝑃𝑟𝑒𝑐𝑖𝑠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ã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𝑐𝑙𝑎𝑠𝑠𝑒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𝑅𝑒𝑣𝑜𝑐𝑎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çã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𝑐𝑙𝑎𝑠𝑠𝑒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80B4A42-3AFE-4090-9EAA-6B3EA8859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2" y="5150418"/>
                <a:ext cx="4783745" cy="576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88AE01E-F276-49EE-91F1-3CA06D3CA8BE}"/>
                  </a:ext>
                </a:extLst>
              </p:cNvPr>
              <p:cNvSpPr txBox="1"/>
              <p:nvPr/>
            </p:nvSpPr>
            <p:spPr>
              <a:xfrm>
                <a:off x="6636796" y="3533066"/>
                <a:ext cx="2294731" cy="4399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𝑟𝑒𝑐𝑖𝑠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𝑉𝐵</m:t>
                          </m:r>
                        </m:num>
                        <m:den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𝐹𝐵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𝑉𝐵</m:t>
                          </m:r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88AE01E-F276-49EE-91F1-3CA06D3CA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796" y="3533066"/>
                <a:ext cx="2294731" cy="439929"/>
              </a:xfrm>
              <a:prstGeom prst="rect">
                <a:avLst/>
              </a:prstGeom>
              <a:blipFill>
                <a:blip r:embed="rId6"/>
                <a:stretch>
                  <a:fillRect l="-1596" t="-1389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5AF12ED-7820-40CB-8E43-B68F2F010271}"/>
                  </a:ext>
                </a:extLst>
              </p:cNvPr>
              <p:cNvSpPr txBox="1"/>
              <p:nvPr/>
            </p:nvSpPr>
            <p:spPr>
              <a:xfrm>
                <a:off x="9120336" y="3533771"/>
                <a:ext cx="2440412" cy="4385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𝑅𝑒𝑣𝑜𝑐𝑎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çã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𝑉𝐵</m:t>
                          </m:r>
                        </m:num>
                        <m:den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5AF12ED-7820-40CB-8E43-B68F2F010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336" y="3533771"/>
                <a:ext cx="2440412" cy="438518"/>
              </a:xfrm>
              <a:prstGeom prst="rect">
                <a:avLst/>
              </a:prstGeom>
              <a:blipFill>
                <a:blip r:embed="rId7"/>
                <a:stretch>
                  <a:fillRect l="-2250" t="-1389" r="-250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2387737-9C38-4FEE-B356-389A1C334386}"/>
                  </a:ext>
                </a:extLst>
              </p:cNvPr>
              <p:cNvSpPr txBox="1"/>
              <p:nvPr/>
            </p:nvSpPr>
            <p:spPr>
              <a:xfrm>
                <a:off x="6643042" y="4264202"/>
                <a:ext cx="2264659" cy="4399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𝑟𝑒𝑐𝑖𝑠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𝐹𝐶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2387737-9C38-4FEE-B356-389A1C334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042" y="4264202"/>
                <a:ext cx="2264659" cy="439929"/>
              </a:xfrm>
              <a:prstGeom prst="rect">
                <a:avLst/>
              </a:prstGeom>
              <a:blipFill>
                <a:blip r:embed="rId8"/>
                <a:stretch>
                  <a:fillRect l="-1617" t="-1389" r="-809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9D260D0-CC81-4814-BE72-05265BA11EB8}"/>
                  </a:ext>
                </a:extLst>
              </p:cNvPr>
              <p:cNvSpPr txBox="1"/>
              <p:nvPr/>
            </p:nvSpPr>
            <p:spPr>
              <a:xfrm>
                <a:off x="9126582" y="4264907"/>
                <a:ext cx="2447337" cy="4413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𝑅𝑒𝑣𝑜𝑐𝑎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çã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pt-BR" sz="1400" b="1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mr>
                      </m:m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9D260D0-CC81-4814-BE72-05265BA1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582" y="4264907"/>
                <a:ext cx="2447337" cy="441339"/>
              </a:xfrm>
              <a:prstGeom prst="rect">
                <a:avLst/>
              </a:prstGeom>
              <a:blipFill>
                <a:blip r:embed="rId9"/>
                <a:stretch>
                  <a:fillRect l="-1990" t="-1389" r="-498" b="-8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482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7545</TotalTime>
  <Words>669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6" baseType="lpstr">
      <vt:lpstr>Wingdings</vt:lpstr>
      <vt:lpstr>Cambria Math</vt:lpstr>
      <vt:lpstr>Cronos Pro</vt:lpstr>
      <vt:lpstr>Fira Sans Extra Condensed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Avaliação de modelos de análise de sentimento</vt:lpstr>
      <vt:lpstr>Objetivos de Aprendizagem</vt:lpstr>
      <vt:lpstr>Como avaliar um classificador?</vt:lpstr>
      <vt:lpstr>Apresentação do PowerPoint</vt:lpstr>
      <vt:lpstr>Acurácia</vt:lpstr>
      <vt:lpstr>Acurácia</vt:lpstr>
      <vt:lpstr>Acurácia</vt:lpstr>
      <vt:lpstr>Apresentação do PowerPoint</vt:lpstr>
      <vt:lpstr>Precisão e Revocação</vt:lpstr>
      <vt:lpstr>Matriz de confusão</vt:lpstr>
      <vt:lpstr>Apresentação do PowerPoint</vt:lpstr>
      <vt:lpstr>Apresentação do PowerPoint</vt:lpstr>
      <vt:lpstr>Matriz de confusão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162</cp:revision>
  <dcterms:created xsi:type="dcterms:W3CDTF">2025-06-11T21:44:24Z</dcterms:created>
  <dcterms:modified xsi:type="dcterms:W3CDTF">2026-01-15T14:57:40Z</dcterms:modified>
</cp:coreProperties>
</file>