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2"/>
  </p:notesMasterIdLst>
  <p:sldIdLst>
    <p:sldId id="1173" r:id="rId5"/>
    <p:sldId id="297" r:id="rId6"/>
    <p:sldId id="1205" r:id="rId7"/>
    <p:sldId id="1209" r:id="rId8"/>
    <p:sldId id="1208" r:id="rId9"/>
    <p:sldId id="1202" r:id="rId10"/>
    <p:sldId id="1211" r:id="rId11"/>
    <p:sldId id="1210" r:id="rId12"/>
    <p:sldId id="1180" r:id="rId13"/>
    <p:sldId id="1212" r:id="rId14"/>
    <p:sldId id="1181" r:id="rId15"/>
    <p:sldId id="1182" r:id="rId16"/>
    <p:sldId id="1203" r:id="rId17"/>
    <p:sldId id="1184" r:id="rId18"/>
    <p:sldId id="1185" r:id="rId19"/>
    <p:sldId id="1204" r:id="rId20"/>
    <p:sldId id="264" r:id="rId21"/>
  </p:sldIdLst>
  <p:sldSz cx="12192000" cy="6858000"/>
  <p:notesSz cx="6858000" cy="9144000"/>
  <p:embeddedFontLst>
    <p:embeddedFont>
      <p:font typeface="Cronos Pro" panose="020C0502030403020304" charset="0"/>
      <p:regular r:id="rId23"/>
      <p:bold r:id="rId24"/>
      <p: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9" d="100"/>
          <a:sy n="69" d="100"/>
        </p:scale>
        <p:origin x="250" y="72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036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/>
              <a:t>Abordagens baseadas </a:t>
            </a:r>
            <a:r>
              <a:rPr lang="pt-BR" sz="4800" dirty="0"/>
              <a:t>em Léxico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 fontScale="92500"/>
          </a:bodyPr>
          <a:lstStyle/>
          <a:p>
            <a:r>
              <a:rPr lang="pt-BR" sz="2700" dirty="0"/>
              <a:t>Definir o conceito de léxico no contexto da análise de sentimentos, identificando-o como um dicionário que associa palavras a pontuações de polaridade</a:t>
            </a:r>
          </a:p>
          <a:p>
            <a:r>
              <a:rPr lang="pt-BR" sz="2700" dirty="0"/>
              <a:t>Explicar as cinco etapas do processo de análise baseada em léxico: tokenização, busca no dicionário, aplicação de regras, agregação de scores e classificação final</a:t>
            </a:r>
          </a:p>
          <a:p>
            <a:r>
              <a:rPr lang="pt-BR" sz="2700" dirty="0"/>
              <a:t>Identificar e diferenciar o papel dos modificadores linguísticos, como negadores e intensificadores, na alteração do valor sentimental de uma sentença</a:t>
            </a:r>
          </a:p>
          <a:p>
            <a:r>
              <a:rPr lang="pt-BR" sz="2700" dirty="0"/>
              <a:t>Diferenciar as diversas estratégias de abordagem léxica, comparando dicionários de polaridade simples com léxicos baseados em regras (como VADER) e modelos híbridos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AE40CB-1E5F-40AF-FC76-F85F70DC40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9" y="2011680"/>
            <a:ext cx="4197032" cy="4164108"/>
          </a:xfrm>
        </p:spPr>
        <p:txBody>
          <a:bodyPr/>
          <a:lstStyle/>
          <a:p>
            <a:r>
              <a:rPr lang="pt-BR" sz="3000" dirty="0"/>
              <a:t>O nome </a:t>
            </a:r>
            <a:r>
              <a:rPr lang="pt-BR" sz="3000" b="1" dirty="0">
                <a:solidFill>
                  <a:srgbClr val="0070C0"/>
                </a:solidFill>
              </a:rPr>
              <a:t>léxico</a:t>
            </a:r>
            <a:r>
              <a:rPr lang="pt-BR" sz="3000" dirty="0"/>
              <a:t> nada mais é do que um dicionário</a:t>
            </a:r>
          </a:p>
          <a:p>
            <a:r>
              <a:rPr lang="pt-BR" sz="3000" dirty="0"/>
              <a:t>Em vez de definições, o dicionário associa cada palavra a uma </a:t>
            </a:r>
            <a:r>
              <a:rPr lang="pt-BR" sz="3000" b="1" dirty="0">
                <a:solidFill>
                  <a:srgbClr val="0070C0"/>
                </a:solidFill>
              </a:rPr>
              <a:t>pontuação de polaridade</a:t>
            </a:r>
            <a:endParaRPr lang="pt-BR" sz="3000" dirty="0">
              <a:solidFill>
                <a:srgbClr val="0070C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45E30B9-C041-5931-A93E-213730E41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721" y="2082427"/>
            <a:ext cx="6736022" cy="367717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2A5300F-5A1A-1E57-DF8F-327D6946CABB}"/>
              </a:ext>
            </a:extLst>
          </p:cNvPr>
          <p:cNvSpPr txBox="1"/>
          <p:nvPr/>
        </p:nvSpPr>
        <p:spPr>
          <a:xfrm>
            <a:off x="5983550" y="5810774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497277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AE40CB-1E5F-40AF-FC76-F85F70DC40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2109042"/>
            <a:ext cx="5548311" cy="4066746"/>
          </a:xfrm>
        </p:spPr>
        <p:txBody>
          <a:bodyPr/>
          <a:lstStyle/>
          <a:p>
            <a:r>
              <a:rPr lang="pt-BR" sz="3600" dirty="0"/>
              <a:t>As abordagens baseadas em léxico utilizam </a:t>
            </a:r>
            <a:r>
              <a:rPr lang="pt-BR" sz="3600" b="1" dirty="0">
                <a:solidFill>
                  <a:srgbClr val="0070C0"/>
                </a:solidFill>
              </a:rPr>
              <a:t>dicionários de palavras previamente classificadas</a:t>
            </a:r>
            <a:r>
              <a:rPr lang="pt-BR" sz="3600" dirty="0"/>
              <a:t> com polaridade (positiva, negativa ou neutra)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F35F6B3-564B-0E65-4AFC-AB6E5185D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422971"/>
              </p:ext>
            </p:extLst>
          </p:nvPr>
        </p:nvGraphicFramePr>
        <p:xfrm>
          <a:off x="6634480" y="2450336"/>
          <a:ext cx="4211385" cy="2886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21236">
                  <a:extLst>
                    <a:ext uri="{9D8B030D-6E8A-4147-A177-3AD203B41FA5}">
                      <a16:colId xmlns:a16="http://schemas.microsoft.com/office/drawing/2014/main" val="3159937121"/>
                    </a:ext>
                  </a:extLst>
                </a:gridCol>
                <a:gridCol w="2190149">
                  <a:extLst>
                    <a:ext uri="{9D8B030D-6E8A-4147-A177-3AD203B41FA5}">
                      <a16:colId xmlns:a16="http://schemas.microsoft.com/office/drawing/2014/main" val="4034857906"/>
                    </a:ext>
                  </a:extLst>
                </a:gridCol>
              </a:tblGrid>
              <a:tr h="600880">
                <a:tc>
                  <a:txBody>
                    <a:bodyPr/>
                    <a:lstStyle/>
                    <a:p>
                      <a:pPr rtl="0" fontAlgn="b"/>
                      <a:r>
                        <a:rPr lang="pt-BR" sz="2800" dirty="0">
                          <a:effectLst/>
                        </a:rPr>
                        <a:t>Palavra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800" dirty="0">
                          <a:effectLst/>
                        </a:rPr>
                        <a:t>Polaridade</a:t>
                      </a: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2499692137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rtl="0" fontAlgn="b"/>
                      <a:r>
                        <a:rPr lang="pt-BR" sz="2800" dirty="0">
                          <a:effectLst/>
                        </a:rPr>
                        <a:t>feliz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800" dirty="0">
                          <a:effectLst/>
                        </a:rPr>
                        <a:t>+0.8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795255333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rtl="0" fontAlgn="b"/>
                      <a:r>
                        <a:rPr lang="pt-BR" sz="2800">
                          <a:effectLst/>
                        </a:rPr>
                        <a:t>bom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800" dirty="0">
                          <a:effectLst/>
                        </a:rPr>
                        <a:t>+0.6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48084183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rtl="0" fontAlgn="b"/>
                      <a:r>
                        <a:rPr lang="pt-BR" sz="2800">
                          <a:effectLst/>
                        </a:rPr>
                        <a:t>triste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800">
                          <a:effectLst/>
                        </a:rPr>
                        <a:t>-0.8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227949224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rtl="0" fontAlgn="b"/>
                      <a:r>
                        <a:rPr lang="pt-BR" sz="2800" dirty="0">
                          <a:effectLst/>
                        </a:rPr>
                        <a:t>fraco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800" dirty="0">
                          <a:effectLst/>
                        </a:rPr>
                        <a:t>-0.5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94995580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rtl="0" fontAlgn="b"/>
                      <a:r>
                        <a:rPr lang="pt-BR" sz="2800" dirty="0">
                          <a:effectLst/>
                        </a:rPr>
                        <a:t>casa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800" dirty="0">
                          <a:effectLst/>
                        </a:rPr>
                        <a:t>0.0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75178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93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E0C10BA-D46E-50EB-663F-711D71B903EA}"/>
              </a:ext>
            </a:extLst>
          </p:cNvPr>
          <p:cNvSpPr txBox="1"/>
          <p:nvPr/>
        </p:nvSpPr>
        <p:spPr>
          <a:xfrm>
            <a:off x="3883998" y="5197028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54BC036-B7EB-EBCB-95E5-B384178B04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981" b="20813"/>
          <a:stretch/>
        </p:blipFill>
        <p:spPr>
          <a:xfrm>
            <a:off x="974328" y="1885507"/>
            <a:ext cx="10243343" cy="3086986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4093D3D8-DE9B-EE9B-25D1-18EF23E0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baseadas em Léxico</a:t>
            </a:r>
          </a:p>
        </p:txBody>
      </p:sp>
    </p:spTree>
    <p:extLst>
      <p:ext uri="{BB962C8B-B14F-4D97-AF65-F5344CB8AC3E}">
        <p14:creationId xmlns:p14="http://schemas.microsoft.com/office/powerpoint/2010/main" val="1364234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AE40CB-1E5F-40AF-FC76-F85F70DC40D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sz="3200" dirty="0"/>
              <a:t>Além da </a:t>
            </a:r>
            <a:r>
              <a:rPr lang="pt-BR" dirty="0"/>
              <a:t>polaridade, os dicionários podem incluir modificadores</a:t>
            </a:r>
          </a:p>
          <a:p>
            <a:pPr lvl="1"/>
            <a:r>
              <a:rPr lang="pt-BR" dirty="0"/>
              <a:t>Negação</a:t>
            </a:r>
          </a:p>
          <a:p>
            <a:pPr lvl="2"/>
            <a:r>
              <a:rPr lang="pt-BR" dirty="0"/>
              <a:t>Inversores como "não" ou "jamais" antes de uma palavra positiva invertem seu valor (</a:t>
            </a:r>
            <a:r>
              <a:rPr lang="pt-BR" dirty="0" err="1"/>
              <a:t>ex</a:t>
            </a:r>
            <a:r>
              <a:rPr lang="pt-BR" dirty="0"/>
              <a:t>: "não é bom")</a:t>
            </a:r>
          </a:p>
          <a:p>
            <a:pPr lvl="1"/>
            <a:r>
              <a:rPr lang="pt-BR" dirty="0"/>
              <a:t>Intensificadores</a:t>
            </a:r>
          </a:p>
          <a:p>
            <a:pPr lvl="2"/>
            <a:r>
              <a:rPr lang="pt-BR" dirty="0"/>
              <a:t>Advérbios como "muito" ou "extremamente" aumentam a pontuação da palavra seguinte (</a:t>
            </a:r>
            <a:r>
              <a:rPr lang="pt-BR" dirty="0" err="1"/>
              <a:t>ex</a:t>
            </a:r>
            <a:r>
              <a:rPr lang="pt-BR" dirty="0"/>
              <a:t>: "muito bom" tem pontuação maior que apenas "bom")</a:t>
            </a:r>
          </a:p>
          <a:p>
            <a:pPr lvl="1"/>
            <a:r>
              <a:rPr lang="pt-BR" dirty="0"/>
              <a:t>Pontuação e Caixa Alta</a:t>
            </a:r>
          </a:p>
          <a:p>
            <a:pPr lvl="2"/>
            <a:r>
              <a:rPr lang="pt-BR" dirty="0"/>
              <a:t>O uso de "!!!" ou "EXCELENTE" em maiúsculas pode aumentar a intensidade do sentimento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baseadas em léxico</a:t>
            </a:r>
          </a:p>
        </p:txBody>
      </p:sp>
    </p:spTree>
    <p:extLst>
      <p:ext uri="{BB962C8B-B14F-4D97-AF65-F5344CB8AC3E}">
        <p14:creationId xmlns:p14="http://schemas.microsoft.com/office/powerpoint/2010/main" val="171351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AE40CB-1E5F-40AF-FC76-F85F70DC40D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sz="3200" dirty="0"/>
              <a:t>Exemplo de léxico com modificadores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5553543-6C35-2E3E-F90C-DBE618DD0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608220"/>
              </p:ext>
            </p:extLst>
          </p:nvPr>
        </p:nvGraphicFramePr>
        <p:xfrm>
          <a:off x="2496412" y="2777496"/>
          <a:ext cx="7199176" cy="3373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40431">
                  <a:extLst>
                    <a:ext uri="{9D8B030D-6E8A-4147-A177-3AD203B41FA5}">
                      <a16:colId xmlns:a16="http://schemas.microsoft.com/office/drawing/2014/main" val="3159937121"/>
                    </a:ext>
                  </a:extLst>
                </a:gridCol>
                <a:gridCol w="2417521">
                  <a:extLst>
                    <a:ext uri="{9D8B030D-6E8A-4147-A177-3AD203B41FA5}">
                      <a16:colId xmlns:a16="http://schemas.microsoft.com/office/drawing/2014/main" val="4034857906"/>
                    </a:ext>
                  </a:extLst>
                </a:gridCol>
                <a:gridCol w="2741224">
                  <a:extLst>
                    <a:ext uri="{9D8B030D-6E8A-4147-A177-3AD203B41FA5}">
                      <a16:colId xmlns:a16="http://schemas.microsoft.com/office/drawing/2014/main" val="1087879074"/>
                    </a:ext>
                  </a:extLst>
                </a:gridCol>
              </a:tblGrid>
              <a:tr h="591532"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Modificador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Tipo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Fator</a:t>
                      </a: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2499692137"/>
                  </a:ext>
                </a:extLst>
              </a:tr>
              <a:tr h="397444"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muito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Intensificador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Multiplica por 1.5</a:t>
                      </a:r>
                    </a:p>
                  </a:txBody>
                  <a:tcPr marL="0" marR="0" marT="15240" marB="15240" anchor="b"/>
                </a:tc>
                <a:extLst>
                  <a:ext uri="{0D108BD9-81ED-4DB2-BD59-A6C34878D82A}">
                    <a16:rowId xmlns:a16="http://schemas.microsoft.com/office/drawing/2014/main" val="795255333"/>
                  </a:ext>
                </a:extLst>
              </a:tr>
              <a:tr h="397444"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extremamente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Intensificador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Multiplica por 2.0</a:t>
                      </a:r>
                    </a:p>
                  </a:txBody>
                  <a:tcPr marL="0" marR="0" marT="15240" marB="15240" anchor="b"/>
                </a:tc>
                <a:extLst>
                  <a:ext uri="{0D108BD9-81ED-4DB2-BD59-A6C34878D82A}">
                    <a16:rowId xmlns:a16="http://schemas.microsoft.com/office/drawing/2014/main" val="3480841838"/>
                  </a:ext>
                </a:extLst>
              </a:tr>
              <a:tr h="397444">
                <a:tc>
                  <a:txBody>
                    <a:bodyPr/>
                    <a:lstStyle/>
                    <a:p>
                      <a:pPr rtl="0" fontAlgn="b"/>
                      <a:r>
                        <a:rPr lang="pt-BR" sz="2400">
                          <a:effectLst/>
                        </a:rPr>
                        <a:t>pouco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Diminuidor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Multiplica por 0.5</a:t>
                      </a:r>
                    </a:p>
                  </a:txBody>
                  <a:tcPr marL="0" marR="0" marT="15240" marB="15240" anchor="b"/>
                </a:tc>
                <a:extLst>
                  <a:ext uri="{0D108BD9-81ED-4DB2-BD59-A6C34878D82A}">
                    <a16:rowId xmlns:a16="http://schemas.microsoft.com/office/drawing/2014/main" val="2227949224"/>
                  </a:ext>
                </a:extLst>
              </a:tr>
              <a:tr h="397444">
                <a:tc>
                  <a:txBody>
                    <a:bodyPr/>
                    <a:lstStyle/>
                    <a:p>
                      <a:pPr rtl="0" fontAlgn="b"/>
                      <a:r>
                        <a:rPr lang="pt-BR" sz="2400">
                          <a:effectLst/>
                        </a:rPr>
                        <a:t>não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>
                          <a:effectLst/>
                        </a:rPr>
                        <a:t>Negador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Multiplica por -1.0</a:t>
                      </a:r>
                    </a:p>
                  </a:txBody>
                  <a:tcPr marL="0" marR="0" marT="15240" marB="15240" anchor="b"/>
                </a:tc>
                <a:extLst>
                  <a:ext uri="{0D108BD9-81ED-4DB2-BD59-A6C34878D82A}">
                    <a16:rowId xmlns:a16="http://schemas.microsoft.com/office/drawing/2014/main" val="294995580"/>
                  </a:ext>
                </a:extLst>
              </a:tr>
              <a:tr h="397444">
                <a:tc>
                  <a:txBody>
                    <a:bodyPr/>
                    <a:lstStyle/>
                    <a:p>
                      <a:pPr rtl="0" fontAlgn="b"/>
                      <a:r>
                        <a:rPr lang="pt-BR" sz="2400">
                          <a:effectLst/>
                        </a:rPr>
                        <a:t>jamais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>
                          <a:effectLst/>
                        </a:rPr>
                        <a:t>Negador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Multiplica por -1.5</a:t>
                      </a:r>
                    </a:p>
                  </a:txBody>
                  <a:tcPr marL="0" marR="0" marT="15240" marB="15240" anchor="b"/>
                </a:tc>
                <a:extLst>
                  <a:ext uri="{0D108BD9-81ED-4DB2-BD59-A6C34878D82A}">
                    <a16:rowId xmlns:a16="http://schemas.microsoft.com/office/drawing/2014/main" val="75178897"/>
                  </a:ext>
                </a:extLst>
              </a:tr>
              <a:tr h="397444"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!!!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Intensificador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Multiplica por 1.5</a:t>
                      </a:r>
                    </a:p>
                  </a:txBody>
                  <a:tcPr marL="0" marR="0" marT="15240" marB="15240" anchor="b"/>
                </a:tc>
                <a:extLst>
                  <a:ext uri="{0D108BD9-81ED-4DB2-BD59-A6C34878D82A}">
                    <a16:rowId xmlns:a16="http://schemas.microsoft.com/office/drawing/2014/main" val="287432845"/>
                  </a:ext>
                </a:extLst>
              </a:tr>
              <a:tr h="397444"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EXCELENTE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Intensificador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400" dirty="0">
                          <a:effectLst/>
                        </a:rPr>
                        <a:t>Multiplica por 3.0</a:t>
                      </a:r>
                    </a:p>
                  </a:txBody>
                  <a:tcPr marL="0" marR="0" marT="15240" marB="15240" anchor="b"/>
                </a:tc>
                <a:extLst>
                  <a:ext uri="{0D108BD9-81ED-4DB2-BD59-A6C34878D82A}">
                    <a16:rowId xmlns:a16="http://schemas.microsoft.com/office/drawing/2014/main" val="1097464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976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4009EA-1062-99D3-A852-A1882DC0D599}"/>
              </a:ext>
            </a:extLst>
          </p:cNvPr>
          <p:cNvSpPr txBox="1"/>
          <p:nvPr/>
        </p:nvSpPr>
        <p:spPr>
          <a:xfrm>
            <a:off x="3883999" y="6031034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44C8B3B-FBC5-CF23-6C1B-05853C2C9D7C}"/>
              </a:ext>
            </a:extLst>
          </p:cNvPr>
          <p:cNvGrpSpPr/>
          <p:nvPr/>
        </p:nvGrpSpPr>
        <p:grpSpPr>
          <a:xfrm>
            <a:off x="756487" y="1468259"/>
            <a:ext cx="10679026" cy="4500000"/>
            <a:chOff x="756487" y="1468259"/>
            <a:chExt cx="10679026" cy="4500000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B72185B6-DD8F-06DA-3868-E6562F81E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rcRect t="22809"/>
            <a:stretch/>
          </p:blipFill>
          <p:spPr>
            <a:xfrm>
              <a:off x="756487" y="1468259"/>
              <a:ext cx="10679026" cy="4500000"/>
            </a:xfrm>
            <a:prstGeom prst="rect">
              <a:avLst/>
            </a:prstGeom>
          </p:spPr>
        </p:pic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EFB259B4-C383-4B8A-A464-5880A4DE8652}"/>
                </a:ext>
              </a:extLst>
            </p:cNvPr>
            <p:cNvSpPr/>
            <p:nvPr/>
          </p:nvSpPr>
          <p:spPr>
            <a:xfrm>
              <a:off x="8727440" y="4328160"/>
              <a:ext cx="1270000" cy="690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13624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2DDB9E1-56DF-B5B0-B1F2-E9FCE17FA26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O objetivo do modelo é simples</a:t>
            </a:r>
          </a:p>
          <a:p>
            <a:pPr lvl="1"/>
            <a:r>
              <a:rPr lang="pt-BR" dirty="0"/>
              <a:t>Calcular o sentimento geral de uma frase somando (ou tirando a média) das pontuações das palavras que a compõem</a:t>
            </a:r>
          </a:p>
          <a:p>
            <a:endParaRPr lang="pt-BR" dirty="0"/>
          </a:p>
          <a:p>
            <a:r>
              <a:rPr lang="pt-BR" dirty="0"/>
              <a:t>Por não depender de um treinamento complexo com dados, essa abordagem também é chamada de </a:t>
            </a:r>
            <a:r>
              <a:rPr lang="pt-BR" b="1" dirty="0">
                <a:solidFill>
                  <a:srgbClr val="0070C0"/>
                </a:solidFill>
              </a:rPr>
              <a:t>sistema baseado em regras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baseadas em léxico</a:t>
            </a:r>
          </a:p>
        </p:txBody>
      </p:sp>
    </p:spTree>
    <p:extLst>
      <p:ext uri="{BB962C8B-B14F-4D97-AF65-F5344CB8AC3E}">
        <p14:creationId xmlns:p14="http://schemas.microsoft.com/office/powerpoint/2010/main" val="3699998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86178A0-ACF7-1D78-4F1F-06090BD5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703" b="10978"/>
          <a:stretch/>
        </p:blipFill>
        <p:spPr>
          <a:xfrm>
            <a:off x="624762" y="1595121"/>
            <a:ext cx="10942476" cy="4320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A166154-AFB3-A7EE-C65E-90CFD0803684}"/>
              </a:ext>
            </a:extLst>
          </p:cNvPr>
          <p:cNvSpPr txBox="1"/>
          <p:nvPr/>
        </p:nvSpPr>
        <p:spPr>
          <a:xfrm>
            <a:off x="3883999" y="5961461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091160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EE32FF4D-F6AC-C208-7982-E69C7C8B6D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b="1" dirty="0"/>
              <a:t>1. Tokenização do texto</a:t>
            </a:r>
          </a:p>
          <a:p>
            <a:pPr lvl="1"/>
            <a:r>
              <a:rPr lang="pt-BR" dirty="0"/>
              <a:t>A frase é dividida em palavras individuais, conhecidas como "tokens“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44E6414-33CD-8735-A5E1-FFE0F5579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BD77CD3-36D8-1360-8F1A-FCC0A0187AE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26067" y="2850992"/>
            <a:ext cx="6114465" cy="333787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EDB3402-2540-8412-EE8B-22DA68C32BC9}"/>
              </a:ext>
            </a:extLst>
          </p:cNvPr>
          <p:cNvSpPr txBox="1"/>
          <p:nvPr/>
        </p:nvSpPr>
        <p:spPr>
          <a:xfrm>
            <a:off x="3883999" y="5987594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637270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EE32FF4D-F6AC-C208-7982-E69C7C8B6D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5548312" cy="4319587"/>
          </a:xfrm>
        </p:spPr>
        <p:txBody>
          <a:bodyPr>
            <a:normAutofit/>
          </a:bodyPr>
          <a:lstStyle/>
          <a:p>
            <a:r>
              <a:rPr lang="pt-BR" b="1" dirty="0"/>
              <a:t>2. Busca no dicionário (</a:t>
            </a:r>
            <a:r>
              <a:rPr lang="pt-BR" b="1" i="1" dirty="0" err="1"/>
              <a:t>Lexicon</a:t>
            </a:r>
            <a:r>
              <a:rPr lang="pt-BR" b="1" i="1" dirty="0"/>
              <a:t> </a:t>
            </a:r>
            <a:r>
              <a:rPr lang="pt-BR" b="1" i="1" dirty="0" err="1"/>
              <a:t>Lookup</a:t>
            </a:r>
            <a:r>
              <a:rPr lang="pt-BR" b="1" dirty="0"/>
              <a:t>)</a:t>
            </a:r>
          </a:p>
          <a:p>
            <a:pPr lvl="1"/>
            <a:r>
              <a:rPr lang="pt-BR" dirty="0"/>
              <a:t>Identificação das palavras no léxico</a:t>
            </a:r>
          </a:p>
          <a:p>
            <a:pPr lvl="1"/>
            <a:r>
              <a:rPr lang="pt-BR" dirty="0"/>
              <a:t>O algoritmo procura cada palavra da</a:t>
            </a:r>
            <a:br>
              <a:rPr lang="pt-BR" dirty="0"/>
            </a:br>
            <a:r>
              <a:rPr lang="pt-BR" dirty="0"/>
              <a:t>frase em seu léxico de sentimentos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44E6414-33CD-8735-A5E1-FFE0F5579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B500D75-FB0F-026F-5E6B-42346D715A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88" b="3408"/>
          <a:stretch/>
        </p:blipFill>
        <p:spPr>
          <a:xfrm>
            <a:off x="5895876" y="1701486"/>
            <a:ext cx="5161061" cy="432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483FA83-F31E-8175-A8AC-968278AC4713}"/>
              </a:ext>
            </a:extLst>
          </p:cNvPr>
          <p:cNvSpPr txBox="1"/>
          <p:nvPr/>
        </p:nvSpPr>
        <p:spPr>
          <a:xfrm>
            <a:off x="6364468" y="595654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896825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EE32FF4D-F6AC-C208-7982-E69C7C8B6D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4979351" cy="4319587"/>
          </a:xfrm>
        </p:spPr>
        <p:txBody>
          <a:bodyPr>
            <a:normAutofit/>
          </a:bodyPr>
          <a:lstStyle/>
          <a:p>
            <a:r>
              <a:rPr lang="pt-BR" b="1" dirty="0"/>
              <a:t>3. Atribuição da pontuação</a:t>
            </a:r>
          </a:p>
          <a:p>
            <a:pPr lvl="1"/>
            <a:r>
              <a:rPr lang="pt-BR" dirty="0"/>
              <a:t>Para cada palavra do texto que foi </a:t>
            </a:r>
            <a:r>
              <a:rPr lang="pt-BR" i="1" dirty="0" err="1"/>
              <a:t>tokenizado</a:t>
            </a:r>
            <a:r>
              <a:rPr lang="pt-BR" dirty="0"/>
              <a:t>, encontrada no dicionário, é feita a atribuição da pontuação correta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44E6414-33CD-8735-A5E1-FFE0F5579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F894D5-8409-9DAE-EFC4-E9A31DFCE89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3333" t="27060" r="3482" b="5037"/>
          <a:stretch/>
        </p:blipFill>
        <p:spPr>
          <a:xfrm>
            <a:off x="5621436" y="1831562"/>
            <a:ext cx="5928476" cy="4320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9D0B201-6DD7-9CAD-8AFC-6238DFB853EB}"/>
              </a:ext>
            </a:extLst>
          </p:cNvPr>
          <p:cNvSpPr txBox="1"/>
          <p:nvPr/>
        </p:nvSpPr>
        <p:spPr>
          <a:xfrm>
            <a:off x="6373674" y="6021486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153019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EE32FF4D-F6AC-C208-7982-E69C7C8B6D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5548312" cy="4319587"/>
          </a:xfrm>
        </p:spPr>
        <p:txBody>
          <a:bodyPr>
            <a:normAutofit/>
          </a:bodyPr>
          <a:lstStyle/>
          <a:p>
            <a:r>
              <a:rPr lang="pt-BR" b="1" dirty="0"/>
              <a:t>4. Agregação das pontuações</a:t>
            </a:r>
          </a:p>
          <a:p>
            <a:pPr lvl="1"/>
            <a:r>
              <a:rPr lang="pt-BR" dirty="0"/>
              <a:t>Os scores finais de cada palavra são somados para gerar uma pontuação final para a frase inteira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44E6414-33CD-8735-A5E1-FFE0F5579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1039495-21F3-87FF-FC40-17BAF38B81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63" t="27564" r="5260" b="4820"/>
          <a:stretch/>
        </p:blipFill>
        <p:spPr>
          <a:xfrm>
            <a:off x="6196012" y="1855788"/>
            <a:ext cx="5257949" cy="3960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810D2B9-E350-E473-6D7B-D88A603F96EA}"/>
              </a:ext>
            </a:extLst>
          </p:cNvPr>
          <p:cNvSpPr txBox="1"/>
          <p:nvPr/>
        </p:nvSpPr>
        <p:spPr>
          <a:xfrm>
            <a:off x="6612985" y="5815788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558072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EE32FF4D-F6AC-C208-7982-E69C7C8B6D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5548312" cy="4319587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5. Classificação final</a:t>
            </a:r>
          </a:p>
          <a:p>
            <a:pPr lvl="1"/>
            <a:r>
              <a:rPr lang="pt-BR" dirty="0"/>
              <a:t>O score agregado é comparado a limiares pré-definidos para classificar o texto</a:t>
            </a:r>
          </a:p>
          <a:p>
            <a:pPr lvl="1"/>
            <a:r>
              <a:rPr lang="pt-BR" dirty="0"/>
              <a:t>Classificação</a:t>
            </a:r>
          </a:p>
          <a:p>
            <a:pPr lvl="2"/>
            <a:r>
              <a:rPr lang="pt-BR" dirty="0"/>
              <a:t>Se o score &gt; 0.0, classifica como </a:t>
            </a:r>
            <a:r>
              <a:rPr lang="pt-BR" b="1" dirty="0">
                <a:solidFill>
                  <a:srgbClr val="0070C0"/>
                </a:solidFill>
              </a:rPr>
              <a:t>POSITIVO</a:t>
            </a:r>
          </a:p>
          <a:p>
            <a:pPr lvl="2"/>
            <a:r>
              <a:rPr lang="pt-BR" dirty="0"/>
              <a:t>Se o score &lt; -0.0, classifica como </a:t>
            </a:r>
            <a:r>
              <a:rPr lang="pt-BR" b="1" dirty="0">
                <a:solidFill>
                  <a:srgbClr val="0070C0"/>
                </a:solidFill>
              </a:rPr>
              <a:t>NEGATIVO</a:t>
            </a:r>
          </a:p>
          <a:p>
            <a:pPr lvl="2"/>
            <a:r>
              <a:rPr lang="pt-BR" dirty="0"/>
              <a:t>Caso contrário, classifica como </a:t>
            </a:r>
            <a:r>
              <a:rPr lang="pt-BR" b="1" dirty="0">
                <a:solidFill>
                  <a:srgbClr val="0070C0"/>
                </a:solidFill>
              </a:rPr>
              <a:t>NEUTRO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44E6414-33CD-8735-A5E1-FFE0F5579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8EE1FCB-DDF9-87EF-FBFD-A91EB1981E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2" t="28741" r="6148" b="6518"/>
          <a:stretch/>
        </p:blipFill>
        <p:spPr>
          <a:xfrm>
            <a:off x="6096000" y="1855788"/>
            <a:ext cx="5382700" cy="396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71BD1A3-54A8-2067-78C5-C3B9AB526ACF}"/>
              </a:ext>
            </a:extLst>
          </p:cNvPr>
          <p:cNvSpPr txBox="1"/>
          <p:nvPr/>
        </p:nvSpPr>
        <p:spPr>
          <a:xfrm>
            <a:off x="6575349" y="5841693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075835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7F91EEEE-D2A2-A90B-ECC7-334416629725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759178271"/>
              </p:ext>
            </p:extLst>
          </p:nvPr>
        </p:nvGraphicFramePr>
        <p:xfrm>
          <a:off x="830105" y="1835468"/>
          <a:ext cx="10531790" cy="3906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27584">
                  <a:extLst>
                    <a:ext uri="{9D8B030D-6E8A-4147-A177-3AD203B41FA5}">
                      <a16:colId xmlns:a16="http://schemas.microsoft.com/office/drawing/2014/main" val="493284571"/>
                    </a:ext>
                  </a:extLst>
                </a:gridCol>
                <a:gridCol w="2693878">
                  <a:extLst>
                    <a:ext uri="{9D8B030D-6E8A-4147-A177-3AD203B41FA5}">
                      <a16:colId xmlns:a16="http://schemas.microsoft.com/office/drawing/2014/main" val="3762822528"/>
                    </a:ext>
                  </a:extLst>
                </a:gridCol>
                <a:gridCol w="1936776">
                  <a:extLst>
                    <a:ext uri="{9D8B030D-6E8A-4147-A177-3AD203B41FA5}">
                      <a16:colId xmlns:a16="http://schemas.microsoft.com/office/drawing/2014/main" val="374314188"/>
                    </a:ext>
                  </a:extLst>
                </a:gridCol>
                <a:gridCol w="1936776">
                  <a:extLst>
                    <a:ext uri="{9D8B030D-6E8A-4147-A177-3AD203B41FA5}">
                      <a16:colId xmlns:a16="http://schemas.microsoft.com/office/drawing/2014/main" val="3700078686"/>
                    </a:ext>
                  </a:extLst>
                </a:gridCol>
                <a:gridCol w="1936776">
                  <a:extLst>
                    <a:ext uri="{9D8B030D-6E8A-4147-A177-3AD203B41FA5}">
                      <a16:colId xmlns:a16="http://schemas.microsoft.com/office/drawing/2014/main" val="4072392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Estratégia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Vantagens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Limitações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Ferramentas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765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Dicionário de polaridade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Lista de palavras com valores positivos/negativos. Soma ou média define polaridade do texto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Simples, interpretável, rápido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Ignora contexto, ironia e intensificadores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SentiWordNet</a:t>
                      </a:r>
                      <a:r>
                        <a:rPr lang="pt-BR" sz="1800" dirty="0"/>
                        <a:t>, LIWC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79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Léxicos com regras linguísticas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Combina dicionários + regras de negação, intensificação e pontuação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Mais robusto, lida melhor com contexto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Ainda limitado para ironia/sarcasmo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VADER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507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Léxico com subjetividade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</a:rPr>
                        <a:t>Mede polaridade (-1 a +1) e subjetividade (0 a 1). Baseado em dicionário</a:t>
                      </a:r>
                      <a:endParaRPr lang="pt-B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</a:rPr>
                        <a:t>Fácil de usar, bom para textos longos, análise rápida</a:t>
                      </a:r>
                      <a:endParaRPr lang="pt-B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</a:rPr>
                        <a:t>Léxico limitado, pouco sensível a linguagem informal</a:t>
                      </a:r>
                      <a:endParaRPr lang="pt-B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TextBlob</a:t>
                      </a:r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88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Híbridos: léxico + estatística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</a:rPr>
                        <a:t>Léxico como base, ajustado por dados rotulados para melhor acurácia</a:t>
                      </a:r>
                      <a:endParaRPr lang="pt-B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</a:rPr>
                        <a:t>Combina </a:t>
                      </a:r>
                      <a:r>
                        <a:rPr lang="pt-BR" sz="1600" kern="1200" dirty="0" err="1">
                          <a:solidFill>
                            <a:schemeClr val="dk1"/>
                          </a:solidFill>
                        </a:rPr>
                        <a:t>interpretabilidade</a:t>
                      </a:r>
                      <a:r>
                        <a:rPr lang="pt-BR" sz="1600" kern="1200" dirty="0">
                          <a:solidFill>
                            <a:schemeClr val="dk1"/>
                          </a:solidFill>
                        </a:rPr>
                        <a:t> com aprendizado</a:t>
                      </a:r>
                      <a:endParaRPr lang="pt-B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</a:rPr>
                        <a:t>Requer dados de treino; perde simplicidade pura</a:t>
                      </a:r>
                      <a:endParaRPr lang="pt-B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OpLexicon</a:t>
                      </a:r>
                      <a:r>
                        <a:rPr lang="pt-BR" sz="1800" dirty="0"/>
                        <a:t> (PT), </a:t>
                      </a:r>
                      <a:r>
                        <a:rPr lang="pt-BR" sz="1800" dirty="0" err="1"/>
                        <a:t>SenticNet</a:t>
                      </a:r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68979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5D2DDDA-A547-FB6D-35B9-6EC0E855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44E6414-33CD-8735-A5E1-FFE0F5579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8518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7597</TotalTime>
  <Words>782</Words>
  <Application>Microsoft Office PowerPoint</Application>
  <PresentationFormat>Widescreen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17</vt:i4>
      </vt:variant>
    </vt:vector>
  </HeadingPairs>
  <TitlesOfParts>
    <vt:vector size="27" baseType="lpstr">
      <vt:lpstr>Wingdings</vt:lpstr>
      <vt:lpstr>Montserrat</vt:lpstr>
      <vt:lpstr>Cronos Pro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Abordagens baseadas em Léxico</vt:lpstr>
      <vt:lpstr>Objetivos de Aprendizagem</vt:lpstr>
      <vt:lpstr>Abordagens baseadas em léxico</vt:lpstr>
      <vt:lpstr>Abordagens baseadas em léxico</vt:lpstr>
      <vt:lpstr>Abordagens baseadas em Léxico</vt:lpstr>
      <vt:lpstr>Abordagens baseadas em léxico</vt:lpstr>
      <vt:lpstr>Abordagens baseadas em léxico</vt:lpstr>
      <vt:lpstr>Abordagens baseadas em léxico</vt:lpstr>
      <vt:lpstr>Abordagens baseadas em léxico</vt:lpstr>
      <vt:lpstr>Abordagens baseadas em léxico</vt:lpstr>
      <vt:lpstr>Abordagens baseadas em léxico</vt:lpstr>
      <vt:lpstr>Abordagens baseadas em léxico</vt:lpstr>
      <vt:lpstr>Abordagens baseadas em léxico</vt:lpstr>
      <vt:lpstr>Abordagens baseadas em léxico</vt:lpstr>
      <vt:lpstr>Abordagens baseadas em léxico</vt:lpstr>
      <vt:lpstr>Abordagens baseadas em léxico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165</cp:revision>
  <dcterms:created xsi:type="dcterms:W3CDTF">2025-06-11T21:44:24Z</dcterms:created>
  <dcterms:modified xsi:type="dcterms:W3CDTF">2026-01-15T15:27:43Z</dcterms:modified>
</cp:coreProperties>
</file>