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1173" r:id="rId5"/>
    <p:sldId id="297" r:id="rId6"/>
    <p:sldId id="1200" r:id="rId7"/>
    <p:sldId id="1202" r:id="rId8"/>
    <p:sldId id="1201" r:id="rId9"/>
    <p:sldId id="1187" r:id="rId10"/>
    <p:sldId id="1204" r:id="rId11"/>
    <p:sldId id="1042" r:id="rId12"/>
    <p:sldId id="1045" r:id="rId13"/>
    <p:sldId id="1046" r:id="rId14"/>
    <p:sldId id="1047" r:id="rId15"/>
    <p:sldId id="1048" r:id="rId16"/>
    <p:sldId id="1189" r:id="rId17"/>
    <p:sldId id="264" r:id="rId18"/>
  </p:sldIdLst>
  <p:sldSz cx="12192000" cy="6858000"/>
  <p:notesSz cx="6858000" cy="9144000"/>
  <p:embeddedFontLst>
    <p:embeddedFont>
      <p:font typeface="Cronos Pro" panose="020C0502030403020304" charset="0"/>
      <p:regular r:id="rId20"/>
      <p:bold r:id="rId21"/>
      <p: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BB9D52-6BE3-492A-9A89-12C67C6A55B3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2F363870-D8CA-4885-9636-63A032A0FCA8}">
      <dgm:prSet phldrT="[Texto]" custT="1"/>
      <dgm:spPr/>
      <dgm:t>
        <a:bodyPr/>
        <a:lstStyle/>
        <a:p>
          <a:r>
            <a:rPr lang="pt-BR" sz="2400" b="1" dirty="0">
              <a:latin typeface="+mn-lt"/>
            </a:rPr>
            <a:t>Regressão Logística</a:t>
          </a:r>
        </a:p>
      </dgm:t>
    </dgm:pt>
    <dgm:pt modelId="{CB9E7C36-683B-4398-BF5E-0B8E91A4710A}" type="parTrans" cxnId="{57D9443D-EBAD-4D55-8DE3-310344F38D60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2C6EBFAE-E12D-4C4F-B4CA-FFB9BE7BA390}" type="sibTrans" cxnId="{57D9443D-EBAD-4D55-8DE3-310344F38D60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63A045C-7D4C-4165-81C4-EAC1AD668757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📌Problemas simples, lineares. Quando </a:t>
          </a:r>
          <a:r>
            <a:rPr lang="pt-BR" sz="2000" dirty="0" err="1">
              <a:latin typeface="+mn-lt"/>
            </a:rPr>
            <a:t>interpretabilidade</a:t>
          </a:r>
          <a:r>
            <a:rPr lang="pt-BR" sz="2000" dirty="0">
              <a:latin typeface="+mn-lt"/>
            </a:rPr>
            <a:t> é importante</a:t>
          </a:r>
        </a:p>
      </dgm:t>
    </dgm:pt>
    <dgm:pt modelId="{E22EE33B-BEDD-43F3-805D-7171F8DD1C0E}" type="parTrans" cxnId="{5A59FDB6-DCB7-4764-A96C-756A4827B42A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F05C6963-DF7E-4F74-9319-C7452F1CBDC2}" type="sibTrans" cxnId="{5A59FDB6-DCB7-4764-A96C-756A4827B42A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5BA50232-2FF1-423D-B5E1-64767808D35F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✅Simples, rápido, saída probabilística, fácil de interpretar</a:t>
          </a:r>
        </a:p>
      </dgm:t>
    </dgm:pt>
    <dgm:pt modelId="{B35BEC6A-3B59-47A3-958C-DDBC1D23CBE2}" type="parTrans" cxnId="{905F0238-E4EC-4E3F-A11F-83318030A0C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5EC840A8-AC38-470D-B2BF-584A802E3D2D}" type="sibTrans" cxnId="{905F0238-E4EC-4E3F-A11F-83318030A0C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3E30A5B7-87FB-46F0-B263-D89A3581690F}">
      <dgm:prSet phldrT="[Texto]" custT="1"/>
      <dgm:spPr/>
      <dgm:t>
        <a:bodyPr/>
        <a:lstStyle/>
        <a:p>
          <a:r>
            <a:rPr lang="pt-BR" sz="2400" b="1" dirty="0">
              <a:latin typeface="+mn-lt"/>
            </a:rPr>
            <a:t>K-</a:t>
          </a:r>
          <a:r>
            <a:rPr lang="pt-BR" sz="2400" b="1" dirty="0" err="1">
              <a:latin typeface="+mn-lt"/>
            </a:rPr>
            <a:t>Nearest</a:t>
          </a:r>
          <a:r>
            <a:rPr lang="pt-BR" sz="2400" b="1" dirty="0">
              <a:latin typeface="+mn-lt"/>
            </a:rPr>
            <a:t> </a:t>
          </a:r>
          <a:r>
            <a:rPr lang="pt-BR" sz="2400" b="1" dirty="0" err="1">
              <a:latin typeface="+mn-lt"/>
            </a:rPr>
            <a:t>Neighbors</a:t>
          </a:r>
          <a:r>
            <a:rPr lang="pt-BR" sz="2400" b="1" dirty="0">
              <a:latin typeface="+mn-lt"/>
            </a:rPr>
            <a:t> (KNN)</a:t>
          </a:r>
        </a:p>
      </dgm:t>
    </dgm:pt>
    <dgm:pt modelId="{54D675ED-D0D4-4B88-A18C-93EF1DDD546C}" type="parTrans" cxnId="{E0FB66B5-6CF0-4385-84F9-8F0B0A1C23F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2D67260-5EC7-4BE8-BF74-3B2894880018}" type="sibTrans" cxnId="{E0FB66B5-6CF0-4385-84F9-8F0B0A1C23F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B345A6B7-93A6-4E4A-AA6E-BE65EE81D88C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📌Bases pequenas e baixa dimensionalidade. Quando padrões locais importam</a:t>
          </a:r>
        </a:p>
      </dgm:t>
    </dgm:pt>
    <dgm:pt modelId="{5EE0BD30-ECFF-4694-BB17-D01B1A0A5588}" type="parTrans" cxnId="{BB8F1401-767C-4986-A0B0-B6668D6A9BA7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078012A8-BF7F-47C1-9726-26758E2897FB}" type="sibTrans" cxnId="{BB8F1401-767C-4986-A0B0-B6668D6A9BA7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5478FA6F-FD9F-4C14-8D29-057CD30B4DEF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✅Simples, sem necessidade de treino, fácil de entender</a:t>
          </a:r>
        </a:p>
      </dgm:t>
    </dgm:pt>
    <dgm:pt modelId="{436E09B1-E484-4C55-A899-A30BE9214F1A}" type="parTrans" cxnId="{41A13FFE-DE9D-4826-B928-10CC20B97421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05CE4595-80DC-4037-AA83-256AC87053DE}" type="sibTrans" cxnId="{41A13FFE-DE9D-4826-B928-10CC20B97421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DB4B6251-1C0C-4C5B-81FB-F6A18C08AD50}">
      <dgm:prSet phldrT="[Texto]" custT="1"/>
      <dgm:spPr/>
      <dgm:t>
        <a:bodyPr/>
        <a:lstStyle/>
        <a:p>
          <a:r>
            <a:rPr lang="pt-BR" sz="2400" b="1" dirty="0">
              <a:latin typeface="+mn-lt"/>
            </a:rPr>
            <a:t>Árvores de Decisão</a:t>
          </a:r>
        </a:p>
      </dgm:t>
    </dgm:pt>
    <dgm:pt modelId="{DCB5E055-8772-410A-8ADD-D073E9682CBF}" type="parTrans" cxnId="{48E814D1-CA01-4D63-A53B-E094D4CCDE8B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74128296-AD81-455E-B72E-B2DAC996D673}" type="sibTrans" cxnId="{48E814D1-CA01-4D63-A53B-E094D4CCDE8B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77A2EAAB-D301-4649-8C86-9A4B4F68968C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📌Problemas interpretáveis com regras claras</a:t>
          </a:r>
        </a:p>
      </dgm:t>
    </dgm:pt>
    <dgm:pt modelId="{5973F1C8-8F7E-49B4-9B11-321D51D3BF3E}" type="parTrans" cxnId="{C7D4AD0A-5A91-4A3C-B0BE-73AB71373E8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1B20357A-2B4F-4399-8EA5-0E54582AE25E}" type="sibTrans" cxnId="{C7D4AD0A-5A91-4A3C-B0BE-73AB71373E8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C78B3E4-84B3-41BB-9FE5-0EFF10B0BE08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⚠️Baixo desempenho em problemas não lineares</a:t>
          </a:r>
        </a:p>
      </dgm:t>
    </dgm:pt>
    <dgm:pt modelId="{A8AE3112-F254-493B-ACC4-DF8920A42E53}" type="parTrans" cxnId="{96E1C62D-B20D-4136-9EC4-0B06269B3EBC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5F86412D-A2CD-4D5A-8D79-4E3F08DA2EDE}" type="sibTrans" cxnId="{96E1C62D-B20D-4136-9EC4-0B06269B3EBC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1BC7F822-38DF-4A8E-9000-4E378BFA7977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⚠️Lento com muitos dados, sensível à escala e ao valor de K</a:t>
          </a:r>
        </a:p>
      </dgm:t>
    </dgm:pt>
    <dgm:pt modelId="{EBBB5310-639C-4DAA-8954-95C0C2FA81C4}" type="parTrans" cxnId="{91C32EC3-20B9-4880-9C82-4BBB1E27CA13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62EE0944-C5FB-4F63-B359-DD76B48F20AC}" type="sibTrans" cxnId="{91C32EC3-20B9-4880-9C82-4BBB1E27CA13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9666558A-1769-4879-85C9-3D3CEA64FCDF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✅Fácil de interpretar, funciona com variáveis categóricas e numéricas</a:t>
          </a:r>
        </a:p>
      </dgm:t>
    </dgm:pt>
    <dgm:pt modelId="{709E6931-8505-4D50-969F-9F12D9CA09F9}" type="sibTrans" cxnId="{E790C7EB-9B9E-4D0E-B023-B5232A6A2316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5F12266F-AD8A-431C-BEDC-C1090237FEC8}" type="parTrans" cxnId="{E790C7EB-9B9E-4D0E-B023-B5232A6A2316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4AA5F00B-0267-4340-8770-34C00D29D8DD}">
      <dgm:prSet phldrT="[Texto]" custT="1"/>
      <dgm:spPr/>
      <dgm:t>
        <a:bodyPr/>
        <a:lstStyle/>
        <a:p>
          <a:r>
            <a:rPr lang="pt-BR" sz="2000" dirty="0">
              <a:latin typeface="+mn-lt"/>
            </a:rPr>
            <a:t>⚠️Propenso a </a:t>
          </a:r>
          <a:r>
            <a:rPr lang="pt-BR" sz="2000" i="1" dirty="0" err="1">
              <a:latin typeface="+mn-lt"/>
            </a:rPr>
            <a:t>overfitting</a:t>
          </a:r>
          <a:r>
            <a:rPr lang="pt-BR" sz="2000" dirty="0">
              <a:latin typeface="+mn-lt"/>
            </a:rPr>
            <a:t>, instável com pequenas variações</a:t>
          </a:r>
        </a:p>
      </dgm:t>
    </dgm:pt>
    <dgm:pt modelId="{2B711E31-4125-4FD1-84F3-384F9FB4E952}" type="sibTrans" cxnId="{44EE68D6-C4D9-4A23-B9C2-B44FC253641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2E5B493C-99D4-420F-AE91-525745A0530E}" type="parTrans" cxnId="{44EE68D6-C4D9-4A23-B9C2-B44FC253641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FED95E46-49CB-4875-A4F7-5D9E05DACC39}" type="pres">
      <dgm:prSet presAssocID="{4BBB9D52-6BE3-492A-9A89-12C67C6A55B3}" presName="Name0" presStyleCnt="0">
        <dgm:presLayoutVars>
          <dgm:dir/>
          <dgm:animLvl val="lvl"/>
          <dgm:resizeHandles val="exact"/>
        </dgm:presLayoutVars>
      </dgm:prSet>
      <dgm:spPr/>
    </dgm:pt>
    <dgm:pt modelId="{24B98983-44C6-460A-9D81-A6C657BB1573}" type="pres">
      <dgm:prSet presAssocID="{2F363870-D8CA-4885-9636-63A032A0FCA8}" presName="composite" presStyleCnt="0"/>
      <dgm:spPr/>
    </dgm:pt>
    <dgm:pt modelId="{95973832-D686-445F-8DBF-42CA0836251F}" type="pres">
      <dgm:prSet presAssocID="{2F363870-D8CA-4885-9636-63A032A0FCA8}" presName="parTx" presStyleLbl="alignNode1" presStyleIdx="0" presStyleCnt="3" custScaleY="98717">
        <dgm:presLayoutVars>
          <dgm:chMax val="0"/>
          <dgm:chPref val="0"/>
          <dgm:bulletEnabled val="1"/>
        </dgm:presLayoutVars>
      </dgm:prSet>
      <dgm:spPr/>
    </dgm:pt>
    <dgm:pt modelId="{BA6A7A77-7483-4F8F-8A6D-DADA75A2EE38}" type="pres">
      <dgm:prSet presAssocID="{2F363870-D8CA-4885-9636-63A032A0FCA8}" presName="desTx" presStyleLbl="alignAccFollowNode1" presStyleIdx="0" presStyleCnt="3">
        <dgm:presLayoutVars>
          <dgm:bulletEnabled val="1"/>
        </dgm:presLayoutVars>
      </dgm:prSet>
      <dgm:spPr/>
    </dgm:pt>
    <dgm:pt modelId="{BD2A1728-FA76-4EFD-AE1B-21CB3916FD3A}" type="pres">
      <dgm:prSet presAssocID="{2C6EBFAE-E12D-4C4F-B4CA-FFB9BE7BA390}" presName="space" presStyleCnt="0"/>
      <dgm:spPr/>
    </dgm:pt>
    <dgm:pt modelId="{93E1A5F2-8246-4B1C-893C-7ABD3EDA9BE6}" type="pres">
      <dgm:prSet presAssocID="{3E30A5B7-87FB-46F0-B263-D89A3581690F}" presName="composite" presStyleCnt="0"/>
      <dgm:spPr/>
    </dgm:pt>
    <dgm:pt modelId="{8033BD76-D727-46FE-9CB5-F487B39B5F75}" type="pres">
      <dgm:prSet presAssocID="{3E30A5B7-87FB-46F0-B263-D89A3581690F}" presName="parTx" presStyleLbl="alignNode1" presStyleIdx="1" presStyleCnt="3" custScaleY="98717">
        <dgm:presLayoutVars>
          <dgm:chMax val="0"/>
          <dgm:chPref val="0"/>
          <dgm:bulletEnabled val="1"/>
        </dgm:presLayoutVars>
      </dgm:prSet>
      <dgm:spPr/>
    </dgm:pt>
    <dgm:pt modelId="{FC75EF59-F831-4FF6-9BEA-0360247483AA}" type="pres">
      <dgm:prSet presAssocID="{3E30A5B7-87FB-46F0-B263-D89A3581690F}" presName="desTx" presStyleLbl="alignAccFollowNode1" presStyleIdx="1" presStyleCnt="3">
        <dgm:presLayoutVars>
          <dgm:bulletEnabled val="1"/>
        </dgm:presLayoutVars>
      </dgm:prSet>
      <dgm:spPr/>
    </dgm:pt>
    <dgm:pt modelId="{DF6F9631-0481-448D-BC6E-BFBBCDB8F5DB}" type="pres">
      <dgm:prSet presAssocID="{E2D67260-5EC7-4BE8-BF74-3B2894880018}" presName="space" presStyleCnt="0"/>
      <dgm:spPr/>
    </dgm:pt>
    <dgm:pt modelId="{348280F0-857D-4AEA-933C-1F525D538E89}" type="pres">
      <dgm:prSet presAssocID="{DB4B6251-1C0C-4C5B-81FB-F6A18C08AD50}" presName="composite" presStyleCnt="0"/>
      <dgm:spPr/>
    </dgm:pt>
    <dgm:pt modelId="{722668D3-82CB-4CB9-A1EC-41112074807B}" type="pres">
      <dgm:prSet presAssocID="{DB4B6251-1C0C-4C5B-81FB-F6A18C08AD50}" presName="parTx" presStyleLbl="alignNode1" presStyleIdx="2" presStyleCnt="3" custScaleY="98717">
        <dgm:presLayoutVars>
          <dgm:chMax val="0"/>
          <dgm:chPref val="0"/>
          <dgm:bulletEnabled val="1"/>
        </dgm:presLayoutVars>
      </dgm:prSet>
      <dgm:spPr/>
    </dgm:pt>
    <dgm:pt modelId="{03CAA8CF-B8FF-4A96-BD90-E761F435BCA9}" type="pres">
      <dgm:prSet presAssocID="{DB4B6251-1C0C-4C5B-81FB-F6A18C08AD5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B8F1401-767C-4986-A0B0-B6668D6A9BA7}" srcId="{3E30A5B7-87FB-46F0-B263-D89A3581690F}" destId="{B345A6B7-93A6-4E4A-AA6E-BE65EE81D88C}" srcOrd="0" destOrd="0" parTransId="{5EE0BD30-ECFF-4694-BB17-D01B1A0A5588}" sibTransId="{078012A8-BF7F-47C1-9726-26758E2897FB}"/>
    <dgm:cxn modelId="{C7D4AD0A-5A91-4A3C-B0BE-73AB71373E82}" srcId="{DB4B6251-1C0C-4C5B-81FB-F6A18C08AD50}" destId="{77A2EAAB-D301-4649-8C86-9A4B4F68968C}" srcOrd="0" destOrd="0" parTransId="{5973F1C8-8F7E-49B4-9B11-321D51D3BF3E}" sibTransId="{1B20357A-2B4F-4399-8EA5-0E54582AE25E}"/>
    <dgm:cxn modelId="{62122020-FA34-46B7-8B94-EF5501F18DCA}" type="presOf" srcId="{E63A045C-7D4C-4165-81C4-EAC1AD668757}" destId="{BA6A7A77-7483-4F8F-8A6D-DADA75A2EE38}" srcOrd="0" destOrd="0" presId="urn:microsoft.com/office/officeart/2005/8/layout/hList1"/>
    <dgm:cxn modelId="{47758C2B-1FF5-4B22-A6B8-3E160F57D4BF}" type="presOf" srcId="{DB4B6251-1C0C-4C5B-81FB-F6A18C08AD50}" destId="{722668D3-82CB-4CB9-A1EC-41112074807B}" srcOrd="0" destOrd="0" presId="urn:microsoft.com/office/officeart/2005/8/layout/hList1"/>
    <dgm:cxn modelId="{7EA7A42C-E75F-4F05-9706-315E332B63C4}" type="presOf" srcId="{4AA5F00B-0267-4340-8770-34C00D29D8DD}" destId="{03CAA8CF-B8FF-4A96-BD90-E761F435BCA9}" srcOrd="0" destOrd="2" presId="urn:microsoft.com/office/officeart/2005/8/layout/hList1"/>
    <dgm:cxn modelId="{96E1C62D-B20D-4136-9EC4-0B06269B3EBC}" srcId="{2F363870-D8CA-4885-9636-63A032A0FCA8}" destId="{EC78B3E4-84B3-41BB-9FE5-0EFF10B0BE08}" srcOrd="2" destOrd="0" parTransId="{A8AE3112-F254-493B-ACC4-DF8920A42E53}" sibTransId="{5F86412D-A2CD-4D5A-8D79-4E3F08DA2EDE}"/>
    <dgm:cxn modelId="{905F0238-E4EC-4E3F-A11F-83318030A0CF}" srcId="{2F363870-D8CA-4885-9636-63A032A0FCA8}" destId="{5BA50232-2FF1-423D-B5E1-64767808D35F}" srcOrd="1" destOrd="0" parTransId="{B35BEC6A-3B59-47A3-958C-DDBC1D23CBE2}" sibTransId="{5EC840A8-AC38-470D-B2BF-584A802E3D2D}"/>
    <dgm:cxn modelId="{57D9443D-EBAD-4D55-8DE3-310344F38D60}" srcId="{4BBB9D52-6BE3-492A-9A89-12C67C6A55B3}" destId="{2F363870-D8CA-4885-9636-63A032A0FCA8}" srcOrd="0" destOrd="0" parTransId="{CB9E7C36-683B-4398-BF5E-0B8E91A4710A}" sibTransId="{2C6EBFAE-E12D-4C4F-B4CA-FFB9BE7BA390}"/>
    <dgm:cxn modelId="{DBEB6544-C9F2-4932-B616-3520338F157E}" type="presOf" srcId="{EC78B3E4-84B3-41BB-9FE5-0EFF10B0BE08}" destId="{BA6A7A77-7483-4F8F-8A6D-DADA75A2EE38}" srcOrd="0" destOrd="2" presId="urn:microsoft.com/office/officeart/2005/8/layout/hList1"/>
    <dgm:cxn modelId="{9DAF1746-B7F3-421D-8BEE-6A045D998CE3}" type="presOf" srcId="{B345A6B7-93A6-4E4A-AA6E-BE65EE81D88C}" destId="{FC75EF59-F831-4FF6-9BEA-0360247483AA}" srcOrd="0" destOrd="0" presId="urn:microsoft.com/office/officeart/2005/8/layout/hList1"/>
    <dgm:cxn modelId="{A62B088F-3382-44AA-AB7E-85FD9189C05F}" type="presOf" srcId="{5BA50232-2FF1-423D-B5E1-64767808D35F}" destId="{BA6A7A77-7483-4F8F-8A6D-DADA75A2EE38}" srcOrd="0" destOrd="1" presId="urn:microsoft.com/office/officeart/2005/8/layout/hList1"/>
    <dgm:cxn modelId="{538A78A1-B7A3-42F8-92FA-45B09AFAE0AC}" type="presOf" srcId="{3E30A5B7-87FB-46F0-B263-D89A3581690F}" destId="{8033BD76-D727-46FE-9CB5-F487B39B5F75}" srcOrd="0" destOrd="0" presId="urn:microsoft.com/office/officeart/2005/8/layout/hList1"/>
    <dgm:cxn modelId="{10AA8BA5-9EDF-492B-BEFB-A6DF5414D9A1}" type="presOf" srcId="{5478FA6F-FD9F-4C14-8D29-057CD30B4DEF}" destId="{FC75EF59-F831-4FF6-9BEA-0360247483AA}" srcOrd="0" destOrd="1" presId="urn:microsoft.com/office/officeart/2005/8/layout/hList1"/>
    <dgm:cxn modelId="{7198F6AB-2632-4B68-AC80-30F5D4871D71}" type="presOf" srcId="{4BBB9D52-6BE3-492A-9A89-12C67C6A55B3}" destId="{FED95E46-49CB-4875-A4F7-5D9E05DACC39}" srcOrd="0" destOrd="0" presId="urn:microsoft.com/office/officeart/2005/8/layout/hList1"/>
    <dgm:cxn modelId="{E0FB66B5-6CF0-4385-84F9-8F0B0A1C23F2}" srcId="{4BBB9D52-6BE3-492A-9A89-12C67C6A55B3}" destId="{3E30A5B7-87FB-46F0-B263-D89A3581690F}" srcOrd="1" destOrd="0" parTransId="{54D675ED-D0D4-4B88-A18C-93EF1DDD546C}" sibTransId="{E2D67260-5EC7-4BE8-BF74-3B2894880018}"/>
    <dgm:cxn modelId="{5A59FDB6-DCB7-4764-A96C-756A4827B42A}" srcId="{2F363870-D8CA-4885-9636-63A032A0FCA8}" destId="{E63A045C-7D4C-4165-81C4-EAC1AD668757}" srcOrd="0" destOrd="0" parTransId="{E22EE33B-BEDD-43F3-805D-7171F8DD1C0E}" sibTransId="{F05C6963-DF7E-4F74-9319-C7452F1CBDC2}"/>
    <dgm:cxn modelId="{91C32EC3-20B9-4880-9C82-4BBB1E27CA13}" srcId="{3E30A5B7-87FB-46F0-B263-D89A3581690F}" destId="{1BC7F822-38DF-4A8E-9000-4E378BFA7977}" srcOrd="2" destOrd="0" parTransId="{EBBB5310-639C-4DAA-8954-95C0C2FA81C4}" sibTransId="{62EE0944-C5FB-4F63-B359-DD76B48F20AC}"/>
    <dgm:cxn modelId="{48E814D1-CA01-4D63-A53B-E094D4CCDE8B}" srcId="{4BBB9D52-6BE3-492A-9A89-12C67C6A55B3}" destId="{DB4B6251-1C0C-4C5B-81FB-F6A18C08AD50}" srcOrd="2" destOrd="0" parTransId="{DCB5E055-8772-410A-8ADD-D073E9682CBF}" sibTransId="{74128296-AD81-455E-B72E-B2DAC996D673}"/>
    <dgm:cxn modelId="{A2B4FAD3-2322-4228-A11A-1A7C595E934A}" type="presOf" srcId="{1BC7F822-38DF-4A8E-9000-4E378BFA7977}" destId="{FC75EF59-F831-4FF6-9BEA-0360247483AA}" srcOrd="0" destOrd="2" presId="urn:microsoft.com/office/officeart/2005/8/layout/hList1"/>
    <dgm:cxn modelId="{44EE68D6-C4D9-4A23-B9C2-B44FC2536412}" srcId="{DB4B6251-1C0C-4C5B-81FB-F6A18C08AD50}" destId="{4AA5F00B-0267-4340-8770-34C00D29D8DD}" srcOrd="2" destOrd="0" parTransId="{2E5B493C-99D4-420F-AE91-525745A0530E}" sibTransId="{2B711E31-4125-4FD1-84F3-384F9FB4E952}"/>
    <dgm:cxn modelId="{E790C7EB-9B9E-4D0E-B023-B5232A6A2316}" srcId="{DB4B6251-1C0C-4C5B-81FB-F6A18C08AD50}" destId="{9666558A-1769-4879-85C9-3D3CEA64FCDF}" srcOrd="1" destOrd="0" parTransId="{5F12266F-AD8A-431C-BEDC-C1090237FEC8}" sibTransId="{709E6931-8505-4D50-969F-9F12D9CA09F9}"/>
    <dgm:cxn modelId="{5302DFEB-DE16-4C59-8560-A02E3E1A636D}" type="presOf" srcId="{2F363870-D8CA-4885-9636-63A032A0FCA8}" destId="{95973832-D686-445F-8DBF-42CA0836251F}" srcOrd="0" destOrd="0" presId="urn:microsoft.com/office/officeart/2005/8/layout/hList1"/>
    <dgm:cxn modelId="{29372FEC-6BDB-450A-9028-6DCA668E6923}" type="presOf" srcId="{77A2EAAB-D301-4649-8C86-9A4B4F68968C}" destId="{03CAA8CF-B8FF-4A96-BD90-E761F435BCA9}" srcOrd="0" destOrd="0" presId="urn:microsoft.com/office/officeart/2005/8/layout/hList1"/>
    <dgm:cxn modelId="{9D8699F3-87D1-481E-8A05-8ADBAC217917}" type="presOf" srcId="{9666558A-1769-4879-85C9-3D3CEA64FCDF}" destId="{03CAA8CF-B8FF-4A96-BD90-E761F435BCA9}" srcOrd="0" destOrd="1" presId="urn:microsoft.com/office/officeart/2005/8/layout/hList1"/>
    <dgm:cxn modelId="{41A13FFE-DE9D-4826-B928-10CC20B97421}" srcId="{3E30A5B7-87FB-46F0-B263-D89A3581690F}" destId="{5478FA6F-FD9F-4C14-8D29-057CD30B4DEF}" srcOrd="1" destOrd="0" parTransId="{436E09B1-E484-4C55-A899-A30BE9214F1A}" sibTransId="{05CE4595-80DC-4037-AA83-256AC87053DE}"/>
    <dgm:cxn modelId="{F0FEE9FA-2230-4883-AED5-CE26C25608CA}" type="presParOf" srcId="{FED95E46-49CB-4875-A4F7-5D9E05DACC39}" destId="{24B98983-44C6-460A-9D81-A6C657BB1573}" srcOrd="0" destOrd="0" presId="urn:microsoft.com/office/officeart/2005/8/layout/hList1"/>
    <dgm:cxn modelId="{6DE01C0C-55B8-4DC7-A5AA-C450DDF4D408}" type="presParOf" srcId="{24B98983-44C6-460A-9D81-A6C657BB1573}" destId="{95973832-D686-445F-8DBF-42CA0836251F}" srcOrd="0" destOrd="0" presId="urn:microsoft.com/office/officeart/2005/8/layout/hList1"/>
    <dgm:cxn modelId="{2AEC7C92-FD27-496E-9163-760385D90A2E}" type="presParOf" srcId="{24B98983-44C6-460A-9D81-A6C657BB1573}" destId="{BA6A7A77-7483-4F8F-8A6D-DADA75A2EE38}" srcOrd="1" destOrd="0" presId="urn:microsoft.com/office/officeart/2005/8/layout/hList1"/>
    <dgm:cxn modelId="{5D226469-2FA9-42C8-8BC3-B5F31045B855}" type="presParOf" srcId="{FED95E46-49CB-4875-A4F7-5D9E05DACC39}" destId="{BD2A1728-FA76-4EFD-AE1B-21CB3916FD3A}" srcOrd="1" destOrd="0" presId="urn:microsoft.com/office/officeart/2005/8/layout/hList1"/>
    <dgm:cxn modelId="{D96421E6-637C-4C9D-A555-94D54D0144D5}" type="presParOf" srcId="{FED95E46-49CB-4875-A4F7-5D9E05DACC39}" destId="{93E1A5F2-8246-4B1C-893C-7ABD3EDA9BE6}" srcOrd="2" destOrd="0" presId="urn:microsoft.com/office/officeart/2005/8/layout/hList1"/>
    <dgm:cxn modelId="{1C77809E-9D8B-4EB0-8BC8-BBB42FF58FFE}" type="presParOf" srcId="{93E1A5F2-8246-4B1C-893C-7ABD3EDA9BE6}" destId="{8033BD76-D727-46FE-9CB5-F487B39B5F75}" srcOrd="0" destOrd="0" presId="urn:microsoft.com/office/officeart/2005/8/layout/hList1"/>
    <dgm:cxn modelId="{FE6FE72E-E6DB-4CFA-81A1-42DF818016E1}" type="presParOf" srcId="{93E1A5F2-8246-4B1C-893C-7ABD3EDA9BE6}" destId="{FC75EF59-F831-4FF6-9BEA-0360247483AA}" srcOrd="1" destOrd="0" presId="urn:microsoft.com/office/officeart/2005/8/layout/hList1"/>
    <dgm:cxn modelId="{07CAD00F-0088-4F75-9A57-A0DD7E858575}" type="presParOf" srcId="{FED95E46-49CB-4875-A4F7-5D9E05DACC39}" destId="{DF6F9631-0481-448D-BC6E-BFBBCDB8F5DB}" srcOrd="3" destOrd="0" presId="urn:microsoft.com/office/officeart/2005/8/layout/hList1"/>
    <dgm:cxn modelId="{77736B37-5802-4828-B95E-881D9D822047}" type="presParOf" srcId="{FED95E46-49CB-4875-A4F7-5D9E05DACC39}" destId="{348280F0-857D-4AEA-933C-1F525D538E89}" srcOrd="4" destOrd="0" presId="urn:microsoft.com/office/officeart/2005/8/layout/hList1"/>
    <dgm:cxn modelId="{FB436F13-C24B-4CBA-AA3A-13DFF3625555}" type="presParOf" srcId="{348280F0-857D-4AEA-933C-1F525D538E89}" destId="{722668D3-82CB-4CB9-A1EC-41112074807B}" srcOrd="0" destOrd="0" presId="urn:microsoft.com/office/officeart/2005/8/layout/hList1"/>
    <dgm:cxn modelId="{DA5CF2F1-A302-408A-BF52-AF45526623A2}" type="presParOf" srcId="{348280F0-857D-4AEA-933C-1F525D538E89}" destId="{03CAA8CF-B8FF-4A96-BD90-E761F435BC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BB9D52-6BE3-492A-9A89-12C67C6A55B3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pt-BR"/>
        </a:p>
      </dgm:t>
    </dgm:pt>
    <dgm:pt modelId="{2F363870-D8CA-4885-9636-63A032A0FCA8}">
      <dgm:prSet phldrT="[Texto]" custT="1"/>
      <dgm:spPr/>
      <dgm:t>
        <a:bodyPr/>
        <a:lstStyle/>
        <a:p>
          <a:r>
            <a:rPr lang="pt-BR" sz="2400" b="1" dirty="0" err="1">
              <a:latin typeface="+mn-lt"/>
            </a:rPr>
            <a:t>Random</a:t>
          </a:r>
          <a:r>
            <a:rPr lang="pt-BR" sz="2400" b="1" dirty="0">
              <a:latin typeface="+mn-lt"/>
            </a:rPr>
            <a:t> Forest</a:t>
          </a:r>
        </a:p>
      </dgm:t>
    </dgm:pt>
    <dgm:pt modelId="{CB9E7C36-683B-4398-BF5E-0B8E91A4710A}" type="parTrans" cxnId="{57D9443D-EBAD-4D55-8DE3-310344F38D60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2C6EBFAE-E12D-4C4F-B4CA-FFB9BE7BA390}" type="sibTrans" cxnId="{57D9443D-EBAD-4D55-8DE3-310344F38D60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E63A045C-7D4C-4165-81C4-EAC1AD668757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📌Alta complexidade, muitos atributos, busca por desempenho robusto</a:t>
          </a:r>
        </a:p>
      </dgm:t>
    </dgm:pt>
    <dgm:pt modelId="{E22EE33B-BEDD-43F3-805D-7171F8DD1C0E}" type="parTrans" cxnId="{5A59FDB6-DCB7-4764-A96C-756A4827B42A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F05C6963-DF7E-4F74-9319-C7452F1CBDC2}" type="sibTrans" cxnId="{5A59FDB6-DCB7-4764-A96C-756A4827B42A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5BA50232-2FF1-423D-B5E1-64767808D35F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✅Robusto a </a:t>
          </a:r>
          <a:r>
            <a:rPr lang="pt-BR" sz="1900" dirty="0" err="1">
              <a:latin typeface="+mn-lt"/>
            </a:rPr>
            <a:t>overfitting</a:t>
          </a:r>
          <a:r>
            <a:rPr lang="pt-BR" sz="1900" dirty="0">
              <a:latin typeface="+mn-lt"/>
            </a:rPr>
            <a:t>, lida bem com ruído e dados faltantes</a:t>
          </a:r>
        </a:p>
      </dgm:t>
    </dgm:pt>
    <dgm:pt modelId="{B35BEC6A-3B59-47A3-958C-DDBC1D23CBE2}" type="parTrans" cxnId="{905F0238-E4EC-4E3F-A11F-83318030A0CF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5EC840A8-AC38-470D-B2BF-584A802E3D2D}" type="sibTrans" cxnId="{905F0238-E4EC-4E3F-A11F-83318030A0CF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3E30A5B7-87FB-46F0-B263-D89A3581690F}">
      <dgm:prSet phldrT="[Texto]" custT="1"/>
      <dgm:spPr/>
      <dgm:t>
        <a:bodyPr/>
        <a:lstStyle/>
        <a:p>
          <a:r>
            <a:rPr lang="pt-BR" sz="2400" b="1" dirty="0" err="1">
              <a:latin typeface="+mn-lt"/>
            </a:rPr>
            <a:t>Support</a:t>
          </a:r>
          <a:r>
            <a:rPr lang="pt-BR" sz="2400" b="1" dirty="0">
              <a:latin typeface="+mn-lt"/>
            </a:rPr>
            <a:t> Vector </a:t>
          </a:r>
          <a:r>
            <a:rPr lang="pt-BR" sz="2400" b="1" dirty="0" err="1">
              <a:latin typeface="+mn-lt"/>
            </a:rPr>
            <a:t>Machines</a:t>
          </a:r>
          <a:r>
            <a:rPr lang="pt-BR" sz="2400" b="1" dirty="0">
              <a:latin typeface="+mn-lt"/>
            </a:rPr>
            <a:t> (SVM)</a:t>
          </a:r>
        </a:p>
      </dgm:t>
    </dgm:pt>
    <dgm:pt modelId="{54D675ED-D0D4-4B88-A18C-93EF1DDD546C}" type="parTrans" cxnId="{E0FB66B5-6CF0-4385-84F9-8F0B0A1C23F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E2D67260-5EC7-4BE8-BF74-3B2894880018}" type="sibTrans" cxnId="{E0FB66B5-6CF0-4385-84F9-8F0B0A1C23F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B345A6B7-93A6-4E4A-AA6E-BE65EE81D88C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📌Bases pequenas a médias, com margens bem definidas entre classes</a:t>
          </a:r>
        </a:p>
      </dgm:t>
    </dgm:pt>
    <dgm:pt modelId="{5EE0BD30-ECFF-4694-BB17-D01B1A0A5588}" type="parTrans" cxnId="{BB8F1401-767C-4986-A0B0-B6668D6A9BA7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078012A8-BF7F-47C1-9726-26758E2897FB}" type="sibTrans" cxnId="{BB8F1401-767C-4986-A0B0-B6668D6A9BA7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5478FA6F-FD9F-4C14-8D29-057CD30B4DEF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✅Funciona bem em alta dimensionalidade, margens claras</a:t>
          </a:r>
        </a:p>
      </dgm:t>
    </dgm:pt>
    <dgm:pt modelId="{436E09B1-E484-4C55-A899-A30BE9214F1A}" type="parTrans" cxnId="{41A13FFE-DE9D-4826-B928-10CC20B97421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05CE4595-80DC-4037-AA83-256AC87053DE}" type="sibTrans" cxnId="{41A13FFE-DE9D-4826-B928-10CC20B97421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DB4B6251-1C0C-4C5B-81FB-F6A18C08AD50}">
      <dgm:prSet phldrT="[Texto]" custT="1"/>
      <dgm:spPr/>
      <dgm:t>
        <a:bodyPr/>
        <a:lstStyle/>
        <a:p>
          <a:r>
            <a:rPr lang="pt-BR" sz="2400" b="1" dirty="0">
              <a:latin typeface="+mn-lt"/>
            </a:rPr>
            <a:t>Redes Neurais</a:t>
          </a:r>
        </a:p>
      </dgm:t>
    </dgm:pt>
    <dgm:pt modelId="{DCB5E055-8772-410A-8ADD-D073E9682CBF}" type="parTrans" cxnId="{48E814D1-CA01-4D63-A53B-E094D4CCDE8B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74128296-AD81-455E-B72E-B2DAC996D673}" type="sibTrans" cxnId="{48E814D1-CA01-4D63-A53B-E094D4CCDE8B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77A2EAAB-D301-4649-8C86-9A4B4F68968C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📌Grandes volumes de dados, padrões não lineares complexos</a:t>
          </a:r>
        </a:p>
      </dgm:t>
    </dgm:pt>
    <dgm:pt modelId="{5973F1C8-8F7E-49B4-9B11-321D51D3BF3E}" type="parTrans" cxnId="{C7D4AD0A-5A91-4A3C-B0BE-73AB71373E8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1B20357A-2B4F-4399-8EA5-0E54582AE25E}" type="sibTrans" cxnId="{C7D4AD0A-5A91-4A3C-B0BE-73AB71373E8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9666558A-1769-4879-85C9-3D3CEA64FCDF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✅Altamente flexível, aprende padrões complexos</a:t>
          </a:r>
        </a:p>
      </dgm:t>
    </dgm:pt>
    <dgm:pt modelId="{5F12266F-AD8A-431C-BEDC-C1090237FEC8}" type="parTrans" cxnId="{E790C7EB-9B9E-4D0E-B023-B5232A6A2316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709E6931-8505-4D50-969F-9F12D9CA09F9}" type="sibTrans" cxnId="{E790C7EB-9B9E-4D0E-B023-B5232A6A2316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EC78B3E4-84B3-41BB-9FE5-0EFF10B0BE08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⚠️Menos interpretável, mais lento que uma única árvore</a:t>
          </a:r>
        </a:p>
      </dgm:t>
    </dgm:pt>
    <dgm:pt modelId="{A8AE3112-F254-493B-ACC4-DF8920A42E53}" type="parTrans" cxnId="{96E1C62D-B20D-4136-9EC4-0B06269B3EBC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5F86412D-A2CD-4D5A-8D79-4E3F08DA2EDE}" type="sibTrans" cxnId="{96E1C62D-B20D-4136-9EC4-0B06269B3EBC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1BC7F822-38DF-4A8E-9000-4E378BFA7977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⚠️Requer escalonamento, sensível a parâmetros, lento com grandes volumes</a:t>
          </a:r>
        </a:p>
      </dgm:t>
    </dgm:pt>
    <dgm:pt modelId="{EBBB5310-639C-4DAA-8954-95C0C2FA81C4}" type="parTrans" cxnId="{91C32EC3-20B9-4880-9C82-4BBB1E27CA13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62EE0944-C5FB-4F63-B359-DD76B48F20AC}" type="sibTrans" cxnId="{91C32EC3-20B9-4880-9C82-4BBB1E27CA13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4AA5F00B-0267-4340-8770-34C00D29D8DD}">
      <dgm:prSet phldrT="[Texto]" custT="1"/>
      <dgm:spPr/>
      <dgm:t>
        <a:bodyPr/>
        <a:lstStyle/>
        <a:p>
          <a:r>
            <a:rPr lang="pt-BR" sz="1900" dirty="0">
              <a:latin typeface="+mn-lt"/>
            </a:rPr>
            <a:t>⚠️Requer muitos dados e poder computacional, difícil de interpretar</a:t>
          </a:r>
        </a:p>
      </dgm:t>
    </dgm:pt>
    <dgm:pt modelId="{2E5B493C-99D4-420F-AE91-525745A0530E}" type="parTrans" cxnId="{44EE68D6-C4D9-4A23-B9C2-B44FC253641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2B711E31-4125-4FD1-84F3-384F9FB4E952}" type="sibTrans" cxnId="{44EE68D6-C4D9-4A23-B9C2-B44FC2536412}">
      <dgm:prSet/>
      <dgm:spPr/>
      <dgm:t>
        <a:bodyPr/>
        <a:lstStyle/>
        <a:p>
          <a:endParaRPr lang="pt-BR" sz="1600">
            <a:latin typeface="+mn-lt"/>
          </a:endParaRPr>
        </a:p>
      </dgm:t>
    </dgm:pt>
    <dgm:pt modelId="{FED95E46-49CB-4875-A4F7-5D9E05DACC39}" type="pres">
      <dgm:prSet presAssocID="{4BBB9D52-6BE3-492A-9A89-12C67C6A55B3}" presName="Name0" presStyleCnt="0">
        <dgm:presLayoutVars>
          <dgm:dir/>
          <dgm:animLvl val="lvl"/>
          <dgm:resizeHandles val="exact"/>
        </dgm:presLayoutVars>
      </dgm:prSet>
      <dgm:spPr/>
    </dgm:pt>
    <dgm:pt modelId="{24B98983-44C6-460A-9D81-A6C657BB1573}" type="pres">
      <dgm:prSet presAssocID="{2F363870-D8CA-4885-9636-63A032A0FCA8}" presName="composite" presStyleCnt="0"/>
      <dgm:spPr/>
    </dgm:pt>
    <dgm:pt modelId="{95973832-D686-445F-8DBF-42CA0836251F}" type="pres">
      <dgm:prSet presAssocID="{2F363870-D8CA-4885-9636-63A032A0FCA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A6A7A77-7483-4F8F-8A6D-DADA75A2EE38}" type="pres">
      <dgm:prSet presAssocID="{2F363870-D8CA-4885-9636-63A032A0FCA8}" presName="desTx" presStyleLbl="alignAccFollowNode1" presStyleIdx="0" presStyleCnt="3">
        <dgm:presLayoutVars>
          <dgm:bulletEnabled val="1"/>
        </dgm:presLayoutVars>
      </dgm:prSet>
      <dgm:spPr/>
    </dgm:pt>
    <dgm:pt modelId="{BD2A1728-FA76-4EFD-AE1B-21CB3916FD3A}" type="pres">
      <dgm:prSet presAssocID="{2C6EBFAE-E12D-4C4F-B4CA-FFB9BE7BA390}" presName="space" presStyleCnt="0"/>
      <dgm:spPr/>
    </dgm:pt>
    <dgm:pt modelId="{93E1A5F2-8246-4B1C-893C-7ABD3EDA9BE6}" type="pres">
      <dgm:prSet presAssocID="{3E30A5B7-87FB-46F0-B263-D89A3581690F}" presName="composite" presStyleCnt="0"/>
      <dgm:spPr/>
    </dgm:pt>
    <dgm:pt modelId="{8033BD76-D727-46FE-9CB5-F487B39B5F75}" type="pres">
      <dgm:prSet presAssocID="{3E30A5B7-87FB-46F0-B263-D89A3581690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C75EF59-F831-4FF6-9BEA-0360247483AA}" type="pres">
      <dgm:prSet presAssocID="{3E30A5B7-87FB-46F0-B263-D89A3581690F}" presName="desTx" presStyleLbl="alignAccFollowNode1" presStyleIdx="1" presStyleCnt="3">
        <dgm:presLayoutVars>
          <dgm:bulletEnabled val="1"/>
        </dgm:presLayoutVars>
      </dgm:prSet>
      <dgm:spPr/>
    </dgm:pt>
    <dgm:pt modelId="{DF6F9631-0481-448D-BC6E-BFBBCDB8F5DB}" type="pres">
      <dgm:prSet presAssocID="{E2D67260-5EC7-4BE8-BF74-3B2894880018}" presName="space" presStyleCnt="0"/>
      <dgm:spPr/>
    </dgm:pt>
    <dgm:pt modelId="{348280F0-857D-4AEA-933C-1F525D538E89}" type="pres">
      <dgm:prSet presAssocID="{DB4B6251-1C0C-4C5B-81FB-F6A18C08AD50}" presName="composite" presStyleCnt="0"/>
      <dgm:spPr/>
    </dgm:pt>
    <dgm:pt modelId="{722668D3-82CB-4CB9-A1EC-41112074807B}" type="pres">
      <dgm:prSet presAssocID="{DB4B6251-1C0C-4C5B-81FB-F6A18C08AD5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3CAA8CF-B8FF-4A96-BD90-E761F435BCA9}" type="pres">
      <dgm:prSet presAssocID="{DB4B6251-1C0C-4C5B-81FB-F6A18C08AD5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B8F1401-767C-4986-A0B0-B6668D6A9BA7}" srcId="{3E30A5B7-87FB-46F0-B263-D89A3581690F}" destId="{B345A6B7-93A6-4E4A-AA6E-BE65EE81D88C}" srcOrd="0" destOrd="0" parTransId="{5EE0BD30-ECFF-4694-BB17-D01B1A0A5588}" sibTransId="{078012A8-BF7F-47C1-9726-26758E2897FB}"/>
    <dgm:cxn modelId="{C7D4AD0A-5A91-4A3C-B0BE-73AB71373E82}" srcId="{DB4B6251-1C0C-4C5B-81FB-F6A18C08AD50}" destId="{77A2EAAB-D301-4649-8C86-9A4B4F68968C}" srcOrd="0" destOrd="0" parTransId="{5973F1C8-8F7E-49B4-9B11-321D51D3BF3E}" sibTransId="{1B20357A-2B4F-4399-8EA5-0E54582AE25E}"/>
    <dgm:cxn modelId="{62122020-FA34-46B7-8B94-EF5501F18DCA}" type="presOf" srcId="{E63A045C-7D4C-4165-81C4-EAC1AD668757}" destId="{BA6A7A77-7483-4F8F-8A6D-DADA75A2EE38}" srcOrd="0" destOrd="0" presId="urn:microsoft.com/office/officeart/2005/8/layout/hList1"/>
    <dgm:cxn modelId="{47758C2B-1FF5-4B22-A6B8-3E160F57D4BF}" type="presOf" srcId="{DB4B6251-1C0C-4C5B-81FB-F6A18C08AD50}" destId="{722668D3-82CB-4CB9-A1EC-41112074807B}" srcOrd="0" destOrd="0" presId="urn:microsoft.com/office/officeart/2005/8/layout/hList1"/>
    <dgm:cxn modelId="{7EA7A42C-E75F-4F05-9706-315E332B63C4}" type="presOf" srcId="{4AA5F00B-0267-4340-8770-34C00D29D8DD}" destId="{03CAA8CF-B8FF-4A96-BD90-E761F435BCA9}" srcOrd="0" destOrd="2" presId="urn:microsoft.com/office/officeart/2005/8/layout/hList1"/>
    <dgm:cxn modelId="{96E1C62D-B20D-4136-9EC4-0B06269B3EBC}" srcId="{2F363870-D8CA-4885-9636-63A032A0FCA8}" destId="{EC78B3E4-84B3-41BB-9FE5-0EFF10B0BE08}" srcOrd="2" destOrd="0" parTransId="{A8AE3112-F254-493B-ACC4-DF8920A42E53}" sibTransId="{5F86412D-A2CD-4D5A-8D79-4E3F08DA2EDE}"/>
    <dgm:cxn modelId="{905F0238-E4EC-4E3F-A11F-83318030A0CF}" srcId="{2F363870-D8CA-4885-9636-63A032A0FCA8}" destId="{5BA50232-2FF1-423D-B5E1-64767808D35F}" srcOrd="1" destOrd="0" parTransId="{B35BEC6A-3B59-47A3-958C-DDBC1D23CBE2}" sibTransId="{5EC840A8-AC38-470D-B2BF-584A802E3D2D}"/>
    <dgm:cxn modelId="{57D9443D-EBAD-4D55-8DE3-310344F38D60}" srcId="{4BBB9D52-6BE3-492A-9A89-12C67C6A55B3}" destId="{2F363870-D8CA-4885-9636-63A032A0FCA8}" srcOrd="0" destOrd="0" parTransId="{CB9E7C36-683B-4398-BF5E-0B8E91A4710A}" sibTransId="{2C6EBFAE-E12D-4C4F-B4CA-FFB9BE7BA390}"/>
    <dgm:cxn modelId="{DBEB6544-C9F2-4932-B616-3520338F157E}" type="presOf" srcId="{EC78B3E4-84B3-41BB-9FE5-0EFF10B0BE08}" destId="{BA6A7A77-7483-4F8F-8A6D-DADA75A2EE38}" srcOrd="0" destOrd="2" presId="urn:microsoft.com/office/officeart/2005/8/layout/hList1"/>
    <dgm:cxn modelId="{9DAF1746-B7F3-421D-8BEE-6A045D998CE3}" type="presOf" srcId="{B345A6B7-93A6-4E4A-AA6E-BE65EE81D88C}" destId="{FC75EF59-F831-4FF6-9BEA-0360247483AA}" srcOrd="0" destOrd="0" presId="urn:microsoft.com/office/officeart/2005/8/layout/hList1"/>
    <dgm:cxn modelId="{A62B088F-3382-44AA-AB7E-85FD9189C05F}" type="presOf" srcId="{5BA50232-2FF1-423D-B5E1-64767808D35F}" destId="{BA6A7A77-7483-4F8F-8A6D-DADA75A2EE38}" srcOrd="0" destOrd="1" presId="urn:microsoft.com/office/officeart/2005/8/layout/hList1"/>
    <dgm:cxn modelId="{538A78A1-B7A3-42F8-92FA-45B09AFAE0AC}" type="presOf" srcId="{3E30A5B7-87FB-46F0-B263-D89A3581690F}" destId="{8033BD76-D727-46FE-9CB5-F487B39B5F75}" srcOrd="0" destOrd="0" presId="urn:microsoft.com/office/officeart/2005/8/layout/hList1"/>
    <dgm:cxn modelId="{10AA8BA5-9EDF-492B-BEFB-A6DF5414D9A1}" type="presOf" srcId="{5478FA6F-FD9F-4C14-8D29-057CD30B4DEF}" destId="{FC75EF59-F831-4FF6-9BEA-0360247483AA}" srcOrd="0" destOrd="1" presId="urn:microsoft.com/office/officeart/2005/8/layout/hList1"/>
    <dgm:cxn modelId="{7198F6AB-2632-4B68-AC80-30F5D4871D71}" type="presOf" srcId="{4BBB9D52-6BE3-492A-9A89-12C67C6A55B3}" destId="{FED95E46-49CB-4875-A4F7-5D9E05DACC39}" srcOrd="0" destOrd="0" presId="urn:microsoft.com/office/officeart/2005/8/layout/hList1"/>
    <dgm:cxn modelId="{E0FB66B5-6CF0-4385-84F9-8F0B0A1C23F2}" srcId="{4BBB9D52-6BE3-492A-9A89-12C67C6A55B3}" destId="{3E30A5B7-87FB-46F0-B263-D89A3581690F}" srcOrd="1" destOrd="0" parTransId="{54D675ED-D0D4-4B88-A18C-93EF1DDD546C}" sibTransId="{E2D67260-5EC7-4BE8-BF74-3B2894880018}"/>
    <dgm:cxn modelId="{5A59FDB6-DCB7-4764-A96C-756A4827B42A}" srcId="{2F363870-D8CA-4885-9636-63A032A0FCA8}" destId="{E63A045C-7D4C-4165-81C4-EAC1AD668757}" srcOrd="0" destOrd="0" parTransId="{E22EE33B-BEDD-43F3-805D-7171F8DD1C0E}" sibTransId="{F05C6963-DF7E-4F74-9319-C7452F1CBDC2}"/>
    <dgm:cxn modelId="{91C32EC3-20B9-4880-9C82-4BBB1E27CA13}" srcId="{3E30A5B7-87FB-46F0-B263-D89A3581690F}" destId="{1BC7F822-38DF-4A8E-9000-4E378BFA7977}" srcOrd="2" destOrd="0" parTransId="{EBBB5310-639C-4DAA-8954-95C0C2FA81C4}" sibTransId="{62EE0944-C5FB-4F63-B359-DD76B48F20AC}"/>
    <dgm:cxn modelId="{48E814D1-CA01-4D63-A53B-E094D4CCDE8B}" srcId="{4BBB9D52-6BE3-492A-9A89-12C67C6A55B3}" destId="{DB4B6251-1C0C-4C5B-81FB-F6A18C08AD50}" srcOrd="2" destOrd="0" parTransId="{DCB5E055-8772-410A-8ADD-D073E9682CBF}" sibTransId="{74128296-AD81-455E-B72E-B2DAC996D673}"/>
    <dgm:cxn modelId="{A2B4FAD3-2322-4228-A11A-1A7C595E934A}" type="presOf" srcId="{1BC7F822-38DF-4A8E-9000-4E378BFA7977}" destId="{FC75EF59-F831-4FF6-9BEA-0360247483AA}" srcOrd="0" destOrd="2" presId="urn:microsoft.com/office/officeart/2005/8/layout/hList1"/>
    <dgm:cxn modelId="{44EE68D6-C4D9-4A23-B9C2-B44FC2536412}" srcId="{DB4B6251-1C0C-4C5B-81FB-F6A18C08AD50}" destId="{4AA5F00B-0267-4340-8770-34C00D29D8DD}" srcOrd="2" destOrd="0" parTransId="{2E5B493C-99D4-420F-AE91-525745A0530E}" sibTransId="{2B711E31-4125-4FD1-84F3-384F9FB4E952}"/>
    <dgm:cxn modelId="{E790C7EB-9B9E-4D0E-B023-B5232A6A2316}" srcId="{DB4B6251-1C0C-4C5B-81FB-F6A18C08AD50}" destId="{9666558A-1769-4879-85C9-3D3CEA64FCDF}" srcOrd="1" destOrd="0" parTransId="{5F12266F-AD8A-431C-BEDC-C1090237FEC8}" sibTransId="{709E6931-8505-4D50-969F-9F12D9CA09F9}"/>
    <dgm:cxn modelId="{5302DFEB-DE16-4C59-8560-A02E3E1A636D}" type="presOf" srcId="{2F363870-D8CA-4885-9636-63A032A0FCA8}" destId="{95973832-D686-445F-8DBF-42CA0836251F}" srcOrd="0" destOrd="0" presId="urn:microsoft.com/office/officeart/2005/8/layout/hList1"/>
    <dgm:cxn modelId="{29372FEC-6BDB-450A-9028-6DCA668E6923}" type="presOf" srcId="{77A2EAAB-D301-4649-8C86-9A4B4F68968C}" destId="{03CAA8CF-B8FF-4A96-BD90-E761F435BCA9}" srcOrd="0" destOrd="0" presId="urn:microsoft.com/office/officeart/2005/8/layout/hList1"/>
    <dgm:cxn modelId="{9D8699F3-87D1-481E-8A05-8ADBAC217917}" type="presOf" srcId="{9666558A-1769-4879-85C9-3D3CEA64FCDF}" destId="{03CAA8CF-B8FF-4A96-BD90-E761F435BCA9}" srcOrd="0" destOrd="1" presId="urn:microsoft.com/office/officeart/2005/8/layout/hList1"/>
    <dgm:cxn modelId="{41A13FFE-DE9D-4826-B928-10CC20B97421}" srcId="{3E30A5B7-87FB-46F0-B263-D89A3581690F}" destId="{5478FA6F-FD9F-4C14-8D29-057CD30B4DEF}" srcOrd="1" destOrd="0" parTransId="{436E09B1-E484-4C55-A899-A30BE9214F1A}" sibTransId="{05CE4595-80DC-4037-AA83-256AC87053DE}"/>
    <dgm:cxn modelId="{F0FEE9FA-2230-4883-AED5-CE26C25608CA}" type="presParOf" srcId="{FED95E46-49CB-4875-A4F7-5D9E05DACC39}" destId="{24B98983-44C6-460A-9D81-A6C657BB1573}" srcOrd="0" destOrd="0" presId="urn:microsoft.com/office/officeart/2005/8/layout/hList1"/>
    <dgm:cxn modelId="{6DE01C0C-55B8-4DC7-A5AA-C450DDF4D408}" type="presParOf" srcId="{24B98983-44C6-460A-9D81-A6C657BB1573}" destId="{95973832-D686-445F-8DBF-42CA0836251F}" srcOrd="0" destOrd="0" presId="urn:microsoft.com/office/officeart/2005/8/layout/hList1"/>
    <dgm:cxn modelId="{2AEC7C92-FD27-496E-9163-760385D90A2E}" type="presParOf" srcId="{24B98983-44C6-460A-9D81-A6C657BB1573}" destId="{BA6A7A77-7483-4F8F-8A6D-DADA75A2EE38}" srcOrd="1" destOrd="0" presId="urn:microsoft.com/office/officeart/2005/8/layout/hList1"/>
    <dgm:cxn modelId="{5D226469-2FA9-42C8-8BC3-B5F31045B855}" type="presParOf" srcId="{FED95E46-49CB-4875-A4F7-5D9E05DACC39}" destId="{BD2A1728-FA76-4EFD-AE1B-21CB3916FD3A}" srcOrd="1" destOrd="0" presId="urn:microsoft.com/office/officeart/2005/8/layout/hList1"/>
    <dgm:cxn modelId="{D96421E6-637C-4C9D-A555-94D54D0144D5}" type="presParOf" srcId="{FED95E46-49CB-4875-A4F7-5D9E05DACC39}" destId="{93E1A5F2-8246-4B1C-893C-7ABD3EDA9BE6}" srcOrd="2" destOrd="0" presId="urn:microsoft.com/office/officeart/2005/8/layout/hList1"/>
    <dgm:cxn modelId="{1C77809E-9D8B-4EB0-8BC8-BBB42FF58FFE}" type="presParOf" srcId="{93E1A5F2-8246-4B1C-893C-7ABD3EDA9BE6}" destId="{8033BD76-D727-46FE-9CB5-F487B39B5F75}" srcOrd="0" destOrd="0" presId="urn:microsoft.com/office/officeart/2005/8/layout/hList1"/>
    <dgm:cxn modelId="{FE6FE72E-E6DB-4CFA-81A1-42DF818016E1}" type="presParOf" srcId="{93E1A5F2-8246-4B1C-893C-7ABD3EDA9BE6}" destId="{FC75EF59-F831-4FF6-9BEA-0360247483AA}" srcOrd="1" destOrd="0" presId="urn:microsoft.com/office/officeart/2005/8/layout/hList1"/>
    <dgm:cxn modelId="{07CAD00F-0088-4F75-9A57-A0DD7E858575}" type="presParOf" srcId="{FED95E46-49CB-4875-A4F7-5D9E05DACC39}" destId="{DF6F9631-0481-448D-BC6E-BFBBCDB8F5DB}" srcOrd="3" destOrd="0" presId="urn:microsoft.com/office/officeart/2005/8/layout/hList1"/>
    <dgm:cxn modelId="{77736B37-5802-4828-B95E-881D9D822047}" type="presParOf" srcId="{FED95E46-49CB-4875-A4F7-5D9E05DACC39}" destId="{348280F0-857D-4AEA-933C-1F525D538E89}" srcOrd="4" destOrd="0" presId="urn:microsoft.com/office/officeart/2005/8/layout/hList1"/>
    <dgm:cxn modelId="{FB436F13-C24B-4CBA-AA3A-13DFF3625555}" type="presParOf" srcId="{348280F0-857D-4AEA-933C-1F525D538E89}" destId="{722668D3-82CB-4CB9-A1EC-41112074807B}" srcOrd="0" destOrd="0" presId="urn:microsoft.com/office/officeart/2005/8/layout/hList1"/>
    <dgm:cxn modelId="{DA5CF2F1-A302-408A-BF52-AF45526623A2}" type="presParOf" srcId="{348280F0-857D-4AEA-933C-1F525D538E89}" destId="{03CAA8CF-B8FF-4A96-BD90-E761F435BC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73832-D686-445F-8DBF-42CA0836251F}">
      <dsp:nvSpPr>
        <dsp:cNvPr id="0" name=""/>
        <dsp:cNvSpPr/>
      </dsp:nvSpPr>
      <dsp:spPr>
        <a:xfrm>
          <a:off x="3150" y="10253"/>
          <a:ext cx="3071250" cy="86404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+mn-lt"/>
            </a:rPr>
            <a:t>Regressão Logística</a:t>
          </a:r>
        </a:p>
      </dsp:txBody>
      <dsp:txXfrm>
        <a:off x="3150" y="10253"/>
        <a:ext cx="3071250" cy="864048"/>
      </dsp:txXfrm>
    </dsp:sp>
    <dsp:sp modelId="{BA6A7A77-7483-4F8F-8A6D-DADA75A2EE38}">
      <dsp:nvSpPr>
        <dsp:cNvPr id="0" name=""/>
        <dsp:cNvSpPr/>
      </dsp:nvSpPr>
      <dsp:spPr>
        <a:xfrm>
          <a:off x="3150" y="868686"/>
          <a:ext cx="3071250" cy="32610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📌Problemas simples, lineares. Quando </a:t>
          </a:r>
          <a:r>
            <a:rPr lang="pt-BR" sz="2000" kern="1200" dirty="0" err="1">
              <a:latin typeface="+mn-lt"/>
            </a:rPr>
            <a:t>interpretabilidade</a:t>
          </a:r>
          <a:r>
            <a:rPr lang="pt-BR" sz="2000" kern="1200" dirty="0">
              <a:latin typeface="+mn-lt"/>
            </a:rPr>
            <a:t> é importante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✅Simples, rápido, saída probabilística, fácil de interpretar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⚠️Baixo desempenho em problemas não lineares</a:t>
          </a:r>
        </a:p>
      </dsp:txBody>
      <dsp:txXfrm>
        <a:off x="3150" y="868686"/>
        <a:ext cx="3071250" cy="3261060"/>
      </dsp:txXfrm>
    </dsp:sp>
    <dsp:sp modelId="{8033BD76-D727-46FE-9CB5-F487B39B5F75}">
      <dsp:nvSpPr>
        <dsp:cNvPr id="0" name=""/>
        <dsp:cNvSpPr/>
      </dsp:nvSpPr>
      <dsp:spPr>
        <a:xfrm>
          <a:off x="3504375" y="10253"/>
          <a:ext cx="3071250" cy="86404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+mn-lt"/>
            </a:rPr>
            <a:t>K-</a:t>
          </a:r>
          <a:r>
            <a:rPr lang="pt-BR" sz="2400" b="1" kern="1200" dirty="0" err="1">
              <a:latin typeface="+mn-lt"/>
            </a:rPr>
            <a:t>Nearest</a:t>
          </a:r>
          <a:r>
            <a:rPr lang="pt-BR" sz="2400" b="1" kern="1200" dirty="0">
              <a:latin typeface="+mn-lt"/>
            </a:rPr>
            <a:t> </a:t>
          </a:r>
          <a:r>
            <a:rPr lang="pt-BR" sz="2400" b="1" kern="1200" dirty="0" err="1">
              <a:latin typeface="+mn-lt"/>
            </a:rPr>
            <a:t>Neighbors</a:t>
          </a:r>
          <a:r>
            <a:rPr lang="pt-BR" sz="2400" b="1" kern="1200" dirty="0">
              <a:latin typeface="+mn-lt"/>
            </a:rPr>
            <a:t> (KNN)</a:t>
          </a:r>
        </a:p>
      </dsp:txBody>
      <dsp:txXfrm>
        <a:off x="3504375" y="10253"/>
        <a:ext cx="3071250" cy="864048"/>
      </dsp:txXfrm>
    </dsp:sp>
    <dsp:sp modelId="{FC75EF59-F831-4FF6-9BEA-0360247483AA}">
      <dsp:nvSpPr>
        <dsp:cNvPr id="0" name=""/>
        <dsp:cNvSpPr/>
      </dsp:nvSpPr>
      <dsp:spPr>
        <a:xfrm>
          <a:off x="3504375" y="868686"/>
          <a:ext cx="3071250" cy="32610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📌Bases pequenas e baixa dimensionalidade. Quando padrões locais importam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✅Simples, sem necessidade de treino, fácil de entender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⚠️Lento com muitos dados, sensível à escala e ao valor de K</a:t>
          </a:r>
        </a:p>
      </dsp:txBody>
      <dsp:txXfrm>
        <a:off x="3504375" y="868686"/>
        <a:ext cx="3071250" cy="3261060"/>
      </dsp:txXfrm>
    </dsp:sp>
    <dsp:sp modelId="{722668D3-82CB-4CB9-A1EC-41112074807B}">
      <dsp:nvSpPr>
        <dsp:cNvPr id="0" name=""/>
        <dsp:cNvSpPr/>
      </dsp:nvSpPr>
      <dsp:spPr>
        <a:xfrm>
          <a:off x="7005600" y="10253"/>
          <a:ext cx="3071250" cy="86404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+mn-lt"/>
            </a:rPr>
            <a:t>Árvores de Decisão</a:t>
          </a:r>
        </a:p>
      </dsp:txBody>
      <dsp:txXfrm>
        <a:off x="7005600" y="10253"/>
        <a:ext cx="3071250" cy="864048"/>
      </dsp:txXfrm>
    </dsp:sp>
    <dsp:sp modelId="{03CAA8CF-B8FF-4A96-BD90-E761F435BCA9}">
      <dsp:nvSpPr>
        <dsp:cNvPr id="0" name=""/>
        <dsp:cNvSpPr/>
      </dsp:nvSpPr>
      <dsp:spPr>
        <a:xfrm>
          <a:off x="7005600" y="868686"/>
          <a:ext cx="3071250" cy="32610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📌Problemas interpretáveis com regras claras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✅Fácil de interpretar, funciona com variáveis categóricas e numéricas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+mn-lt"/>
            </a:rPr>
            <a:t>⚠️Propenso a </a:t>
          </a:r>
          <a:r>
            <a:rPr lang="pt-BR" sz="2000" i="1" kern="1200" dirty="0" err="1">
              <a:latin typeface="+mn-lt"/>
            </a:rPr>
            <a:t>overfitting</a:t>
          </a:r>
          <a:r>
            <a:rPr lang="pt-BR" sz="2000" kern="1200" dirty="0">
              <a:latin typeface="+mn-lt"/>
            </a:rPr>
            <a:t>, instável com pequenas variações</a:t>
          </a:r>
        </a:p>
      </dsp:txBody>
      <dsp:txXfrm>
        <a:off x="7005600" y="868686"/>
        <a:ext cx="3071250" cy="3261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73832-D686-445F-8DBF-42CA0836251F}">
      <dsp:nvSpPr>
        <dsp:cNvPr id="0" name=""/>
        <dsp:cNvSpPr/>
      </dsp:nvSpPr>
      <dsp:spPr>
        <a:xfrm>
          <a:off x="3150" y="11397"/>
          <a:ext cx="3071250" cy="103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 err="1">
              <a:latin typeface="+mn-lt"/>
            </a:rPr>
            <a:t>Random</a:t>
          </a:r>
          <a:r>
            <a:rPr lang="pt-BR" sz="2400" b="1" kern="1200" dirty="0">
              <a:latin typeface="+mn-lt"/>
            </a:rPr>
            <a:t> Forest</a:t>
          </a:r>
        </a:p>
      </dsp:txBody>
      <dsp:txXfrm>
        <a:off x="3150" y="11397"/>
        <a:ext cx="3071250" cy="1036800"/>
      </dsp:txXfrm>
    </dsp:sp>
    <dsp:sp modelId="{BA6A7A77-7483-4F8F-8A6D-DADA75A2EE38}">
      <dsp:nvSpPr>
        <dsp:cNvPr id="0" name=""/>
        <dsp:cNvSpPr/>
      </dsp:nvSpPr>
      <dsp:spPr>
        <a:xfrm>
          <a:off x="3150" y="1048197"/>
          <a:ext cx="3071250" cy="308040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📌Alta complexidade, muitos atributos, busca por desempenho robusto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✅Robusto a </a:t>
          </a:r>
          <a:r>
            <a:rPr lang="pt-BR" sz="1900" kern="1200" dirty="0" err="1">
              <a:latin typeface="+mn-lt"/>
            </a:rPr>
            <a:t>overfitting</a:t>
          </a:r>
          <a:r>
            <a:rPr lang="pt-BR" sz="1900" kern="1200" dirty="0">
              <a:latin typeface="+mn-lt"/>
            </a:rPr>
            <a:t>, lida bem com ruído e dados faltantes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⚠️Menos interpretável, mais lento que uma única árvore</a:t>
          </a:r>
        </a:p>
      </dsp:txBody>
      <dsp:txXfrm>
        <a:off x="3150" y="1048197"/>
        <a:ext cx="3071250" cy="3080404"/>
      </dsp:txXfrm>
    </dsp:sp>
    <dsp:sp modelId="{8033BD76-D727-46FE-9CB5-F487B39B5F75}">
      <dsp:nvSpPr>
        <dsp:cNvPr id="0" name=""/>
        <dsp:cNvSpPr/>
      </dsp:nvSpPr>
      <dsp:spPr>
        <a:xfrm>
          <a:off x="3504375" y="11397"/>
          <a:ext cx="3071250" cy="103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 err="1">
              <a:latin typeface="+mn-lt"/>
            </a:rPr>
            <a:t>Support</a:t>
          </a:r>
          <a:r>
            <a:rPr lang="pt-BR" sz="2400" b="1" kern="1200" dirty="0">
              <a:latin typeface="+mn-lt"/>
            </a:rPr>
            <a:t> Vector </a:t>
          </a:r>
          <a:r>
            <a:rPr lang="pt-BR" sz="2400" b="1" kern="1200" dirty="0" err="1">
              <a:latin typeface="+mn-lt"/>
            </a:rPr>
            <a:t>Machines</a:t>
          </a:r>
          <a:r>
            <a:rPr lang="pt-BR" sz="2400" b="1" kern="1200" dirty="0">
              <a:latin typeface="+mn-lt"/>
            </a:rPr>
            <a:t> (SVM)</a:t>
          </a:r>
        </a:p>
      </dsp:txBody>
      <dsp:txXfrm>
        <a:off x="3504375" y="11397"/>
        <a:ext cx="3071250" cy="1036800"/>
      </dsp:txXfrm>
    </dsp:sp>
    <dsp:sp modelId="{FC75EF59-F831-4FF6-9BEA-0360247483AA}">
      <dsp:nvSpPr>
        <dsp:cNvPr id="0" name=""/>
        <dsp:cNvSpPr/>
      </dsp:nvSpPr>
      <dsp:spPr>
        <a:xfrm>
          <a:off x="3504375" y="1048197"/>
          <a:ext cx="3071250" cy="308040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📌Bases pequenas a médias, com margens bem definidas entre classes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✅Funciona bem em alta dimensionalidade, margens claras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⚠️Requer escalonamento, sensível a parâmetros, lento com grandes volumes</a:t>
          </a:r>
        </a:p>
      </dsp:txBody>
      <dsp:txXfrm>
        <a:off x="3504375" y="1048197"/>
        <a:ext cx="3071250" cy="3080404"/>
      </dsp:txXfrm>
    </dsp:sp>
    <dsp:sp modelId="{722668D3-82CB-4CB9-A1EC-41112074807B}">
      <dsp:nvSpPr>
        <dsp:cNvPr id="0" name=""/>
        <dsp:cNvSpPr/>
      </dsp:nvSpPr>
      <dsp:spPr>
        <a:xfrm>
          <a:off x="7005600" y="11397"/>
          <a:ext cx="3071250" cy="103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+mn-lt"/>
            </a:rPr>
            <a:t>Redes Neurais</a:t>
          </a:r>
        </a:p>
      </dsp:txBody>
      <dsp:txXfrm>
        <a:off x="7005600" y="11397"/>
        <a:ext cx="3071250" cy="1036800"/>
      </dsp:txXfrm>
    </dsp:sp>
    <dsp:sp modelId="{03CAA8CF-B8FF-4A96-BD90-E761F435BCA9}">
      <dsp:nvSpPr>
        <dsp:cNvPr id="0" name=""/>
        <dsp:cNvSpPr/>
      </dsp:nvSpPr>
      <dsp:spPr>
        <a:xfrm>
          <a:off x="7005600" y="1048197"/>
          <a:ext cx="3071250" cy="308040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📌Grandes volumes de dados, padrões não lineares complexos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✅Altamente flexível, aprende padrões complexos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>
              <a:latin typeface="+mn-lt"/>
            </a:rPr>
            <a:t>⚠️Requer muitos dados e poder computacional, difícil de interpretar</a:t>
          </a:r>
        </a:p>
      </dsp:txBody>
      <dsp:txXfrm>
        <a:off x="7005600" y="1048197"/>
        <a:ext cx="3071250" cy="3080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Abordagens baseadas em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lnSpcReduction="10000"/>
          </a:bodyPr>
          <a:lstStyle/>
          <a:p>
            <a:r>
              <a:rPr lang="pt-BR" sz="2700" dirty="0"/>
              <a:t>Explicar como o aprendizado supervisionado utiliza grandes conjuntos de dados para ensinar algoritmos a reconhecer padrões de sentimento em textos</a:t>
            </a:r>
          </a:p>
          <a:p>
            <a:r>
              <a:rPr lang="pt-BR" sz="2700" dirty="0"/>
              <a:t>Descrever o fluxo de trabalho de um modelo clássico de machine learning, englobando a coleta de dados, a engenharia de features e o treinamento do classificador</a:t>
            </a:r>
          </a:p>
          <a:p>
            <a:r>
              <a:rPr lang="pt-BR" sz="2700" dirty="0"/>
              <a:t>Comparar diversos algoritmos de classificação com base em critérios de </a:t>
            </a:r>
            <a:r>
              <a:rPr lang="pt-BR" sz="2700" dirty="0" err="1"/>
              <a:t>interpretabilidade</a:t>
            </a:r>
            <a:r>
              <a:rPr lang="pt-BR" sz="2700" dirty="0"/>
              <a:t>, complexidade e requisitos de amostra</a:t>
            </a:r>
          </a:p>
          <a:p>
            <a:r>
              <a:rPr lang="pt-BR" sz="2700" dirty="0"/>
              <a:t>Avaliar as limitações das abordagens clássicas em relação a modelos modernos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561E1C-4EBA-76D5-D225-E6EFD91AFBF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 o aumento da disponibilidade de dados rotulados, foi possível usar métodos de aprendizado supervisionado</a:t>
            </a:r>
          </a:p>
          <a:p>
            <a:pPr lvl="1"/>
            <a:r>
              <a:rPr lang="pt-BR" dirty="0"/>
              <a:t>Reviews e avaliações ⭐ de lojas virtuais como </a:t>
            </a:r>
            <a:r>
              <a:rPr lang="pt-BR" dirty="0" err="1"/>
              <a:t>Amazon</a:t>
            </a:r>
            <a:endParaRPr lang="pt-BR" dirty="0"/>
          </a:p>
          <a:p>
            <a:r>
              <a:rPr lang="pt-BR" dirty="0"/>
              <a:t>Assim, os algoritmos podem aprender as regras a partir de exemplos</a:t>
            </a:r>
          </a:p>
          <a:p>
            <a:r>
              <a:rPr lang="pt-BR" dirty="0"/>
              <a:t>Geralmente, superam as abordagens baseadas em léxico porque aprendem padrões específicos do domínio nos dados de treino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Abordagens baseadas em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37134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561E1C-4EBA-76D5-D225-E6EFD91AFBF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Identificar opiniões e sentimentos de um texto, usando estratégias clássicas de </a:t>
            </a:r>
            <a:r>
              <a:rPr lang="pt-BR" b="1" i="1" dirty="0">
                <a:solidFill>
                  <a:srgbClr val="0070C0"/>
                </a:solidFill>
              </a:rPr>
              <a:t>machine learning</a:t>
            </a:r>
            <a:endParaRPr lang="pt-BR" b="1" dirty="0">
              <a:solidFill>
                <a:srgbClr val="0070C0"/>
              </a:solidFill>
            </a:endParaRPr>
          </a:p>
          <a:p>
            <a:r>
              <a:rPr lang="pt-BR" dirty="0"/>
              <a:t>Transforma os textos em </a:t>
            </a:r>
            <a:r>
              <a:rPr lang="pt-BR" b="1" dirty="0">
                <a:solidFill>
                  <a:srgbClr val="0070C0"/>
                </a:solidFill>
              </a:rPr>
              <a:t>representações numéricas</a:t>
            </a:r>
            <a:r>
              <a:rPr lang="pt-BR" dirty="0"/>
              <a:t> para o processamento dos modelos</a:t>
            </a:r>
          </a:p>
          <a:p>
            <a:r>
              <a:rPr lang="pt-BR" dirty="0"/>
              <a:t>Trabalha com </a:t>
            </a:r>
            <a:r>
              <a:rPr lang="pt-BR" b="1" dirty="0">
                <a:solidFill>
                  <a:srgbClr val="0070C0"/>
                </a:solidFill>
              </a:rPr>
              <a:t>aprendizado supervisionado </a:t>
            </a:r>
            <a:r>
              <a:rPr lang="pt-BR" dirty="0"/>
              <a:t>para gerar </a:t>
            </a:r>
            <a:r>
              <a:rPr lang="pt-BR" b="1" dirty="0">
                <a:solidFill>
                  <a:srgbClr val="0070C0"/>
                </a:solidFill>
              </a:rPr>
              <a:t>modelos de classificação</a:t>
            </a:r>
            <a:r>
              <a:rPr lang="pt-BR" dirty="0"/>
              <a:t> de textos rotulados (positivo, negativo e neutro) </a:t>
            </a:r>
          </a:p>
          <a:p>
            <a:pPr lvl="1"/>
            <a:r>
              <a:rPr lang="pt-BR" dirty="0"/>
              <a:t>Algoritmo aprende padrões nas palavras para gerar um modelo classificador de sentimento que indicam sentimento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Abordagens baseadas em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308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AC7EC846-7C50-5031-0729-15DFF1C3ECC2}"/>
              </a:ext>
            </a:extLst>
          </p:cNvPr>
          <p:cNvSpPr txBox="1"/>
          <p:nvPr/>
        </p:nvSpPr>
        <p:spPr>
          <a:xfrm>
            <a:off x="3883997" y="598940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98AF4AC-457D-B078-46CC-42CE1B75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42987"/>
            <a:ext cx="97536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4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519A2E-F363-45AE-D525-737C0F30A9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92612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Coleta de dados rotulados</a:t>
            </a:r>
          </a:p>
          <a:p>
            <a:pPr lvl="1"/>
            <a:r>
              <a:rPr lang="pt-BR" dirty="0"/>
              <a:t>Um grande conjunto de textos (</a:t>
            </a:r>
            <a:r>
              <a:rPr lang="pt-BR" i="1" dirty="0"/>
              <a:t>corpus</a:t>
            </a:r>
            <a:r>
              <a:rPr lang="pt-BR" dirty="0"/>
              <a:t>) onde cada texto já foi classificado por humanos como positivo ou negativo</a:t>
            </a:r>
          </a:p>
          <a:p>
            <a:r>
              <a:rPr lang="pt-BR" dirty="0"/>
              <a:t>Extração de características e engenharia de </a:t>
            </a:r>
            <a:r>
              <a:rPr lang="pt-BR" i="1" dirty="0"/>
              <a:t>features</a:t>
            </a:r>
          </a:p>
          <a:p>
            <a:pPr lvl="1"/>
            <a:r>
              <a:rPr lang="pt-BR" dirty="0"/>
              <a:t>Representação numérica do texto</a:t>
            </a:r>
          </a:p>
          <a:p>
            <a:pPr lvl="2"/>
            <a:r>
              <a:rPr lang="pt-BR" dirty="0"/>
              <a:t>Usar técnicas de vetorização como </a:t>
            </a:r>
            <a:r>
              <a:rPr lang="pt-BR" i="1" dirty="0"/>
              <a:t>Bag </a:t>
            </a:r>
            <a:r>
              <a:rPr lang="pt-BR" i="1" dirty="0" err="1"/>
              <a:t>of</a:t>
            </a:r>
            <a:r>
              <a:rPr lang="pt-BR" i="1" dirty="0"/>
              <a:t> Words </a:t>
            </a:r>
            <a:r>
              <a:rPr lang="pt-BR" dirty="0"/>
              <a:t>(</a:t>
            </a:r>
            <a:r>
              <a:rPr lang="pt-BR" dirty="0" err="1"/>
              <a:t>BoW</a:t>
            </a:r>
            <a:r>
              <a:rPr lang="pt-BR" dirty="0"/>
              <a:t>), TF-IDF e n-gramas</a:t>
            </a:r>
            <a:endParaRPr lang="pt-BR" i="1" dirty="0"/>
          </a:p>
          <a:p>
            <a:pPr lvl="1"/>
            <a:r>
              <a:rPr lang="pt-BR" dirty="0"/>
              <a:t>Pode extrair características adicionais como comprimento do texto, presença de pontuação, polaridade de palavras individuais (usando léxicos)</a:t>
            </a:r>
          </a:p>
          <a:p>
            <a:r>
              <a:rPr lang="pt-BR" dirty="0"/>
              <a:t>Treinamento do modelo</a:t>
            </a:r>
          </a:p>
          <a:p>
            <a:pPr lvl="1"/>
            <a:r>
              <a:rPr lang="pt-BR" dirty="0"/>
              <a:t>O vetor numérico é alimentado em um algoritmo classificador</a:t>
            </a:r>
          </a:p>
          <a:p>
            <a:pPr lvl="1"/>
            <a:r>
              <a:rPr lang="pt-BR" dirty="0"/>
              <a:t>Algoritmo aprende padrões nos dados de treino rotulados</a:t>
            </a:r>
          </a:p>
          <a:p>
            <a:pPr lvl="1"/>
            <a:r>
              <a:rPr lang="pt-BR" dirty="0"/>
              <a:t>Gera o modelo classificador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Abordagens baseadas em Machine Learning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2911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5E39CA20-CFC4-1C12-5424-8974DD7ABCBE}"/>
              </a:ext>
            </a:extLst>
          </p:cNvPr>
          <p:cNvSpPr txBox="1"/>
          <p:nvPr/>
        </p:nvSpPr>
        <p:spPr>
          <a:xfrm>
            <a:off x="3883999" y="60099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696659-2448-B71B-244B-B3F4DF4B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596021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5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04C9B-B1E6-462D-9991-EC1E7F49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Processo de classificação</a:t>
            </a:r>
            <a:endParaRPr lang="pt-BR" sz="44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B8F6060-08EE-AF49-FE26-8A8765E7611E}"/>
              </a:ext>
            </a:extLst>
          </p:cNvPr>
          <p:cNvGrpSpPr/>
          <p:nvPr/>
        </p:nvGrpSpPr>
        <p:grpSpPr>
          <a:xfrm>
            <a:off x="2552247" y="1598882"/>
            <a:ext cx="7087505" cy="4222758"/>
            <a:chOff x="2507306" y="2045922"/>
            <a:chExt cx="7087505" cy="4222758"/>
          </a:xfrm>
        </p:grpSpPr>
        <p:sp>
          <p:nvSpPr>
            <p:cNvPr id="18" name="AutoShape 9">
              <a:extLst>
                <a:ext uri="{FF2B5EF4-FFF2-40B4-BE49-F238E27FC236}">
                  <a16:creationId xmlns:a16="http://schemas.microsoft.com/office/drawing/2014/main" id="{9E69FBD9-7976-4B5F-AC84-EC6054B08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038" y="2752158"/>
              <a:ext cx="969490" cy="360363"/>
            </a:xfrm>
            <a:prstGeom prst="rightArrow">
              <a:avLst>
                <a:gd name="adj1" fmla="val 50000"/>
                <a:gd name="adj2" fmla="val 39648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AutoShape 10">
              <a:extLst>
                <a:ext uri="{FF2B5EF4-FFF2-40B4-BE49-F238E27FC236}">
                  <a16:creationId xmlns:a16="http://schemas.microsoft.com/office/drawing/2014/main" id="{D27D5DC2-344D-4645-AB0A-928D0EFF5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506" y="4903764"/>
              <a:ext cx="706985" cy="360362"/>
            </a:xfrm>
            <a:prstGeom prst="rightArrow">
              <a:avLst>
                <a:gd name="adj1" fmla="val 50000"/>
                <a:gd name="adj2" fmla="val 34692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pt-BR"/>
            </a:p>
          </p:txBody>
        </p:sp>
        <p:sp>
          <p:nvSpPr>
            <p:cNvPr id="31" name="AutoShape 10">
              <a:extLst>
                <a:ext uri="{FF2B5EF4-FFF2-40B4-BE49-F238E27FC236}">
                  <a16:creationId xmlns:a16="http://schemas.microsoft.com/office/drawing/2014/main" id="{73C4F703-8EAB-4E4E-802D-A1EF5F12FE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191350" y="3690224"/>
              <a:ext cx="840561" cy="360362"/>
            </a:xfrm>
            <a:prstGeom prst="rightArrow">
              <a:avLst>
                <a:gd name="adj1" fmla="val 50000"/>
                <a:gd name="adj2" fmla="val 34692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pt-BR"/>
            </a:p>
          </p:txBody>
        </p:sp>
        <p:sp>
          <p:nvSpPr>
            <p:cNvPr id="32" name="Rectangle 14">
              <a:extLst>
                <a:ext uri="{FF2B5EF4-FFF2-40B4-BE49-F238E27FC236}">
                  <a16:creationId xmlns:a16="http://schemas.microsoft.com/office/drawing/2014/main" id="{DE0184B3-5F9E-4E9C-BCCC-63341D7B2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306" y="4915949"/>
              <a:ext cx="1624062" cy="40011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pt-BR" dirty="0"/>
                <a:t> x</a:t>
              </a:r>
              <a:r>
                <a:rPr lang="en-US" altLang="pt-BR" sz="1600" baseline="-25000" dirty="0"/>
                <a:t>11</a:t>
              </a:r>
              <a:r>
                <a:rPr lang="en-US" altLang="pt-BR" dirty="0"/>
                <a:t>   x</a:t>
              </a:r>
              <a:r>
                <a:rPr lang="en-US" altLang="pt-BR" sz="1600" baseline="-25000" dirty="0"/>
                <a:t>12</a:t>
              </a:r>
              <a:r>
                <a:rPr lang="en-US" altLang="pt-BR" dirty="0"/>
                <a:t> …  x</a:t>
              </a:r>
              <a:r>
                <a:rPr lang="en-US" altLang="pt-BR" sz="1600" baseline="-25000" dirty="0"/>
                <a:t>1m</a:t>
              </a:r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FFA3D2C3-191E-4325-883D-E3AEBA2E5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631" y="4915949"/>
              <a:ext cx="503237" cy="40011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pt-BR" dirty="0"/>
                <a:t> ?</a:t>
              </a:r>
            </a:p>
          </p:txBody>
        </p:sp>
        <p:sp>
          <p:nvSpPr>
            <p:cNvPr id="37" name="Text Box 29">
              <a:extLst>
                <a:ext uri="{FF2B5EF4-FFF2-40B4-BE49-F238E27FC236}">
                  <a16:creationId xmlns:a16="http://schemas.microsoft.com/office/drawing/2014/main" id="{85BDA202-BD31-43BE-AD97-77DDE23DF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7284" y="5391227"/>
              <a:ext cx="155048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sz="2000" b="1" dirty="0"/>
                <a:t>Novos dados</a:t>
              </a:r>
            </a:p>
          </p:txBody>
        </p:sp>
        <p:pic>
          <p:nvPicPr>
            <p:cNvPr id="39" name="Imagem 38">
              <a:extLst>
                <a:ext uri="{FF2B5EF4-FFF2-40B4-BE49-F238E27FC236}">
                  <a16:creationId xmlns:a16="http://schemas.microsoft.com/office/drawing/2014/main" id="{B6FB8917-FD0C-45FB-A5E3-48F40489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340" y="2354703"/>
              <a:ext cx="1056582" cy="1056582"/>
            </a:xfrm>
            <a:prstGeom prst="rect">
              <a:avLst/>
            </a:prstGeom>
          </p:spPr>
        </p:pic>
        <p:sp>
          <p:nvSpPr>
            <p:cNvPr id="47" name="Rectangle 14">
              <a:extLst>
                <a:ext uri="{FF2B5EF4-FFF2-40B4-BE49-F238E27FC236}">
                  <a16:creationId xmlns:a16="http://schemas.microsoft.com/office/drawing/2014/main" id="{C6E076A0-1FAE-46E6-8A37-BE7D0A1AA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698" y="2520106"/>
              <a:ext cx="1624062" cy="8651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pt-BR" dirty="0"/>
                <a:t> x</a:t>
              </a:r>
              <a:r>
                <a:rPr lang="en-US" altLang="pt-BR" sz="1600" baseline="-25000" dirty="0"/>
                <a:t>11</a:t>
              </a:r>
              <a:r>
                <a:rPr lang="en-US" altLang="pt-BR" dirty="0"/>
                <a:t>   x</a:t>
              </a:r>
              <a:r>
                <a:rPr lang="en-US" altLang="pt-BR" sz="1600" baseline="-25000" dirty="0"/>
                <a:t>12</a:t>
              </a:r>
              <a:r>
                <a:rPr lang="en-US" altLang="pt-BR" dirty="0"/>
                <a:t> …  x</a:t>
              </a:r>
              <a:r>
                <a:rPr lang="en-US" altLang="pt-BR" sz="1600" baseline="-25000" dirty="0"/>
                <a:t>1m</a:t>
              </a:r>
            </a:p>
            <a:p>
              <a:pPr algn="ctr"/>
              <a:r>
                <a:rPr lang="en-US" altLang="pt-BR" dirty="0"/>
                <a:t>…       …       …    </a:t>
              </a:r>
            </a:p>
            <a:p>
              <a:pPr algn="ctr"/>
              <a:r>
                <a:rPr lang="en-US" altLang="pt-BR" dirty="0"/>
                <a:t>x</a:t>
              </a:r>
              <a:r>
                <a:rPr lang="en-US" altLang="pt-BR" sz="1600" baseline="-25000" dirty="0"/>
                <a:t>n1</a:t>
              </a:r>
              <a:r>
                <a:rPr lang="en-US" altLang="pt-BR" dirty="0"/>
                <a:t>   x</a:t>
              </a:r>
              <a:r>
                <a:rPr lang="en-US" altLang="pt-BR" sz="1600" baseline="-25000" dirty="0"/>
                <a:t>n2</a:t>
              </a:r>
              <a:r>
                <a:rPr lang="en-US" altLang="pt-BR" dirty="0"/>
                <a:t> …  </a:t>
              </a:r>
              <a:r>
                <a:rPr lang="en-US" altLang="pt-BR" dirty="0" err="1"/>
                <a:t>x</a:t>
              </a:r>
              <a:r>
                <a:rPr lang="en-US" altLang="pt-BR" sz="1600" baseline="-25000" dirty="0" err="1"/>
                <a:t>nm</a:t>
              </a:r>
              <a:endParaRPr lang="en-US" altLang="pt-BR" sz="1600" baseline="-25000" dirty="0"/>
            </a:p>
          </p:txBody>
        </p:sp>
        <p:sp>
          <p:nvSpPr>
            <p:cNvPr id="48" name="Rectangle 28">
              <a:extLst>
                <a:ext uri="{FF2B5EF4-FFF2-40B4-BE49-F238E27FC236}">
                  <a16:creationId xmlns:a16="http://schemas.microsoft.com/office/drawing/2014/main" id="{43116947-D33A-485F-B85A-B8E2FFF2E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023" y="2520106"/>
              <a:ext cx="503237" cy="86518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pt-BR" dirty="0"/>
                <a:t> c</a:t>
              </a:r>
              <a:r>
                <a:rPr lang="en-US" altLang="pt-BR" sz="1600" baseline="-25000" dirty="0"/>
                <a:t>1</a:t>
              </a:r>
              <a:r>
                <a:rPr lang="en-US" altLang="pt-BR" dirty="0"/>
                <a:t> </a:t>
              </a:r>
            </a:p>
            <a:p>
              <a:pPr algn="ctr"/>
              <a:r>
                <a:rPr lang="en-US" altLang="pt-BR" dirty="0"/>
                <a:t>…</a:t>
              </a:r>
            </a:p>
            <a:p>
              <a:pPr algn="ctr"/>
              <a:r>
                <a:rPr lang="en-US" altLang="pt-BR" dirty="0" err="1"/>
                <a:t>c</a:t>
              </a:r>
              <a:r>
                <a:rPr lang="en-US" altLang="pt-BR" sz="1600" baseline="-25000" dirty="0" err="1"/>
                <a:t>n</a:t>
              </a:r>
              <a:endParaRPr lang="en-US" altLang="pt-BR" sz="1600" baseline="-25000" dirty="0"/>
            </a:p>
          </p:txBody>
        </p:sp>
        <p:sp>
          <p:nvSpPr>
            <p:cNvPr id="49" name="Text Box 29">
              <a:extLst>
                <a:ext uri="{FF2B5EF4-FFF2-40B4-BE49-F238E27FC236}">
                  <a16:creationId xmlns:a16="http://schemas.microsoft.com/office/drawing/2014/main" id="{82F4B087-2E75-4300-8DFA-9696FA5AE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012" y="2045922"/>
              <a:ext cx="208852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pt-BR" altLang="pt-BR" sz="2000" b="1" dirty="0"/>
                <a:t>Dados para treino</a:t>
              </a:r>
            </a:p>
          </p:txBody>
        </p:sp>
        <p:sp>
          <p:nvSpPr>
            <p:cNvPr id="52" name="AutoShape 9">
              <a:extLst>
                <a:ext uri="{FF2B5EF4-FFF2-40B4-BE49-F238E27FC236}">
                  <a16:creationId xmlns:a16="http://schemas.microsoft.com/office/drawing/2014/main" id="{A90EA3E3-6429-4100-B8CA-21E748F34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382" y="4903763"/>
              <a:ext cx="970167" cy="360363"/>
            </a:xfrm>
            <a:prstGeom prst="rightArrow">
              <a:avLst>
                <a:gd name="adj1" fmla="val 50000"/>
                <a:gd name="adj2" fmla="val 39648"/>
              </a:avLst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pt-BR"/>
            </a:p>
          </p:txBody>
        </p:sp>
        <p:sp>
          <p:nvSpPr>
            <p:cNvPr id="54" name="Text Box 29">
              <a:extLst>
                <a:ext uri="{FF2B5EF4-FFF2-40B4-BE49-F238E27FC236}">
                  <a16:creationId xmlns:a16="http://schemas.microsoft.com/office/drawing/2014/main" id="{40A5BAC0-E130-4EC4-9E4C-693751275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011" y="2614805"/>
              <a:ext cx="154074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pt-BR" altLang="pt-BR" sz="2000" b="1" dirty="0"/>
                <a:t>Treinamento</a:t>
              </a:r>
            </a:p>
          </p:txBody>
        </p:sp>
        <p:sp>
          <p:nvSpPr>
            <p:cNvPr id="46" name="Text Box 29">
              <a:extLst>
                <a:ext uri="{FF2B5EF4-FFF2-40B4-BE49-F238E27FC236}">
                  <a16:creationId xmlns:a16="http://schemas.microsoft.com/office/drawing/2014/main" id="{9E4D49D2-7334-404E-9818-B8926EDAD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3528" y="5560794"/>
              <a:ext cx="1093889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sz="2000" b="1" dirty="0"/>
                <a:t>Modelo</a:t>
              </a:r>
              <a:br>
                <a:rPr lang="pt-BR" altLang="pt-BR" sz="2000" b="1" dirty="0"/>
              </a:br>
              <a:r>
                <a:rPr lang="pt-BR" altLang="pt-BR" sz="2000" b="1" dirty="0"/>
                <a:t>treinado</a:t>
              </a: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CFCEF00C-CE4F-4F83-A7A1-93361C3EE811}"/>
                </a:ext>
              </a:extLst>
            </p:cNvPr>
            <p:cNvSpPr txBox="1"/>
            <p:nvPr/>
          </p:nvSpPr>
          <p:spPr>
            <a:xfrm>
              <a:off x="8256240" y="4722731"/>
              <a:ext cx="1338571" cy="715089"/>
            </a:xfrm>
            <a:prstGeom prst="flowChartAlternateProcess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Classe </a:t>
              </a:r>
              <a:br>
                <a:rPr lang="pt-BR" b="1" dirty="0"/>
              </a:br>
              <a:r>
                <a:rPr lang="pt-BR" b="1" dirty="0"/>
                <a:t>predita</a:t>
              </a:r>
            </a:p>
          </p:txBody>
        </p:sp>
        <p:pic>
          <p:nvPicPr>
            <p:cNvPr id="56" name="Picture 2" descr="Árvore de decisão - ícones de computador grátis">
              <a:extLst>
                <a:ext uri="{FF2B5EF4-FFF2-40B4-BE49-F238E27FC236}">
                  <a16:creationId xmlns:a16="http://schemas.microsoft.com/office/drawing/2014/main" id="{841ACC4F-6919-4A41-A8E8-A2F0683785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7674" y="4356521"/>
              <a:ext cx="1267912" cy="1267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4E022F-3A70-1B7F-3D51-650653210E51}"/>
              </a:ext>
            </a:extLst>
          </p:cNvPr>
          <p:cNvSpPr txBox="1"/>
          <p:nvPr/>
        </p:nvSpPr>
        <p:spPr>
          <a:xfrm>
            <a:off x="3808159" y="5978680"/>
            <a:ext cx="4640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59751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ço Reservado para Conteúdo 5">
            <a:extLst>
              <a:ext uri="{FF2B5EF4-FFF2-40B4-BE49-F238E27FC236}">
                <a16:creationId xmlns:a16="http://schemas.microsoft.com/office/drawing/2014/main" id="{E0317CCC-EC23-4B18-92EB-6E28CDA785D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00913909"/>
              </p:ext>
            </p:extLst>
          </p:nvPr>
        </p:nvGraphicFramePr>
        <p:xfrm>
          <a:off x="3637385" y="2246369"/>
          <a:ext cx="432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096475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290171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081108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043015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299436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7062536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324174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821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...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/>
                        <a:t>X</a:t>
                      </a:r>
                      <a:r>
                        <a:rPr lang="pt-BR" sz="1800" baseline="-25000" dirty="0" err="1"/>
                        <a:t>n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Y</a:t>
                      </a:r>
                      <a:endParaRPr lang="pt-BR" sz="1800" baseline="-250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4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471154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5B3FBEC-BE57-43D0-AAE8-160C75A9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Tipos de classificação</a:t>
            </a:r>
            <a:endParaRPr lang="pt-BR" sz="4400" b="0" dirty="0"/>
          </a:p>
        </p:txBody>
      </p:sp>
      <p:graphicFrame>
        <p:nvGraphicFramePr>
          <p:cNvPr id="9" name="Espaço Reservado para Conteúdo 5">
            <a:extLst>
              <a:ext uri="{FF2B5EF4-FFF2-40B4-BE49-F238E27FC236}">
                <a16:creationId xmlns:a16="http://schemas.microsoft.com/office/drawing/2014/main" id="{F2260389-AAB8-4BD1-A4D1-F4D325C64B68}"/>
              </a:ext>
            </a:extLst>
          </p:cNvPr>
          <p:cNvGraphicFramePr>
            <a:graphicFrameLocks/>
          </p:cNvGraphicFramePr>
          <p:nvPr/>
        </p:nvGraphicFramePr>
        <p:xfrm>
          <a:off x="1199456" y="5431329"/>
          <a:ext cx="648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096475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290171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081108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043015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299436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7062536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324174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82188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408440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437937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166809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02404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...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/>
                        <a:t>X</a:t>
                      </a:r>
                      <a:r>
                        <a:rPr lang="pt-BR" sz="1800" baseline="-25000" dirty="0" err="1"/>
                        <a:t>n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Y</a:t>
                      </a:r>
                      <a:r>
                        <a:rPr lang="pt-BR" sz="1800" baseline="-25000" dirty="0"/>
                        <a:t>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Y</a:t>
                      </a:r>
                      <a:r>
                        <a:rPr lang="pt-BR" sz="1800" baseline="-25000" dirty="0"/>
                        <a:t>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...</a:t>
                      </a:r>
                      <a:endParaRPr lang="pt-BR" sz="1800" baseline="-250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Y</a:t>
                      </a:r>
                      <a:r>
                        <a:rPr lang="pt-BR" sz="1800" baseline="-25000" dirty="0"/>
                        <a:t>n-1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/>
                        <a:t>Y</a:t>
                      </a:r>
                      <a:r>
                        <a:rPr lang="pt-BR" sz="1800" baseline="-25000" dirty="0" err="1"/>
                        <a:t>n</a:t>
                      </a:r>
                      <a:endParaRPr lang="pt-BR" sz="1800" baseline="-250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4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471154"/>
                  </a:ext>
                </a:extLst>
              </a:tr>
            </a:tbl>
          </a:graphicData>
        </a:graphic>
      </p:graphicFrame>
      <p:graphicFrame>
        <p:nvGraphicFramePr>
          <p:cNvPr id="10" name="Espaço Reservado para Conteúdo 5">
            <a:extLst>
              <a:ext uri="{FF2B5EF4-FFF2-40B4-BE49-F238E27FC236}">
                <a16:creationId xmlns:a16="http://schemas.microsoft.com/office/drawing/2014/main" id="{DBD8DEA5-8303-42F4-92EE-9760865CC10E}"/>
              </a:ext>
            </a:extLst>
          </p:cNvPr>
          <p:cNvGraphicFramePr>
            <a:graphicFrameLocks/>
          </p:cNvGraphicFramePr>
          <p:nvPr/>
        </p:nvGraphicFramePr>
        <p:xfrm>
          <a:off x="3140173" y="3869951"/>
          <a:ext cx="432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096475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290171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081108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043015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299436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7062536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324174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8218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...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X</a:t>
                      </a:r>
                      <a:r>
                        <a:rPr lang="pt-BR" sz="1800" baseline="-25000" dirty="0"/>
                        <a:t>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/>
                        <a:t>X</a:t>
                      </a:r>
                      <a:r>
                        <a:rPr lang="pt-BR" sz="1800" baseline="-25000" dirty="0" err="1"/>
                        <a:t>n</a:t>
                      </a:r>
                      <a:endParaRPr lang="pt-BR" sz="18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Y</a:t>
                      </a:r>
                      <a:endParaRPr lang="pt-BR" sz="1800" baseline="-250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4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471154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7A9C58-1B1F-4C6D-90D6-4E6573C3E041}"/>
              </a:ext>
            </a:extLst>
          </p:cNvPr>
          <p:cNvSpPr txBox="1"/>
          <p:nvPr/>
        </p:nvSpPr>
        <p:spPr>
          <a:xfrm>
            <a:off x="2550229" y="2404466"/>
            <a:ext cx="1087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b="1" dirty="0"/>
              <a:t>Binária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61E1790-3ACD-4680-B504-3C03206701B9}"/>
              </a:ext>
            </a:extLst>
          </p:cNvPr>
          <p:cNvSpPr txBox="1"/>
          <p:nvPr/>
        </p:nvSpPr>
        <p:spPr>
          <a:xfrm>
            <a:off x="1458423" y="3990156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b="1" dirty="0" err="1"/>
              <a:t>Multiclasse</a:t>
            </a:r>
            <a:endParaRPr lang="pt-BR" sz="24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11215CB-C130-4106-B67D-898782CA4C14}"/>
              </a:ext>
            </a:extLst>
          </p:cNvPr>
          <p:cNvSpPr txBox="1"/>
          <p:nvPr/>
        </p:nvSpPr>
        <p:spPr>
          <a:xfrm>
            <a:off x="1195781" y="4969664"/>
            <a:ext cx="1769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/>
              <a:t>Multirrótulo</a:t>
            </a:r>
            <a:endParaRPr lang="pt-BR" sz="2400" b="1" dirty="0"/>
          </a:p>
        </p:txBody>
      </p:sp>
      <p:sp>
        <p:nvSpPr>
          <p:cNvPr id="14" name="Texto Explicativo 1 (Ênfase) 12">
            <a:extLst>
              <a:ext uri="{FF2B5EF4-FFF2-40B4-BE49-F238E27FC236}">
                <a16:creationId xmlns:a16="http://schemas.microsoft.com/office/drawing/2014/main" id="{CD3B51BE-66AD-4D3B-8AAA-093F3EFF67E4}"/>
              </a:ext>
            </a:extLst>
          </p:cNvPr>
          <p:cNvSpPr/>
          <p:nvPr/>
        </p:nvSpPr>
        <p:spPr>
          <a:xfrm>
            <a:off x="9048328" y="1558573"/>
            <a:ext cx="2592289" cy="840715"/>
          </a:xfrm>
          <a:prstGeom prst="accentCallout1">
            <a:avLst>
              <a:gd name="adj1" fmla="val 18750"/>
              <a:gd name="adj2" fmla="val -8333"/>
              <a:gd name="adj3" fmla="val 94898"/>
              <a:gd name="adj4" fmla="val -40293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Apenas duas opções de valores para a classe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Positivo / Negativo</a:t>
            </a:r>
          </a:p>
        </p:txBody>
      </p:sp>
      <p:sp>
        <p:nvSpPr>
          <p:cNvPr id="15" name="Texto Explicativo 1 (Ênfase) 13">
            <a:extLst>
              <a:ext uri="{FF2B5EF4-FFF2-40B4-BE49-F238E27FC236}">
                <a16:creationId xmlns:a16="http://schemas.microsoft.com/office/drawing/2014/main" id="{F4066EBA-B227-4538-B35A-50C709BE357D}"/>
              </a:ext>
            </a:extLst>
          </p:cNvPr>
          <p:cNvSpPr/>
          <p:nvPr/>
        </p:nvSpPr>
        <p:spPr>
          <a:xfrm>
            <a:off x="8972077" y="3068960"/>
            <a:ext cx="2569415" cy="1035801"/>
          </a:xfrm>
          <a:prstGeom prst="accentCallout1">
            <a:avLst>
              <a:gd name="adj1" fmla="val 18750"/>
              <a:gd name="adj2" fmla="val -8333"/>
              <a:gd name="adj3" fmla="val 98201"/>
              <a:gd name="adj4" fmla="val -57552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Muitas opções de valores possíveis para a classe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Positivo </a:t>
            </a:r>
            <a:r>
              <a:rPr lang="pt-BR" sz="1400" b="1" u="sng" dirty="0">
                <a:solidFill>
                  <a:schemeClr val="tx2"/>
                </a:solidFill>
              </a:rPr>
              <a:t>ou</a:t>
            </a:r>
            <a:r>
              <a:rPr lang="pt-BR" sz="1400" b="1" dirty="0">
                <a:solidFill>
                  <a:schemeClr val="tx2"/>
                </a:solidFill>
              </a:rPr>
              <a:t> </a:t>
            </a:r>
            <a:r>
              <a:rPr lang="pt-BR" sz="1400" dirty="0">
                <a:solidFill>
                  <a:schemeClr val="tx2"/>
                </a:solidFill>
              </a:rPr>
              <a:t>Negativo </a:t>
            </a:r>
            <a:r>
              <a:rPr lang="pt-BR" sz="1400" b="1" u="sng" dirty="0">
                <a:solidFill>
                  <a:schemeClr val="tx2"/>
                </a:solidFill>
              </a:rPr>
              <a:t>ou</a:t>
            </a:r>
            <a:r>
              <a:rPr lang="pt-BR" sz="1400" b="1" dirty="0">
                <a:solidFill>
                  <a:schemeClr val="tx2"/>
                </a:solidFill>
              </a:rPr>
              <a:t> </a:t>
            </a:r>
            <a:r>
              <a:rPr lang="pt-BR" sz="1400" dirty="0">
                <a:solidFill>
                  <a:schemeClr val="tx2"/>
                </a:solidFill>
              </a:rPr>
              <a:t>Neutro</a:t>
            </a:r>
          </a:p>
        </p:txBody>
      </p:sp>
      <p:sp>
        <p:nvSpPr>
          <p:cNvPr id="26" name="Texto Explicativo 1 (Ênfase) 13">
            <a:extLst>
              <a:ext uri="{FF2B5EF4-FFF2-40B4-BE49-F238E27FC236}">
                <a16:creationId xmlns:a16="http://schemas.microsoft.com/office/drawing/2014/main" id="{67925A28-15D8-4298-8251-70E2581A1DA4}"/>
              </a:ext>
            </a:extLst>
          </p:cNvPr>
          <p:cNvSpPr/>
          <p:nvPr/>
        </p:nvSpPr>
        <p:spPr>
          <a:xfrm>
            <a:off x="9031413" y="4663657"/>
            <a:ext cx="2569415" cy="1035801"/>
          </a:xfrm>
          <a:prstGeom prst="accentCallout1">
            <a:avLst>
              <a:gd name="adj1" fmla="val 18750"/>
              <a:gd name="adj2" fmla="val -8333"/>
              <a:gd name="adj3" fmla="val 93185"/>
              <a:gd name="adj4" fmla="val -5108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Muitas opções de valores e muitas classes para a instância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Raiva </a:t>
            </a:r>
            <a:r>
              <a:rPr lang="pt-BR" sz="1400" b="1" u="sng" dirty="0">
                <a:solidFill>
                  <a:schemeClr val="tx2"/>
                </a:solidFill>
              </a:rPr>
              <a:t>e</a:t>
            </a:r>
            <a:r>
              <a:rPr lang="pt-BR" sz="1400" b="1" dirty="0">
                <a:solidFill>
                  <a:schemeClr val="tx2"/>
                </a:solidFill>
              </a:rPr>
              <a:t> </a:t>
            </a:r>
            <a:r>
              <a:rPr lang="pt-BR" sz="1400" dirty="0">
                <a:solidFill>
                  <a:schemeClr val="tx2"/>
                </a:solidFill>
              </a:rPr>
              <a:t>Triste </a:t>
            </a:r>
            <a:r>
              <a:rPr lang="pt-BR" sz="1400" b="1" u="sng" dirty="0">
                <a:solidFill>
                  <a:schemeClr val="tx2"/>
                </a:solidFill>
              </a:rPr>
              <a:t>e</a:t>
            </a:r>
            <a:r>
              <a:rPr lang="pt-BR" sz="1400" dirty="0">
                <a:solidFill>
                  <a:schemeClr val="tx2"/>
                </a:solidFill>
              </a:rPr>
              <a:t> Infelicidade</a:t>
            </a:r>
          </a:p>
        </p:txBody>
      </p:sp>
    </p:spTree>
    <p:extLst>
      <p:ext uri="{BB962C8B-B14F-4D97-AF65-F5344CB8AC3E}">
        <p14:creationId xmlns:p14="http://schemas.microsoft.com/office/powerpoint/2010/main" val="146012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289C85DF-3A2E-4AA6-BE75-B070CED6C1C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971267039"/>
              </p:ext>
            </p:extLst>
          </p:nvPr>
        </p:nvGraphicFramePr>
        <p:xfrm>
          <a:off x="1056000" y="1855788"/>
          <a:ext cx="10080000" cy="41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5B3FBEC-BE57-43D0-AAE8-160C75A9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706329"/>
            <a:ext cx="11296650" cy="646331"/>
          </a:xfrm>
        </p:spPr>
        <p:txBody>
          <a:bodyPr/>
          <a:lstStyle/>
          <a:p>
            <a:r>
              <a:rPr lang="pt-BR" noProof="0" dirty="0"/>
              <a:t>Algoritmos de classificação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543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289C85DF-3A2E-4AA6-BE75-B070CED6C1C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648839154"/>
              </p:ext>
            </p:extLst>
          </p:nvPr>
        </p:nvGraphicFramePr>
        <p:xfrm>
          <a:off x="1056000" y="1855788"/>
          <a:ext cx="10080000" cy="41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5B3FBEC-BE57-43D0-AAE8-160C75A9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706329"/>
            <a:ext cx="11296650" cy="646331"/>
          </a:xfrm>
        </p:spPr>
        <p:txBody>
          <a:bodyPr/>
          <a:lstStyle/>
          <a:p>
            <a:r>
              <a:rPr lang="pt-BR" noProof="0" dirty="0"/>
              <a:t>Algoritmos de classificação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926010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7">
            <a:extLst>
              <a:ext uri="{FF2B5EF4-FFF2-40B4-BE49-F238E27FC236}">
                <a16:creationId xmlns:a16="http://schemas.microsoft.com/office/drawing/2014/main" id="{2E22DF6A-850B-44DD-A616-7C7BD462FB7D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171374504"/>
              </p:ext>
            </p:extLst>
          </p:nvPr>
        </p:nvGraphicFramePr>
        <p:xfrm>
          <a:off x="1056000" y="1906588"/>
          <a:ext cx="10080000" cy="3892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272">
                  <a:extLst>
                    <a:ext uri="{9D8B030D-6E8A-4147-A177-3AD203B41FA5}">
                      <a16:colId xmlns:a16="http://schemas.microsoft.com/office/drawing/2014/main" val="463000922"/>
                    </a:ext>
                  </a:extLst>
                </a:gridCol>
                <a:gridCol w="1943182">
                  <a:extLst>
                    <a:ext uri="{9D8B030D-6E8A-4147-A177-3AD203B41FA5}">
                      <a16:colId xmlns:a16="http://schemas.microsoft.com/office/drawing/2014/main" val="3636151150"/>
                    </a:ext>
                  </a:extLst>
                </a:gridCol>
                <a:gridCol w="1943182">
                  <a:extLst>
                    <a:ext uri="{9D8B030D-6E8A-4147-A177-3AD203B41FA5}">
                      <a16:colId xmlns:a16="http://schemas.microsoft.com/office/drawing/2014/main" val="4289274297"/>
                    </a:ext>
                  </a:extLst>
                </a:gridCol>
                <a:gridCol w="1943182">
                  <a:extLst>
                    <a:ext uri="{9D8B030D-6E8A-4147-A177-3AD203B41FA5}">
                      <a16:colId xmlns:a16="http://schemas.microsoft.com/office/drawing/2014/main" val="3921278973"/>
                    </a:ext>
                  </a:extLst>
                </a:gridCol>
                <a:gridCol w="1943182">
                  <a:extLst>
                    <a:ext uri="{9D8B030D-6E8A-4147-A177-3AD203B41FA5}">
                      <a16:colId xmlns:a16="http://schemas.microsoft.com/office/drawing/2014/main" val="2750546040"/>
                    </a:ext>
                  </a:extLst>
                </a:gridCol>
              </a:tblGrid>
              <a:tr h="504205">
                <a:tc>
                  <a:txBody>
                    <a:bodyPr/>
                    <a:lstStyle/>
                    <a:p>
                      <a:pPr algn="r"/>
                      <a:r>
                        <a:rPr lang="pt-BR" dirty="0">
                          <a:latin typeface="+mn-lt"/>
                        </a:rPr>
                        <a:t>Algoritmo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Interpretação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Complexidade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Tamanho da amostra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Sensível à escala dos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28239"/>
                  </a:ext>
                </a:extLst>
              </a:tr>
              <a:tr h="851708">
                <a:tc>
                  <a:txBody>
                    <a:bodyPr/>
                    <a:lstStyle/>
                    <a:p>
                      <a:pPr algn="r"/>
                      <a:r>
                        <a:rPr lang="pt-BR" b="1" dirty="0">
                          <a:latin typeface="+mn-lt"/>
                        </a:rPr>
                        <a:t>Regressão logística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Pequeno a médio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47339"/>
                  </a:ext>
                </a:extLst>
              </a:tr>
              <a:tr h="480238">
                <a:tc>
                  <a:txBody>
                    <a:bodyPr/>
                    <a:lstStyle/>
                    <a:p>
                      <a:pPr algn="r"/>
                      <a:r>
                        <a:rPr lang="pt-BR" b="1" dirty="0">
                          <a:latin typeface="+mn-lt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Pequeno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741860"/>
                  </a:ext>
                </a:extLst>
              </a:tr>
              <a:tr h="480238">
                <a:tc>
                  <a:txBody>
                    <a:bodyPr/>
                    <a:lstStyle/>
                    <a:p>
                      <a:pPr algn="r"/>
                      <a:r>
                        <a:rPr lang="pt-BR" b="1" dirty="0">
                          <a:latin typeface="+mn-lt"/>
                        </a:rPr>
                        <a:t>Árvore de decisão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Pequeno a médio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Não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681425"/>
                  </a:ext>
                </a:extLst>
              </a:tr>
              <a:tr h="480238">
                <a:tc>
                  <a:txBody>
                    <a:bodyPr/>
                    <a:lstStyle/>
                    <a:p>
                      <a:pPr algn="r"/>
                      <a:r>
                        <a:rPr lang="pt-BR" b="1" dirty="0" err="1">
                          <a:latin typeface="+mn-lt"/>
                        </a:rPr>
                        <a:t>Random</a:t>
                      </a:r>
                      <a:r>
                        <a:rPr lang="pt-BR" b="1" dirty="0">
                          <a:latin typeface="+mn-lt"/>
                        </a:rPr>
                        <a:t>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Médio a grande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Não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15512"/>
                  </a:ext>
                </a:extLst>
              </a:tr>
              <a:tr h="480238">
                <a:tc>
                  <a:txBody>
                    <a:bodyPr/>
                    <a:lstStyle/>
                    <a:p>
                      <a:pPr algn="r"/>
                      <a:r>
                        <a:rPr lang="pt-BR" b="1" dirty="0">
                          <a:latin typeface="+mn-lt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Pequeno a médio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497363"/>
                  </a:ext>
                </a:extLst>
              </a:tr>
              <a:tr h="480238">
                <a:tc>
                  <a:txBody>
                    <a:bodyPr/>
                    <a:lstStyle/>
                    <a:p>
                      <a:pPr algn="r"/>
                      <a:r>
                        <a:rPr lang="pt-BR" b="1" dirty="0">
                          <a:latin typeface="+mn-lt"/>
                        </a:rPr>
                        <a:t>Redes neurais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Muito 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Grande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+mn-lt"/>
                        </a:rPr>
                        <a:t>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273495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5B3FBEC-BE57-43D0-AAE8-160C75A9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706329"/>
            <a:ext cx="11296650" cy="646331"/>
          </a:xfrm>
        </p:spPr>
        <p:txBody>
          <a:bodyPr/>
          <a:lstStyle/>
          <a:p>
            <a:r>
              <a:rPr lang="pt-BR" noProof="0" dirty="0"/>
              <a:t>Algoritmos de classificação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597910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519A2E-F363-45AE-D525-737C0F30A92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Dificuldade em capturar contexto e relações complexas entre palavras</a:t>
            </a:r>
          </a:p>
          <a:p>
            <a:r>
              <a:rPr lang="pt-BR" dirty="0"/>
              <a:t>Requer engenharia manual de features</a:t>
            </a:r>
          </a:p>
          <a:p>
            <a:r>
              <a:rPr lang="pt-BR" dirty="0"/>
              <a:t>Sensível à qualidade do pré-processamento</a:t>
            </a:r>
          </a:p>
          <a:p>
            <a:r>
              <a:rPr lang="pt-BR" dirty="0"/>
              <a:t>Pode ter dificuldades com sarcasmo</a:t>
            </a:r>
            <a:r>
              <a:rPr lang="pt-BR" dirty="0">
                <a:solidFill>
                  <a:srgbClr val="383A42"/>
                </a:solidFill>
                <a:effectLst/>
              </a:rPr>
              <a:t>,</a:t>
            </a:r>
            <a:r>
              <a:rPr lang="pt-BR" dirty="0"/>
              <a:t> ironia e linguagem figurativa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485265"/>
            <a:ext cx="11296507" cy="1089529"/>
          </a:xfrm>
        </p:spPr>
        <p:txBody>
          <a:bodyPr/>
          <a:lstStyle/>
          <a:p>
            <a:r>
              <a:rPr lang="pt-BR" sz="3600" dirty="0"/>
              <a:t>Limitações das abordagens baseadas em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25264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7585</TotalTime>
  <Words>758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Wingdings</vt:lpstr>
      <vt:lpstr>Cronos Pro</vt:lpstr>
      <vt:lpstr>Arial</vt:lpstr>
      <vt:lpstr>Calibri</vt:lpstr>
      <vt:lpstr>Montserrat</vt:lpstr>
      <vt:lpstr>Aptos</vt:lpstr>
      <vt:lpstr>10_Personalizar design</vt:lpstr>
      <vt:lpstr>5_Personalizar design</vt:lpstr>
      <vt:lpstr>6_Personalizar design</vt:lpstr>
      <vt:lpstr>7_Personalizar design</vt:lpstr>
      <vt:lpstr>Abordagens baseadas em Machine Learning</vt:lpstr>
      <vt:lpstr>Objetivos de Aprendizagem</vt:lpstr>
      <vt:lpstr>Abordagens baseadas em Machine Learning</vt:lpstr>
      <vt:lpstr>Abordagens baseadas em Machine Learning</vt:lpstr>
      <vt:lpstr>Apresentação do PowerPoint</vt:lpstr>
      <vt:lpstr>Abordagens baseadas em Machine Learning</vt:lpstr>
      <vt:lpstr>Apresentação do PowerPoint</vt:lpstr>
      <vt:lpstr>Processo de classificação</vt:lpstr>
      <vt:lpstr>Tipos de classificação</vt:lpstr>
      <vt:lpstr>Algoritmos de classificação</vt:lpstr>
      <vt:lpstr>Algoritmos de classificação</vt:lpstr>
      <vt:lpstr>Algoritmos de classificação</vt:lpstr>
      <vt:lpstr>Limitações das abordagens baseadas em Machine Learning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2026-01-15T15:27:58Z</dcterms:modified>
</cp:coreProperties>
</file>