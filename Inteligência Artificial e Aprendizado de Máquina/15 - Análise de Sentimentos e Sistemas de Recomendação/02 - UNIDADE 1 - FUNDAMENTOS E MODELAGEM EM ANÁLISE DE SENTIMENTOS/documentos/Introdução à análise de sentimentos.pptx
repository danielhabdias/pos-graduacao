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18"/>
  </p:notesMasterIdLst>
  <p:sldIdLst>
    <p:sldId id="1173" r:id="rId5"/>
    <p:sldId id="297" r:id="rId6"/>
    <p:sldId id="1171" r:id="rId7"/>
    <p:sldId id="298" r:id="rId8"/>
    <p:sldId id="1164" r:id="rId9"/>
    <p:sldId id="296" r:id="rId10"/>
    <p:sldId id="1165" r:id="rId11"/>
    <p:sldId id="1167" r:id="rId12"/>
    <p:sldId id="1166" r:id="rId13"/>
    <p:sldId id="1168" r:id="rId14"/>
    <p:sldId id="1170" r:id="rId15"/>
    <p:sldId id="1169" r:id="rId16"/>
    <p:sldId id="264" r:id="rId17"/>
  </p:sldIdLst>
  <p:sldSz cx="12192000" cy="6858000"/>
  <p:notesSz cx="6858000" cy="9144000"/>
  <p:embeddedFontLst>
    <p:embeddedFont>
      <p:font typeface="Cronos Pro" panose="020C0502030403020304" charset="0"/>
      <p:regular r:id="rId19"/>
      <p:bold r:id="rId20"/>
      <p: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3E1"/>
    <a:srgbClr val="379FDE"/>
    <a:srgbClr val="4BA8DE"/>
    <a:srgbClr val="2087C6"/>
    <a:srgbClr val="FFD230"/>
    <a:srgbClr val="E6E6E6"/>
    <a:srgbClr val="43A9E7"/>
    <a:srgbClr val="56B6F1"/>
    <a:srgbClr val="FFD639"/>
    <a:srgbClr val="177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05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0A2FEC-4FEE-4F08-B8C2-0E6F8D9636F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254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rgbClr val="3CA3E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8F58BC-5F63-D868-3E16-F04029546AB9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83772D1-FD01-B81E-B72A-B9A0DD37EBE1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4C0B7F-CB34-296F-2599-CDF703A5B501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jp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à Análise de Sentimento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800" dirty="0"/>
              <a:t>Definir os conceitos de análise de sentimentos e mineração de opinião</a:t>
            </a:r>
          </a:p>
          <a:p>
            <a:r>
              <a:rPr lang="pt-BR" sz="2800" dirty="0"/>
              <a:t>Explicar a importância estratégica da análise de sentimentos como ela influencia a tomada de decisões de consumo e corporativas</a:t>
            </a:r>
          </a:p>
          <a:p>
            <a:r>
              <a:rPr lang="pt-BR" sz="2800" dirty="0"/>
              <a:t>Identificar as principais aplicações práticas da análise de sentimento.</a:t>
            </a:r>
          </a:p>
          <a:p>
            <a:r>
              <a:rPr lang="pt-BR" sz="2800" dirty="0"/>
              <a:t>Relacionar a análise de sentimentos com as áreas fundamentais do Processamento de Linguagem Natural (PLN), Inteligência Artificial (IA) e Machine Learning (ML)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11BBE8-5AC2-254E-5C3B-5F85B454CD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6499155" cy="4320000"/>
          </a:xfrm>
        </p:spPr>
        <p:txBody>
          <a:bodyPr/>
          <a:lstStyle/>
          <a:p>
            <a:pPr lvl="1">
              <a:lnSpc>
                <a:spcPct val="100000"/>
              </a:lnSpc>
            </a:pPr>
            <a:r>
              <a:rPr lang="pt-BR" dirty="0"/>
              <a:t>Todos os dias, milhões de pessoas</a:t>
            </a:r>
          </a:p>
          <a:p>
            <a:pPr lvl="2">
              <a:lnSpc>
                <a:spcPct val="100000"/>
              </a:lnSpc>
            </a:pPr>
            <a:r>
              <a:rPr lang="pt-BR" dirty="0"/>
              <a:t>Avaliam produtos ⭐⭐⭐⭐⭐</a:t>
            </a:r>
          </a:p>
          <a:p>
            <a:pPr lvl="2">
              <a:lnSpc>
                <a:spcPct val="100000"/>
              </a:lnSpc>
            </a:pPr>
            <a:r>
              <a:rPr lang="pt-BR" dirty="0"/>
              <a:t>Comentam marcas nas redes sociais</a:t>
            </a:r>
          </a:p>
          <a:p>
            <a:pPr lvl="2">
              <a:lnSpc>
                <a:spcPct val="100000"/>
              </a:lnSpc>
            </a:pPr>
            <a:r>
              <a:rPr lang="pt-BR" dirty="0"/>
              <a:t>Expressam emoções em textos</a:t>
            </a:r>
            <a:br>
              <a:rPr lang="pt-BR" dirty="0"/>
            </a:br>
            <a:r>
              <a:rPr lang="pt-BR" dirty="0"/>
              <a:t>😊😡😱</a:t>
            </a:r>
          </a:p>
          <a:p>
            <a:pPr lvl="1">
              <a:lnSpc>
                <a:spcPct val="100000"/>
              </a:lnSpc>
            </a:pPr>
            <a:endParaRPr lang="pt-BR" dirty="0"/>
          </a:p>
          <a:p>
            <a:pPr lvl="1"/>
            <a:r>
              <a:rPr lang="pt-BR" dirty="0"/>
              <a:t>👉Como transformar essas</a:t>
            </a:r>
            <a:br>
              <a:rPr lang="pt-BR" dirty="0"/>
            </a:br>
            <a:r>
              <a:rPr lang="pt-BR" dirty="0"/>
              <a:t>opiniões em informação útil?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BCBB5D-E696-3EA7-F68A-B994FB79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5344500-7F5A-7FC2-B524-BB97F0E3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843" y="1855788"/>
            <a:ext cx="3960000" cy="3960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AA09B0CA-0FA6-03C4-1446-A5DD52120783}"/>
              </a:ext>
            </a:extLst>
          </p:cNvPr>
          <p:cNvSpPr txBox="1"/>
          <p:nvPr/>
        </p:nvSpPr>
        <p:spPr>
          <a:xfrm>
            <a:off x="7076558" y="5883400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8686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CBB5D-E696-3EA7-F68A-B994FB793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Motivação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9E773CC-8832-3E2C-E6F7-70CD6B682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516" y="1688841"/>
            <a:ext cx="8688967" cy="420023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39925EF-991A-0542-AFD8-300B7F1EAE7B}"/>
              </a:ext>
            </a:extLst>
          </p:cNvPr>
          <p:cNvSpPr txBox="1"/>
          <p:nvPr/>
        </p:nvSpPr>
        <p:spPr>
          <a:xfrm>
            <a:off x="4145714" y="6004942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304465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F885B9-E751-F21C-B59A-34490F5F4C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Opiniões expressas em </a:t>
            </a:r>
            <a:r>
              <a:rPr lang="pt-BR" b="1" dirty="0"/>
              <a:t>avaliações, resenhas e comentários</a:t>
            </a:r>
            <a:r>
              <a:rPr lang="pt-BR" dirty="0"/>
              <a:t> sobre estabelecimentos, produtos e serviços possuem elevado valor estratégico</a:t>
            </a:r>
          </a:p>
          <a:p>
            <a:r>
              <a:rPr lang="pt-BR" dirty="0"/>
              <a:t>Por que opiniões dos consumidores são valiosas?</a:t>
            </a:r>
          </a:p>
          <a:p>
            <a:pPr lvl="1"/>
            <a:r>
              <a:rPr lang="pt-BR" dirty="0"/>
              <a:t>Influenciam decisões de compra para consumidores</a:t>
            </a:r>
          </a:p>
          <a:p>
            <a:pPr lvl="1"/>
            <a:r>
              <a:rPr lang="pt-BR" dirty="0"/>
              <a:t>Revelam a reputação da marca</a:t>
            </a:r>
          </a:p>
          <a:p>
            <a:pPr lvl="1"/>
            <a:r>
              <a:rPr lang="pt-BR" dirty="0"/>
              <a:t>Fortalecem o relacionamento com clientes</a:t>
            </a:r>
          </a:p>
          <a:p>
            <a:pPr lvl="1"/>
            <a:r>
              <a:rPr lang="pt-BR" dirty="0"/>
              <a:t>Apoiam estratégias competitivas</a:t>
            </a:r>
          </a:p>
          <a:p>
            <a:pPr lvl="1"/>
            <a:r>
              <a:rPr lang="pt-BR" dirty="0"/>
              <a:t>Orientam melhorias contínuas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19F63E3-671C-80C2-E95D-98371145D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Motivação</a:t>
            </a:r>
          </a:p>
        </p:txBody>
      </p:sp>
    </p:spTree>
    <p:extLst>
      <p:ext uri="{BB962C8B-B14F-4D97-AF65-F5344CB8AC3E}">
        <p14:creationId xmlns:p14="http://schemas.microsoft.com/office/powerpoint/2010/main" val="414637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>
            <a:extLst>
              <a:ext uri="{FF2B5EF4-FFF2-40B4-BE49-F238E27FC236}">
                <a16:creationId xmlns:a16="http://schemas.microsoft.com/office/drawing/2014/main" id="{DB28DE32-C780-C67D-F7B9-A0203969C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607553"/>
            <a:ext cx="9753600" cy="5381625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A37CFE-9A81-821D-8728-FCC09A0744EC}"/>
              </a:ext>
            </a:extLst>
          </p:cNvPr>
          <p:cNvSpPr txBox="1"/>
          <p:nvPr/>
        </p:nvSpPr>
        <p:spPr>
          <a:xfrm>
            <a:off x="4145714" y="6004942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19005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0997E16-B16E-BF98-46F5-B49FC578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55"/>
          <a:stretch/>
        </p:blipFill>
        <p:spPr>
          <a:xfrm>
            <a:off x="1568984" y="1560928"/>
            <a:ext cx="9054030" cy="450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6D05455-9A4A-E5CF-3CCB-D176B1A51721}"/>
              </a:ext>
            </a:extLst>
          </p:cNvPr>
          <p:cNvSpPr txBox="1"/>
          <p:nvPr/>
        </p:nvSpPr>
        <p:spPr>
          <a:xfrm>
            <a:off x="4145714" y="6060928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A7195B2E-E26E-07E9-0FB4-2E42B843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</p:spTree>
    <p:extLst>
      <p:ext uri="{BB962C8B-B14F-4D97-AF65-F5344CB8AC3E}">
        <p14:creationId xmlns:p14="http://schemas.microsoft.com/office/powerpoint/2010/main" val="13540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FEF7937-D30C-CC7D-81EC-FA767A42589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b="1" dirty="0"/>
              <a:t>Onde a Análise de Sentimentos é usada?</a:t>
            </a:r>
          </a:p>
          <a:p>
            <a:pPr lvl="1"/>
            <a:r>
              <a:rPr lang="pt-BR" dirty="0"/>
              <a:t>📈 Monitoramento de marcas</a:t>
            </a:r>
          </a:p>
          <a:p>
            <a:pPr lvl="1"/>
            <a:r>
              <a:rPr lang="pt-BR" dirty="0"/>
              <a:t>🛍️ Avaliações de produtos e pesquisa de mercado</a:t>
            </a:r>
          </a:p>
          <a:p>
            <a:pPr lvl="1"/>
            <a:r>
              <a:rPr lang="pt-BR" dirty="0"/>
              <a:t>📣 Análise de mídias sociais</a:t>
            </a:r>
          </a:p>
          <a:p>
            <a:pPr lvl="1"/>
            <a:r>
              <a:rPr lang="pt-BR" dirty="0"/>
              <a:t>🗳️ Opinião pública e política</a:t>
            </a:r>
          </a:p>
          <a:p>
            <a:pPr lvl="1"/>
            <a:r>
              <a:rPr lang="pt-BR" dirty="0"/>
              <a:t>🎧 Atendimento ao cliente (SAC, </a:t>
            </a:r>
            <a:r>
              <a:rPr lang="pt-BR" dirty="0" err="1"/>
              <a:t>chatbots</a:t>
            </a:r>
            <a:r>
              <a:rPr lang="pt-BR" dirty="0"/>
              <a:t>)</a:t>
            </a:r>
          </a:p>
          <a:p>
            <a:r>
              <a:rPr lang="pt-BR" dirty="0"/>
              <a:t>➡️ </a:t>
            </a:r>
            <a:r>
              <a:rPr lang="pt-BR" b="1" dirty="0"/>
              <a:t>Transforma texto em inteligência estratégica</a:t>
            </a:r>
            <a:endParaRPr lang="pt-BR" dirty="0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A7195B2E-E26E-07E9-0FB4-2E42B8435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</p:spTree>
    <p:extLst>
      <p:ext uri="{BB962C8B-B14F-4D97-AF65-F5344CB8AC3E}">
        <p14:creationId xmlns:p14="http://schemas.microsoft.com/office/powerpoint/2010/main" val="623206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5F05611-E288-23E4-D3DF-1DB08823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493F8EAD-1653-79E3-BFFA-EA1CBD2286F2}"/>
              </a:ext>
            </a:extLst>
          </p:cNvPr>
          <p:cNvSpPr txBox="1">
            <a:spLocks/>
          </p:cNvSpPr>
          <p:nvPr/>
        </p:nvSpPr>
        <p:spPr>
          <a:xfrm>
            <a:off x="1194893" y="1844824"/>
            <a:ext cx="9802212" cy="3888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pt-BR" sz="1200" dirty="0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pt-BR" sz="4100" dirty="0"/>
              <a:t>“</a:t>
            </a:r>
            <a:r>
              <a:rPr lang="pt-BR" sz="4600" b="1" i="1" dirty="0"/>
              <a:t>Análise de sentimentos </a:t>
            </a:r>
            <a:r>
              <a:rPr lang="pt-BR" sz="4600" i="1" dirty="0"/>
              <a:t>ou</a:t>
            </a:r>
            <a:r>
              <a:rPr lang="pt-BR" sz="4600" b="1" i="1" dirty="0"/>
              <a:t> mineração de opinião</a:t>
            </a:r>
            <a:r>
              <a:rPr lang="pt-BR" sz="4600" i="1" dirty="0"/>
              <a:t> é o campo de estudo que analisa opiniões, sentimentos, avaliações, atitudes e emoções das pessoas em relação a entidades tais como produtos, serviços, organizações, indivíduos, eventos e seus aspectos</a:t>
            </a:r>
            <a:r>
              <a:rPr lang="pt-BR" sz="4100" dirty="0"/>
              <a:t>.”</a:t>
            </a:r>
          </a:p>
          <a:p>
            <a:pPr marL="0" indent="0" algn="r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pt-BR" dirty="0"/>
              <a:t>(LIU, 2012)</a:t>
            </a:r>
          </a:p>
        </p:txBody>
      </p:sp>
    </p:spTree>
    <p:extLst>
      <p:ext uri="{BB962C8B-B14F-4D97-AF65-F5344CB8AC3E}">
        <p14:creationId xmlns:p14="http://schemas.microsoft.com/office/powerpoint/2010/main" val="267653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485D6F2-A543-14D0-6D34-B67346F2B2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b="1" dirty="0"/>
              <a:t>Análise de Sentimentos</a:t>
            </a:r>
            <a:r>
              <a:rPr lang="pt-BR" dirty="0"/>
              <a:t> (ou </a:t>
            </a:r>
            <a:r>
              <a:rPr lang="pt-BR" b="1" dirty="0"/>
              <a:t>Mineração de Opinião</a:t>
            </a:r>
            <a:r>
              <a:rPr lang="pt-BR" dirty="0"/>
              <a:t>) é uma área do </a:t>
            </a:r>
            <a:r>
              <a:rPr lang="pt-BR" b="1" dirty="0"/>
              <a:t>Processamento de Linguagem Natural (PLN)</a:t>
            </a:r>
            <a:r>
              <a:rPr lang="pt-BR" dirty="0"/>
              <a:t> que busca</a:t>
            </a:r>
          </a:p>
          <a:p>
            <a:pPr lvl="1"/>
            <a:r>
              <a:rPr lang="pt-BR" dirty="0"/>
              <a:t>Identificar</a:t>
            </a:r>
          </a:p>
          <a:p>
            <a:pPr lvl="1"/>
            <a:r>
              <a:rPr lang="pt-BR" dirty="0"/>
              <a:t>Extrair</a:t>
            </a:r>
          </a:p>
          <a:p>
            <a:pPr lvl="1"/>
            <a:r>
              <a:rPr lang="pt-BR" dirty="0"/>
              <a:t>Classificar</a:t>
            </a:r>
          </a:p>
          <a:p>
            <a:r>
              <a:rPr lang="pt-BR" dirty="0"/>
              <a:t>👉 </a:t>
            </a:r>
            <a:r>
              <a:rPr lang="pt-BR" b="1" dirty="0"/>
              <a:t>Sentimentos, emoções, opiniões e atitudes</a:t>
            </a:r>
            <a:r>
              <a:rPr lang="pt-BR" dirty="0"/>
              <a:t> expressas em textos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F05611-E288-23E4-D3DF-1DB08823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</p:spTree>
    <p:extLst>
      <p:ext uri="{BB962C8B-B14F-4D97-AF65-F5344CB8AC3E}">
        <p14:creationId xmlns:p14="http://schemas.microsoft.com/office/powerpoint/2010/main" val="137839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B485D6F2-A543-14D0-6D34-B67346F2B2B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É uma técnica de </a:t>
            </a:r>
            <a:r>
              <a:rPr lang="pt-BR" b="1" dirty="0">
                <a:solidFill>
                  <a:srgbClr val="0070C0"/>
                </a:solidFill>
              </a:rPr>
              <a:t>Processamento de Linguagem Natural (PLN)</a:t>
            </a:r>
            <a:r>
              <a:rPr lang="pt-BR" dirty="0"/>
              <a:t> que utiliza linguística computacional e </a:t>
            </a:r>
            <a:r>
              <a:rPr lang="pt-BR" i="1" dirty="0"/>
              <a:t>machine learning</a:t>
            </a:r>
            <a:r>
              <a:rPr lang="pt-BR" dirty="0"/>
              <a:t> para detectar o tom emocional de um texto, classificando-os como </a:t>
            </a:r>
            <a:r>
              <a:rPr lang="pt-BR" b="1" dirty="0"/>
              <a:t>positivos</a:t>
            </a:r>
            <a:r>
              <a:rPr lang="pt-BR" dirty="0"/>
              <a:t>, </a:t>
            </a:r>
            <a:r>
              <a:rPr lang="pt-BR" b="1" dirty="0"/>
              <a:t>negativos</a:t>
            </a:r>
            <a:r>
              <a:rPr lang="pt-BR" dirty="0"/>
              <a:t> ou </a:t>
            </a:r>
            <a:r>
              <a:rPr lang="pt-BR" b="1" dirty="0"/>
              <a:t>neutros</a:t>
            </a:r>
          </a:p>
          <a:p>
            <a:r>
              <a:rPr lang="pt-BR" dirty="0"/>
              <a:t>A tarefa de </a:t>
            </a:r>
            <a:r>
              <a:rPr lang="pt-BR" b="1" dirty="0">
                <a:solidFill>
                  <a:srgbClr val="0070C0"/>
                </a:solidFill>
              </a:rPr>
              <a:t>mineração de opinião</a:t>
            </a:r>
            <a:r>
              <a:rPr lang="pt-BR" dirty="0"/>
              <a:t> extrai e analisa as opiniões das pessoas sobre uma entidade</a:t>
            </a:r>
          </a:p>
          <a:p>
            <a:r>
              <a:rPr lang="pt-BR" dirty="0"/>
              <a:t>A </a:t>
            </a:r>
            <a:r>
              <a:rPr lang="pt-BR" b="1" dirty="0">
                <a:solidFill>
                  <a:srgbClr val="0070C0"/>
                </a:solidFill>
              </a:rPr>
              <a:t>análise de sentimentos</a:t>
            </a:r>
            <a:r>
              <a:rPr lang="pt-BR" dirty="0"/>
              <a:t> identifica o </a:t>
            </a:r>
            <a:r>
              <a:rPr lang="pt-BR" b="1" dirty="0"/>
              <a:t>sentimento</a:t>
            </a:r>
            <a:r>
              <a:rPr lang="pt-BR" dirty="0"/>
              <a:t> expresso nessas </a:t>
            </a:r>
            <a:r>
              <a:rPr lang="pt-BR" b="1" dirty="0"/>
              <a:t>opiniões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5F05611-E288-23E4-D3DF-1DB08823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</p:spTree>
    <p:extLst>
      <p:ext uri="{BB962C8B-B14F-4D97-AF65-F5344CB8AC3E}">
        <p14:creationId xmlns:p14="http://schemas.microsoft.com/office/powerpoint/2010/main" val="2949511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349F03E9-FA5B-2257-6814-7B4942E986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61"/>
          <a:stretch/>
        </p:blipFill>
        <p:spPr>
          <a:xfrm>
            <a:off x="1219200" y="1446245"/>
            <a:ext cx="9753600" cy="4644992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3668DB9-4BC2-427D-54E9-E4ADD2AE8833}"/>
              </a:ext>
            </a:extLst>
          </p:cNvPr>
          <p:cNvSpPr txBox="1"/>
          <p:nvPr/>
        </p:nvSpPr>
        <p:spPr>
          <a:xfrm>
            <a:off x="4145714" y="6060928"/>
            <a:ext cx="39005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1755553-9FC6-EF2C-1C45-C39152483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</p:spTree>
    <p:extLst>
      <p:ext uri="{BB962C8B-B14F-4D97-AF65-F5344CB8AC3E}">
        <p14:creationId xmlns:p14="http://schemas.microsoft.com/office/powerpoint/2010/main" val="199643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7357</TotalTime>
  <Words>416</Words>
  <Application>Microsoft Office PowerPoint</Application>
  <PresentationFormat>Widescreen</PresentationFormat>
  <Paragraphs>52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13</vt:i4>
      </vt:variant>
    </vt:vector>
  </HeadingPairs>
  <TitlesOfParts>
    <vt:vector size="23" baseType="lpstr">
      <vt:lpstr>Wingdings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Introdução à Análise de Sentimento</vt:lpstr>
      <vt:lpstr>Objetivos de Aprendizagem</vt:lpstr>
      <vt:lpstr>Motivação</vt:lpstr>
      <vt:lpstr>Motivação</vt:lpstr>
      <vt:lpstr>Motivação</vt:lpstr>
      <vt:lpstr>Apresentação do PowerPoint</vt:lpstr>
      <vt:lpstr>Aplicações</vt:lpstr>
      <vt:lpstr>Aplicações</vt:lpstr>
      <vt:lpstr>Definição</vt:lpstr>
      <vt:lpstr>Definição</vt:lpstr>
      <vt:lpstr>Definição</vt:lpstr>
      <vt:lpstr>Definição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120</cp:revision>
  <dcterms:created xsi:type="dcterms:W3CDTF">2025-06-11T21:44:24Z</dcterms:created>
  <dcterms:modified xsi:type="dcterms:W3CDTF">2026-01-14T14:01:00Z</dcterms:modified>
</cp:coreProperties>
</file>