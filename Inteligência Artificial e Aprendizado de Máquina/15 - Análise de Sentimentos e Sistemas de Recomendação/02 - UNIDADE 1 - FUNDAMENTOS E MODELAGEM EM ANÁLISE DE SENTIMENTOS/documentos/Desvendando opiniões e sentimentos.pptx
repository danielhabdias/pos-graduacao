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8"/>
  </p:notesMasterIdLst>
  <p:sldIdLst>
    <p:sldId id="1173" r:id="rId5"/>
    <p:sldId id="297" r:id="rId6"/>
    <p:sldId id="1174" r:id="rId7"/>
    <p:sldId id="1176" r:id="rId8"/>
    <p:sldId id="1177" r:id="rId9"/>
    <p:sldId id="1175" r:id="rId10"/>
    <p:sldId id="1181" r:id="rId11"/>
    <p:sldId id="1179" r:id="rId12"/>
    <p:sldId id="1182" r:id="rId13"/>
    <p:sldId id="1180" r:id="rId14"/>
    <p:sldId id="1183" r:id="rId15"/>
    <p:sldId id="1184" r:id="rId16"/>
    <p:sldId id="264" r:id="rId17"/>
  </p:sldIdLst>
  <p:sldSz cx="12192000" cy="6858000"/>
  <p:notesSz cx="6858000" cy="9144000"/>
  <p:embeddedFontLst>
    <p:embeddedFont>
      <p:font typeface="Abadi" panose="020B0604020104020204" pitchFamily="34" charset="0"/>
      <p:regular r:id="rId19"/>
      <p:bold r:id="rId20"/>
      <p:italic r:id="rId21"/>
      <p:boldItalic r:id="rId22"/>
    </p:embeddedFont>
    <p:embeddedFont>
      <p:font typeface="Cronos Pro" panose="020C0502030403020304" charset="0"/>
      <p:regular r:id="rId23"/>
      <p:bold r:id="rId24"/>
      <p: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Desvendando opiniões</a:t>
            </a:r>
            <a:br>
              <a:rPr lang="pt-BR" dirty="0"/>
            </a:br>
            <a:r>
              <a:rPr lang="pt-BR" dirty="0"/>
              <a:t>e sentimentos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800" dirty="0"/>
              <a:t>Definir as dimensões fundamentais das opiniões</a:t>
            </a:r>
          </a:p>
          <a:p>
            <a:r>
              <a:rPr lang="pt-BR" sz="2800" dirty="0"/>
              <a:t>Diferenciar opiniões diretas de indiretas com base no foco da mensagem</a:t>
            </a:r>
          </a:p>
          <a:p>
            <a:r>
              <a:rPr lang="pt-BR" sz="2800" dirty="0"/>
              <a:t>Distinguir o sentimento explícito, verbalizado por palavras de carga valorativa, do sentimento implícito</a:t>
            </a:r>
          </a:p>
          <a:p>
            <a:r>
              <a:rPr lang="pt-BR" sz="2800" dirty="0"/>
              <a:t>Explicar a estrutura das opiniões comparativas, identificando como elas estabelecem relações de hierarquia ou semelhança entre duas ou mais entidades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454FD-7D02-955A-AEF4-ACB0680666C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Ao analisar textos opinativos, é fundamental compreender </a:t>
            </a:r>
            <a:r>
              <a:rPr lang="pt-BR" b="1" dirty="0"/>
              <a:t>como a opinião é expressa</a:t>
            </a:r>
          </a:p>
          <a:p>
            <a:endParaRPr lang="pt-BR" dirty="0"/>
          </a:p>
          <a:p>
            <a:r>
              <a:rPr lang="pt-BR" dirty="0"/>
              <a:t>Nem toda opinião aparece de forma </a:t>
            </a:r>
            <a:r>
              <a:rPr lang="pt-BR" b="1" dirty="0"/>
              <a:t>direta</a:t>
            </a:r>
            <a:r>
              <a:rPr lang="pt-BR" dirty="0"/>
              <a:t> ou óbvia, o que torna a análise de sentimentos um desafio interessante</a:t>
            </a:r>
          </a:p>
          <a:p>
            <a:endParaRPr lang="pt-BR" dirty="0"/>
          </a:p>
          <a:p>
            <a:r>
              <a:rPr lang="pt-BR" dirty="0"/>
              <a:t>Além disso, nem todo sentimento é verbalizado de forma </a:t>
            </a:r>
            <a:r>
              <a:rPr lang="pt-BR" b="1" dirty="0"/>
              <a:t>explícita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Opiniões e Sentimentos</a:t>
            </a:r>
          </a:p>
        </p:txBody>
      </p:sp>
    </p:spTree>
    <p:extLst>
      <p:ext uri="{BB962C8B-B14F-4D97-AF65-F5344CB8AC3E}">
        <p14:creationId xmlns:p14="http://schemas.microsoft.com/office/powerpoint/2010/main" val="286482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454FD-7D02-955A-AEF4-ACB0680666C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Opiniões podem ser analisadas pelas seguintes </a:t>
            </a:r>
            <a:r>
              <a:rPr lang="pt-BR" b="1" dirty="0"/>
              <a:t>características</a:t>
            </a:r>
          </a:p>
          <a:p>
            <a:pPr lvl="1"/>
            <a:r>
              <a:rPr lang="pt-BR" b="1" dirty="0"/>
              <a:t>Direta × Indireta</a:t>
            </a:r>
          </a:p>
          <a:p>
            <a:pPr lvl="2"/>
            <a:r>
              <a:rPr lang="pt-BR" dirty="0"/>
              <a:t>Como a </a:t>
            </a:r>
            <a:r>
              <a:rPr lang="pt-BR" b="1" dirty="0"/>
              <a:t>opinião</a:t>
            </a:r>
            <a:r>
              <a:rPr lang="pt-BR" dirty="0"/>
              <a:t> é expressa</a:t>
            </a:r>
          </a:p>
          <a:p>
            <a:pPr lvl="1"/>
            <a:r>
              <a:rPr lang="pt-BR" b="1" dirty="0"/>
              <a:t>Explícita × Implícita</a:t>
            </a:r>
          </a:p>
          <a:p>
            <a:pPr lvl="2"/>
            <a:r>
              <a:rPr lang="pt-BR" dirty="0"/>
              <a:t>Se o </a:t>
            </a:r>
            <a:r>
              <a:rPr lang="pt-BR" b="1" dirty="0"/>
              <a:t>sentimento</a:t>
            </a:r>
            <a:r>
              <a:rPr lang="pt-BR" dirty="0"/>
              <a:t> é verbalizado</a:t>
            </a:r>
          </a:p>
          <a:p>
            <a:pPr lvl="1"/>
            <a:r>
              <a:rPr lang="pt-BR" b="1" dirty="0"/>
              <a:t>Comparativa</a:t>
            </a:r>
          </a:p>
          <a:p>
            <a:pPr lvl="2"/>
            <a:r>
              <a:rPr lang="pt-BR" dirty="0"/>
              <a:t>Quando há </a:t>
            </a:r>
            <a:r>
              <a:rPr lang="pt-BR" b="1" dirty="0"/>
              <a:t>relação</a:t>
            </a:r>
            <a:r>
              <a:rPr lang="pt-BR" dirty="0"/>
              <a:t> entre entidades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Opiniões e Sentimentos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F9DC5D3-C2B9-8184-E377-8904B7A1C3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86"/>
          <a:stretch/>
        </p:blipFill>
        <p:spPr>
          <a:xfrm>
            <a:off x="6327891" y="2623935"/>
            <a:ext cx="5316421" cy="250504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3D4A1D1-43B3-A738-628C-B928B7B96544}"/>
              </a:ext>
            </a:extLst>
          </p:cNvPr>
          <p:cNvSpPr txBox="1"/>
          <p:nvPr/>
        </p:nvSpPr>
        <p:spPr>
          <a:xfrm>
            <a:off x="7035816" y="5191030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12161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D3D4A1D1-43B3-A738-628C-B928B7B96544}"/>
              </a:ext>
            </a:extLst>
          </p:cNvPr>
          <p:cNvSpPr txBox="1"/>
          <p:nvPr/>
        </p:nvSpPr>
        <p:spPr>
          <a:xfrm>
            <a:off x="4145715" y="6082742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B684BB-A16B-E95C-F561-67BE49A6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29064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3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454FD-7D02-955A-AEF4-ACB0680666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7"/>
            <a:ext cx="11071225" cy="1841572"/>
          </a:xfrm>
        </p:spPr>
        <p:txBody>
          <a:bodyPr>
            <a:normAutofit fontScale="92500"/>
          </a:bodyPr>
          <a:lstStyle/>
          <a:p>
            <a:r>
              <a:rPr lang="pt-BR" dirty="0"/>
              <a:t>Essa distinção foca em </a:t>
            </a:r>
            <a:r>
              <a:rPr lang="pt-BR" b="1" dirty="0"/>
              <a:t>como</a:t>
            </a:r>
            <a:r>
              <a:rPr lang="pt-BR" dirty="0"/>
              <a:t> a opinião atinge o objeto de análise </a:t>
            </a:r>
          </a:p>
          <a:p>
            <a:r>
              <a:rPr lang="pt-BR" dirty="0"/>
              <a:t>Como a opinião é </a:t>
            </a:r>
            <a:r>
              <a:rPr lang="pt-BR" b="1" dirty="0"/>
              <a:t>expressa</a:t>
            </a:r>
            <a:r>
              <a:rPr lang="pt-BR" dirty="0"/>
              <a:t> e como o sentimento é direcionado ao alvo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3987"/>
            <a:ext cx="11296507" cy="592085"/>
          </a:xfrm>
        </p:spPr>
        <p:txBody>
          <a:bodyPr/>
          <a:lstStyle/>
          <a:p>
            <a:r>
              <a:rPr lang="pt-BR" sz="3600" dirty="0"/>
              <a:t>Direta × Indireta: O caminho da opinião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CB2088-759B-BD53-9A04-2812AE13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969" y="3419062"/>
            <a:ext cx="4790661" cy="255907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653F685-347C-A8D6-1F89-C43018985301}"/>
              </a:ext>
            </a:extLst>
          </p:cNvPr>
          <p:cNvSpPr txBox="1"/>
          <p:nvPr/>
        </p:nvSpPr>
        <p:spPr>
          <a:xfrm>
            <a:off x="4133014" y="6032548"/>
            <a:ext cx="390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E3D513A6-C36C-D54D-0581-BEB5C81EE666}"/>
              </a:ext>
            </a:extLst>
          </p:cNvPr>
          <p:cNvSpPr/>
          <p:nvPr/>
        </p:nvSpPr>
        <p:spPr>
          <a:xfrm>
            <a:off x="9226410" y="3419062"/>
            <a:ext cx="2517914" cy="2057397"/>
          </a:xfrm>
          <a:prstGeom prst="wedgeRoundRectCallout">
            <a:avLst>
              <a:gd name="adj1" fmla="val -100965"/>
              <a:gd name="adj2" fmla="val 3968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 opinião é expressa através dos </a:t>
            </a:r>
            <a:r>
              <a:rPr lang="pt-BR" b="1" dirty="0"/>
              <a:t>efeitos</a:t>
            </a:r>
            <a:r>
              <a:rPr lang="pt-BR" dirty="0"/>
              <a:t> que a entidade causa em outra entidade ou no ambiente</a:t>
            </a:r>
          </a:p>
        </p:txBody>
      </p: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EBEBCF90-08B4-BAE2-1591-77C2F59DD582}"/>
              </a:ext>
            </a:extLst>
          </p:cNvPr>
          <p:cNvSpPr/>
          <p:nvPr/>
        </p:nvSpPr>
        <p:spPr>
          <a:xfrm>
            <a:off x="547688" y="4040006"/>
            <a:ext cx="2592525" cy="1590261"/>
          </a:xfrm>
          <a:prstGeom prst="wedgeRoundRectCallout">
            <a:avLst>
              <a:gd name="adj1" fmla="val 100610"/>
              <a:gd name="adj2" fmla="val 26945"/>
              <a:gd name="adj3" fmla="val 16667"/>
            </a:avLst>
          </a:prstGeom>
          <a:solidFill>
            <a:srgbClr val="E7A3C7"/>
          </a:solidFill>
          <a:ln>
            <a:solidFill>
              <a:srgbClr val="7030A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 opinião expressa um sentimento sobre a entidade ou atributo de forma direta e </a:t>
            </a:r>
            <a:r>
              <a:rPr lang="pt-BR" b="1" dirty="0"/>
              <a:t>imediata</a:t>
            </a:r>
          </a:p>
        </p:txBody>
      </p:sp>
    </p:spTree>
    <p:extLst>
      <p:ext uri="{BB962C8B-B14F-4D97-AF65-F5344CB8AC3E}">
        <p14:creationId xmlns:p14="http://schemas.microsoft.com/office/powerpoint/2010/main" val="325688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3987"/>
            <a:ext cx="11296507" cy="592085"/>
          </a:xfrm>
        </p:spPr>
        <p:txBody>
          <a:bodyPr/>
          <a:lstStyle/>
          <a:p>
            <a:r>
              <a:rPr lang="pt-BR" sz="3600" dirty="0"/>
              <a:t>Direta × Indireta: O caminho da opinião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16B4369-53A6-7F78-713E-D1600DD7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6"/>
          <a:stretch/>
        </p:blipFill>
        <p:spPr>
          <a:xfrm>
            <a:off x="1340277" y="1493708"/>
            <a:ext cx="9511446" cy="468000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36411EE-2DD9-C980-CAD6-541C06423FD0}"/>
              </a:ext>
            </a:extLst>
          </p:cNvPr>
          <p:cNvSpPr txBox="1"/>
          <p:nvPr/>
        </p:nvSpPr>
        <p:spPr>
          <a:xfrm>
            <a:off x="4133014" y="6210803"/>
            <a:ext cx="390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91135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F9A59F4-3136-5326-CFA4-52BC3C6FA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546" y="3347340"/>
            <a:ext cx="4784907" cy="2556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454FD-7D02-955A-AEF4-ACB0680666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7"/>
            <a:ext cx="11071225" cy="1841572"/>
          </a:xfrm>
        </p:spPr>
        <p:txBody>
          <a:bodyPr>
            <a:normAutofit/>
          </a:bodyPr>
          <a:lstStyle/>
          <a:p>
            <a:r>
              <a:rPr lang="pt-BR" dirty="0"/>
              <a:t>Essa distinção refere-se à presença física das palavras que verbalizam o </a:t>
            </a:r>
            <a:r>
              <a:rPr lang="pt-BR" b="1" dirty="0"/>
              <a:t>sentimento</a:t>
            </a:r>
            <a:r>
              <a:rPr lang="pt-BR" dirty="0"/>
              <a:t> ou ele deve ser inferido do contexto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61751"/>
            <a:ext cx="11296507" cy="536557"/>
          </a:xfrm>
        </p:spPr>
        <p:txBody>
          <a:bodyPr/>
          <a:lstStyle/>
          <a:p>
            <a:r>
              <a:rPr lang="pt-BR" sz="3200" dirty="0"/>
              <a:t>Explícita × Implícita: A presença do sentimento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53F685-347C-A8D6-1F89-C43018985301}"/>
              </a:ext>
            </a:extLst>
          </p:cNvPr>
          <p:cNvSpPr txBox="1"/>
          <p:nvPr/>
        </p:nvSpPr>
        <p:spPr>
          <a:xfrm>
            <a:off x="4133014" y="5972914"/>
            <a:ext cx="390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E3D513A6-C36C-D54D-0581-BEB5C81EE666}"/>
              </a:ext>
            </a:extLst>
          </p:cNvPr>
          <p:cNvSpPr/>
          <p:nvPr/>
        </p:nvSpPr>
        <p:spPr>
          <a:xfrm>
            <a:off x="9226410" y="3419062"/>
            <a:ext cx="2517914" cy="2057397"/>
          </a:xfrm>
          <a:prstGeom prst="wedgeRoundRectCallout">
            <a:avLst>
              <a:gd name="adj1" fmla="val -108860"/>
              <a:gd name="adj2" fmla="val 3437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texto contém uma declaração factual que, dentro de um contexto cultural ou situacional, carrega um sentimento</a:t>
            </a:r>
          </a:p>
        </p:txBody>
      </p: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EBEBCF90-08B4-BAE2-1591-77C2F59DD582}"/>
              </a:ext>
            </a:extLst>
          </p:cNvPr>
          <p:cNvSpPr/>
          <p:nvPr/>
        </p:nvSpPr>
        <p:spPr>
          <a:xfrm>
            <a:off x="573086" y="3886198"/>
            <a:ext cx="2592525" cy="1590261"/>
          </a:xfrm>
          <a:prstGeom prst="wedgeRoundRectCallout">
            <a:avLst>
              <a:gd name="adj1" fmla="val 96776"/>
              <a:gd name="adj2" fmla="val 29445"/>
              <a:gd name="adj3" fmla="val 16667"/>
            </a:avLst>
          </a:prstGeom>
          <a:solidFill>
            <a:srgbClr val="E7A3C7"/>
          </a:solidFill>
          <a:ln>
            <a:solidFill>
              <a:srgbClr val="7030A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Utiliza palavras que carregam uma carga valorativa (adjetivos, advérbios ou verbos de sentimento)</a:t>
            </a:r>
          </a:p>
        </p:txBody>
      </p:sp>
    </p:spTree>
    <p:extLst>
      <p:ext uri="{BB962C8B-B14F-4D97-AF65-F5344CB8AC3E}">
        <p14:creationId xmlns:p14="http://schemas.microsoft.com/office/powerpoint/2010/main" val="185505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61751"/>
            <a:ext cx="11296507" cy="536557"/>
          </a:xfrm>
        </p:spPr>
        <p:txBody>
          <a:bodyPr/>
          <a:lstStyle/>
          <a:p>
            <a:r>
              <a:rPr lang="pt-BR" sz="3200" dirty="0"/>
              <a:t>Explícita × Implícita: A presença do sentimento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53F685-347C-A8D6-1F89-C43018985301}"/>
              </a:ext>
            </a:extLst>
          </p:cNvPr>
          <p:cNvSpPr txBox="1"/>
          <p:nvPr/>
        </p:nvSpPr>
        <p:spPr>
          <a:xfrm>
            <a:off x="4145715" y="6095736"/>
            <a:ext cx="390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F08F946-88C1-5FE1-8C5A-86246F746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08"/>
          <a:stretch/>
        </p:blipFill>
        <p:spPr>
          <a:xfrm>
            <a:off x="1362327" y="1415736"/>
            <a:ext cx="9467346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49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454FD-7D02-955A-AEF4-ACB0680666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7"/>
            <a:ext cx="11071225" cy="1841572"/>
          </a:xfrm>
        </p:spPr>
        <p:txBody>
          <a:bodyPr>
            <a:normAutofit/>
          </a:bodyPr>
          <a:lstStyle/>
          <a:p>
            <a:r>
              <a:rPr lang="pt-BR" dirty="0"/>
              <a:t>A opinião comparativa não analisa uma entidade isolada, mas estabelece uma hierarquia ou relação de semelhança entre duas ou mais entidades com base em seus atributos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Comparativa: A relação entre entidades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53F685-347C-A8D6-1F89-C43018985301}"/>
              </a:ext>
            </a:extLst>
          </p:cNvPr>
          <p:cNvSpPr txBox="1"/>
          <p:nvPr/>
        </p:nvSpPr>
        <p:spPr>
          <a:xfrm>
            <a:off x="4053500" y="6069223"/>
            <a:ext cx="390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3D1A0B-D83E-57FB-A918-170D7B952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290" y="3697359"/>
            <a:ext cx="4240991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06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Comparativa: A relação entre entidades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53F685-347C-A8D6-1F89-C43018985301}"/>
              </a:ext>
            </a:extLst>
          </p:cNvPr>
          <p:cNvSpPr txBox="1"/>
          <p:nvPr/>
        </p:nvSpPr>
        <p:spPr>
          <a:xfrm>
            <a:off x="4053500" y="6069223"/>
            <a:ext cx="390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AEBB5A8-9E49-31DC-62F6-E20EA04B4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6"/>
          <a:stretch/>
        </p:blipFill>
        <p:spPr>
          <a:xfrm>
            <a:off x="1525163" y="1389223"/>
            <a:ext cx="8957244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29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6E85FB4-D0AA-1A01-76B2-16D3C6721B1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156288505"/>
              </p:ext>
            </p:extLst>
          </p:nvPr>
        </p:nvGraphicFramePr>
        <p:xfrm>
          <a:off x="1032531" y="1587430"/>
          <a:ext cx="10126938" cy="44134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6956">
                  <a:extLst>
                    <a:ext uri="{9D8B030D-6E8A-4147-A177-3AD203B41FA5}">
                      <a16:colId xmlns:a16="http://schemas.microsoft.com/office/drawing/2014/main" val="1808550706"/>
                    </a:ext>
                  </a:extLst>
                </a:gridCol>
                <a:gridCol w="3904991">
                  <a:extLst>
                    <a:ext uri="{9D8B030D-6E8A-4147-A177-3AD203B41FA5}">
                      <a16:colId xmlns:a16="http://schemas.microsoft.com/office/drawing/2014/main" val="450095170"/>
                    </a:ext>
                  </a:extLst>
                </a:gridCol>
                <a:gridCol w="3904991">
                  <a:extLst>
                    <a:ext uri="{9D8B030D-6E8A-4147-A177-3AD203B41FA5}">
                      <a16:colId xmlns:a16="http://schemas.microsoft.com/office/drawing/2014/main" val="83649169"/>
                    </a:ext>
                  </a:extLst>
                </a:gridCol>
              </a:tblGrid>
              <a:tr h="557596"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chemeClr val="bg1"/>
                          </a:solidFill>
                          <a:effectLst/>
                        </a:rPr>
                        <a:t>Tipo</a:t>
                      </a:r>
                      <a:endParaRPr lang="pt-BR" sz="2400" dirty="0">
                        <a:solidFill>
                          <a:schemeClr val="bg1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chemeClr val="bg1"/>
                          </a:solidFill>
                          <a:effectLst/>
                        </a:rPr>
                        <a:t>Foco</a:t>
                      </a:r>
                      <a:endParaRPr lang="pt-BR" sz="2400" dirty="0">
                        <a:solidFill>
                          <a:schemeClr val="bg1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chemeClr val="bg1"/>
                          </a:solidFill>
                          <a:effectLst/>
                        </a:rPr>
                        <a:t>Exemplo</a:t>
                      </a:r>
                      <a:endParaRPr lang="pt-BR" sz="2400" dirty="0">
                        <a:solidFill>
                          <a:schemeClr val="bg1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51477146"/>
                  </a:ext>
                </a:extLst>
              </a:tr>
              <a:tr h="557596"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rgbClr val="1F1F1F"/>
                          </a:solidFill>
                          <a:effectLst/>
                        </a:rPr>
                        <a:t>Direta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O objeto em si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"O carro é lento."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16790030"/>
                  </a:ext>
                </a:extLst>
              </a:tr>
              <a:tr h="943623"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rgbClr val="1F1F1F"/>
                          </a:solidFill>
                          <a:effectLst/>
                        </a:rPr>
                        <a:t>Indireta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As consequências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"O carro me deixou na mão na estrada."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76436999"/>
                  </a:ext>
                </a:extLst>
              </a:tr>
              <a:tr h="557596"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rgbClr val="1F1F1F"/>
                          </a:solidFill>
                          <a:effectLst/>
                        </a:rPr>
                        <a:t>Explícita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Palavras de sentimento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"Estou </a:t>
                      </a:r>
                      <a:r>
                        <a:rPr lang="pt-BR" sz="2400" b="1" dirty="0">
                          <a:solidFill>
                            <a:srgbClr val="1F1F1F"/>
                          </a:solidFill>
                          <a:effectLst/>
                        </a:rPr>
                        <a:t>feliz</a:t>
                      </a:r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 com a compra."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980437141"/>
                  </a:ext>
                </a:extLst>
              </a:tr>
              <a:tr h="943623"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rgbClr val="1F1F1F"/>
                          </a:solidFill>
                          <a:effectLst/>
                        </a:rPr>
                        <a:t>Implícita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Fatos objetivos sem sentimento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"O fone quebrou no primeiro uso."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43768594"/>
                  </a:ext>
                </a:extLst>
              </a:tr>
              <a:tr h="557596">
                <a:tc>
                  <a:txBody>
                    <a:bodyPr/>
                    <a:lstStyle/>
                    <a:p>
                      <a:pPr rtl="0"/>
                      <a:r>
                        <a:rPr lang="pt-BR" sz="2400" b="1" dirty="0">
                          <a:solidFill>
                            <a:srgbClr val="1F1F1F"/>
                          </a:solidFill>
                          <a:effectLst/>
                        </a:rPr>
                        <a:t>Comparativa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Relação entre dois objetos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2400" dirty="0">
                          <a:solidFill>
                            <a:srgbClr val="1F1F1F"/>
                          </a:solidFill>
                          <a:effectLst/>
                        </a:rPr>
                        <a:t>"A marca A é melhor que a B."</a:t>
                      </a:r>
                      <a:endParaRPr lang="pt-BR" sz="24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55355513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A450E93D-BF6D-C363-3B2E-879E2CA6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Tabela Resumo</a:t>
            </a:r>
          </a:p>
        </p:txBody>
      </p:sp>
    </p:spTree>
    <p:extLst>
      <p:ext uri="{BB962C8B-B14F-4D97-AF65-F5344CB8AC3E}">
        <p14:creationId xmlns:p14="http://schemas.microsoft.com/office/powerpoint/2010/main" val="293527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7350</TotalTime>
  <Words>486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13</vt:i4>
      </vt:variant>
    </vt:vector>
  </HeadingPairs>
  <TitlesOfParts>
    <vt:vector size="24" baseType="lpstr">
      <vt:lpstr>Wingdings</vt:lpstr>
      <vt:lpstr>Cronos Pro</vt:lpstr>
      <vt:lpstr>Montserrat</vt:lpstr>
      <vt:lpstr>Abadi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Desvendando opiniões e sentimentos</vt:lpstr>
      <vt:lpstr>Objetivos de Aprendizagem</vt:lpstr>
      <vt:lpstr>Opiniões e Sentimentos</vt:lpstr>
      <vt:lpstr>Opiniões e Sentimentos</vt:lpstr>
      <vt:lpstr>Apresentação do PowerPoint</vt:lpstr>
      <vt:lpstr>Direta × Indireta: O caminho da opinião</vt:lpstr>
      <vt:lpstr>Direta × Indireta: O caminho da opinião</vt:lpstr>
      <vt:lpstr>Explícita × Implícita: A presença do sentimento</vt:lpstr>
      <vt:lpstr>Explícita × Implícita: A presença do sentimento</vt:lpstr>
      <vt:lpstr>Comparativa: A relação entre entidades</vt:lpstr>
      <vt:lpstr>Comparativa: A relação entre entidades</vt:lpstr>
      <vt:lpstr>Tabela Resumo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128</cp:revision>
  <dcterms:created xsi:type="dcterms:W3CDTF">2025-06-11T21:44:24Z</dcterms:created>
  <dcterms:modified xsi:type="dcterms:W3CDTF">2026-01-10T18:41:46Z</dcterms:modified>
</cp:coreProperties>
</file>