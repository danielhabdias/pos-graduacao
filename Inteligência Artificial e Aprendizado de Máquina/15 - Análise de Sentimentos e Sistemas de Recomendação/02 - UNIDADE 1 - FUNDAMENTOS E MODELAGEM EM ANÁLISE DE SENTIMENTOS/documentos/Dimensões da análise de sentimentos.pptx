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0"/>
  </p:notesMasterIdLst>
  <p:sldIdLst>
    <p:sldId id="1173" r:id="rId5"/>
    <p:sldId id="297" r:id="rId6"/>
    <p:sldId id="1177" r:id="rId7"/>
    <p:sldId id="1178" r:id="rId8"/>
    <p:sldId id="1179" r:id="rId9"/>
    <p:sldId id="1180" r:id="rId10"/>
    <p:sldId id="1181" r:id="rId11"/>
    <p:sldId id="1183" r:id="rId12"/>
    <p:sldId id="1182" r:id="rId13"/>
    <p:sldId id="1186" r:id="rId14"/>
    <p:sldId id="1184" r:id="rId15"/>
    <p:sldId id="1185" r:id="rId16"/>
    <p:sldId id="1187" r:id="rId17"/>
    <p:sldId id="1189" r:id="rId18"/>
    <p:sldId id="264" r:id="rId19"/>
  </p:sldIdLst>
  <p:sldSz cx="12192000" cy="6858000"/>
  <p:notesSz cx="6858000" cy="9144000"/>
  <p:embeddedFontLst>
    <p:embeddedFont>
      <p:font typeface="Cronos Pro" panose="020C0502030403020304" charset="0"/>
      <p:regular r:id="rId21"/>
      <p:bold r:id="rId22"/>
      <p: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Dimensões da análise </a:t>
            </a:r>
            <a:br>
              <a:rPr lang="pt-BR" dirty="0"/>
            </a:br>
            <a:r>
              <a:rPr lang="pt-BR" dirty="0"/>
              <a:t>de sentimentos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Definir as dimensões fundamentais da análise de sentimentos: polaridade, intensidade e subjetividade</a:t>
            </a:r>
          </a:p>
          <a:p>
            <a:r>
              <a:rPr lang="pt-BR" sz="2700" dirty="0"/>
              <a:t>Classificar a orientação emocional de um texto em categorias de polaridade (positiva, negativa ou neutra) e níveis de intensidade (força do sentimento)</a:t>
            </a:r>
          </a:p>
          <a:p>
            <a:r>
              <a:rPr lang="pt-BR" sz="2700" dirty="0"/>
              <a:t>Identificar estados psicológicos e emoções complexas (como alegria, raiva, tristeza e medo) que vão além da classificação binária básica</a:t>
            </a:r>
          </a:p>
          <a:p>
            <a:r>
              <a:rPr lang="pt-BR" sz="2700" dirty="0"/>
              <a:t>Diferenciar conteúdos objetivos (fatos) de conteúdos subjetivos (opiniões)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3EA45C-8BB3-DBBC-14A3-48103BBAF46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A análise de sentimentos vai além de uma simples classificação binária do texto como sendo positivo ou negativo</a:t>
            </a:r>
          </a:p>
          <a:p>
            <a:r>
              <a:rPr lang="pt-BR" dirty="0"/>
              <a:t>Geralmente, uma opinião é analisada sob três dimensões fundamentais para entender a direção, a força e a natureza do que está sendo dito</a:t>
            </a:r>
          </a:p>
          <a:p>
            <a:pPr lvl="1"/>
            <a:r>
              <a:rPr lang="pt-BR" dirty="0"/>
              <a:t>Polaridade</a:t>
            </a:r>
          </a:p>
          <a:p>
            <a:pPr lvl="1"/>
            <a:r>
              <a:rPr lang="pt-BR" dirty="0"/>
              <a:t>Intensidade</a:t>
            </a:r>
          </a:p>
          <a:p>
            <a:pPr lvl="1"/>
            <a:r>
              <a:rPr lang="pt-BR" dirty="0"/>
              <a:t>Subjetividade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Dimensões da Análise de Sentimentos</a:t>
            </a:r>
          </a:p>
        </p:txBody>
      </p:sp>
    </p:spTree>
    <p:extLst>
      <p:ext uri="{BB962C8B-B14F-4D97-AF65-F5344CB8AC3E}">
        <p14:creationId xmlns:p14="http://schemas.microsoft.com/office/powerpoint/2010/main" val="3274074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Dimensões da Análise de Sentimentos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6D89E1-8E66-029D-BDBE-71B33DF1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488" y="1542014"/>
            <a:ext cx="8573023" cy="4680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0346CE4-307A-FED9-2E13-A5503C8ED916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27579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77BA2-0A0F-4F3D-93CB-3EA5044D070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Determina se o texto expressa uma opinião favorável, desfavorável ou isenta</a:t>
            </a:r>
          </a:p>
          <a:p>
            <a:r>
              <a:rPr lang="pt-BR" dirty="0"/>
              <a:t>Representa a </a:t>
            </a:r>
            <a:r>
              <a:rPr lang="pt-BR" b="1" u="sng" dirty="0"/>
              <a:t>direção</a:t>
            </a:r>
            <a:r>
              <a:rPr lang="pt-BR" dirty="0"/>
              <a:t> do sentimento expresso, a orientação emocional de um texto, podendo ser</a:t>
            </a:r>
          </a:p>
          <a:p>
            <a:pPr lvl="1"/>
            <a:r>
              <a:rPr lang="pt-BR" dirty="0"/>
              <a:t>Positiva (+)</a:t>
            </a:r>
          </a:p>
          <a:p>
            <a:pPr lvl="2"/>
            <a:r>
              <a:rPr lang="pt-BR" dirty="0"/>
              <a:t>Expressa satisfação, aprovação ou felicidade.</a:t>
            </a:r>
          </a:p>
          <a:p>
            <a:pPr lvl="2"/>
            <a:r>
              <a:rPr lang="pt-BR" u="sng" dirty="0"/>
              <a:t>Exemplo</a:t>
            </a:r>
            <a:r>
              <a:rPr lang="pt-BR" dirty="0"/>
              <a:t>: "Eu adorei este novo smartphone!"</a:t>
            </a:r>
          </a:p>
          <a:p>
            <a:pPr lvl="1"/>
            <a:r>
              <a:rPr lang="pt-BR" dirty="0"/>
              <a:t>Negativa (-)</a:t>
            </a:r>
          </a:p>
          <a:p>
            <a:pPr lvl="2"/>
            <a:r>
              <a:rPr lang="pt-BR" dirty="0"/>
              <a:t>Expressa insatisfação, crítica ou tristeza.</a:t>
            </a:r>
          </a:p>
          <a:p>
            <a:pPr lvl="2"/>
            <a:r>
              <a:rPr lang="pt-BR" u="sng" dirty="0"/>
              <a:t>Exemplo</a:t>
            </a:r>
            <a:r>
              <a:rPr lang="pt-BR" dirty="0"/>
              <a:t>: "O serviço de atendimento ao cliente é horrível."</a:t>
            </a:r>
          </a:p>
          <a:p>
            <a:pPr lvl="1"/>
            <a:r>
              <a:rPr lang="pt-BR" dirty="0"/>
              <a:t>Neutra</a:t>
            </a:r>
          </a:p>
          <a:p>
            <a:pPr lvl="2"/>
            <a:r>
              <a:rPr lang="pt-BR" dirty="0"/>
              <a:t>Declaração de fatos sem carga emocional ou um equilíbrio exato de prós e contras.</a:t>
            </a:r>
          </a:p>
          <a:p>
            <a:pPr lvl="2"/>
            <a:r>
              <a:rPr lang="pt-BR" u="sng" dirty="0"/>
              <a:t>Exemplo</a:t>
            </a:r>
            <a:r>
              <a:rPr lang="pt-BR" dirty="0"/>
              <a:t>: " O telefone possui 256GB de armazenamento."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Polaridade: A Direção do Sentimento</a:t>
            </a:r>
          </a:p>
        </p:txBody>
      </p:sp>
    </p:spTree>
    <p:extLst>
      <p:ext uri="{BB962C8B-B14F-4D97-AF65-F5344CB8AC3E}">
        <p14:creationId xmlns:p14="http://schemas.microsoft.com/office/powerpoint/2010/main" val="324043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5D1281F-FE2A-133A-D623-07692B54D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4F542FE-D3C8-7CDE-E86B-427FA349587F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76286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77BA2-0A0F-4F3D-93CB-3EA5044D07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45556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intensidade mede o quão forte é o sentimento </a:t>
            </a:r>
          </a:p>
          <a:p>
            <a:r>
              <a:rPr lang="pt-BR" dirty="0"/>
              <a:t>Mede o </a:t>
            </a:r>
            <a:r>
              <a:rPr lang="pt-BR" b="1" u="sng" dirty="0"/>
              <a:t>grau</a:t>
            </a:r>
            <a:r>
              <a:rPr lang="pt-BR" dirty="0"/>
              <a:t> ou a </a:t>
            </a:r>
            <a:r>
              <a:rPr lang="pt-BR" b="1" u="sng" dirty="0"/>
              <a:t>força</a:t>
            </a:r>
            <a:r>
              <a:rPr lang="pt-BR" dirty="0"/>
              <a:t> do sentimento expresso usando escalas de intensidade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Escala numérica</a:t>
            </a:r>
            <a:r>
              <a:rPr lang="pt-BR" dirty="0"/>
              <a:t>: -1 a +1 (muito negativo a muito positivo)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Escala categórica</a:t>
            </a:r>
            <a:r>
              <a:rPr lang="pt-BR" dirty="0"/>
              <a:t>: muito negativo, negativo, neutro, positivo, muito positivo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Escala percentual</a:t>
            </a:r>
            <a:r>
              <a:rPr lang="pt-BR" dirty="0"/>
              <a:t>: 0% a 100% de positividade</a:t>
            </a:r>
          </a:p>
          <a:p>
            <a:r>
              <a:rPr lang="pt-BR" dirty="0"/>
              <a:t>Geralmente utiliza escalas numéricas ou detecta modificadores linguísticos (advérbios e adjetivos de intensidade)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Intensidade: A Força do Sentimento</a:t>
            </a:r>
          </a:p>
        </p:txBody>
      </p:sp>
    </p:spTree>
    <p:extLst>
      <p:ext uri="{BB962C8B-B14F-4D97-AF65-F5344CB8AC3E}">
        <p14:creationId xmlns:p14="http://schemas.microsoft.com/office/powerpoint/2010/main" val="272489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77BA2-0A0F-4F3D-93CB-3EA5044D07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455560"/>
          </a:xfrm>
        </p:spPr>
        <p:txBody>
          <a:bodyPr>
            <a:normAutofit/>
          </a:bodyPr>
          <a:lstStyle/>
          <a:p>
            <a:r>
              <a:rPr lang="pt-BR" dirty="0"/>
              <a:t>Exemplos</a:t>
            </a:r>
          </a:p>
          <a:p>
            <a:pPr lvl="1"/>
            <a:r>
              <a:rPr lang="pt-BR" dirty="0"/>
              <a:t>Baixa Intensidade Positiva</a:t>
            </a:r>
          </a:p>
          <a:p>
            <a:pPr lvl="2"/>
            <a:r>
              <a:rPr lang="pt-BR" dirty="0"/>
              <a:t>"O filme é bom." (+1)</a:t>
            </a:r>
          </a:p>
          <a:p>
            <a:pPr lvl="1"/>
            <a:r>
              <a:rPr lang="pt-BR" dirty="0"/>
              <a:t>Alta Intensidade Positiva</a:t>
            </a:r>
          </a:p>
          <a:p>
            <a:pPr lvl="2"/>
            <a:r>
              <a:rPr lang="pt-BR" dirty="0"/>
              <a:t>"O filme é absolutamente incrível e espetacular!" (+5)</a:t>
            </a:r>
          </a:p>
          <a:p>
            <a:pPr lvl="1"/>
            <a:r>
              <a:rPr lang="pt-BR" dirty="0"/>
              <a:t>Baixa Intensidade Negativa</a:t>
            </a:r>
          </a:p>
          <a:p>
            <a:pPr lvl="2"/>
            <a:r>
              <a:rPr lang="pt-BR" dirty="0"/>
              <a:t>"Não gostei muito da comida." (-1)</a:t>
            </a:r>
          </a:p>
          <a:p>
            <a:pPr lvl="1"/>
            <a:r>
              <a:rPr lang="pt-BR" dirty="0"/>
              <a:t>Alta Intensidade Negativa</a:t>
            </a:r>
          </a:p>
          <a:p>
            <a:pPr lvl="2"/>
            <a:r>
              <a:rPr lang="pt-BR" dirty="0"/>
              <a:t>"Eu odiei cada segundo dessa experiência." (-5)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Intensidade: A Força do Sentimento</a:t>
            </a:r>
          </a:p>
        </p:txBody>
      </p:sp>
    </p:spTree>
    <p:extLst>
      <p:ext uri="{BB962C8B-B14F-4D97-AF65-F5344CB8AC3E}">
        <p14:creationId xmlns:p14="http://schemas.microsoft.com/office/powerpoint/2010/main" val="2335247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74F542FE-D3C8-7CDE-E86B-427FA349587F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46781A-D18B-45F5-5C5F-E48AD7E2AED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2FFFF"/>
              </a:clrFrom>
              <a:clrTo>
                <a:srgbClr val="F2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0" y="677311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8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77BA2-0A0F-4F3D-93CB-3EA5044D07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455560"/>
          </a:xfrm>
        </p:spPr>
        <p:txBody>
          <a:bodyPr>
            <a:normAutofit/>
          </a:bodyPr>
          <a:lstStyle/>
          <a:p>
            <a:r>
              <a:rPr lang="pt-BR" dirty="0"/>
              <a:t>Antes de analisar </a:t>
            </a:r>
            <a:r>
              <a:rPr lang="pt-BR" b="1" dirty="0"/>
              <a:t>qual</a:t>
            </a:r>
            <a:r>
              <a:rPr lang="pt-BR" dirty="0"/>
              <a:t> é o sentimento, o sistema precisa saber </a:t>
            </a:r>
            <a:r>
              <a:rPr lang="pt-BR" i="1" dirty="0"/>
              <a:t>se </a:t>
            </a:r>
            <a:r>
              <a:rPr lang="pt-BR" b="1" dirty="0"/>
              <a:t>há</a:t>
            </a:r>
            <a:r>
              <a:rPr lang="pt-BR" dirty="0"/>
              <a:t> um sentimento</a:t>
            </a:r>
          </a:p>
          <a:p>
            <a:r>
              <a:rPr lang="pt-BR" dirty="0"/>
              <a:t>Análise de Subjetividade</a:t>
            </a:r>
          </a:p>
          <a:p>
            <a:pPr lvl="1"/>
            <a:r>
              <a:rPr lang="pt-BR" dirty="0"/>
              <a:t>É a tarefa de classificar uma sentença como sendo factual (objetiva) ou expressiva de uma opinião (subjetiva).</a:t>
            </a:r>
          </a:p>
          <a:p>
            <a:r>
              <a:rPr lang="pt-BR" dirty="0"/>
              <a:t>Distinguir entre conteúdo objetivo (fato) e subjetivo (opinião)</a:t>
            </a:r>
          </a:p>
          <a:p>
            <a:pPr lvl="1"/>
            <a:r>
              <a:rPr lang="pt-BR" dirty="0"/>
              <a:t>Fatos objetivos geralmente não devem ter pontuação de sentimento atribuída a eles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62264"/>
            <a:ext cx="11296507" cy="535531"/>
          </a:xfrm>
        </p:spPr>
        <p:txBody>
          <a:bodyPr/>
          <a:lstStyle/>
          <a:p>
            <a:r>
              <a:rPr lang="pt-BR" sz="3200" dirty="0"/>
              <a:t>Subjetividade: Distinguindo Fatos de Sentimentos</a:t>
            </a:r>
          </a:p>
        </p:txBody>
      </p:sp>
    </p:spTree>
    <p:extLst>
      <p:ext uri="{BB962C8B-B14F-4D97-AF65-F5344CB8AC3E}">
        <p14:creationId xmlns:p14="http://schemas.microsoft.com/office/powerpoint/2010/main" val="1628859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A77BA2-0A0F-4F3D-93CB-3EA5044D070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4555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Texto objetivo (fato)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Apresenta fatos, dados e informações neutras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Exemplos</a:t>
            </a:r>
          </a:p>
          <a:p>
            <a:pPr lvl="2"/>
            <a:r>
              <a:rPr lang="pt-BR" dirty="0"/>
              <a:t>“O carro tem um motor 2.0.” (Não há sentimento aqui, é uma especificação)</a:t>
            </a:r>
          </a:p>
          <a:p>
            <a:pPr lvl="2"/>
            <a:r>
              <a:rPr lang="pt-BR" dirty="0"/>
              <a:t>“O filme foi lançado em dezembro de 2023.”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Texto subjetivo (opinião)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Contém opiniões, emoções, sentimentos e avaliações pessoais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Exemplos</a:t>
            </a:r>
          </a:p>
          <a:p>
            <a:pPr lvl="2"/>
            <a:r>
              <a:rPr lang="pt-BR" dirty="0"/>
              <a:t>“O motor 2.0 é muito fraco para este carro.” (Sentimento negativo)</a:t>
            </a:r>
          </a:p>
          <a:p>
            <a:pPr lvl="2"/>
            <a:r>
              <a:rPr lang="pt-BR" dirty="0"/>
              <a:t>“Acredito que este filme é o melhor do ano.”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702FA-8669-9137-48D2-A28FF304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62264"/>
            <a:ext cx="11296507" cy="535531"/>
          </a:xfrm>
        </p:spPr>
        <p:txBody>
          <a:bodyPr/>
          <a:lstStyle/>
          <a:p>
            <a:r>
              <a:rPr lang="pt-BR" sz="3200" dirty="0"/>
              <a:t>Subjetividade: Distinguindo Fatos de Sentimentos</a:t>
            </a:r>
          </a:p>
        </p:txBody>
      </p:sp>
    </p:spTree>
    <p:extLst>
      <p:ext uri="{BB962C8B-B14F-4D97-AF65-F5344CB8AC3E}">
        <p14:creationId xmlns:p14="http://schemas.microsoft.com/office/powerpoint/2010/main" val="2838851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74F542FE-D3C8-7CDE-E86B-427FA349587F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A32C78-36E2-7B95-75ED-87D79BD04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0" y="697189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77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BF7F01-20F6-720D-7030-E4F1913F281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Além da polaridade básica, pode ser interessante se identificar </a:t>
            </a:r>
            <a:r>
              <a:rPr lang="pt-BR" b="1" dirty="0"/>
              <a:t>emoções </a:t>
            </a:r>
            <a:r>
              <a:rPr lang="pt-BR" dirty="0"/>
              <a:t>mais complexas</a:t>
            </a:r>
          </a:p>
          <a:p>
            <a:pPr lvl="1"/>
            <a:r>
              <a:rPr lang="pt-BR" dirty="0"/>
              <a:t>Em vez de apenas classificar como "positivo" ou "negativo", tenta identificar estados psicológicos específicos</a:t>
            </a:r>
          </a:p>
          <a:p>
            <a:r>
              <a:rPr lang="pt-BR" dirty="0"/>
              <a:t>Baseia-se em teorias psicológicas (como </a:t>
            </a:r>
            <a:r>
              <a:rPr lang="pt-BR" dirty="0" err="1"/>
              <a:t>Ekman</a:t>
            </a:r>
            <a:r>
              <a:rPr lang="pt-BR" dirty="0"/>
              <a:t> ou </a:t>
            </a:r>
            <a:r>
              <a:rPr lang="pt-BR" dirty="0" err="1"/>
              <a:t>Plutchik</a:t>
            </a:r>
            <a:r>
              <a:rPr lang="pt-BR" dirty="0"/>
              <a:t>) para categorizar textos em emoções básicas</a:t>
            </a:r>
          </a:p>
          <a:p>
            <a:r>
              <a:rPr lang="pt-BR" dirty="0"/>
              <a:t>Na prática, saber que uma pessoa está "com raiva" requer uma ação diferente de saber que ele está "triste"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A4E269-6984-1791-E68C-FF1E8B25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Emoções: além da polaridade</a:t>
            </a:r>
          </a:p>
        </p:txBody>
      </p:sp>
    </p:spTree>
    <p:extLst>
      <p:ext uri="{BB962C8B-B14F-4D97-AF65-F5344CB8AC3E}">
        <p14:creationId xmlns:p14="http://schemas.microsoft.com/office/powerpoint/2010/main" val="399165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BF7F01-20F6-720D-7030-E4F1913F28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6668121" cy="4320000"/>
          </a:xfrm>
        </p:spPr>
        <p:txBody>
          <a:bodyPr>
            <a:normAutofit fontScale="92500"/>
          </a:bodyPr>
          <a:lstStyle/>
          <a:p>
            <a:r>
              <a:rPr lang="pt-BR" dirty="0"/>
              <a:t>Exemplos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Alegria</a:t>
            </a:r>
            <a:r>
              <a:rPr lang="pt-BR" dirty="0"/>
              <a:t>: contentamento, felicidade, satisfação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Tristeza</a:t>
            </a:r>
            <a:r>
              <a:rPr lang="pt-BR" dirty="0"/>
              <a:t>: melancolia, desapontamento, pesar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Raiva</a:t>
            </a:r>
            <a:r>
              <a:rPr lang="pt-BR" dirty="0"/>
              <a:t>: irritação, indignação, hostilidade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Medo</a:t>
            </a:r>
            <a:r>
              <a:rPr lang="pt-BR" dirty="0"/>
              <a:t>: ansiedade, preocupação, apreensão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Surpresa</a:t>
            </a:r>
            <a:r>
              <a:rPr lang="pt-BR" dirty="0"/>
              <a:t>: espanto, admiração, choque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b="1" dirty="0"/>
              <a:t>Nojo</a:t>
            </a:r>
            <a:r>
              <a:rPr lang="pt-BR" dirty="0"/>
              <a:t>: repulsa, aversão, desagrado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A4E269-6984-1791-E68C-FF1E8B25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Emoções: além da polaridade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F34A9E-203F-EACC-10D7-964404E26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312" y="1965117"/>
            <a:ext cx="4140000" cy="4140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ADC8F76-3ACE-1EA9-4292-34CA8B5CFDA0}"/>
              </a:ext>
            </a:extLst>
          </p:cNvPr>
          <p:cNvSpPr txBox="1"/>
          <p:nvPr/>
        </p:nvSpPr>
        <p:spPr>
          <a:xfrm>
            <a:off x="7182311" y="6106861"/>
            <a:ext cx="4424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22577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7379</TotalTime>
  <Words>725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15</vt:i4>
      </vt:variant>
    </vt:vector>
  </HeadingPairs>
  <TitlesOfParts>
    <vt:vector size="25" baseType="lpstr">
      <vt:lpstr>Wingdings</vt:lpstr>
      <vt:lpstr>Cronos Pro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Dimensões da análise  de sentimentos</vt:lpstr>
      <vt:lpstr>Objetivos de Aprendizagem</vt:lpstr>
      <vt:lpstr>Dimensões da Análise de Sentimentos</vt:lpstr>
      <vt:lpstr>Dimensões da Análise de Sentimentos</vt:lpstr>
      <vt:lpstr>Polaridade: A Direção do Sentimento</vt:lpstr>
      <vt:lpstr>Apresentação do PowerPoint</vt:lpstr>
      <vt:lpstr>Intensidade: A Força do Sentimento</vt:lpstr>
      <vt:lpstr>Intensidade: A Força do Sentimento</vt:lpstr>
      <vt:lpstr>Apresentação do PowerPoint</vt:lpstr>
      <vt:lpstr>Subjetividade: Distinguindo Fatos de Sentimentos</vt:lpstr>
      <vt:lpstr>Subjetividade: Distinguindo Fatos de Sentimentos</vt:lpstr>
      <vt:lpstr>Apresentação do PowerPoint</vt:lpstr>
      <vt:lpstr>Emoções: além da polaridade</vt:lpstr>
      <vt:lpstr>Emoções: além da polaridade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136</cp:revision>
  <dcterms:created xsi:type="dcterms:W3CDTF">2025-06-11T21:44:24Z</dcterms:created>
  <dcterms:modified xsi:type="dcterms:W3CDTF">2026-01-10T19:31:40Z</dcterms:modified>
</cp:coreProperties>
</file>