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theme/theme3.xml" ContentType="application/vnd.openxmlformats-officedocument.theme+xml"/>
  <Override PartName="/ppt/slideLayouts/slideLayout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20"/>
  </p:notesMasterIdLst>
  <p:sldIdLst>
    <p:sldId id="1173" r:id="rId5"/>
    <p:sldId id="297" r:id="rId6"/>
    <p:sldId id="1179" r:id="rId7"/>
    <p:sldId id="1180" r:id="rId8"/>
    <p:sldId id="1181" r:id="rId9"/>
    <p:sldId id="1182" r:id="rId10"/>
    <p:sldId id="1188" r:id="rId11"/>
    <p:sldId id="1184" r:id="rId12"/>
    <p:sldId id="1187" r:id="rId13"/>
    <p:sldId id="1185" r:id="rId14"/>
    <p:sldId id="1186" r:id="rId15"/>
    <p:sldId id="1174" r:id="rId16"/>
    <p:sldId id="1175" r:id="rId17"/>
    <p:sldId id="1176" r:id="rId18"/>
    <p:sldId id="264" r:id="rId19"/>
  </p:sldIdLst>
  <p:sldSz cx="12192000" cy="6858000"/>
  <p:notesSz cx="6858000" cy="9144000"/>
  <p:embeddedFontLst>
    <p:embeddedFont>
      <p:font typeface="Cronos Pro" panose="020C0502030403020304" charset="0"/>
      <p:regular r:id="rId21"/>
      <p:bold r:id="rId22"/>
      <p:italic r:id="rId23"/>
    </p:embeddedFont>
    <p:embeddedFont>
      <p:font typeface="Montserrat" panose="00000500000000000000" pitchFamily="2" charset="0"/>
      <p:regular r:id="rId24"/>
      <p:bold r:id="rId25"/>
      <p:italic r:id="rId26"/>
      <p:boldItalic r:id="rId27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77" d="100"/>
          <a:sy n="77" d="100"/>
        </p:scale>
        <p:origin x="773" y="67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1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87C2E2-11AE-4C56-B9A9-4A636CCFB2B2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pt-BR"/>
        </a:p>
      </dgm:t>
    </dgm:pt>
    <dgm:pt modelId="{041AA603-4007-4C9F-B288-E4059A3E5A73}">
      <dgm:prSet phldrT="[Texto]"/>
      <dgm:spPr/>
      <dgm:t>
        <a:bodyPr/>
        <a:lstStyle/>
        <a:p>
          <a:r>
            <a:rPr lang="pt-BR" b="1"/>
            <a:t>Nível de Documento</a:t>
          </a:r>
          <a:endParaRPr lang="pt-BR"/>
        </a:p>
      </dgm:t>
    </dgm:pt>
    <dgm:pt modelId="{6C6809E3-80E6-497D-B2A3-5AB2D477123F}" type="parTrans" cxnId="{FB73BBEB-D93C-43AE-935A-5D664B8ED192}">
      <dgm:prSet/>
      <dgm:spPr/>
      <dgm:t>
        <a:bodyPr/>
        <a:lstStyle/>
        <a:p>
          <a:endParaRPr lang="pt-BR"/>
        </a:p>
      </dgm:t>
    </dgm:pt>
    <dgm:pt modelId="{55EA4F61-08FD-4461-B915-9E5583118FC4}" type="sibTrans" cxnId="{FB73BBEB-D93C-43AE-935A-5D664B8ED192}">
      <dgm:prSet/>
      <dgm:spPr/>
      <dgm:t>
        <a:bodyPr/>
        <a:lstStyle/>
        <a:p>
          <a:endParaRPr lang="pt-BR"/>
        </a:p>
      </dgm:t>
    </dgm:pt>
    <dgm:pt modelId="{F58AD546-E089-4685-9C31-24FBE83841E3}">
      <dgm:prSet/>
      <dgm:spPr/>
      <dgm:t>
        <a:bodyPr/>
        <a:lstStyle/>
        <a:p>
          <a:r>
            <a:rPr lang="pt-BR" dirty="0"/>
            <a:t>Analisa o texto completo como uma unidade</a:t>
          </a:r>
        </a:p>
      </dgm:t>
    </dgm:pt>
    <dgm:pt modelId="{D6C9EA08-B787-4E2F-8C23-91B0219F4EF6}" type="parTrans" cxnId="{7C3D12FD-E603-471B-8FF4-6FCCA49CF8FD}">
      <dgm:prSet/>
      <dgm:spPr/>
      <dgm:t>
        <a:bodyPr/>
        <a:lstStyle/>
        <a:p>
          <a:endParaRPr lang="pt-BR"/>
        </a:p>
      </dgm:t>
    </dgm:pt>
    <dgm:pt modelId="{55B2DD80-CA78-4DBA-A1E9-5FF7398D0862}" type="sibTrans" cxnId="{7C3D12FD-E603-471B-8FF4-6FCCA49CF8FD}">
      <dgm:prSet/>
      <dgm:spPr/>
      <dgm:t>
        <a:bodyPr/>
        <a:lstStyle/>
        <a:p>
          <a:endParaRPr lang="pt-BR"/>
        </a:p>
      </dgm:t>
    </dgm:pt>
    <dgm:pt modelId="{8E4B404A-6C47-4B24-9C04-A02D72E910D7}">
      <dgm:prSet/>
      <dgm:spPr/>
      <dgm:t>
        <a:bodyPr/>
        <a:lstStyle/>
        <a:p>
          <a:r>
            <a:rPr lang="pt-BR" dirty="0"/>
            <a:t>Atribui uma classificação geral ao documento inteiro</a:t>
          </a:r>
        </a:p>
      </dgm:t>
    </dgm:pt>
    <dgm:pt modelId="{33B5A54E-9004-4049-9AC1-D5F846182C3D}" type="parTrans" cxnId="{EF38C91C-EED6-4848-AD9D-C659234D61FD}">
      <dgm:prSet/>
      <dgm:spPr/>
      <dgm:t>
        <a:bodyPr/>
        <a:lstStyle/>
        <a:p>
          <a:endParaRPr lang="pt-BR"/>
        </a:p>
      </dgm:t>
    </dgm:pt>
    <dgm:pt modelId="{FF26FCEF-28A6-4027-BFC6-BF9F561697FE}" type="sibTrans" cxnId="{EF38C91C-EED6-4848-AD9D-C659234D61FD}">
      <dgm:prSet/>
      <dgm:spPr/>
      <dgm:t>
        <a:bodyPr/>
        <a:lstStyle/>
        <a:p>
          <a:endParaRPr lang="pt-BR"/>
        </a:p>
      </dgm:t>
    </dgm:pt>
    <dgm:pt modelId="{876E1288-403B-408C-B1A6-01EAB77D976A}">
      <dgm:prSet/>
      <dgm:spPr/>
      <dgm:t>
        <a:bodyPr/>
        <a:lstStyle/>
        <a:p>
          <a:r>
            <a:rPr lang="pt-BR" dirty="0"/>
            <a:t>Adequado para </a:t>
          </a:r>
          <a:r>
            <a:rPr lang="pt-BR" i="1" dirty="0"/>
            <a:t>reviews</a:t>
          </a:r>
          <a:r>
            <a:rPr lang="pt-BR" dirty="0"/>
            <a:t>, comentários curtos, </a:t>
          </a:r>
          <a:r>
            <a:rPr lang="pt-BR" i="1" dirty="0"/>
            <a:t>tweets</a:t>
          </a:r>
        </a:p>
      </dgm:t>
    </dgm:pt>
    <dgm:pt modelId="{7A6C6580-EEB8-44EC-B780-757134796BAF}" type="parTrans" cxnId="{F0F66E82-6EE1-4086-950E-3D13267AF425}">
      <dgm:prSet/>
      <dgm:spPr/>
      <dgm:t>
        <a:bodyPr/>
        <a:lstStyle/>
        <a:p>
          <a:endParaRPr lang="pt-BR"/>
        </a:p>
      </dgm:t>
    </dgm:pt>
    <dgm:pt modelId="{A152E6DA-5B0C-440E-BEF6-74F3438D065C}" type="sibTrans" cxnId="{F0F66E82-6EE1-4086-950E-3D13267AF425}">
      <dgm:prSet/>
      <dgm:spPr/>
      <dgm:t>
        <a:bodyPr/>
        <a:lstStyle/>
        <a:p>
          <a:endParaRPr lang="pt-BR"/>
        </a:p>
      </dgm:t>
    </dgm:pt>
    <dgm:pt modelId="{8C545BF7-2884-4E6A-B279-936A48B09001}">
      <dgm:prSet/>
      <dgm:spPr/>
      <dgm:t>
        <a:bodyPr/>
        <a:lstStyle/>
        <a:p>
          <a:r>
            <a:rPr lang="pt-BR" b="1" dirty="0"/>
            <a:t>Nível de Sentença</a:t>
          </a:r>
          <a:endParaRPr lang="pt-BR" dirty="0"/>
        </a:p>
      </dgm:t>
    </dgm:pt>
    <dgm:pt modelId="{8C926A2C-B39B-4804-A30C-E2CC156D9D34}" type="parTrans" cxnId="{9E56AB20-2C41-49BE-9EA4-9EC8C987027A}">
      <dgm:prSet/>
      <dgm:spPr/>
      <dgm:t>
        <a:bodyPr/>
        <a:lstStyle/>
        <a:p>
          <a:endParaRPr lang="pt-BR"/>
        </a:p>
      </dgm:t>
    </dgm:pt>
    <dgm:pt modelId="{FC098887-E420-4AA6-B254-65147D74BE13}" type="sibTrans" cxnId="{9E56AB20-2C41-49BE-9EA4-9EC8C987027A}">
      <dgm:prSet/>
      <dgm:spPr/>
      <dgm:t>
        <a:bodyPr/>
        <a:lstStyle/>
        <a:p>
          <a:endParaRPr lang="pt-BR"/>
        </a:p>
      </dgm:t>
    </dgm:pt>
    <dgm:pt modelId="{91839B6D-21A7-4709-88C8-E90403854D16}">
      <dgm:prSet/>
      <dgm:spPr/>
      <dgm:t>
        <a:bodyPr/>
        <a:lstStyle/>
        <a:p>
          <a:r>
            <a:rPr lang="pt-BR" dirty="0"/>
            <a:t>Classifica cada frase individualmente</a:t>
          </a:r>
        </a:p>
      </dgm:t>
    </dgm:pt>
    <dgm:pt modelId="{FFF20557-15D7-4637-AE40-080723F04E41}" type="parTrans" cxnId="{5C3A6B4A-6B8B-4B25-9DE9-5044890F7B35}">
      <dgm:prSet/>
      <dgm:spPr/>
      <dgm:t>
        <a:bodyPr/>
        <a:lstStyle/>
        <a:p>
          <a:endParaRPr lang="pt-BR"/>
        </a:p>
      </dgm:t>
    </dgm:pt>
    <dgm:pt modelId="{BBF5A767-7D30-4F3E-B287-B70AD7FE79FE}" type="sibTrans" cxnId="{5C3A6B4A-6B8B-4B25-9DE9-5044890F7B35}">
      <dgm:prSet/>
      <dgm:spPr/>
      <dgm:t>
        <a:bodyPr/>
        <a:lstStyle/>
        <a:p>
          <a:endParaRPr lang="pt-BR"/>
        </a:p>
      </dgm:t>
    </dgm:pt>
    <dgm:pt modelId="{BFCAB74E-1ADA-40D3-9379-1948938F34E2}">
      <dgm:prSet/>
      <dgm:spPr/>
      <dgm:t>
        <a:bodyPr/>
        <a:lstStyle/>
        <a:p>
          <a:r>
            <a:rPr lang="pt-BR"/>
            <a:t>Permite identificar mudanças de sentimento dentro do texto</a:t>
          </a:r>
          <a:endParaRPr lang="pt-BR" dirty="0"/>
        </a:p>
      </dgm:t>
    </dgm:pt>
    <dgm:pt modelId="{5FA7503D-9E3C-4E85-BF44-68663E43C26E}" type="parTrans" cxnId="{B5F2B6CE-AEA4-4E71-93D4-DD45CEC0D3E4}">
      <dgm:prSet/>
      <dgm:spPr/>
      <dgm:t>
        <a:bodyPr/>
        <a:lstStyle/>
        <a:p>
          <a:endParaRPr lang="pt-BR"/>
        </a:p>
      </dgm:t>
    </dgm:pt>
    <dgm:pt modelId="{C1DC63B1-4892-4E6F-89A3-103466C884FF}" type="sibTrans" cxnId="{B5F2B6CE-AEA4-4E71-93D4-DD45CEC0D3E4}">
      <dgm:prSet/>
      <dgm:spPr/>
      <dgm:t>
        <a:bodyPr/>
        <a:lstStyle/>
        <a:p>
          <a:endParaRPr lang="pt-BR"/>
        </a:p>
      </dgm:t>
    </dgm:pt>
    <dgm:pt modelId="{7261B980-55C1-431C-AFFE-15ED8374DC41}">
      <dgm:prSet/>
      <dgm:spPr/>
      <dgm:t>
        <a:bodyPr/>
        <a:lstStyle/>
        <a:p>
          <a:r>
            <a:rPr lang="pt-BR" dirty="0"/>
            <a:t>Útil para textos longos com opiniões mistas</a:t>
          </a:r>
        </a:p>
      </dgm:t>
    </dgm:pt>
    <dgm:pt modelId="{3C8F345E-914F-4B2E-8306-B725DD04EFB7}" type="parTrans" cxnId="{1FC1B15C-CF9E-4AF3-A361-FD56EC08F6C1}">
      <dgm:prSet/>
      <dgm:spPr/>
      <dgm:t>
        <a:bodyPr/>
        <a:lstStyle/>
        <a:p>
          <a:endParaRPr lang="pt-BR"/>
        </a:p>
      </dgm:t>
    </dgm:pt>
    <dgm:pt modelId="{581E2F8C-E300-452B-9729-EA5101552449}" type="sibTrans" cxnId="{1FC1B15C-CF9E-4AF3-A361-FD56EC08F6C1}">
      <dgm:prSet/>
      <dgm:spPr/>
      <dgm:t>
        <a:bodyPr/>
        <a:lstStyle/>
        <a:p>
          <a:endParaRPr lang="pt-BR"/>
        </a:p>
      </dgm:t>
    </dgm:pt>
    <dgm:pt modelId="{B0F21D7F-ED3D-4983-97A2-F33C078C3D26}">
      <dgm:prSet/>
      <dgm:spPr/>
      <dgm:t>
        <a:bodyPr/>
        <a:lstStyle/>
        <a:p>
          <a:r>
            <a:rPr lang="pt-BR" b="1"/>
            <a:t>Nível de Aspecto</a:t>
          </a:r>
          <a:endParaRPr lang="pt-BR" dirty="0"/>
        </a:p>
      </dgm:t>
    </dgm:pt>
    <dgm:pt modelId="{A4C7855C-2558-4D13-AF13-8B5C6039D951}" type="parTrans" cxnId="{5D248898-02D8-462F-BF71-E619622E6ABC}">
      <dgm:prSet/>
      <dgm:spPr/>
      <dgm:t>
        <a:bodyPr/>
        <a:lstStyle/>
        <a:p>
          <a:endParaRPr lang="pt-BR"/>
        </a:p>
      </dgm:t>
    </dgm:pt>
    <dgm:pt modelId="{4D46B564-0193-4479-A3F2-B83B87D9C012}" type="sibTrans" cxnId="{5D248898-02D8-462F-BF71-E619622E6ABC}">
      <dgm:prSet/>
      <dgm:spPr/>
      <dgm:t>
        <a:bodyPr/>
        <a:lstStyle/>
        <a:p>
          <a:endParaRPr lang="pt-BR"/>
        </a:p>
      </dgm:t>
    </dgm:pt>
    <dgm:pt modelId="{56215BC8-409F-4E98-90CA-DBD233950D52}">
      <dgm:prSet/>
      <dgm:spPr/>
      <dgm:t>
        <a:bodyPr/>
        <a:lstStyle/>
        <a:p>
          <a:r>
            <a:rPr lang="pt-BR" dirty="0"/>
            <a:t>Identifica sentimentos relacionados a aspectos ou entidades específicas</a:t>
          </a:r>
        </a:p>
      </dgm:t>
    </dgm:pt>
    <dgm:pt modelId="{26FCB916-869D-4757-8CCF-5B1B227055D8}" type="parTrans" cxnId="{CAA134F8-5995-4414-83CC-AD2015D7775A}">
      <dgm:prSet/>
      <dgm:spPr/>
      <dgm:t>
        <a:bodyPr/>
        <a:lstStyle/>
        <a:p>
          <a:endParaRPr lang="pt-BR"/>
        </a:p>
      </dgm:t>
    </dgm:pt>
    <dgm:pt modelId="{F2D0CFB3-DEF0-4F1C-B58A-EE612346B0C1}" type="sibTrans" cxnId="{CAA134F8-5995-4414-83CC-AD2015D7775A}">
      <dgm:prSet/>
      <dgm:spPr/>
      <dgm:t>
        <a:bodyPr/>
        <a:lstStyle/>
        <a:p>
          <a:endParaRPr lang="pt-BR"/>
        </a:p>
      </dgm:t>
    </dgm:pt>
    <dgm:pt modelId="{BAD4FB84-7334-4ED4-8D56-A3E3C04E663F}">
      <dgm:prSet/>
      <dgm:spPr/>
      <dgm:t>
        <a:bodyPr/>
        <a:lstStyle/>
        <a:p>
          <a:r>
            <a:rPr lang="pt-BR" dirty="0"/>
            <a:t>Reconhece os aspectos presentes no texto e depois classifica o sentimento de cada um deles</a:t>
          </a:r>
        </a:p>
      </dgm:t>
    </dgm:pt>
    <dgm:pt modelId="{0238F750-9FF5-4280-8751-ACD76011F74B}" type="parTrans" cxnId="{DE3157A9-FB6F-4932-8B45-D2342F05C513}">
      <dgm:prSet/>
      <dgm:spPr/>
      <dgm:t>
        <a:bodyPr/>
        <a:lstStyle/>
        <a:p>
          <a:endParaRPr lang="pt-BR"/>
        </a:p>
      </dgm:t>
    </dgm:pt>
    <dgm:pt modelId="{FFECFED5-5462-46F9-84AC-181B38EBCE17}" type="sibTrans" cxnId="{DE3157A9-FB6F-4932-8B45-D2342F05C513}">
      <dgm:prSet/>
      <dgm:spPr/>
      <dgm:t>
        <a:bodyPr/>
        <a:lstStyle/>
        <a:p>
          <a:endParaRPr lang="pt-BR"/>
        </a:p>
      </dgm:t>
    </dgm:pt>
    <dgm:pt modelId="{1FCF1FEC-9A38-4273-A55B-8D7CCF865C79}" type="pres">
      <dgm:prSet presAssocID="{8787C2E2-11AE-4C56-B9A9-4A636CCFB2B2}" presName="Name0" presStyleCnt="0">
        <dgm:presLayoutVars>
          <dgm:dir/>
          <dgm:animLvl val="lvl"/>
          <dgm:resizeHandles val="exact"/>
        </dgm:presLayoutVars>
      </dgm:prSet>
      <dgm:spPr/>
    </dgm:pt>
    <dgm:pt modelId="{03A59CC0-89EB-4885-9FB9-6A2DD38E6444}" type="pres">
      <dgm:prSet presAssocID="{041AA603-4007-4C9F-B288-E4059A3E5A73}" presName="composite" presStyleCnt="0"/>
      <dgm:spPr/>
    </dgm:pt>
    <dgm:pt modelId="{0659790B-2138-4396-BD6D-0A5DB9A81F60}" type="pres">
      <dgm:prSet presAssocID="{041AA603-4007-4C9F-B288-E4059A3E5A73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7B6BAE75-0232-42CF-BB44-715E407B539D}" type="pres">
      <dgm:prSet presAssocID="{041AA603-4007-4C9F-B288-E4059A3E5A73}" presName="desTx" presStyleLbl="alignAccFollowNode1" presStyleIdx="0" presStyleCnt="3">
        <dgm:presLayoutVars>
          <dgm:bulletEnabled val="1"/>
        </dgm:presLayoutVars>
      </dgm:prSet>
      <dgm:spPr/>
    </dgm:pt>
    <dgm:pt modelId="{02D0000F-F9E3-408F-B09D-988CBFCD0EBA}" type="pres">
      <dgm:prSet presAssocID="{55EA4F61-08FD-4461-B915-9E5583118FC4}" presName="space" presStyleCnt="0"/>
      <dgm:spPr/>
    </dgm:pt>
    <dgm:pt modelId="{9970CF34-6325-459B-93FE-3B840076D8A6}" type="pres">
      <dgm:prSet presAssocID="{8C545BF7-2884-4E6A-B279-936A48B09001}" presName="composite" presStyleCnt="0"/>
      <dgm:spPr/>
    </dgm:pt>
    <dgm:pt modelId="{9B8BCFAA-E546-4BF5-BAE0-A1694B1EB9F3}" type="pres">
      <dgm:prSet presAssocID="{8C545BF7-2884-4E6A-B279-936A48B09001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BA7D65E4-6068-45C4-B5F5-D2C798171704}" type="pres">
      <dgm:prSet presAssocID="{8C545BF7-2884-4E6A-B279-936A48B09001}" presName="desTx" presStyleLbl="alignAccFollowNode1" presStyleIdx="1" presStyleCnt="3">
        <dgm:presLayoutVars>
          <dgm:bulletEnabled val="1"/>
        </dgm:presLayoutVars>
      </dgm:prSet>
      <dgm:spPr/>
    </dgm:pt>
    <dgm:pt modelId="{2174F9AF-680D-49C3-9D60-D7FBAF6B2A24}" type="pres">
      <dgm:prSet presAssocID="{FC098887-E420-4AA6-B254-65147D74BE13}" presName="space" presStyleCnt="0"/>
      <dgm:spPr/>
    </dgm:pt>
    <dgm:pt modelId="{6EF47062-C8DB-4113-846B-84558DAF8DB1}" type="pres">
      <dgm:prSet presAssocID="{B0F21D7F-ED3D-4983-97A2-F33C078C3D26}" presName="composite" presStyleCnt="0"/>
      <dgm:spPr/>
    </dgm:pt>
    <dgm:pt modelId="{F179B354-71B7-4BC4-9CEE-C14F7FC8EB65}" type="pres">
      <dgm:prSet presAssocID="{B0F21D7F-ED3D-4983-97A2-F33C078C3D26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2283BCF5-DC7C-4522-A6A3-765CD39B37EC}" type="pres">
      <dgm:prSet presAssocID="{B0F21D7F-ED3D-4983-97A2-F33C078C3D26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8174B05-4955-459F-8FFA-038D8F54D176}" type="presOf" srcId="{BFCAB74E-1ADA-40D3-9379-1948938F34E2}" destId="{BA7D65E4-6068-45C4-B5F5-D2C798171704}" srcOrd="0" destOrd="1" presId="urn:microsoft.com/office/officeart/2005/8/layout/hList1"/>
    <dgm:cxn modelId="{214AED18-78AB-4750-9839-9319CFF33ECD}" type="presOf" srcId="{BAD4FB84-7334-4ED4-8D56-A3E3C04E663F}" destId="{2283BCF5-DC7C-4522-A6A3-765CD39B37EC}" srcOrd="0" destOrd="1" presId="urn:microsoft.com/office/officeart/2005/8/layout/hList1"/>
    <dgm:cxn modelId="{EF38C91C-EED6-4848-AD9D-C659234D61FD}" srcId="{041AA603-4007-4C9F-B288-E4059A3E5A73}" destId="{8E4B404A-6C47-4B24-9C04-A02D72E910D7}" srcOrd="1" destOrd="0" parTransId="{33B5A54E-9004-4049-9AC1-D5F846182C3D}" sibTransId="{FF26FCEF-28A6-4027-BFC6-BF9F561697FE}"/>
    <dgm:cxn modelId="{9E56AB20-2C41-49BE-9EA4-9EC8C987027A}" srcId="{8787C2E2-11AE-4C56-B9A9-4A636CCFB2B2}" destId="{8C545BF7-2884-4E6A-B279-936A48B09001}" srcOrd="1" destOrd="0" parTransId="{8C926A2C-B39B-4804-A30C-E2CC156D9D34}" sibTransId="{FC098887-E420-4AA6-B254-65147D74BE13}"/>
    <dgm:cxn modelId="{DECA3C38-49CB-4642-90F5-99D7AF243E33}" type="presOf" srcId="{876E1288-403B-408C-B1A6-01EAB77D976A}" destId="{7B6BAE75-0232-42CF-BB44-715E407B539D}" srcOrd="0" destOrd="2" presId="urn:microsoft.com/office/officeart/2005/8/layout/hList1"/>
    <dgm:cxn modelId="{1FC1B15C-CF9E-4AF3-A361-FD56EC08F6C1}" srcId="{8C545BF7-2884-4E6A-B279-936A48B09001}" destId="{7261B980-55C1-431C-AFFE-15ED8374DC41}" srcOrd="2" destOrd="0" parTransId="{3C8F345E-914F-4B2E-8306-B725DD04EFB7}" sibTransId="{581E2F8C-E300-452B-9729-EA5101552449}"/>
    <dgm:cxn modelId="{7E252A41-A69B-4407-A4A6-7D2A0B81B242}" type="presOf" srcId="{041AA603-4007-4C9F-B288-E4059A3E5A73}" destId="{0659790B-2138-4396-BD6D-0A5DB9A81F60}" srcOrd="0" destOrd="0" presId="urn:microsoft.com/office/officeart/2005/8/layout/hList1"/>
    <dgm:cxn modelId="{1DCB1649-28C3-444C-A22A-1A36768A81D7}" type="presOf" srcId="{B0F21D7F-ED3D-4983-97A2-F33C078C3D26}" destId="{F179B354-71B7-4BC4-9CEE-C14F7FC8EB65}" srcOrd="0" destOrd="0" presId="urn:microsoft.com/office/officeart/2005/8/layout/hList1"/>
    <dgm:cxn modelId="{5C3A6B4A-6B8B-4B25-9DE9-5044890F7B35}" srcId="{8C545BF7-2884-4E6A-B279-936A48B09001}" destId="{91839B6D-21A7-4709-88C8-E90403854D16}" srcOrd="0" destOrd="0" parTransId="{FFF20557-15D7-4637-AE40-080723F04E41}" sibTransId="{BBF5A767-7D30-4F3E-B287-B70AD7FE79FE}"/>
    <dgm:cxn modelId="{09B8A14A-93F6-4593-801B-AA9B8B78ADF3}" type="presOf" srcId="{8E4B404A-6C47-4B24-9C04-A02D72E910D7}" destId="{7B6BAE75-0232-42CF-BB44-715E407B539D}" srcOrd="0" destOrd="1" presId="urn:microsoft.com/office/officeart/2005/8/layout/hList1"/>
    <dgm:cxn modelId="{892D4E6C-BCAC-4329-B243-B586230163FF}" type="presOf" srcId="{7261B980-55C1-431C-AFFE-15ED8374DC41}" destId="{BA7D65E4-6068-45C4-B5F5-D2C798171704}" srcOrd="0" destOrd="2" presId="urn:microsoft.com/office/officeart/2005/8/layout/hList1"/>
    <dgm:cxn modelId="{A7B9DC4E-5121-49F3-A417-FCBF40EE467A}" type="presOf" srcId="{8787C2E2-11AE-4C56-B9A9-4A636CCFB2B2}" destId="{1FCF1FEC-9A38-4273-A55B-8D7CCF865C79}" srcOrd="0" destOrd="0" presId="urn:microsoft.com/office/officeart/2005/8/layout/hList1"/>
    <dgm:cxn modelId="{F0F66E82-6EE1-4086-950E-3D13267AF425}" srcId="{041AA603-4007-4C9F-B288-E4059A3E5A73}" destId="{876E1288-403B-408C-B1A6-01EAB77D976A}" srcOrd="2" destOrd="0" parTransId="{7A6C6580-EEB8-44EC-B780-757134796BAF}" sibTransId="{A152E6DA-5B0C-440E-BEF6-74F3438D065C}"/>
    <dgm:cxn modelId="{8ADDA58C-DB6B-4477-B673-E956A085D1FB}" type="presOf" srcId="{56215BC8-409F-4E98-90CA-DBD233950D52}" destId="{2283BCF5-DC7C-4522-A6A3-765CD39B37EC}" srcOrd="0" destOrd="0" presId="urn:microsoft.com/office/officeart/2005/8/layout/hList1"/>
    <dgm:cxn modelId="{5D248898-02D8-462F-BF71-E619622E6ABC}" srcId="{8787C2E2-11AE-4C56-B9A9-4A636CCFB2B2}" destId="{B0F21D7F-ED3D-4983-97A2-F33C078C3D26}" srcOrd="2" destOrd="0" parTransId="{A4C7855C-2558-4D13-AF13-8B5C6039D951}" sibTransId="{4D46B564-0193-4479-A3F2-B83B87D9C012}"/>
    <dgm:cxn modelId="{AB704FA9-7821-4DAC-BE59-F1DD2D6B378D}" type="presOf" srcId="{8C545BF7-2884-4E6A-B279-936A48B09001}" destId="{9B8BCFAA-E546-4BF5-BAE0-A1694B1EB9F3}" srcOrd="0" destOrd="0" presId="urn:microsoft.com/office/officeart/2005/8/layout/hList1"/>
    <dgm:cxn modelId="{DE3157A9-FB6F-4932-8B45-D2342F05C513}" srcId="{B0F21D7F-ED3D-4983-97A2-F33C078C3D26}" destId="{BAD4FB84-7334-4ED4-8D56-A3E3C04E663F}" srcOrd="1" destOrd="0" parTransId="{0238F750-9FF5-4280-8751-ACD76011F74B}" sibTransId="{FFECFED5-5462-46F9-84AC-181B38EBCE17}"/>
    <dgm:cxn modelId="{BA2485BE-DA05-4830-A547-A7D675C9241A}" type="presOf" srcId="{91839B6D-21A7-4709-88C8-E90403854D16}" destId="{BA7D65E4-6068-45C4-B5F5-D2C798171704}" srcOrd="0" destOrd="0" presId="urn:microsoft.com/office/officeart/2005/8/layout/hList1"/>
    <dgm:cxn modelId="{B5F2B6CE-AEA4-4E71-93D4-DD45CEC0D3E4}" srcId="{8C545BF7-2884-4E6A-B279-936A48B09001}" destId="{BFCAB74E-1ADA-40D3-9379-1948938F34E2}" srcOrd="1" destOrd="0" parTransId="{5FA7503D-9E3C-4E85-BF44-68663E43C26E}" sibTransId="{C1DC63B1-4892-4E6F-89A3-103466C884FF}"/>
    <dgm:cxn modelId="{A8547CDF-D752-492C-B74A-49D1CF0CDC1B}" type="presOf" srcId="{F58AD546-E089-4685-9C31-24FBE83841E3}" destId="{7B6BAE75-0232-42CF-BB44-715E407B539D}" srcOrd="0" destOrd="0" presId="urn:microsoft.com/office/officeart/2005/8/layout/hList1"/>
    <dgm:cxn modelId="{FB73BBEB-D93C-43AE-935A-5D664B8ED192}" srcId="{8787C2E2-11AE-4C56-B9A9-4A636CCFB2B2}" destId="{041AA603-4007-4C9F-B288-E4059A3E5A73}" srcOrd="0" destOrd="0" parTransId="{6C6809E3-80E6-497D-B2A3-5AB2D477123F}" sibTransId="{55EA4F61-08FD-4461-B915-9E5583118FC4}"/>
    <dgm:cxn modelId="{CAA134F8-5995-4414-83CC-AD2015D7775A}" srcId="{B0F21D7F-ED3D-4983-97A2-F33C078C3D26}" destId="{56215BC8-409F-4E98-90CA-DBD233950D52}" srcOrd="0" destOrd="0" parTransId="{26FCB916-869D-4757-8CCF-5B1B227055D8}" sibTransId="{F2D0CFB3-DEF0-4F1C-B58A-EE612346B0C1}"/>
    <dgm:cxn modelId="{7C3D12FD-E603-471B-8FF4-6FCCA49CF8FD}" srcId="{041AA603-4007-4C9F-B288-E4059A3E5A73}" destId="{F58AD546-E089-4685-9C31-24FBE83841E3}" srcOrd="0" destOrd="0" parTransId="{D6C9EA08-B787-4E2F-8C23-91B0219F4EF6}" sibTransId="{55B2DD80-CA78-4DBA-A1E9-5FF7398D0862}"/>
    <dgm:cxn modelId="{E5BBF883-A51C-41D1-BB21-4B521757EEB9}" type="presParOf" srcId="{1FCF1FEC-9A38-4273-A55B-8D7CCF865C79}" destId="{03A59CC0-89EB-4885-9FB9-6A2DD38E6444}" srcOrd="0" destOrd="0" presId="urn:microsoft.com/office/officeart/2005/8/layout/hList1"/>
    <dgm:cxn modelId="{F3BEAE23-7DD6-4167-B34D-24D45FA2077F}" type="presParOf" srcId="{03A59CC0-89EB-4885-9FB9-6A2DD38E6444}" destId="{0659790B-2138-4396-BD6D-0A5DB9A81F60}" srcOrd="0" destOrd="0" presId="urn:microsoft.com/office/officeart/2005/8/layout/hList1"/>
    <dgm:cxn modelId="{73CFFB05-F301-40F4-BCD0-8C874446F673}" type="presParOf" srcId="{03A59CC0-89EB-4885-9FB9-6A2DD38E6444}" destId="{7B6BAE75-0232-42CF-BB44-715E407B539D}" srcOrd="1" destOrd="0" presId="urn:microsoft.com/office/officeart/2005/8/layout/hList1"/>
    <dgm:cxn modelId="{DEB2ADEA-95F9-4CDF-9F67-D8952DBC43AF}" type="presParOf" srcId="{1FCF1FEC-9A38-4273-A55B-8D7CCF865C79}" destId="{02D0000F-F9E3-408F-B09D-988CBFCD0EBA}" srcOrd="1" destOrd="0" presId="urn:microsoft.com/office/officeart/2005/8/layout/hList1"/>
    <dgm:cxn modelId="{362A4CA6-5BED-46E1-9007-AD1961AB8090}" type="presParOf" srcId="{1FCF1FEC-9A38-4273-A55B-8D7CCF865C79}" destId="{9970CF34-6325-459B-93FE-3B840076D8A6}" srcOrd="2" destOrd="0" presId="urn:microsoft.com/office/officeart/2005/8/layout/hList1"/>
    <dgm:cxn modelId="{9212478D-A746-4FFC-A5FF-80A36A92156F}" type="presParOf" srcId="{9970CF34-6325-459B-93FE-3B840076D8A6}" destId="{9B8BCFAA-E546-4BF5-BAE0-A1694B1EB9F3}" srcOrd="0" destOrd="0" presId="urn:microsoft.com/office/officeart/2005/8/layout/hList1"/>
    <dgm:cxn modelId="{89E22B44-38D7-481F-BC4A-3BE6E2A29BBE}" type="presParOf" srcId="{9970CF34-6325-459B-93FE-3B840076D8A6}" destId="{BA7D65E4-6068-45C4-B5F5-D2C798171704}" srcOrd="1" destOrd="0" presId="urn:microsoft.com/office/officeart/2005/8/layout/hList1"/>
    <dgm:cxn modelId="{99F0FBF8-5313-41F5-BA44-4A0CDB335E8A}" type="presParOf" srcId="{1FCF1FEC-9A38-4273-A55B-8D7CCF865C79}" destId="{2174F9AF-680D-49C3-9D60-D7FBAF6B2A24}" srcOrd="3" destOrd="0" presId="urn:microsoft.com/office/officeart/2005/8/layout/hList1"/>
    <dgm:cxn modelId="{4AD79A06-590F-4749-9C50-9CAC361C3D2F}" type="presParOf" srcId="{1FCF1FEC-9A38-4273-A55B-8D7CCF865C79}" destId="{6EF47062-C8DB-4113-846B-84558DAF8DB1}" srcOrd="4" destOrd="0" presId="urn:microsoft.com/office/officeart/2005/8/layout/hList1"/>
    <dgm:cxn modelId="{59F2F799-3187-46DA-A1CE-432AD81996A1}" type="presParOf" srcId="{6EF47062-C8DB-4113-846B-84558DAF8DB1}" destId="{F179B354-71B7-4BC4-9CEE-C14F7FC8EB65}" srcOrd="0" destOrd="0" presId="urn:microsoft.com/office/officeart/2005/8/layout/hList1"/>
    <dgm:cxn modelId="{379B76C2-1EF7-4DD4-9B43-18A1B8C6131D}" type="presParOf" srcId="{6EF47062-C8DB-4113-846B-84558DAF8DB1}" destId="{2283BCF5-DC7C-4522-A6A3-765CD39B37E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59790B-2138-4396-BD6D-0A5DB9A81F60}">
      <dsp:nvSpPr>
        <dsp:cNvPr id="0" name=""/>
        <dsp:cNvSpPr/>
      </dsp:nvSpPr>
      <dsp:spPr>
        <a:xfrm>
          <a:off x="3459" y="68373"/>
          <a:ext cx="3373263" cy="6912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/>
            <a:t>Nível de Documento</a:t>
          </a:r>
          <a:endParaRPr lang="pt-BR" sz="2400" kern="1200"/>
        </a:p>
      </dsp:txBody>
      <dsp:txXfrm>
        <a:off x="3459" y="68373"/>
        <a:ext cx="3373263" cy="691200"/>
      </dsp:txXfrm>
    </dsp:sp>
    <dsp:sp modelId="{7B6BAE75-0232-42CF-BB44-715E407B539D}">
      <dsp:nvSpPr>
        <dsp:cNvPr id="0" name=""/>
        <dsp:cNvSpPr/>
      </dsp:nvSpPr>
      <dsp:spPr>
        <a:xfrm>
          <a:off x="3459" y="759573"/>
          <a:ext cx="3373263" cy="349164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Analisa o texto completo como uma unidade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Atribui uma classificação geral ao documento inteiro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Adequado para </a:t>
          </a:r>
          <a:r>
            <a:rPr lang="pt-BR" sz="2400" i="1" kern="1200" dirty="0"/>
            <a:t>reviews</a:t>
          </a:r>
          <a:r>
            <a:rPr lang="pt-BR" sz="2400" kern="1200" dirty="0"/>
            <a:t>, comentários curtos, </a:t>
          </a:r>
          <a:r>
            <a:rPr lang="pt-BR" sz="2400" i="1" kern="1200" dirty="0"/>
            <a:t>tweets</a:t>
          </a:r>
        </a:p>
      </dsp:txBody>
      <dsp:txXfrm>
        <a:off x="3459" y="759573"/>
        <a:ext cx="3373263" cy="3491640"/>
      </dsp:txXfrm>
    </dsp:sp>
    <dsp:sp modelId="{9B8BCFAA-E546-4BF5-BAE0-A1694B1EB9F3}">
      <dsp:nvSpPr>
        <dsp:cNvPr id="0" name=""/>
        <dsp:cNvSpPr/>
      </dsp:nvSpPr>
      <dsp:spPr>
        <a:xfrm>
          <a:off x="3848980" y="68373"/>
          <a:ext cx="3373263" cy="691200"/>
        </a:xfrm>
        <a:prstGeom prst="rect">
          <a:avLst/>
        </a:prstGeom>
        <a:solidFill>
          <a:schemeClr val="accent2">
            <a:hueOff val="-419062"/>
            <a:satOff val="-4829"/>
            <a:lumOff val="1079"/>
            <a:alphaOff val="0"/>
          </a:schemeClr>
        </a:solidFill>
        <a:ln w="12700" cap="flat" cmpd="sng" algn="ctr">
          <a:solidFill>
            <a:schemeClr val="accent2">
              <a:hueOff val="-419062"/>
              <a:satOff val="-4829"/>
              <a:lumOff val="107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 dirty="0"/>
            <a:t>Nível de Sentença</a:t>
          </a:r>
          <a:endParaRPr lang="pt-BR" sz="2400" kern="1200" dirty="0"/>
        </a:p>
      </dsp:txBody>
      <dsp:txXfrm>
        <a:off x="3848980" y="68373"/>
        <a:ext cx="3373263" cy="691200"/>
      </dsp:txXfrm>
    </dsp:sp>
    <dsp:sp modelId="{BA7D65E4-6068-45C4-B5F5-D2C798171704}">
      <dsp:nvSpPr>
        <dsp:cNvPr id="0" name=""/>
        <dsp:cNvSpPr/>
      </dsp:nvSpPr>
      <dsp:spPr>
        <a:xfrm>
          <a:off x="3848980" y="759573"/>
          <a:ext cx="3373263" cy="3491640"/>
        </a:xfrm>
        <a:prstGeom prst="rect">
          <a:avLst/>
        </a:prstGeom>
        <a:solidFill>
          <a:schemeClr val="accent2">
            <a:tint val="40000"/>
            <a:alpha val="90000"/>
            <a:hueOff val="-726289"/>
            <a:satOff val="-67"/>
            <a:lumOff val="1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726289"/>
              <a:satOff val="-67"/>
              <a:lumOff val="1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Classifica cada frase individualmente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/>
            <a:t>Permite identificar mudanças de sentimento dentro do texto</a:t>
          </a:r>
          <a:endParaRPr lang="pt-B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Útil para textos longos com opiniões mistas</a:t>
          </a:r>
        </a:p>
      </dsp:txBody>
      <dsp:txXfrm>
        <a:off x="3848980" y="759573"/>
        <a:ext cx="3373263" cy="3491640"/>
      </dsp:txXfrm>
    </dsp:sp>
    <dsp:sp modelId="{F179B354-71B7-4BC4-9CEE-C14F7FC8EB65}">
      <dsp:nvSpPr>
        <dsp:cNvPr id="0" name=""/>
        <dsp:cNvSpPr/>
      </dsp:nvSpPr>
      <dsp:spPr>
        <a:xfrm>
          <a:off x="7694501" y="68373"/>
          <a:ext cx="3373263" cy="691200"/>
        </a:xfrm>
        <a:prstGeom prst="rect">
          <a:avLst/>
        </a:prstGeom>
        <a:solidFill>
          <a:schemeClr val="accent2">
            <a:hueOff val="-838123"/>
            <a:satOff val="-9658"/>
            <a:lumOff val="2159"/>
            <a:alphaOff val="0"/>
          </a:schemeClr>
        </a:solidFill>
        <a:ln w="12700" cap="flat" cmpd="sng" algn="ctr">
          <a:solidFill>
            <a:schemeClr val="accent2">
              <a:hueOff val="-838123"/>
              <a:satOff val="-9658"/>
              <a:lumOff val="21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400" b="1" kern="1200"/>
            <a:t>Nível de Aspecto</a:t>
          </a:r>
          <a:endParaRPr lang="pt-BR" sz="2400" kern="1200" dirty="0"/>
        </a:p>
      </dsp:txBody>
      <dsp:txXfrm>
        <a:off x="7694501" y="68373"/>
        <a:ext cx="3373263" cy="691200"/>
      </dsp:txXfrm>
    </dsp:sp>
    <dsp:sp modelId="{2283BCF5-DC7C-4522-A6A3-765CD39B37EC}">
      <dsp:nvSpPr>
        <dsp:cNvPr id="0" name=""/>
        <dsp:cNvSpPr/>
      </dsp:nvSpPr>
      <dsp:spPr>
        <a:xfrm>
          <a:off x="7694501" y="759573"/>
          <a:ext cx="3373263" cy="3491640"/>
        </a:xfrm>
        <a:prstGeom prst="rect">
          <a:avLst/>
        </a:prstGeom>
        <a:solidFill>
          <a:schemeClr val="accent2">
            <a:tint val="40000"/>
            <a:alpha val="90000"/>
            <a:hueOff val="-1452578"/>
            <a:satOff val="-133"/>
            <a:lumOff val="3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1452578"/>
              <a:satOff val="-133"/>
              <a:lumOff val="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Identifica sentimentos relacionados a aspectos ou entidades específicas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pt-BR" sz="2400" kern="1200" dirty="0"/>
            <a:t>Reconhece os aspectos presentes no texto e depois classifica o sentimento de cada um deles</a:t>
          </a:r>
        </a:p>
      </dsp:txBody>
      <dsp:txXfrm>
        <a:off x="7694501" y="759573"/>
        <a:ext cx="3373263" cy="34916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10/01/2026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10/01/2026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116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theme" Target="../theme/theme1.xml"/><Relationship Id="rId7" Type="http://schemas.openxmlformats.org/officeDocument/2006/relationships/image" Target="../media/image4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jpg"/><Relationship Id="rId9" Type="http://schemas.openxmlformats.org/officeDocument/2006/relationships/image" Target="../media/image6.sv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7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Escopo da análise </a:t>
            </a:r>
            <a:br>
              <a:rPr lang="pt-BR" dirty="0"/>
            </a:br>
            <a:r>
              <a:rPr lang="pt-BR" dirty="0"/>
              <a:t>de sentimentos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sz="2700" dirty="0"/>
              <a:t>Definir os três níveis principais de granularidade da análise de sentimentos: documento, sentença e aspecto</a:t>
            </a:r>
          </a:p>
          <a:p>
            <a:r>
              <a:rPr lang="pt-BR" sz="2700" dirty="0"/>
              <a:t>Diferenciar as aplicações, vantagens e limitações de cada nível de análise</a:t>
            </a:r>
          </a:p>
          <a:p>
            <a:r>
              <a:rPr lang="pt-BR" sz="2700" dirty="0"/>
              <a:t>Identificar entidades e aspectos em textos opinativos, distinguindo entre termos explícitos e implícitos pelo contexto)</a:t>
            </a:r>
          </a:p>
          <a:p>
            <a:r>
              <a:rPr lang="pt-BR" sz="2700" dirty="0"/>
              <a:t>Justificar a escolha do escopo de análise mais adequado com base nos objetivos de negócio e na complexidade dos dados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511B3A-E4EE-258F-8D03-8C479A106D4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pt-BR" dirty="0"/>
              <a:t>A análise de sentimentos pode ser aplicada em diferentes "escopos" dentro de um texto</a:t>
            </a:r>
          </a:p>
          <a:p>
            <a:r>
              <a:rPr lang="pt-BR" dirty="0"/>
              <a:t>O nível de detalhe escolhido depende do objetivo do negócio e da complexidade dos dados</a:t>
            </a:r>
          </a:p>
          <a:p>
            <a:r>
              <a:rPr lang="pt-BR" b="1" dirty="0"/>
              <a:t>Principais níveis de granularidade</a:t>
            </a:r>
            <a:endParaRPr lang="pt-BR" dirty="0"/>
          </a:p>
          <a:p>
            <a:pPr lvl="1"/>
            <a:r>
              <a:rPr lang="pt-BR" dirty="0"/>
              <a:t>Nível de Documento (Macro)</a:t>
            </a:r>
          </a:p>
          <a:p>
            <a:pPr lvl="1"/>
            <a:r>
              <a:rPr lang="pt-BR" dirty="0"/>
              <a:t>Nível de Sentença (Médio)</a:t>
            </a:r>
          </a:p>
          <a:p>
            <a:pPr lvl="1"/>
            <a:r>
              <a:rPr lang="pt-BR" dirty="0"/>
              <a:t>Nível de Aspecto (Micro)</a:t>
            </a:r>
          </a:p>
          <a:p>
            <a:endParaRPr lang="pt-BR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ED30358E-CFC4-53F2-5270-ABC1D803E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Escopo da análise de sentimento</a:t>
            </a:r>
          </a:p>
        </p:txBody>
      </p:sp>
    </p:spTree>
    <p:extLst>
      <p:ext uri="{BB962C8B-B14F-4D97-AF65-F5344CB8AC3E}">
        <p14:creationId xmlns:p14="http://schemas.microsoft.com/office/powerpoint/2010/main" val="821926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ED30358E-CFC4-53F2-5270-ABC1D803E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Escopo da análise de sentimento</a:t>
            </a:r>
          </a:p>
        </p:txBody>
      </p:sp>
      <p:graphicFrame>
        <p:nvGraphicFramePr>
          <p:cNvPr id="6" name="Espaço Reservado para Conteúdo 5">
            <a:extLst>
              <a:ext uri="{FF2B5EF4-FFF2-40B4-BE49-F238E27FC236}">
                <a16:creationId xmlns:a16="http://schemas.microsoft.com/office/drawing/2014/main" id="{A4287A41-9B9E-99AD-C70D-239DFD56AD81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4213581501"/>
              </p:ext>
            </p:extLst>
          </p:nvPr>
        </p:nvGraphicFramePr>
        <p:xfrm>
          <a:off x="547688" y="1855788"/>
          <a:ext cx="11071225" cy="43195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30858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A8AB2ED9-350B-E63E-3AA3-0A24942CC6A2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90A7EFD4-A53C-B16D-5C5F-CE7E5A65BB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19200" y="657431"/>
            <a:ext cx="9753600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50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AAE89D9-E280-5863-C609-2E2F72F5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Nível 1: Nível de Documento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F6E7F705-3103-AEC8-2CF8-5C633C1D9AA6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030363212"/>
              </p:ext>
            </p:extLst>
          </p:nvPr>
        </p:nvGraphicFramePr>
        <p:xfrm>
          <a:off x="560388" y="1527797"/>
          <a:ext cx="11071224" cy="4480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26547">
                  <a:extLst>
                    <a:ext uri="{9D8B030D-6E8A-4147-A177-3AD203B41FA5}">
                      <a16:colId xmlns:a16="http://schemas.microsoft.com/office/drawing/2014/main" val="2717039787"/>
                    </a:ext>
                  </a:extLst>
                </a:gridCol>
                <a:gridCol w="9044677">
                  <a:extLst>
                    <a:ext uri="{9D8B030D-6E8A-4147-A177-3AD203B41FA5}">
                      <a16:colId xmlns:a16="http://schemas.microsoft.com/office/drawing/2014/main" val="366445932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Análise no nível de documento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/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01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O que é?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/>
                        <a:t>Classifica o sentimento de um texto inteiro como uma unidade única.</a:t>
                      </a:r>
                    </a:p>
                    <a:p>
                      <a:pPr algn="l"/>
                      <a:r>
                        <a:rPr lang="pt-BR" sz="2400" dirty="0"/>
                        <a:t>Assume que o documento trata de um único tópico e tem uma polaridade geral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382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Quando usar?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/>
                        <a:t>Útil para ter uma visão geral rápida, como classificar reviews de produtos que têm estrelas</a:t>
                      </a:r>
                    </a:p>
                    <a:p>
                      <a:pPr algn="l"/>
                      <a:r>
                        <a:rPr lang="pt-BR" sz="2400" dirty="0"/>
                        <a:t>(Ex.: um review de 5 estrelas é um documento positivo)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48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Limitações</a:t>
                      </a:r>
                      <a:br>
                        <a:rPr lang="pt-BR" sz="2400" b="1" dirty="0"/>
                      </a:br>
                      <a:r>
                        <a:rPr lang="pt-BR" sz="2400" b="1" dirty="0"/>
                        <a:t>e desafios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/>
                        <a:t>Falha em capturar nuances</a:t>
                      </a:r>
                    </a:p>
                    <a:p>
                      <a:pPr algn="l"/>
                      <a:r>
                        <a:rPr lang="pt-BR" sz="2400" dirty="0"/>
                        <a:t>Um documento longo raramente é 100% positivo ou negativo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013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Exemplos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/>
                        <a:t>Um e-mail de 5 parágrafos de um cliente é classificado como "Geral Negativo" porque, no saldo total, houve mais reclamações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0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98798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AEA2C45D-6091-C5F9-609D-750302A22E61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69E0EFF-94D4-88B3-62FE-B9C807CC7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8187"/>
            <a:ext cx="97536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886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AAE89D9-E280-5863-C609-2E2F72F5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Nível 2: Nível de Sentença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F6E7F705-3103-AEC8-2CF8-5C633C1D9AA6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139676000"/>
              </p:ext>
            </p:extLst>
          </p:nvPr>
        </p:nvGraphicFramePr>
        <p:xfrm>
          <a:off x="560388" y="1696760"/>
          <a:ext cx="11071224" cy="41148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26547">
                  <a:extLst>
                    <a:ext uri="{9D8B030D-6E8A-4147-A177-3AD203B41FA5}">
                      <a16:colId xmlns:a16="http://schemas.microsoft.com/office/drawing/2014/main" val="2717039787"/>
                    </a:ext>
                  </a:extLst>
                </a:gridCol>
                <a:gridCol w="9044677">
                  <a:extLst>
                    <a:ext uri="{9D8B030D-6E8A-4147-A177-3AD203B41FA5}">
                      <a16:colId xmlns:a16="http://schemas.microsoft.com/office/drawing/2014/main" val="366445932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Análise no nível de documento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/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01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O que é?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/>
                        <a:t>Quebra o documento em sentenças individuais e calcula a polaridade de cada uma separadamente</a:t>
                      </a:r>
                    </a:p>
                    <a:p>
                      <a:pPr algn="l"/>
                      <a:r>
                        <a:rPr lang="pt-BR" sz="2400" dirty="0"/>
                        <a:t>Identifica se cada frase é subjetiva e, se for, qual sua polaridade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382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Quando usar?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/>
                        <a:t>Em textos com mais de uma opinião, é mais preciso que o nível de documento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48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Limitações</a:t>
                      </a:r>
                      <a:br>
                        <a:rPr lang="pt-BR" sz="2400" b="1" dirty="0"/>
                      </a:br>
                      <a:r>
                        <a:rPr lang="pt-BR" sz="2400" b="1" dirty="0"/>
                        <a:t>e desafios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/>
                        <a:t>Perda de contexto. Às vezes, uma frase só faz sentido se ligada à anterior (problemas de correferência)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013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Exemplos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“Foi legal viajar com os amigos (sentença positiva), mas os passeios, no geral, não foram bons (sentença negativa)”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0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8902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AEA2C45D-6091-C5F9-609D-750302A22E61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84403A5-F9D8-6785-0350-78C02CF24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8187"/>
            <a:ext cx="97536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486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AAE89D9-E280-5863-C609-2E2F72F5E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Nível 3: Nível de Aspecto</a:t>
            </a:r>
          </a:p>
        </p:txBody>
      </p:sp>
      <p:graphicFrame>
        <p:nvGraphicFramePr>
          <p:cNvPr id="7" name="Espaço Reservado para Conteúdo 6">
            <a:extLst>
              <a:ext uri="{FF2B5EF4-FFF2-40B4-BE49-F238E27FC236}">
                <a16:creationId xmlns:a16="http://schemas.microsoft.com/office/drawing/2014/main" id="{F6E7F705-3103-AEC8-2CF8-5C633C1D9AA6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668813734"/>
              </p:ext>
            </p:extLst>
          </p:nvPr>
        </p:nvGraphicFramePr>
        <p:xfrm>
          <a:off x="560388" y="1527797"/>
          <a:ext cx="11071224" cy="4480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26547">
                  <a:extLst>
                    <a:ext uri="{9D8B030D-6E8A-4147-A177-3AD203B41FA5}">
                      <a16:colId xmlns:a16="http://schemas.microsoft.com/office/drawing/2014/main" val="2717039787"/>
                    </a:ext>
                  </a:extLst>
                </a:gridCol>
                <a:gridCol w="9044677">
                  <a:extLst>
                    <a:ext uri="{9D8B030D-6E8A-4147-A177-3AD203B41FA5}">
                      <a16:colId xmlns:a16="http://schemas.microsoft.com/office/drawing/2014/main" val="3664459328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Análise no nível de documento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l"/>
                      <a:endParaRPr lang="pt-B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301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O que é?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/>
                        <a:t>Identifica </a:t>
                      </a:r>
                      <a:r>
                        <a:rPr lang="pt-BR" sz="2400" i="1" dirty="0"/>
                        <a:t>o que</a:t>
                      </a:r>
                      <a:r>
                        <a:rPr lang="pt-BR" sz="2400" dirty="0"/>
                        <a:t> está sendo avaliado (entidade ou aspecto) e </a:t>
                      </a:r>
                      <a:r>
                        <a:rPr lang="pt-BR" sz="2400" i="1" dirty="0"/>
                        <a:t>qual</a:t>
                      </a:r>
                      <a:r>
                        <a:rPr lang="pt-BR" sz="2400" dirty="0"/>
                        <a:t> o sentimento direcionado especificamente a eles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23829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Quando usar?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/>
                        <a:t>Fornece </a:t>
                      </a:r>
                      <a:r>
                        <a:rPr lang="pt-BR" sz="2400" i="1" dirty="0"/>
                        <a:t>insights</a:t>
                      </a:r>
                      <a:r>
                        <a:rPr lang="pt-BR" sz="2400" dirty="0"/>
                        <a:t> acionáveis</a:t>
                      </a:r>
                    </a:p>
                    <a:p>
                      <a:pPr algn="l"/>
                      <a:r>
                        <a:rPr lang="pt-BR" sz="2400" dirty="0"/>
                        <a:t>Um produto pode ser bom no geral, mas falhar em um ponto crítico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34877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Limitações</a:t>
                      </a:r>
                      <a:br>
                        <a:rPr lang="pt-BR" sz="2400" b="1" dirty="0"/>
                      </a:br>
                      <a:r>
                        <a:rPr lang="pt-BR" sz="2400" b="1" dirty="0"/>
                        <a:t>e desafios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2400" dirty="0"/>
                        <a:t>Pode ser mais trabalhoso e complexo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20138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pt-BR" sz="2400" b="1" dirty="0"/>
                        <a:t>Exemplos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Texto: "Eu amo a câmera deste celular, as fotos são ótimas, mas a bateria morre em poucas horas."</a:t>
                      </a:r>
                    </a:p>
                    <a:p>
                      <a:pPr lvl="1"/>
                      <a:r>
                        <a:rPr lang="pt-BR" sz="2400" dirty="0"/>
                        <a:t>Aspecto: </a:t>
                      </a:r>
                      <a:r>
                        <a:rPr lang="pt-BR" sz="2400" b="1" dirty="0"/>
                        <a:t>Câmera</a:t>
                      </a:r>
                      <a:r>
                        <a:rPr lang="pt-BR" sz="2400" dirty="0"/>
                        <a:t> -&gt; Sentimento: </a:t>
                      </a:r>
                      <a:r>
                        <a:rPr lang="pt-BR" sz="2400" b="1" dirty="0"/>
                        <a:t>Positivo (+)</a:t>
                      </a:r>
                      <a:endParaRPr lang="pt-BR" sz="2400" dirty="0"/>
                    </a:p>
                    <a:p>
                      <a:pPr lvl="1"/>
                      <a:r>
                        <a:rPr lang="pt-BR" sz="2400" dirty="0"/>
                        <a:t>Aspecto: </a:t>
                      </a:r>
                      <a:r>
                        <a:rPr lang="pt-BR" sz="2400" b="1" dirty="0"/>
                        <a:t>Bateria</a:t>
                      </a:r>
                      <a:r>
                        <a:rPr lang="pt-BR" sz="2400" dirty="0"/>
                        <a:t> -&gt; Sentimento: </a:t>
                      </a:r>
                      <a:r>
                        <a:rPr lang="pt-BR" sz="2400" b="1" dirty="0"/>
                        <a:t>Negativo (-)</a:t>
                      </a:r>
                      <a:endParaRPr lang="pt-BR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09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6900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AEA2C45D-6091-C5F9-609D-750302A22E61}"/>
              </a:ext>
            </a:extLst>
          </p:cNvPr>
          <p:cNvSpPr txBox="1"/>
          <p:nvPr/>
        </p:nvSpPr>
        <p:spPr>
          <a:xfrm>
            <a:off x="3883998" y="6068125"/>
            <a:ext cx="44240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solidFill>
                  <a:schemeClr val="bg1">
                    <a:lumMod val="50000"/>
                  </a:schemeClr>
                </a:solidFill>
              </a:rPr>
              <a:t>Fonte: Imagem gerada por IA (Google Gemini, 2025)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C1F9CEA8-4E8F-DDEB-B0F1-109FB32BCE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738187"/>
            <a:ext cx="9753600" cy="538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560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3C1C0F-AB5B-9C85-0F57-A38932F7293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/>
          </a:bodyPr>
          <a:lstStyle/>
          <a:p>
            <a:pPr marL="0" indent="0">
              <a:spcAft>
                <a:spcPts val="600"/>
              </a:spcAft>
              <a:buNone/>
            </a:pPr>
            <a:r>
              <a:rPr lang="pt-BR" dirty="0"/>
              <a:t>“(1) Eu comprei um </a:t>
            </a:r>
            <a:r>
              <a:rPr lang="pt-BR" dirty="0">
                <a:highlight>
                  <a:srgbClr val="FFFF00"/>
                </a:highlight>
              </a:rPr>
              <a:t>iPhone</a:t>
            </a:r>
            <a:r>
              <a:rPr lang="pt-BR" dirty="0"/>
              <a:t> há dois dias atrás. (2) </a:t>
            </a:r>
            <a:r>
              <a:rPr lang="pt-BR" dirty="0">
                <a:highlight>
                  <a:srgbClr val="FFFF00"/>
                </a:highlight>
              </a:rPr>
              <a:t>Ele</a:t>
            </a:r>
            <a:r>
              <a:rPr lang="pt-BR" dirty="0"/>
              <a:t> era </a:t>
            </a:r>
            <a:r>
              <a:rPr lang="pt-BR" dirty="0">
                <a:highlight>
                  <a:srgbClr val="00FF00"/>
                </a:highlight>
              </a:rPr>
              <a:t>muito chique</a:t>
            </a:r>
            <a:r>
              <a:rPr lang="pt-BR" dirty="0"/>
              <a:t>. (3) A </a:t>
            </a:r>
            <a:r>
              <a:rPr lang="pt-BR" dirty="0">
                <a:highlight>
                  <a:srgbClr val="00FFFF"/>
                </a:highlight>
              </a:rPr>
              <a:t>tela de toque</a:t>
            </a:r>
            <a:r>
              <a:rPr lang="pt-BR" dirty="0"/>
              <a:t> (</a:t>
            </a:r>
            <a:r>
              <a:rPr lang="pt-BR" i="1" dirty="0" err="1"/>
              <a:t>touch</a:t>
            </a:r>
            <a:r>
              <a:rPr lang="pt-BR" i="1" dirty="0"/>
              <a:t> </a:t>
            </a:r>
            <a:r>
              <a:rPr lang="pt-BR" i="1" dirty="0" err="1"/>
              <a:t>screen</a:t>
            </a:r>
            <a:r>
              <a:rPr lang="pt-BR" dirty="0"/>
              <a:t>) era realmente </a:t>
            </a:r>
            <a:r>
              <a:rPr lang="pt-BR" dirty="0">
                <a:highlight>
                  <a:srgbClr val="00FF00"/>
                </a:highlight>
              </a:rPr>
              <a:t>muito legal</a:t>
            </a:r>
            <a:r>
              <a:rPr lang="pt-BR" dirty="0"/>
              <a:t>. (4) A </a:t>
            </a:r>
            <a:r>
              <a:rPr lang="pt-BR" dirty="0">
                <a:highlight>
                  <a:srgbClr val="00FFFF"/>
                </a:highlight>
              </a:rPr>
              <a:t>qualidade de voz</a:t>
            </a:r>
            <a:r>
              <a:rPr lang="pt-BR" dirty="0"/>
              <a:t> era </a:t>
            </a:r>
            <a:r>
              <a:rPr lang="pt-BR" dirty="0">
                <a:highlight>
                  <a:srgbClr val="00FF00"/>
                </a:highlight>
              </a:rPr>
              <a:t>muita clara</a:t>
            </a:r>
            <a:r>
              <a:rPr lang="pt-BR" dirty="0"/>
              <a:t>. (5) Entretanto, minha </a:t>
            </a:r>
            <a:r>
              <a:rPr lang="pt-BR" dirty="0">
                <a:highlight>
                  <a:srgbClr val="FFFF00"/>
                </a:highlight>
              </a:rPr>
              <a:t>mãe</a:t>
            </a:r>
            <a:r>
              <a:rPr lang="pt-BR" dirty="0"/>
              <a:t> foi </a:t>
            </a:r>
            <a:r>
              <a:rPr lang="pt-BR" dirty="0">
                <a:highlight>
                  <a:srgbClr val="FF0000"/>
                </a:highlight>
              </a:rPr>
              <a:t>muito má</a:t>
            </a:r>
            <a:r>
              <a:rPr lang="pt-BR" dirty="0"/>
              <a:t> comigo porque eu não falei pra ela antes de comprá-lo. (6) </a:t>
            </a:r>
            <a:r>
              <a:rPr lang="pt-BR" dirty="0">
                <a:highlight>
                  <a:srgbClr val="FFFF00"/>
                </a:highlight>
              </a:rPr>
              <a:t>Ela</a:t>
            </a:r>
            <a:r>
              <a:rPr lang="pt-BR" dirty="0"/>
              <a:t> também achou o </a:t>
            </a:r>
            <a:r>
              <a:rPr lang="pt-BR" dirty="0">
                <a:highlight>
                  <a:srgbClr val="FFFF00"/>
                </a:highlight>
              </a:rPr>
              <a:t>telefone</a:t>
            </a:r>
            <a:r>
              <a:rPr lang="pt-BR" dirty="0"/>
              <a:t> </a:t>
            </a:r>
            <a:r>
              <a:rPr lang="pt-BR" dirty="0">
                <a:highlight>
                  <a:srgbClr val="FF0000"/>
                </a:highlight>
              </a:rPr>
              <a:t>muito caro</a:t>
            </a:r>
            <a:r>
              <a:rPr lang="pt-BR" dirty="0"/>
              <a:t>, e queria devolvê-lo para a loja.”</a:t>
            </a:r>
          </a:p>
          <a:p>
            <a:pPr lvl="1"/>
            <a:r>
              <a:rPr lang="pt-BR" dirty="0"/>
              <a:t>Entidades</a:t>
            </a:r>
          </a:p>
          <a:p>
            <a:pPr lvl="2"/>
            <a:r>
              <a:rPr lang="pt-BR" dirty="0"/>
              <a:t>iPhone, Mãe</a:t>
            </a:r>
          </a:p>
          <a:p>
            <a:pPr lvl="1"/>
            <a:r>
              <a:rPr lang="pt-BR" dirty="0"/>
              <a:t>Aspectos</a:t>
            </a:r>
          </a:p>
          <a:p>
            <a:pPr lvl="2"/>
            <a:r>
              <a:rPr lang="pt-BR" dirty="0"/>
              <a:t>tela de toque, qualidade de voz, preço (implícito)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81A4C3-4335-F0E5-2391-9C59F94B0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análise no nível de aspectos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3E46F3-2D07-3F07-47AD-75F27A6E01E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21875" y="6507163"/>
            <a:ext cx="2270125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6315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7F45A4-F865-C553-8766-7CBB0192472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b="1" dirty="0"/>
              <a:t>Aspectos explícitos</a:t>
            </a:r>
          </a:p>
          <a:p>
            <a:pPr lvl="1"/>
            <a:r>
              <a:rPr lang="pt-BR" dirty="0"/>
              <a:t>Termos (palavras) encontrados diretamente na sentença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“tela de toque” e “qualidade de voz”</a:t>
            </a:r>
          </a:p>
          <a:p>
            <a:pPr lvl="2"/>
            <a:r>
              <a:rPr lang="pt-BR" dirty="0"/>
              <a:t>A tela de toque (</a:t>
            </a:r>
            <a:r>
              <a:rPr lang="pt-BR" i="1" dirty="0" err="1"/>
              <a:t>touch</a:t>
            </a:r>
            <a:r>
              <a:rPr lang="pt-BR" i="1" dirty="0"/>
              <a:t> </a:t>
            </a:r>
            <a:r>
              <a:rPr lang="pt-BR" i="1" dirty="0" err="1"/>
              <a:t>screen</a:t>
            </a:r>
            <a:r>
              <a:rPr lang="pt-BR" dirty="0"/>
              <a:t>) era realmente muito legal</a:t>
            </a:r>
          </a:p>
          <a:p>
            <a:pPr lvl="2"/>
            <a:r>
              <a:rPr lang="pt-BR" dirty="0"/>
              <a:t>A qualidade de voz era muita clara</a:t>
            </a:r>
          </a:p>
          <a:p>
            <a:r>
              <a:rPr lang="pt-BR" b="1" dirty="0"/>
              <a:t>Aspectos implícitos</a:t>
            </a:r>
          </a:p>
          <a:p>
            <a:pPr lvl="1"/>
            <a:r>
              <a:rPr lang="pt-BR" dirty="0"/>
              <a:t>Os termos não estão explícitos na sentença, mas podem ser inferidos das expressões de sentimento</a:t>
            </a:r>
          </a:p>
          <a:p>
            <a:pPr lvl="1"/>
            <a:r>
              <a:rPr lang="pt-BR" dirty="0" err="1"/>
              <a:t>Ex</a:t>
            </a:r>
            <a:r>
              <a:rPr lang="pt-BR" dirty="0"/>
              <a:t>: “preço”</a:t>
            </a:r>
          </a:p>
          <a:p>
            <a:pPr lvl="2"/>
            <a:r>
              <a:rPr lang="pt-BR" dirty="0"/>
              <a:t>Ela também achou que o telefone era muito caro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528484-8082-7B14-E2AF-3430DC69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análise no nível de aspectos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6DFAA3-D83A-2F1F-C024-E1FCBD1538A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21875" y="6507163"/>
            <a:ext cx="2270125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122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7F45A4-F865-C553-8766-7CBB0192472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2905055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Extração e reconhecimento das entidade e aspectos</a:t>
            </a:r>
          </a:p>
          <a:p>
            <a:pPr lvl="1"/>
            <a:r>
              <a:rPr lang="pt-BR" u="sng" dirty="0"/>
              <a:t>Entidades</a:t>
            </a:r>
            <a:r>
              <a:rPr lang="pt-BR" dirty="0"/>
              <a:t>: iPhone, Mãe</a:t>
            </a:r>
          </a:p>
          <a:p>
            <a:pPr lvl="1"/>
            <a:r>
              <a:rPr lang="pt-BR" u="sng" dirty="0"/>
              <a:t>Aspectos</a:t>
            </a:r>
            <a:r>
              <a:rPr lang="pt-BR" dirty="0"/>
              <a:t>: Tela de toque, qualidade de voz e preço</a:t>
            </a:r>
          </a:p>
          <a:p>
            <a:r>
              <a:rPr lang="pt-BR" dirty="0"/>
              <a:t>Identificação e classificação dos sentimentos</a:t>
            </a:r>
          </a:p>
          <a:p>
            <a:pPr lvl="1"/>
            <a:r>
              <a:rPr lang="pt-BR" dirty="0"/>
              <a:t>Muito legal, muito clara, muito caro</a:t>
            </a:r>
          </a:p>
          <a:p>
            <a:r>
              <a:rPr lang="pt-BR" dirty="0"/>
              <a:t>Sumarização e visualização dos aspectos e entidades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528484-8082-7B14-E2AF-3430DC699F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análise no nível de aspectos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56DFAA3-D83A-2F1F-C024-E1FCBD1538A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921875" y="6507163"/>
            <a:ext cx="2270125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14</a:t>
            </a:fld>
            <a:endParaRPr lang="pt-BR"/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CB676982-7D94-0995-B8CC-45A341FEA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686150"/>
              </p:ext>
            </p:extLst>
          </p:nvPr>
        </p:nvGraphicFramePr>
        <p:xfrm>
          <a:off x="6456235" y="4887933"/>
          <a:ext cx="3465640" cy="14833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062988">
                  <a:extLst>
                    <a:ext uri="{9D8B030D-6E8A-4147-A177-3AD203B41FA5}">
                      <a16:colId xmlns:a16="http://schemas.microsoft.com/office/drawing/2014/main" val="569181148"/>
                    </a:ext>
                  </a:extLst>
                </a:gridCol>
                <a:gridCol w="1402652">
                  <a:extLst>
                    <a:ext uri="{9D8B030D-6E8A-4147-A177-3AD203B41FA5}">
                      <a16:colId xmlns:a16="http://schemas.microsoft.com/office/drawing/2014/main" val="3018821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Aspecto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Polaridade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595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Tela de toque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Positiva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59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Qualidade de voz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Positiva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2707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Preço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Negativa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033825"/>
                  </a:ext>
                </a:extLst>
              </a:tr>
            </a:tbl>
          </a:graphicData>
        </a:graphic>
      </p:graphicFrame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7DB57311-90CB-3288-0F9E-EA9D735D8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153121"/>
              </p:ext>
            </p:extLst>
          </p:nvPr>
        </p:nvGraphicFramePr>
        <p:xfrm>
          <a:off x="2585018" y="5077743"/>
          <a:ext cx="2602294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99642">
                  <a:extLst>
                    <a:ext uri="{9D8B030D-6E8A-4147-A177-3AD203B41FA5}">
                      <a16:colId xmlns:a16="http://schemas.microsoft.com/office/drawing/2014/main" val="569181148"/>
                    </a:ext>
                  </a:extLst>
                </a:gridCol>
                <a:gridCol w="1402652">
                  <a:extLst>
                    <a:ext uri="{9D8B030D-6E8A-4147-A177-3AD203B41FA5}">
                      <a16:colId xmlns:a16="http://schemas.microsoft.com/office/drawing/2014/main" val="30188219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Entidade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Polaridade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85950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iPhone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Positiva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59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dirty="0"/>
                        <a:t>Mãe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Negativa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270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301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7450</TotalTime>
  <Words>854</Words>
  <Application>Microsoft Office PowerPoint</Application>
  <PresentationFormat>Widescreen</PresentationFormat>
  <Paragraphs>106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15</vt:i4>
      </vt:variant>
    </vt:vector>
  </HeadingPairs>
  <TitlesOfParts>
    <vt:vector size="25" baseType="lpstr">
      <vt:lpstr>Wingdings</vt:lpstr>
      <vt:lpstr>Cronos Pro</vt:lpstr>
      <vt:lpstr>Montserrat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Escopo da análise  de sentimentos</vt:lpstr>
      <vt:lpstr>Objetivos de Aprendizagem</vt:lpstr>
      <vt:lpstr>Escopo da análise de sentimento</vt:lpstr>
      <vt:lpstr>Escopo da análise de sentimento</vt:lpstr>
      <vt:lpstr>Apresentação do PowerPoint</vt:lpstr>
      <vt:lpstr>Nível 1: Nível de Documento</vt:lpstr>
      <vt:lpstr>Apresentação do PowerPoint</vt:lpstr>
      <vt:lpstr>Nível 2: Nível de Sentença</vt:lpstr>
      <vt:lpstr>Apresentação do PowerPoint</vt:lpstr>
      <vt:lpstr>Nível 3: Nível de Aspecto</vt:lpstr>
      <vt:lpstr>Apresentação do PowerPoint</vt:lpstr>
      <vt:lpstr>Exemplo de análise no nível de aspectos</vt:lpstr>
      <vt:lpstr>Exemplo de análise no nível de aspectos</vt:lpstr>
      <vt:lpstr>Exemplo de análise no nível de aspectos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147</cp:revision>
  <dcterms:created xsi:type="dcterms:W3CDTF">2025-06-11T21:44:24Z</dcterms:created>
  <dcterms:modified xsi:type="dcterms:W3CDTF">2026-01-10T20:45:14Z</dcterms:modified>
</cp:coreProperties>
</file>