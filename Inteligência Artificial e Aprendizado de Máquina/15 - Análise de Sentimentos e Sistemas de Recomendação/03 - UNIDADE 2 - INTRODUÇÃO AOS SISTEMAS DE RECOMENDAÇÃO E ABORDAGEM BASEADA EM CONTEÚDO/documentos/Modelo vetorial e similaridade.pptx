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9"/>
  </p:notesMasterIdLst>
  <p:sldIdLst>
    <p:sldId id="1173" r:id="rId5"/>
    <p:sldId id="297" r:id="rId6"/>
    <p:sldId id="1189" r:id="rId7"/>
    <p:sldId id="1192" r:id="rId8"/>
    <p:sldId id="364" r:id="rId9"/>
    <p:sldId id="366" r:id="rId10"/>
    <p:sldId id="365" r:id="rId11"/>
    <p:sldId id="1133" r:id="rId12"/>
    <p:sldId id="1195" r:id="rId13"/>
    <p:sldId id="1193" r:id="rId14"/>
    <p:sldId id="1194" r:id="rId15"/>
    <p:sldId id="1134" r:id="rId16"/>
    <p:sldId id="1135" r:id="rId17"/>
    <p:sldId id="264" r:id="rId18"/>
  </p:sldIdLst>
  <p:sldSz cx="12192000" cy="6858000"/>
  <p:notesSz cx="6858000" cy="9144000"/>
  <p:embeddedFontLst>
    <p:embeddedFont>
      <p:font typeface="Cronos Pro" panose="020C0502030403020304" charset="0"/>
      <p:regular r:id="rId20"/>
      <p:bold r:id="rId21"/>
      <p: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55" d="100"/>
          <a:sy n="55" d="100"/>
        </p:scale>
        <p:origin x="792" y="34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A2FEC-4FEE-4F08-B8C2-0E6F8D9636F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826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27/01/2026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 Vetorial e Similaridade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Explicar o funcionamento do Modelo Vetorial e a representação de itens e consultas como vetores numéricos em espaços multidimensionais</a:t>
            </a:r>
          </a:p>
          <a:p>
            <a:r>
              <a:rPr lang="pt-BR" dirty="0"/>
              <a:t>Diferenciar as representações de </a:t>
            </a:r>
            <a:r>
              <a:rPr lang="pt-BR" i="1" dirty="0"/>
              <a:t>word </a:t>
            </a:r>
            <a:r>
              <a:rPr lang="pt-BR" i="1" dirty="0" err="1"/>
              <a:t>embeddings</a:t>
            </a:r>
            <a:r>
              <a:rPr lang="pt-BR" i="1" dirty="0"/>
              <a:t> </a:t>
            </a:r>
            <a:r>
              <a:rPr lang="pt-BR" dirty="0"/>
              <a:t>e </a:t>
            </a:r>
            <a:r>
              <a:rPr lang="pt-BR" i="1" dirty="0" err="1"/>
              <a:t>sentence</a:t>
            </a:r>
            <a:r>
              <a:rPr lang="pt-BR" i="1" dirty="0"/>
              <a:t> </a:t>
            </a:r>
            <a:r>
              <a:rPr lang="pt-BR" i="1" dirty="0" err="1"/>
              <a:t>embeddings</a:t>
            </a:r>
            <a:endParaRPr lang="pt-BR" i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A8477511-AB20-A7B5-9ACC-A16FC754B0B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Em um sistema de recuperação de informação, itens são representados em um </a:t>
            </a:r>
            <a:r>
              <a:rPr lang="pt-BR" b="1" dirty="0">
                <a:solidFill>
                  <a:srgbClr val="0070C0"/>
                </a:solidFill>
              </a:rPr>
              <a:t>Espaço Vetorial</a:t>
            </a:r>
          </a:p>
          <a:p>
            <a:pPr lvl="1"/>
            <a:r>
              <a:rPr lang="pt-BR" dirty="0"/>
              <a:t>Imagine um gráfico onde cada eixo representa uma característica</a:t>
            </a:r>
          </a:p>
          <a:p>
            <a:pPr lvl="2"/>
            <a:r>
              <a:rPr lang="pt-BR" dirty="0" err="1"/>
              <a:t>Ex</a:t>
            </a:r>
            <a:r>
              <a:rPr lang="pt-BR" dirty="0"/>
              <a:t>: gênero, palavra-chave, ator etc.</a:t>
            </a:r>
          </a:p>
          <a:p>
            <a:pPr lvl="1"/>
            <a:r>
              <a:rPr lang="pt-BR" dirty="0"/>
              <a:t>Cada item é um vetor nesse espaço</a:t>
            </a:r>
          </a:p>
          <a:p>
            <a:r>
              <a:rPr lang="pt-BR" dirty="0"/>
              <a:t>Quando o usuário faz uma busca, a consulta também é convertida em um vetor</a:t>
            </a:r>
          </a:p>
          <a:p>
            <a:r>
              <a:rPr lang="pt-BR" dirty="0"/>
              <a:t>Para se encontrar os itens relevantes para a busca, calcula-se a “proximidade” entre os vetores da consulta e dos itens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F200D5B-90E4-6137-6A41-6A966263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Vetorial</a:t>
            </a:r>
          </a:p>
        </p:txBody>
      </p:sp>
    </p:spTree>
    <p:extLst>
      <p:ext uri="{BB962C8B-B14F-4D97-AF65-F5344CB8AC3E}">
        <p14:creationId xmlns:p14="http://schemas.microsoft.com/office/powerpoint/2010/main" val="222043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F200D5B-90E4-6137-6A41-6A966263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Similaridade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37B2F8-1BCA-7BE3-E606-018D4BF2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97"/>
          <a:stretch/>
        </p:blipFill>
        <p:spPr>
          <a:xfrm>
            <a:off x="1538796" y="1607127"/>
            <a:ext cx="9114407" cy="441343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F6A718C-AC1F-454A-7DE3-94579B454C91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348769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9D5020F5-6C17-0EA0-8C21-952C5764AD6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Usa-se a </a:t>
            </a:r>
            <a:r>
              <a:rPr lang="pt-BR" b="1" dirty="0">
                <a:solidFill>
                  <a:srgbClr val="0070C0"/>
                </a:solidFill>
              </a:rPr>
              <a:t>similaridade do cosseno </a:t>
            </a:r>
            <a:r>
              <a:rPr lang="pt-BR" dirty="0"/>
              <a:t>de cada item com a consulta para calcular a proximidade dos vetores</a:t>
            </a:r>
            <a:endParaRPr lang="pt-BR" i="1" dirty="0"/>
          </a:p>
          <a:p>
            <a:r>
              <a:rPr lang="pt-BR" dirty="0"/>
              <a:t>Mede o cosseno do ângulo entre o vetor da consulta e os vetores de cada item</a:t>
            </a:r>
          </a:p>
          <a:p>
            <a:pPr lvl="1"/>
            <a:r>
              <a:rPr lang="pt-BR" dirty="0"/>
              <a:t>Ângulo pequeno (Cosseno ≈ 1)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/>
              <a:t>Alta similaridade</a:t>
            </a:r>
          </a:p>
          <a:p>
            <a:pPr lvl="1"/>
            <a:r>
              <a:rPr lang="pt-BR" dirty="0"/>
              <a:t>Ângulo grande (Cosseno ≈ 0)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/>
              <a:t>Baixa similaridade</a:t>
            </a:r>
          </a:p>
          <a:p>
            <a:r>
              <a:rPr lang="pt-BR" dirty="0"/>
              <a:t>Ordena-se os itens de acordo com a ordem decrescente de similaridade</a:t>
            </a:r>
          </a:p>
          <a:p>
            <a:endParaRPr lang="pt-BR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Similaridade</a:t>
            </a:r>
          </a:p>
        </p:txBody>
      </p:sp>
    </p:spTree>
    <p:extLst>
      <p:ext uri="{BB962C8B-B14F-4D97-AF65-F5344CB8AC3E}">
        <p14:creationId xmlns:p14="http://schemas.microsoft.com/office/powerpoint/2010/main" val="241972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6656676" cy="4320000"/>
          </a:xfrm>
        </p:spPr>
        <p:txBody>
          <a:bodyPr>
            <a:normAutofit/>
          </a:bodyPr>
          <a:lstStyle/>
          <a:p>
            <a:r>
              <a:rPr lang="pt-BR" dirty="0"/>
              <a:t>Para produzir o </a:t>
            </a:r>
            <a:r>
              <a:rPr lang="pt-BR" b="1" i="1" dirty="0">
                <a:solidFill>
                  <a:srgbClr val="0070C0"/>
                </a:solidFill>
              </a:rPr>
              <a:t>ranking</a:t>
            </a:r>
            <a:r>
              <a:rPr lang="pt-BR" dirty="0"/>
              <a:t> final de itens em resposta a uma consulta, os itens são ordenados na ordem inversa do valor da </a:t>
            </a:r>
            <a:r>
              <a:rPr lang="pt-BR" b="1" dirty="0">
                <a:solidFill>
                  <a:srgbClr val="0070C0"/>
                </a:solidFill>
              </a:rPr>
              <a:t>similaridade</a:t>
            </a:r>
            <a:r>
              <a:rPr lang="pt-BR" dirty="0"/>
              <a:t> de cada item</a:t>
            </a:r>
            <a:r>
              <a:rPr lang="pt-BR" i="1" baseline="-25000" dirty="0"/>
              <a:t> </a:t>
            </a:r>
            <a:r>
              <a:rPr lang="pt-BR" dirty="0"/>
              <a:t>com a consulta</a:t>
            </a:r>
            <a:endParaRPr lang="pt-BR" i="1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similaridade</a:t>
            </a:r>
          </a:p>
        </p:txBody>
      </p:sp>
      <p:grpSp>
        <p:nvGrpSpPr>
          <p:cNvPr id="16" name="Agrupar 15"/>
          <p:cNvGrpSpPr/>
          <p:nvPr/>
        </p:nvGrpSpPr>
        <p:grpSpPr>
          <a:xfrm>
            <a:off x="7574178" y="1484784"/>
            <a:ext cx="3251724" cy="4752528"/>
            <a:chOff x="7536160" y="1700808"/>
            <a:chExt cx="3251724" cy="4752528"/>
          </a:xfrm>
        </p:grpSpPr>
        <p:sp>
          <p:nvSpPr>
            <p:cNvPr id="7" name="Fluxograma: Documento 6"/>
            <p:cNvSpPr/>
            <p:nvPr/>
          </p:nvSpPr>
          <p:spPr>
            <a:xfrm>
              <a:off x="9048328" y="2370728"/>
              <a:ext cx="1152128" cy="864096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Item 3</a:t>
              </a:r>
            </a:p>
            <a:p>
              <a:pPr algn="ctr"/>
              <a:r>
                <a:rPr lang="pt-BR" sz="1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0,984</a:t>
              </a:r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8016806" y="1700808"/>
              <a:ext cx="22904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400" b="1" dirty="0"/>
                <a:t>Ranking de itens</a:t>
              </a:r>
            </a:p>
          </p:txBody>
        </p:sp>
        <p:sp>
          <p:nvSpPr>
            <p:cNvPr id="9" name="Fluxograma: Documento 8"/>
            <p:cNvSpPr/>
            <p:nvPr/>
          </p:nvSpPr>
          <p:spPr>
            <a:xfrm>
              <a:off x="9048328" y="3391022"/>
              <a:ext cx="1152128" cy="864096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Item 1</a:t>
              </a:r>
            </a:p>
            <a:p>
              <a:pPr algn="ctr"/>
              <a:r>
                <a:rPr lang="pt-BR" sz="1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0,802</a:t>
              </a:r>
            </a:p>
          </p:txBody>
        </p:sp>
        <p:sp>
          <p:nvSpPr>
            <p:cNvPr id="10" name="Fluxograma: Documento 9"/>
            <p:cNvSpPr/>
            <p:nvPr/>
          </p:nvSpPr>
          <p:spPr>
            <a:xfrm>
              <a:off x="9048328" y="4411316"/>
              <a:ext cx="1152128" cy="864096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Item 4</a:t>
              </a:r>
            </a:p>
            <a:p>
              <a:pPr algn="ctr"/>
              <a:r>
                <a:rPr lang="pt-BR" sz="1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0,732</a:t>
              </a:r>
            </a:p>
          </p:txBody>
        </p:sp>
        <p:sp>
          <p:nvSpPr>
            <p:cNvPr id="11" name="Fluxograma: Documento 10"/>
            <p:cNvSpPr/>
            <p:nvPr/>
          </p:nvSpPr>
          <p:spPr>
            <a:xfrm>
              <a:off x="9048328" y="5431611"/>
              <a:ext cx="1152128" cy="864096"/>
            </a:xfrm>
            <a:prstGeom prst="flowChartDocumen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Item 2</a:t>
              </a:r>
            </a:p>
            <a:p>
              <a:pPr algn="ctr"/>
              <a:r>
                <a:rPr lang="pt-BR" sz="1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0,404</a:t>
              </a:r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7968208" y="2618110"/>
              <a:ext cx="8162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/>
                <a:t>Rank</a:t>
              </a:r>
              <a:r>
                <a:rPr lang="pt-BR" dirty="0"/>
                <a:t> 1</a:t>
              </a: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7968208" y="3638404"/>
              <a:ext cx="8162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/>
                <a:t>Rank</a:t>
              </a:r>
              <a:r>
                <a:rPr lang="pt-BR" dirty="0"/>
                <a:t> 2</a:t>
              </a:r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7968208" y="4658698"/>
              <a:ext cx="8162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/>
                <a:t>Rank</a:t>
              </a:r>
              <a:r>
                <a:rPr lang="pt-BR" dirty="0"/>
                <a:t> 3</a:t>
              </a:r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7963002" y="5678992"/>
              <a:ext cx="8162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/>
                <a:t>Rank</a:t>
              </a:r>
              <a:r>
                <a:rPr lang="pt-BR" dirty="0"/>
                <a:t> 4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7536160" y="2230596"/>
              <a:ext cx="3251724" cy="4222740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858C1D5D-9719-7BBC-9862-E7664652C298}"/>
              </a:ext>
            </a:extLst>
          </p:cNvPr>
          <p:cNvSpPr txBox="1"/>
          <p:nvPr/>
        </p:nvSpPr>
        <p:spPr>
          <a:xfrm>
            <a:off x="6988039" y="6331986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984956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44803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Existem diferentes abordagens para a representação dos vetores</a:t>
            </a:r>
          </a:p>
          <a:p>
            <a:pPr lvl="1"/>
            <a:r>
              <a:rPr lang="pt-BR" i="1" dirty="0"/>
              <a:t>Bag-</a:t>
            </a:r>
            <a:r>
              <a:rPr lang="pt-BR" i="1" dirty="0" err="1"/>
              <a:t>of</a:t>
            </a:r>
            <a:r>
              <a:rPr lang="pt-BR" i="1" dirty="0"/>
              <a:t>-Words</a:t>
            </a:r>
            <a:r>
              <a:rPr lang="pt-BR" dirty="0"/>
              <a:t> (saco de palavras)</a:t>
            </a:r>
          </a:p>
          <a:p>
            <a:pPr lvl="2"/>
            <a:r>
              <a:rPr lang="pt-BR" dirty="0"/>
              <a:t>Conta quantas vezes cada palavra aparece, ignorando a ordem ou gramática</a:t>
            </a:r>
          </a:p>
          <a:p>
            <a:pPr lvl="1"/>
            <a:r>
              <a:rPr lang="pt-BR" dirty="0"/>
              <a:t>TF-IDF (</a:t>
            </a:r>
            <a:r>
              <a:rPr lang="pt-BR" i="1" dirty="0" err="1"/>
              <a:t>Term</a:t>
            </a:r>
            <a:r>
              <a:rPr lang="pt-BR" i="1" dirty="0"/>
              <a:t> Frequency-</a:t>
            </a:r>
            <a:r>
              <a:rPr lang="pt-BR" i="1" dirty="0" err="1"/>
              <a:t>Inverse</a:t>
            </a:r>
            <a:r>
              <a:rPr lang="pt-BR" i="1" dirty="0"/>
              <a:t> Document Frequency</a:t>
            </a:r>
            <a:r>
              <a:rPr lang="pt-BR" dirty="0"/>
              <a:t>)</a:t>
            </a:r>
          </a:p>
          <a:p>
            <a:pPr lvl="2"/>
            <a:r>
              <a:rPr lang="pt-BR" dirty="0"/>
              <a:t>Considera a ocorrência das palavras: palavras raras que aparecem no documento ganham peso maior, enquanto palavras mais comuns ganham pouco peso</a:t>
            </a:r>
          </a:p>
          <a:p>
            <a:r>
              <a:rPr lang="pt-BR" dirty="0"/>
              <a:t>Limitações</a:t>
            </a:r>
          </a:p>
          <a:p>
            <a:pPr lvl="1"/>
            <a:r>
              <a:rPr lang="pt-BR" dirty="0"/>
              <a:t>Gera </a:t>
            </a:r>
            <a:r>
              <a:rPr lang="pt-BR" b="1" dirty="0"/>
              <a:t>vetores esparsos</a:t>
            </a:r>
            <a:r>
              <a:rPr lang="pt-BR" dirty="0"/>
              <a:t> (de alta dimensão e cheios de zeros) e tem dificuldade com sinônimos e palavras com mais de um significado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Representação dos itens e da consulta</a:t>
            </a:r>
          </a:p>
        </p:txBody>
      </p:sp>
    </p:spTree>
    <p:extLst>
      <p:ext uri="{BB962C8B-B14F-4D97-AF65-F5344CB8AC3E}">
        <p14:creationId xmlns:p14="http://schemas.microsoft.com/office/powerpoint/2010/main" val="501207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uso de</a:t>
            </a:r>
            <a:r>
              <a:rPr lang="pt-BR" i="1" dirty="0"/>
              <a:t> </a:t>
            </a:r>
            <a:r>
              <a:rPr lang="pt-BR" b="1" i="1" dirty="0" err="1"/>
              <a:t>embeddings</a:t>
            </a:r>
            <a:r>
              <a:rPr lang="pt-BR" dirty="0"/>
              <a:t> pode endereçar estas limitações</a:t>
            </a:r>
          </a:p>
          <a:p>
            <a:pPr lvl="1"/>
            <a:r>
              <a:rPr lang="pt-BR" dirty="0"/>
              <a:t>Vetor com </a:t>
            </a:r>
            <a:r>
              <a:rPr lang="pt-BR" b="1" dirty="0"/>
              <a:t>dimensão fixa</a:t>
            </a:r>
            <a:r>
              <a:rPr lang="pt-BR" dirty="0"/>
              <a:t>, por exemplo 300 colunas, para representar cada palavra ou sentença</a:t>
            </a:r>
          </a:p>
          <a:p>
            <a:pPr lvl="1"/>
            <a:r>
              <a:rPr lang="pt-BR" b="1" dirty="0"/>
              <a:t>Foco no significado</a:t>
            </a:r>
            <a:r>
              <a:rPr lang="pt-BR" dirty="0"/>
              <a:t> (semântica) - em vez de contar palavras, captura o contexto e o significado por trás delas</a:t>
            </a:r>
          </a:p>
          <a:p>
            <a:r>
              <a:rPr lang="pt-BR" dirty="0"/>
              <a:t>O que são </a:t>
            </a:r>
            <a:r>
              <a:rPr lang="pt-BR" i="1" dirty="0" err="1"/>
              <a:t>embeddings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São representações vetoriais densas geradas por Redes Neurais profundas (como BERT ou Word2Vec), pré-treinadas em grandes volumes de texto</a:t>
            </a:r>
            <a:endParaRPr lang="pt-BR" i="1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z="4000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Representação dos itens e da consulta</a:t>
            </a:r>
            <a:endParaRPr lang="pt-BR" sz="5400" i="1" dirty="0"/>
          </a:p>
        </p:txBody>
      </p:sp>
    </p:spTree>
    <p:extLst>
      <p:ext uri="{BB962C8B-B14F-4D97-AF65-F5344CB8AC3E}">
        <p14:creationId xmlns:p14="http://schemas.microsoft.com/office/powerpoint/2010/main" val="29961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z="4000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Representação dos itens e da consulta</a:t>
            </a:r>
            <a:endParaRPr lang="pt-BR" sz="5400" i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FEEA504-849D-0DE5-649A-B206C71979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36" b="19426"/>
          <a:stretch/>
        </p:blipFill>
        <p:spPr>
          <a:xfrm>
            <a:off x="840085" y="1745673"/>
            <a:ext cx="10511830" cy="422563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CAC0664-6569-88FC-D439-7C61AE576565}"/>
              </a:ext>
            </a:extLst>
          </p:cNvPr>
          <p:cNvSpPr txBox="1"/>
          <p:nvPr/>
        </p:nvSpPr>
        <p:spPr>
          <a:xfrm>
            <a:off x="3883999" y="5943600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984371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Podem ser usados modelos já treinados em grandes </a:t>
            </a:r>
            <a:r>
              <a:rPr lang="pt-BR" i="1" dirty="0"/>
              <a:t>corpus</a:t>
            </a:r>
            <a:r>
              <a:rPr lang="pt-BR" dirty="0"/>
              <a:t> (coleções de textos) ou treinar o seu próprio modelo</a:t>
            </a:r>
          </a:p>
          <a:p>
            <a:r>
              <a:rPr lang="pt-BR" dirty="0"/>
              <a:t>Os </a:t>
            </a:r>
            <a:r>
              <a:rPr lang="pt-BR" i="1" dirty="0" err="1"/>
              <a:t>embeddings</a:t>
            </a:r>
            <a:r>
              <a:rPr lang="pt-BR" i="1" dirty="0"/>
              <a:t> </a:t>
            </a:r>
            <a:r>
              <a:rPr lang="pt-BR" dirty="0"/>
              <a:t>podem ser gerados a partir de modelos no nível de palavra ou no nível de frase (sentença)</a:t>
            </a:r>
          </a:p>
          <a:p>
            <a:pPr lvl="1"/>
            <a:r>
              <a:rPr lang="pt-BR" dirty="0"/>
              <a:t>Palavra - </a:t>
            </a:r>
            <a:r>
              <a:rPr lang="pt-BR" b="1" i="1" dirty="0">
                <a:solidFill>
                  <a:srgbClr val="0070C0"/>
                </a:solidFill>
              </a:rPr>
              <a:t>word </a:t>
            </a:r>
            <a:r>
              <a:rPr lang="pt-BR" b="1" i="1" dirty="0" err="1">
                <a:solidFill>
                  <a:srgbClr val="0070C0"/>
                </a:solidFill>
              </a:rPr>
              <a:t>embeddings</a:t>
            </a:r>
            <a:r>
              <a:rPr lang="pt-BR" b="1" i="1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pt-BR" dirty="0"/>
              <a:t>Frase ou sentença - </a:t>
            </a:r>
            <a:r>
              <a:rPr lang="pt-BR" b="1" i="1" dirty="0" err="1">
                <a:solidFill>
                  <a:srgbClr val="0070C0"/>
                </a:solidFill>
              </a:rPr>
              <a:t>sentence</a:t>
            </a:r>
            <a:r>
              <a:rPr lang="pt-BR" b="1" i="1" dirty="0">
                <a:solidFill>
                  <a:srgbClr val="0070C0"/>
                </a:solidFill>
              </a:rPr>
              <a:t> </a:t>
            </a:r>
            <a:r>
              <a:rPr lang="pt-BR" b="1" i="1" dirty="0" err="1">
                <a:solidFill>
                  <a:srgbClr val="0070C0"/>
                </a:solidFill>
              </a:rPr>
              <a:t>embeddings</a:t>
            </a:r>
            <a:endParaRPr lang="pt-BR" b="1" i="1" dirty="0">
              <a:solidFill>
                <a:srgbClr val="0070C0"/>
              </a:solidFill>
            </a:endParaRPr>
          </a:p>
          <a:p>
            <a:r>
              <a:rPr lang="pt-BR" dirty="0"/>
              <a:t>Se for usado no nível de palavra, é necessário agregar (soma, média etc.) os </a:t>
            </a:r>
            <a:r>
              <a:rPr lang="pt-BR" i="1" dirty="0" err="1"/>
              <a:t>embeddings</a:t>
            </a:r>
            <a:r>
              <a:rPr lang="pt-BR" dirty="0"/>
              <a:t> de cada palavra de uma frase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z="4000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Representação dos itens e da consulta</a:t>
            </a:r>
            <a:endParaRPr lang="pt-BR" sz="5400" i="1" dirty="0"/>
          </a:p>
        </p:txBody>
      </p:sp>
    </p:spTree>
    <p:extLst>
      <p:ext uri="{BB962C8B-B14F-4D97-AF65-F5344CB8AC3E}">
        <p14:creationId xmlns:p14="http://schemas.microsoft.com/office/powerpoint/2010/main" val="2052403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z="4000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Representação dos itens e da consulta</a:t>
            </a:r>
            <a:endParaRPr lang="pt-BR" sz="5400" i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35A0A18-22EC-299E-901A-5075E76BA7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77"/>
          <a:stretch/>
        </p:blipFill>
        <p:spPr>
          <a:xfrm>
            <a:off x="1437917" y="1471136"/>
            <a:ext cx="9316165" cy="468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E617872-C5BD-90D9-398A-C7F70C46BB74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4138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b="1" i="1" dirty="0"/>
              <a:t>Word </a:t>
            </a:r>
            <a:r>
              <a:rPr lang="pt-BR" b="1" i="1" dirty="0" err="1"/>
              <a:t>embeddings</a:t>
            </a:r>
            <a:endParaRPr lang="pt-BR" b="1" i="1" dirty="0"/>
          </a:p>
          <a:p>
            <a:pPr lvl="1"/>
            <a:r>
              <a:rPr lang="pt-BR" dirty="0"/>
              <a:t>Cada </a:t>
            </a:r>
            <a:r>
              <a:rPr lang="pt-BR" b="1" dirty="0"/>
              <a:t>palavra</a:t>
            </a:r>
            <a:r>
              <a:rPr lang="pt-BR" dirty="0"/>
              <a:t> é representada por um vetor de dimensão fixa, onde cada dimensão representa um aspecto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z="4000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Representação dos itens e da consulta</a:t>
            </a:r>
            <a:endParaRPr lang="pt-BR" sz="5400" i="1" dirty="0"/>
          </a:p>
        </p:txBody>
      </p:sp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8FF3C48D-9DF4-4689-91A4-BD14B60F9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943064"/>
              </p:ext>
            </p:extLst>
          </p:nvPr>
        </p:nvGraphicFramePr>
        <p:xfrm>
          <a:off x="3205205" y="3586340"/>
          <a:ext cx="575619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238">
                  <a:extLst>
                    <a:ext uri="{9D8B030D-6E8A-4147-A177-3AD203B41FA5}">
                      <a16:colId xmlns:a16="http://schemas.microsoft.com/office/drawing/2014/main" val="2064371557"/>
                    </a:ext>
                  </a:extLst>
                </a:gridCol>
                <a:gridCol w="1151238">
                  <a:extLst>
                    <a:ext uri="{9D8B030D-6E8A-4147-A177-3AD203B41FA5}">
                      <a16:colId xmlns:a16="http://schemas.microsoft.com/office/drawing/2014/main" val="1988073060"/>
                    </a:ext>
                  </a:extLst>
                </a:gridCol>
                <a:gridCol w="1151238">
                  <a:extLst>
                    <a:ext uri="{9D8B030D-6E8A-4147-A177-3AD203B41FA5}">
                      <a16:colId xmlns:a16="http://schemas.microsoft.com/office/drawing/2014/main" val="2365466540"/>
                    </a:ext>
                  </a:extLst>
                </a:gridCol>
                <a:gridCol w="1151238">
                  <a:extLst>
                    <a:ext uri="{9D8B030D-6E8A-4147-A177-3AD203B41FA5}">
                      <a16:colId xmlns:a16="http://schemas.microsoft.com/office/drawing/2014/main" val="1672705498"/>
                    </a:ext>
                  </a:extLst>
                </a:gridCol>
                <a:gridCol w="1151238">
                  <a:extLst>
                    <a:ext uri="{9D8B030D-6E8A-4147-A177-3AD203B41FA5}">
                      <a16:colId xmlns:a16="http://schemas.microsoft.com/office/drawing/2014/main" val="255255239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r>
                        <a:rPr lang="pt-BR" sz="2000" dirty="0"/>
                        <a:t>Palavra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Gênero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Realeza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Pet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346329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r>
                        <a:rPr lang="pt-BR" sz="2000" b="1" dirty="0"/>
                        <a:t>homem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296845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r>
                        <a:rPr lang="pt-BR" sz="2000" b="1" dirty="0"/>
                        <a:t>mulher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-1.0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26509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r>
                        <a:rPr lang="pt-BR" sz="2000" b="1"/>
                        <a:t>rei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02969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r>
                        <a:rPr lang="pt-BR" sz="2000" b="1" dirty="0"/>
                        <a:t>rainha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-1.0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09366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r>
                        <a:rPr lang="pt-BR" sz="2000" b="1" dirty="0"/>
                        <a:t>cachorro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98128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r>
                        <a:rPr lang="pt-BR" sz="2000" b="1" dirty="0"/>
                        <a:t>gato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4192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620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b="1" i="1" dirty="0" err="1"/>
              <a:t>Sentence</a:t>
            </a:r>
            <a:r>
              <a:rPr lang="pt-BR" b="1" i="1" dirty="0"/>
              <a:t> </a:t>
            </a:r>
            <a:r>
              <a:rPr lang="pt-BR" b="1" i="1" dirty="0" err="1"/>
              <a:t>embeddings</a:t>
            </a:r>
            <a:endParaRPr lang="pt-BR" b="1" i="1" dirty="0"/>
          </a:p>
          <a:p>
            <a:pPr lvl="1"/>
            <a:r>
              <a:rPr lang="pt-BR" dirty="0"/>
              <a:t>Cada </a:t>
            </a:r>
            <a:r>
              <a:rPr lang="pt-BR" b="1" dirty="0"/>
              <a:t>frase</a:t>
            </a:r>
            <a:r>
              <a:rPr lang="pt-BR" dirty="0"/>
              <a:t> é representada por um vetor de dimensão fixa, onde cada dimensão representa um contexto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z="4000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Representação dos itens e da consulta</a:t>
            </a:r>
            <a:endParaRPr lang="pt-BR" sz="5400" i="1" dirty="0"/>
          </a:p>
        </p:txBody>
      </p:sp>
      <p:graphicFrame>
        <p:nvGraphicFramePr>
          <p:cNvPr id="7" name="Tabela 8">
            <a:extLst>
              <a:ext uri="{FF2B5EF4-FFF2-40B4-BE49-F238E27FC236}">
                <a16:creationId xmlns:a16="http://schemas.microsoft.com/office/drawing/2014/main" id="{EFCD17CB-0ECC-4CBE-A741-15E44B26A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069822"/>
              </p:ext>
            </p:extLst>
          </p:nvPr>
        </p:nvGraphicFramePr>
        <p:xfrm>
          <a:off x="1217456" y="3501313"/>
          <a:ext cx="9757085" cy="273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461">
                  <a:extLst>
                    <a:ext uri="{9D8B030D-6E8A-4147-A177-3AD203B41FA5}">
                      <a16:colId xmlns:a16="http://schemas.microsoft.com/office/drawing/2014/main" val="2064371557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1988073060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365466540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1672705498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55255239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r>
                        <a:rPr lang="pt-BR" sz="1800"/>
                        <a:t>Frase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Positividade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Objetividade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Formalidade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Temática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346329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r>
                        <a:rPr lang="pt-BR" sz="1800" dirty="0"/>
                        <a:t>“O gato caçou o rato."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296845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r>
                        <a:rPr lang="pt-BR" sz="1800"/>
                        <a:t>"O cachorro está brincando no parque."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26509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r>
                        <a:rPr lang="pt-BR" sz="1800" dirty="0"/>
                        <a:t>"A economia global enfrenta desafios."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02969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r>
                        <a:rPr lang="pt-BR" sz="1800"/>
                        <a:t>"Estou cansado hoje."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09366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r>
                        <a:rPr lang="pt-BR" sz="1800" dirty="0"/>
                        <a:t>"Modelos de linguagem são ótimos."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98128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r>
                        <a:rPr lang="pt-BR" sz="1800"/>
                        <a:t>"Que dia lindo!"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4192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5906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8897</TotalTime>
  <Words>701</Words>
  <Application>Microsoft Office PowerPoint</Application>
  <PresentationFormat>Widescreen</PresentationFormat>
  <Paragraphs>136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14</vt:i4>
      </vt:variant>
    </vt:vector>
  </HeadingPairs>
  <TitlesOfParts>
    <vt:vector size="24" baseType="lpstr">
      <vt:lpstr>Wingdings</vt:lpstr>
      <vt:lpstr>Cronos Pro</vt:lpstr>
      <vt:lpstr>Montserrat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Modelo Vetorial e Similaridade</vt:lpstr>
      <vt:lpstr>Objetivos de Aprendizagem</vt:lpstr>
      <vt:lpstr>Modelo Vetorial</vt:lpstr>
      <vt:lpstr>Cálculo da Similaridade</vt:lpstr>
      <vt:lpstr>Cálculo da Similaridade</vt:lpstr>
      <vt:lpstr>Cálculo da similaridade</vt:lpstr>
      <vt:lpstr>Representação dos itens e da consulta</vt:lpstr>
      <vt:lpstr>Representação dos itens e da consulta</vt:lpstr>
      <vt:lpstr>Representação dos itens e da consulta</vt:lpstr>
      <vt:lpstr>Representação dos itens e da consulta</vt:lpstr>
      <vt:lpstr>Representação dos itens e da consulta</vt:lpstr>
      <vt:lpstr>Representação dos itens e da consulta</vt:lpstr>
      <vt:lpstr>Representação dos itens e da consulta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169</cp:revision>
  <dcterms:created xsi:type="dcterms:W3CDTF">2025-06-11T21:44:24Z</dcterms:created>
  <dcterms:modified xsi:type="dcterms:W3CDTF">2026-01-27T19:48:55Z</dcterms:modified>
</cp:coreProperties>
</file>