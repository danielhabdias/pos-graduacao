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4"/>
  </p:notesMasterIdLst>
  <p:sldIdLst>
    <p:sldId id="1173" r:id="rId5"/>
    <p:sldId id="297" r:id="rId6"/>
    <p:sldId id="325" r:id="rId7"/>
    <p:sldId id="372" r:id="rId8"/>
    <p:sldId id="392" r:id="rId9"/>
    <p:sldId id="1174" r:id="rId10"/>
    <p:sldId id="373" r:id="rId11"/>
    <p:sldId id="375" r:id="rId12"/>
    <p:sldId id="264" r:id="rId13"/>
  </p:sldIdLst>
  <p:sldSz cx="12192000" cy="6858000"/>
  <p:notesSz cx="6858000" cy="9144000"/>
  <p:embeddedFontLst>
    <p:embeddedFont>
      <p:font typeface="Cronos Pro" panose="020C0502030403020304" charset="0"/>
      <p:regular r:id="rId15"/>
      <p:bold r:id="rId16"/>
      <p: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2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800" dirty="0"/>
              <a:t>Recomendação baseada em conteúdo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Definir o conceito de recomendação baseada em conteúdo, identificando as características dos itens utilizadas para encontrar similaridades</a:t>
            </a:r>
          </a:p>
          <a:p>
            <a:r>
              <a:rPr lang="pt-BR" dirty="0"/>
              <a:t>Diferenciar abordagens de recomendação baseadas em conteúdo não personalizadas de abordagens personalizadas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2996952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4340" name="Picture 4" descr="3 formas de gerenciar seus usuário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7728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ivros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2930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2999656" y="2708920"/>
            <a:ext cx="2016224" cy="50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2963572" y="4149080"/>
            <a:ext cx="198030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7728" y="216965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usuários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468993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itens</a:t>
            </a:r>
          </a:p>
        </p:txBody>
      </p:sp>
      <p:pic>
        <p:nvPicPr>
          <p:cNvPr id="14346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24439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21281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9816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de Seta Reta 12"/>
          <p:cNvCxnSpPr/>
          <p:nvPr/>
        </p:nvCxnSpPr>
        <p:spPr>
          <a:xfrm flipV="1">
            <a:off x="7320136" y="3572816"/>
            <a:ext cx="2160240" cy="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510076" y="3741090"/>
            <a:ext cx="1780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Ranking de itens </a:t>
            </a:r>
            <a:br>
              <a:rPr lang="pt-BR" dirty="0"/>
            </a:br>
            <a:r>
              <a:rPr lang="pt-BR" dirty="0"/>
              <a:t>recomendados</a:t>
            </a:r>
            <a:br>
              <a:rPr lang="pt-BR" dirty="0"/>
            </a:br>
            <a:r>
              <a:rPr lang="pt-BR" dirty="0"/>
              <a:t>para um usuário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0560496" y="25196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0.985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560495" y="33137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0.921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560495" y="41084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0.852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03912" y="4385873"/>
            <a:ext cx="14396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</a:rPr>
              <a:t>Comportamento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Relações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Similaridade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Contexto</a:t>
            </a:r>
          </a:p>
          <a:p>
            <a:pPr algn="ctr"/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849723-C4F7-74DE-A814-9C65DB9CA966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6707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28" name="Seta para a Direita 27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087888" y="1651433"/>
            <a:ext cx="613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/>
              <a:t>Recomendações definidas a partir de itens que o usuário gostou, viu, avaliou, comprou etc.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9F09A0-BDE7-0CFB-65D5-8C77F6792D53}"/>
              </a:ext>
            </a:extLst>
          </p:cNvPr>
          <p:cNvSpPr txBox="1"/>
          <p:nvPr/>
        </p:nvSpPr>
        <p:spPr>
          <a:xfrm>
            <a:off x="3576000" y="5097250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42178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A644BC0-E4A7-8645-50E8-E46771CF9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9" t="7070" r="31212" b="8284"/>
          <a:stretch/>
        </p:blipFill>
        <p:spPr>
          <a:xfrm>
            <a:off x="7380006" y="1374639"/>
            <a:ext cx="3481967" cy="4767792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6379585" cy="43200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Considera as características dos itens para encontrar itens similares</a:t>
            </a:r>
          </a:p>
          <a:p>
            <a:pPr lvl="1"/>
            <a:r>
              <a:rPr lang="pt-BR" dirty="0"/>
              <a:t>Título, descrição, gênero, categoria, </a:t>
            </a:r>
            <a:r>
              <a:rPr lang="pt-BR" dirty="0" err="1"/>
              <a:t>tags</a:t>
            </a:r>
            <a:r>
              <a:rPr lang="pt-BR" dirty="0"/>
              <a:t>, palavras chaves</a:t>
            </a:r>
          </a:p>
          <a:p>
            <a:r>
              <a:rPr lang="pt-BR" dirty="0"/>
              <a:t>Considera o </a:t>
            </a:r>
            <a:r>
              <a:rPr lang="pt-BR" b="1" i="1" dirty="0" err="1"/>
              <a:t>user</a:t>
            </a:r>
            <a:r>
              <a:rPr lang="pt-BR" b="1" i="1" dirty="0"/>
              <a:t> profile</a:t>
            </a:r>
            <a:r>
              <a:rPr lang="pt-BR" dirty="0"/>
              <a:t> com as informações sobre os itens que o usuário já viu, gostou, avaliou, comprou etc.</a:t>
            </a:r>
          </a:p>
          <a:p>
            <a:pPr lvl="1"/>
            <a:r>
              <a:rPr lang="pt-BR" dirty="0"/>
              <a:t>Explícita ou implicitamente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BBB52744-FBD1-F342-F126-CB3E51A41739}"/>
              </a:ext>
            </a:extLst>
          </p:cNvPr>
          <p:cNvSpPr/>
          <p:nvPr/>
        </p:nvSpPr>
        <p:spPr>
          <a:xfrm>
            <a:off x="7744691" y="1909032"/>
            <a:ext cx="955963" cy="646331"/>
          </a:xfrm>
          <a:prstGeom prst="wedgeRoundRectCallout">
            <a:avLst>
              <a:gd name="adj1" fmla="val 35689"/>
              <a:gd name="adj2" fmla="val 83936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Vistos</a:t>
            </a:r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EC2011D3-6438-2EC1-B29C-1597EE03724F}"/>
              </a:ext>
            </a:extLst>
          </p:cNvPr>
          <p:cNvSpPr/>
          <p:nvPr/>
        </p:nvSpPr>
        <p:spPr>
          <a:xfrm>
            <a:off x="10593491" y="3105834"/>
            <a:ext cx="1322675" cy="646331"/>
          </a:xfrm>
          <a:prstGeom prst="wedgeRoundRectCallout">
            <a:avLst>
              <a:gd name="adj1" fmla="val -96065"/>
              <a:gd name="adj2" fmla="val 51783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Similares</a:t>
            </a:r>
          </a:p>
        </p:txBody>
      </p:sp>
      <p:sp>
        <p:nvSpPr>
          <p:cNvPr id="9" name="Balão de Fala: Retângulo com Cantos Arredondados 8">
            <a:extLst>
              <a:ext uri="{FF2B5EF4-FFF2-40B4-BE49-F238E27FC236}">
                <a16:creationId xmlns:a16="http://schemas.microsoft.com/office/drawing/2014/main" id="{6F23C34B-AA1D-CB14-9BE4-A484E4CDADBA}"/>
              </a:ext>
            </a:extLst>
          </p:cNvPr>
          <p:cNvSpPr/>
          <p:nvPr/>
        </p:nvSpPr>
        <p:spPr>
          <a:xfrm>
            <a:off x="6249848" y="5103402"/>
            <a:ext cx="1807583" cy="646331"/>
          </a:xfrm>
          <a:prstGeom prst="wedgeRoundRectCallout">
            <a:avLst>
              <a:gd name="adj1" fmla="val 84565"/>
              <a:gd name="adj2" fmla="val -40391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Recomendados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21D148-9A3E-1976-6194-08BC2ADFE437}"/>
              </a:ext>
            </a:extLst>
          </p:cNvPr>
          <p:cNvSpPr txBox="1"/>
          <p:nvPr/>
        </p:nvSpPr>
        <p:spPr>
          <a:xfrm>
            <a:off x="7320253" y="6031002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97489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21D148-9A3E-1976-6194-08BC2ADFE437}"/>
              </a:ext>
            </a:extLst>
          </p:cNvPr>
          <p:cNvSpPr txBox="1"/>
          <p:nvPr/>
        </p:nvSpPr>
        <p:spPr>
          <a:xfrm>
            <a:off x="3883999" y="628458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86AC0AA-DBD0-00AD-7B6C-45D11AC7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37"/>
          <a:stretch/>
        </p:blipFill>
        <p:spPr>
          <a:xfrm>
            <a:off x="1219200" y="1452888"/>
            <a:ext cx="9753600" cy="48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7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14D48A-F27B-5B15-F3A0-83035C3A8F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Não personalizada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7" name="Texto Explicativo em Elipse 6"/>
          <p:cNvSpPr/>
          <p:nvPr/>
        </p:nvSpPr>
        <p:spPr>
          <a:xfrm>
            <a:off x="600147" y="3816927"/>
            <a:ext cx="3312368" cy="1503395"/>
          </a:xfrm>
          <a:prstGeom prst="wedgeEllipseCallout">
            <a:avLst>
              <a:gd name="adj1" fmla="val 57859"/>
              <a:gd name="adj2" fmla="val -4596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Títulos semelhantes</a:t>
            </a:r>
            <a:endParaRPr lang="pt-BR" sz="1600" b="1" dirty="0"/>
          </a:p>
          <a:p>
            <a:pPr algn="ctr"/>
            <a:r>
              <a:rPr lang="pt-BR" sz="1600" dirty="0"/>
              <a:t>Séries com características semelhantes a “The </a:t>
            </a:r>
            <a:r>
              <a:rPr lang="pt-BR" sz="1600" dirty="0" err="1"/>
              <a:t>English</a:t>
            </a:r>
            <a:r>
              <a:rPr lang="pt-BR" sz="1600" dirty="0"/>
              <a:t> Game”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4B2BF5-F6A5-7278-69E8-D94F7DAA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81" y="2016161"/>
            <a:ext cx="6982691" cy="381184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3821A22-B13D-72B7-63E8-BA95EADF99D7}"/>
              </a:ext>
            </a:extLst>
          </p:cNvPr>
          <p:cNvSpPr txBox="1"/>
          <p:nvPr/>
        </p:nvSpPr>
        <p:spPr>
          <a:xfrm>
            <a:off x="5643525" y="598837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62687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63A7EB0-6478-23ED-B27E-4E1B76EFAA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634836"/>
            <a:ext cx="11071225" cy="4540952"/>
          </a:xfrm>
        </p:spPr>
        <p:txBody>
          <a:bodyPr/>
          <a:lstStyle/>
          <a:p>
            <a:r>
              <a:rPr lang="pt-BR" dirty="0"/>
              <a:t>Não personalizada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90CD52E-6300-6DF0-0D82-E23880F21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66" b="12401"/>
          <a:stretch/>
        </p:blipFill>
        <p:spPr>
          <a:xfrm>
            <a:off x="696000" y="2227320"/>
            <a:ext cx="10800000" cy="403465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73FA774-1FE6-AFF9-F8F1-B68CEAF7F3F1}"/>
              </a:ext>
            </a:extLst>
          </p:cNvPr>
          <p:cNvSpPr txBox="1"/>
          <p:nvPr/>
        </p:nvSpPr>
        <p:spPr>
          <a:xfrm>
            <a:off x="3883999" y="614631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79842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8996</TotalTime>
  <Words>265</Words>
  <Application>Microsoft Office PowerPoint</Application>
  <PresentationFormat>Widescreen</PresentationFormat>
  <Paragraphs>55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Recomendação baseada em conteúdo</vt:lpstr>
      <vt:lpstr>Objetivos de Aprendizagem</vt:lpstr>
      <vt:lpstr>Sistemas de Recomendação</vt:lpstr>
      <vt:lpstr>Recomendação baseada em conteúdo</vt:lpstr>
      <vt:lpstr>Recomendação baseada em conteúdo</vt:lpstr>
      <vt:lpstr>Recomendação baseada em conteúdo</vt:lpstr>
      <vt:lpstr>Recomendação baseada em conteúdo</vt:lpstr>
      <vt:lpstr>Recomendação baseada em 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2026-01-27T19:58:47Z</dcterms:modified>
</cp:coreProperties>
</file>