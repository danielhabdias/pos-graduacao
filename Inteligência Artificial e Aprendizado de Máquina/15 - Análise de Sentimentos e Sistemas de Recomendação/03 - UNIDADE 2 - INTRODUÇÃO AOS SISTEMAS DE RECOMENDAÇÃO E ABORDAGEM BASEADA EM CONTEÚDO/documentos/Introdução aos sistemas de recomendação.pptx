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8"/>
  </p:notesMasterIdLst>
  <p:sldIdLst>
    <p:sldId id="1173" r:id="rId5"/>
    <p:sldId id="297" r:id="rId6"/>
    <p:sldId id="1184" r:id="rId7"/>
    <p:sldId id="1186" r:id="rId8"/>
    <p:sldId id="1185" r:id="rId9"/>
    <p:sldId id="311" r:id="rId10"/>
    <p:sldId id="1187" r:id="rId11"/>
    <p:sldId id="1188" r:id="rId12"/>
    <p:sldId id="563" r:id="rId13"/>
    <p:sldId id="1189" r:id="rId14"/>
    <p:sldId id="1190" r:id="rId15"/>
    <p:sldId id="1191" r:id="rId16"/>
    <p:sldId id="305" r:id="rId17"/>
    <p:sldId id="1192" r:id="rId18"/>
    <p:sldId id="313" r:id="rId19"/>
    <p:sldId id="312" r:id="rId20"/>
    <p:sldId id="1193" r:id="rId21"/>
    <p:sldId id="317" r:id="rId22"/>
    <p:sldId id="1194" r:id="rId23"/>
    <p:sldId id="325" r:id="rId24"/>
    <p:sldId id="319" r:id="rId25"/>
    <p:sldId id="321" r:id="rId26"/>
    <p:sldId id="264" r:id="rId27"/>
  </p:sldIdLst>
  <p:sldSz cx="12192000" cy="6858000"/>
  <p:notesSz cx="6858000" cy="9144000"/>
  <p:embeddedFontLst>
    <p:embeddedFont>
      <p:font typeface="Cronos Pro" panose="020C0502030403020304" charset="0"/>
      <p:regular r:id="rId29"/>
      <p:bold r:id="rId30"/>
      <p: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408" y="5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6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B5236-8F29-4E9E-AAEF-E7F9D59AC35A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7A1CD15A-988C-488F-B442-01B38E9E7B24}">
      <dgm:prSet phldrT="[Texto]"/>
      <dgm:spPr/>
      <dgm:t>
        <a:bodyPr/>
        <a:lstStyle/>
        <a:p>
          <a:r>
            <a:rPr lang="pt-BR" dirty="0"/>
            <a:t>Por que sistemas de recomendação são necessários?</a:t>
          </a:r>
        </a:p>
      </dgm:t>
    </dgm:pt>
    <dgm:pt modelId="{86EA7FC5-5D15-40FD-895A-483C5BC1B5E8}" type="parTrans" cxnId="{065344E5-0669-43A9-94D7-6082D1AA7036}">
      <dgm:prSet/>
      <dgm:spPr/>
      <dgm:t>
        <a:bodyPr/>
        <a:lstStyle/>
        <a:p>
          <a:endParaRPr lang="pt-BR"/>
        </a:p>
      </dgm:t>
    </dgm:pt>
    <dgm:pt modelId="{84C6F320-0347-42AE-ABC2-0BF2A45ECBF4}" type="sibTrans" cxnId="{065344E5-0669-43A9-94D7-6082D1AA7036}">
      <dgm:prSet/>
      <dgm:spPr/>
      <dgm:t>
        <a:bodyPr/>
        <a:lstStyle/>
        <a:p>
          <a:endParaRPr lang="pt-BR"/>
        </a:p>
      </dgm:t>
    </dgm:pt>
    <dgm:pt modelId="{4C6DC026-F00F-4225-9BE0-096757BCBAF3}">
      <dgm:prSet/>
      <dgm:spPr/>
      <dgm:t>
        <a:bodyPr/>
        <a:lstStyle/>
        <a:p>
          <a:r>
            <a:rPr lang="pt-BR"/>
            <a:t>Usuários não exploram todo o catálogo</a:t>
          </a:r>
          <a:endParaRPr lang="pt-BR" dirty="0"/>
        </a:p>
      </dgm:t>
    </dgm:pt>
    <dgm:pt modelId="{2BB1A9B3-2FC7-4E0E-B766-5474AF01548F}" type="parTrans" cxnId="{DEEE2BA1-0AF0-496D-9F4A-8FABB84E5BF0}">
      <dgm:prSet/>
      <dgm:spPr/>
      <dgm:t>
        <a:bodyPr/>
        <a:lstStyle/>
        <a:p>
          <a:endParaRPr lang="pt-BR"/>
        </a:p>
      </dgm:t>
    </dgm:pt>
    <dgm:pt modelId="{3B468D36-CBF0-4112-BA61-2AB7D45CF0B5}" type="sibTrans" cxnId="{DEEE2BA1-0AF0-496D-9F4A-8FABB84E5BF0}">
      <dgm:prSet/>
      <dgm:spPr/>
      <dgm:t>
        <a:bodyPr/>
        <a:lstStyle/>
        <a:p>
          <a:endParaRPr lang="pt-BR"/>
        </a:p>
      </dgm:t>
    </dgm:pt>
    <dgm:pt modelId="{3C00C1AC-BAC7-4C48-AFD3-912105E3E1B8}">
      <dgm:prSet/>
      <dgm:spPr/>
      <dgm:t>
        <a:bodyPr/>
        <a:lstStyle/>
        <a:p>
          <a:r>
            <a:rPr lang="pt-BR"/>
            <a:t>Dificuldade de descoberta de novos itens</a:t>
          </a:r>
          <a:endParaRPr lang="pt-BR" dirty="0"/>
        </a:p>
      </dgm:t>
    </dgm:pt>
    <dgm:pt modelId="{3BDF485F-42BF-4808-9447-F8A3EBEF9EDD}" type="parTrans" cxnId="{042DE236-E6D7-44C4-B1D9-D776F7F6CD06}">
      <dgm:prSet/>
      <dgm:spPr/>
      <dgm:t>
        <a:bodyPr/>
        <a:lstStyle/>
        <a:p>
          <a:endParaRPr lang="pt-BR"/>
        </a:p>
      </dgm:t>
    </dgm:pt>
    <dgm:pt modelId="{BD825985-F7CB-4BAD-8A0C-8C3E30FA7ED6}" type="sibTrans" cxnId="{042DE236-E6D7-44C4-B1D9-D776F7F6CD06}">
      <dgm:prSet/>
      <dgm:spPr/>
      <dgm:t>
        <a:bodyPr/>
        <a:lstStyle/>
        <a:p>
          <a:endParaRPr lang="pt-BR"/>
        </a:p>
      </dgm:t>
    </dgm:pt>
    <dgm:pt modelId="{FC73906B-6F91-4037-813F-5243A81E6CDB}">
      <dgm:prSet/>
      <dgm:spPr/>
      <dgm:t>
        <a:bodyPr/>
        <a:lstStyle/>
        <a:p>
          <a:r>
            <a:rPr lang="pt-BR"/>
            <a:t>Tempo limitado para decisão</a:t>
          </a:r>
          <a:endParaRPr lang="pt-BR" dirty="0"/>
        </a:p>
      </dgm:t>
    </dgm:pt>
    <dgm:pt modelId="{B3CE12CA-A7A5-4AE8-B470-EABCD9539ADE}" type="parTrans" cxnId="{AAB88E79-2641-46B9-801D-95F5E632448B}">
      <dgm:prSet/>
      <dgm:spPr/>
      <dgm:t>
        <a:bodyPr/>
        <a:lstStyle/>
        <a:p>
          <a:endParaRPr lang="pt-BR"/>
        </a:p>
      </dgm:t>
    </dgm:pt>
    <dgm:pt modelId="{06932AC5-0BCD-4D3A-875B-F64FC28D45A4}" type="sibTrans" cxnId="{AAB88E79-2641-46B9-801D-95F5E632448B}">
      <dgm:prSet/>
      <dgm:spPr/>
      <dgm:t>
        <a:bodyPr/>
        <a:lstStyle/>
        <a:p>
          <a:endParaRPr lang="pt-BR"/>
        </a:p>
      </dgm:t>
    </dgm:pt>
    <dgm:pt modelId="{58BA9021-64E4-4DDC-B67E-B914C8C92D62}">
      <dgm:prSet/>
      <dgm:spPr/>
      <dgm:t>
        <a:bodyPr/>
        <a:lstStyle/>
        <a:p>
          <a:r>
            <a:rPr lang="pt-BR" dirty="0"/>
            <a:t>Preferências variáveis ao longo do tempo</a:t>
          </a:r>
        </a:p>
      </dgm:t>
    </dgm:pt>
    <dgm:pt modelId="{F1B3D48F-F2CE-4850-BD51-6F2685584C55}" type="parTrans" cxnId="{963886E2-ED6A-4DE9-A53F-CF1AB626A455}">
      <dgm:prSet/>
      <dgm:spPr/>
      <dgm:t>
        <a:bodyPr/>
        <a:lstStyle/>
        <a:p>
          <a:endParaRPr lang="pt-BR"/>
        </a:p>
      </dgm:t>
    </dgm:pt>
    <dgm:pt modelId="{E72FF74A-5D88-48E0-BC5D-BD1D555E822A}" type="sibTrans" cxnId="{963886E2-ED6A-4DE9-A53F-CF1AB626A455}">
      <dgm:prSet/>
      <dgm:spPr/>
      <dgm:t>
        <a:bodyPr/>
        <a:lstStyle/>
        <a:p>
          <a:endParaRPr lang="pt-BR"/>
        </a:p>
      </dgm:t>
    </dgm:pt>
    <dgm:pt modelId="{1D22AB0F-24FD-4A45-A6FA-F19BFE087EF3}">
      <dgm:prSet/>
      <dgm:spPr/>
      <dgm:t>
        <a:bodyPr/>
        <a:lstStyle/>
        <a:p>
          <a:r>
            <a:rPr lang="pt-BR"/>
            <a:t>Benefícios para o usuário</a:t>
          </a:r>
          <a:endParaRPr lang="pt-BR" dirty="0"/>
        </a:p>
      </dgm:t>
    </dgm:pt>
    <dgm:pt modelId="{2BD3E689-346B-4223-A148-85677BC28868}" type="parTrans" cxnId="{A87A08DC-5262-4612-B5D9-0FACF3EB3E2A}">
      <dgm:prSet/>
      <dgm:spPr/>
      <dgm:t>
        <a:bodyPr/>
        <a:lstStyle/>
        <a:p>
          <a:endParaRPr lang="pt-BR"/>
        </a:p>
      </dgm:t>
    </dgm:pt>
    <dgm:pt modelId="{20CA3A7D-4CCB-46AA-B692-B5DD7D64F4BB}" type="sibTrans" cxnId="{A87A08DC-5262-4612-B5D9-0FACF3EB3E2A}">
      <dgm:prSet/>
      <dgm:spPr/>
      <dgm:t>
        <a:bodyPr/>
        <a:lstStyle/>
        <a:p>
          <a:endParaRPr lang="pt-BR"/>
        </a:p>
      </dgm:t>
    </dgm:pt>
    <dgm:pt modelId="{ED797C4D-CDB9-4B6D-BDB3-B8D4C0650374}">
      <dgm:prSet/>
      <dgm:spPr/>
      <dgm:t>
        <a:bodyPr/>
        <a:lstStyle/>
        <a:p>
          <a:r>
            <a:rPr lang="pt-BR"/>
            <a:t>Economia de tempo</a:t>
          </a:r>
          <a:endParaRPr lang="pt-BR" dirty="0"/>
        </a:p>
      </dgm:t>
    </dgm:pt>
    <dgm:pt modelId="{8362CA0D-7418-4C62-93E3-D86CED35E196}" type="parTrans" cxnId="{FBE5E00D-D702-4A29-B5D4-4D680C28F2BF}">
      <dgm:prSet/>
      <dgm:spPr/>
      <dgm:t>
        <a:bodyPr/>
        <a:lstStyle/>
        <a:p>
          <a:endParaRPr lang="pt-BR"/>
        </a:p>
      </dgm:t>
    </dgm:pt>
    <dgm:pt modelId="{815654BF-FB0A-4501-9EE5-F9339262AA4E}" type="sibTrans" cxnId="{FBE5E00D-D702-4A29-B5D4-4D680C28F2BF}">
      <dgm:prSet/>
      <dgm:spPr/>
      <dgm:t>
        <a:bodyPr/>
        <a:lstStyle/>
        <a:p>
          <a:endParaRPr lang="pt-BR"/>
        </a:p>
      </dgm:t>
    </dgm:pt>
    <dgm:pt modelId="{CD4B7AAB-E35A-4F3D-9EE5-926F1E42BF96}">
      <dgm:prSet/>
      <dgm:spPr/>
      <dgm:t>
        <a:bodyPr/>
        <a:lstStyle/>
        <a:p>
          <a:r>
            <a:rPr lang="pt-BR"/>
            <a:t>Conteúdo mais relevante</a:t>
          </a:r>
          <a:endParaRPr lang="pt-BR" dirty="0"/>
        </a:p>
      </dgm:t>
    </dgm:pt>
    <dgm:pt modelId="{7BBCB57F-C956-461C-A841-280676673E2C}" type="parTrans" cxnId="{04B78B23-4A59-4059-986B-24CF0026727C}">
      <dgm:prSet/>
      <dgm:spPr/>
      <dgm:t>
        <a:bodyPr/>
        <a:lstStyle/>
        <a:p>
          <a:endParaRPr lang="pt-BR"/>
        </a:p>
      </dgm:t>
    </dgm:pt>
    <dgm:pt modelId="{0A9FB870-3C6F-4B9F-9B4E-48EA75465A61}" type="sibTrans" cxnId="{04B78B23-4A59-4059-986B-24CF0026727C}">
      <dgm:prSet/>
      <dgm:spPr/>
      <dgm:t>
        <a:bodyPr/>
        <a:lstStyle/>
        <a:p>
          <a:endParaRPr lang="pt-BR"/>
        </a:p>
      </dgm:t>
    </dgm:pt>
    <dgm:pt modelId="{7F625124-FE9A-4A6C-A4C1-572D90EC0547}">
      <dgm:prSet/>
      <dgm:spPr/>
      <dgm:t>
        <a:bodyPr/>
        <a:lstStyle/>
        <a:p>
          <a:r>
            <a:rPr lang="pt-BR" dirty="0"/>
            <a:t>Experiência personalizada</a:t>
          </a:r>
        </a:p>
      </dgm:t>
    </dgm:pt>
    <dgm:pt modelId="{397F06F6-4653-47A1-98F2-E73CE2999754}" type="parTrans" cxnId="{A190AE81-5BBC-444A-B604-9C1DC7404C61}">
      <dgm:prSet/>
      <dgm:spPr/>
      <dgm:t>
        <a:bodyPr/>
        <a:lstStyle/>
        <a:p>
          <a:endParaRPr lang="pt-BR"/>
        </a:p>
      </dgm:t>
    </dgm:pt>
    <dgm:pt modelId="{22D7D5F4-4DB6-48DC-8F74-A2A6287B68B9}" type="sibTrans" cxnId="{A190AE81-5BBC-444A-B604-9C1DC7404C61}">
      <dgm:prSet/>
      <dgm:spPr/>
      <dgm:t>
        <a:bodyPr/>
        <a:lstStyle/>
        <a:p>
          <a:endParaRPr lang="pt-BR"/>
        </a:p>
      </dgm:t>
    </dgm:pt>
    <dgm:pt modelId="{4CFCE1F8-9F27-4CDB-9F76-CD3659362AF6}">
      <dgm:prSet/>
      <dgm:spPr/>
      <dgm:t>
        <a:bodyPr/>
        <a:lstStyle/>
        <a:p>
          <a:r>
            <a:rPr lang="pt-BR" dirty="0"/>
            <a:t>Sugestões atualizadas e surpreendentes</a:t>
          </a:r>
        </a:p>
      </dgm:t>
    </dgm:pt>
    <dgm:pt modelId="{ED724E33-D77F-4EB6-9CA0-EDCEBFF02E68}" type="parTrans" cxnId="{97C5C2E4-166F-4D78-87E5-F6A023206AA7}">
      <dgm:prSet/>
      <dgm:spPr/>
      <dgm:t>
        <a:bodyPr/>
        <a:lstStyle/>
        <a:p>
          <a:endParaRPr lang="pt-BR"/>
        </a:p>
      </dgm:t>
    </dgm:pt>
    <dgm:pt modelId="{157F3394-FF90-42B9-9C92-011F8551F5E0}" type="sibTrans" cxnId="{97C5C2E4-166F-4D78-87E5-F6A023206AA7}">
      <dgm:prSet/>
      <dgm:spPr/>
      <dgm:t>
        <a:bodyPr/>
        <a:lstStyle/>
        <a:p>
          <a:endParaRPr lang="pt-BR"/>
        </a:p>
      </dgm:t>
    </dgm:pt>
    <dgm:pt modelId="{747C3C16-1C3B-4665-B203-22614F5E1C21}" type="pres">
      <dgm:prSet presAssocID="{243B5236-8F29-4E9E-AAEF-E7F9D59AC35A}" presName="Name0" presStyleCnt="0">
        <dgm:presLayoutVars>
          <dgm:dir/>
          <dgm:animLvl val="lvl"/>
          <dgm:resizeHandles val="exact"/>
        </dgm:presLayoutVars>
      </dgm:prSet>
      <dgm:spPr/>
    </dgm:pt>
    <dgm:pt modelId="{6FF0877A-D89F-4A96-807C-06132C33B779}" type="pres">
      <dgm:prSet presAssocID="{7A1CD15A-988C-488F-B442-01B38E9E7B24}" presName="composite" presStyleCnt="0"/>
      <dgm:spPr/>
    </dgm:pt>
    <dgm:pt modelId="{AA2A555D-9F5B-4D25-B6FC-95F36ED60102}" type="pres">
      <dgm:prSet presAssocID="{7A1CD15A-988C-488F-B442-01B38E9E7B2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3A3C1D7-8DFF-4BBB-BE6F-B104CB2C2D41}" type="pres">
      <dgm:prSet presAssocID="{7A1CD15A-988C-488F-B442-01B38E9E7B24}" presName="desTx" presStyleLbl="alignAccFollowNode1" presStyleIdx="0" presStyleCnt="2">
        <dgm:presLayoutVars>
          <dgm:bulletEnabled val="1"/>
        </dgm:presLayoutVars>
      </dgm:prSet>
      <dgm:spPr/>
    </dgm:pt>
    <dgm:pt modelId="{582FB812-7A8E-41A4-88D8-69BC8249DF0F}" type="pres">
      <dgm:prSet presAssocID="{84C6F320-0347-42AE-ABC2-0BF2A45ECBF4}" presName="space" presStyleCnt="0"/>
      <dgm:spPr/>
    </dgm:pt>
    <dgm:pt modelId="{3220E021-B2BF-4D54-B205-5DB1B4D72A51}" type="pres">
      <dgm:prSet presAssocID="{1D22AB0F-24FD-4A45-A6FA-F19BFE087EF3}" presName="composite" presStyleCnt="0"/>
      <dgm:spPr/>
    </dgm:pt>
    <dgm:pt modelId="{09043B8C-0FED-45AC-A370-17F0F4C8A636}" type="pres">
      <dgm:prSet presAssocID="{1D22AB0F-24FD-4A45-A6FA-F19BFE087EF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7261C66-2041-4A51-AA05-B92BA4175F6B}" type="pres">
      <dgm:prSet presAssocID="{1D22AB0F-24FD-4A45-A6FA-F19BFE087EF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DCD6004-1369-4354-BAEE-F5A3891A32B0}" type="presOf" srcId="{7A1CD15A-988C-488F-B442-01B38E9E7B24}" destId="{AA2A555D-9F5B-4D25-B6FC-95F36ED60102}" srcOrd="0" destOrd="0" presId="urn:microsoft.com/office/officeart/2005/8/layout/hList1"/>
    <dgm:cxn modelId="{5F7F9A09-243D-4051-8A72-B3C359707219}" type="presOf" srcId="{FC73906B-6F91-4037-813F-5243A81E6CDB}" destId="{23A3C1D7-8DFF-4BBB-BE6F-B104CB2C2D41}" srcOrd="0" destOrd="2" presId="urn:microsoft.com/office/officeart/2005/8/layout/hList1"/>
    <dgm:cxn modelId="{FBE5E00D-D702-4A29-B5D4-4D680C28F2BF}" srcId="{1D22AB0F-24FD-4A45-A6FA-F19BFE087EF3}" destId="{ED797C4D-CDB9-4B6D-BDB3-B8D4C0650374}" srcOrd="0" destOrd="0" parTransId="{8362CA0D-7418-4C62-93E3-D86CED35E196}" sibTransId="{815654BF-FB0A-4501-9EE5-F9339262AA4E}"/>
    <dgm:cxn modelId="{ECA25C0F-DD5C-4CC4-80AF-8CEF5A1773C3}" type="presOf" srcId="{CD4B7AAB-E35A-4F3D-9EE5-926F1E42BF96}" destId="{A7261C66-2041-4A51-AA05-B92BA4175F6B}" srcOrd="0" destOrd="1" presId="urn:microsoft.com/office/officeart/2005/8/layout/hList1"/>
    <dgm:cxn modelId="{A40FAA1E-0B59-4455-A9AC-B9000F8C9CD3}" type="presOf" srcId="{7F625124-FE9A-4A6C-A4C1-572D90EC0547}" destId="{A7261C66-2041-4A51-AA05-B92BA4175F6B}" srcOrd="0" destOrd="2" presId="urn:microsoft.com/office/officeart/2005/8/layout/hList1"/>
    <dgm:cxn modelId="{04B78B23-4A59-4059-986B-24CF0026727C}" srcId="{1D22AB0F-24FD-4A45-A6FA-F19BFE087EF3}" destId="{CD4B7AAB-E35A-4F3D-9EE5-926F1E42BF96}" srcOrd="1" destOrd="0" parTransId="{7BBCB57F-C956-461C-A841-280676673E2C}" sibTransId="{0A9FB870-3C6F-4B9F-9B4E-48EA75465A61}"/>
    <dgm:cxn modelId="{042DE236-E6D7-44C4-B1D9-D776F7F6CD06}" srcId="{7A1CD15A-988C-488F-B442-01B38E9E7B24}" destId="{3C00C1AC-BAC7-4C48-AFD3-912105E3E1B8}" srcOrd="1" destOrd="0" parTransId="{3BDF485F-42BF-4808-9447-F8A3EBEF9EDD}" sibTransId="{BD825985-F7CB-4BAD-8A0C-8C3E30FA7ED6}"/>
    <dgm:cxn modelId="{F504C25F-84BB-4B3F-A537-D007980526F2}" type="presOf" srcId="{4CFCE1F8-9F27-4CDB-9F76-CD3659362AF6}" destId="{A7261C66-2041-4A51-AA05-B92BA4175F6B}" srcOrd="0" destOrd="3" presId="urn:microsoft.com/office/officeart/2005/8/layout/hList1"/>
    <dgm:cxn modelId="{AAB88E79-2641-46B9-801D-95F5E632448B}" srcId="{7A1CD15A-988C-488F-B442-01B38E9E7B24}" destId="{FC73906B-6F91-4037-813F-5243A81E6CDB}" srcOrd="2" destOrd="0" parTransId="{B3CE12CA-A7A5-4AE8-B470-EABCD9539ADE}" sibTransId="{06932AC5-0BCD-4D3A-875B-F64FC28D45A4}"/>
    <dgm:cxn modelId="{A190AE81-5BBC-444A-B604-9C1DC7404C61}" srcId="{1D22AB0F-24FD-4A45-A6FA-F19BFE087EF3}" destId="{7F625124-FE9A-4A6C-A4C1-572D90EC0547}" srcOrd="2" destOrd="0" parTransId="{397F06F6-4653-47A1-98F2-E73CE2999754}" sibTransId="{22D7D5F4-4DB6-48DC-8F74-A2A6287B68B9}"/>
    <dgm:cxn modelId="{D51D3B84-AAD4-481E-8D40-249344F0B215}" type="presOf" srcId="{4C6DC026-F00F-4225-9BE0-096757BCBAF3}" destId="{23A3C1D7-8DFF-4BBB-BE6F-B104CB2C2D41}" srcOrd="0" destOrd="0" presId="urn:microsoft.com/office/officeart/2005/8/layout/hList1"/>
    <dgm:cxn modelId="{11931C87-8B18-4B99-9EAB-00902C165A8E}" type="presOf" srcId="{ED797C4D-CDB9-4B6D-BDB3-B8D4C0650374}" destId="{A7261C66-2041-4A51-AA05-B92BA4175F6B}" srcOrd="0" destOrd="0" presId="urn:microsoft.com/office/officeart/2005/8/layout/hList1"/>
    <dgm:cxn modelId="{1097E487-E74D-4CA3-9779-A4EB627239C6}" type="presOf" srcId="{58BA9021-64E4-4DDC-B67E-B914C8C92D62}" destId="{23A3C1D7-8DFF-4BBB-BE6F-B104CB2C2D41}" srcOrd="0" destOrd="3" presId="urn:microsoft.com/office/officeart/2005/8/layout/hList1"/>
    <dgm:cxn modelId="{0BE2EE87-7867-4950-9409-56C87CE36439}" type="presOf" srcId="{3C00C1AC-BAC7-4C48-AFD3-912105E3E1B8}" destId="{23A3C1D7-8DFF-4BBB-BE6F-B104CB2C2D41}" srcOrd="0" destOrd="1" presId="urn:microsoft.com/office/officeart/2005/8/layout/hList1"/>
    <dgm:cxn modelId="{DEEE2BA1-0AF0-496D-9F4A-8FABB84E5BF0}" srcId="{7A1CD15A-988C-488F-B442-01B38E9E7B24}" destId="{4C6DC026-F00F-4225-9BE0-096757BCBAF3}" srcOrd="0" destOrd="0" parTransId="{2BB1A9B3-2FC7-4E0E-B766-5474AF01548F}" sibTransId="{3B468D36-CBF0-4112-BA61-2AB7D45CF0B5}"/>
    <dgm:cxn modelId="{44B107A3-184E-4DEA-86E1-467943460948}" type="presOf" srcId="{1D22AB0F-24FD-4A45-A6FA-F19BFE087EF3}" destId="{09043B8C-0FED-45AC-A370-17F0F4C8A636}" srcOrd="0" destOrd="0" presId="urn:microsoft.com/office/officeart/2005/8/layout/hList1"/>
    <dgm:cxn modelId="{2FF207BB-8B2C-4E5E-BCD0-72A40C569688}" type="presOf" srcId="{243B5236-8F29-4E9E-AAEF-E7F9D59AC35A}" destId="{747C3C16-1C3B-4665-B203-22614F5E1C21}" srcOrd="0" destOrd="0" presId="urn:microsoft.com/office/officeart/2005/8/layout/hList1"/>
    <dgm:cxn modelId="{A87A08DC-5262-4612-B5D9-0FACF3EB3E2A}" srcId="{243B5236-8F29-4E9E-AAEF-E7F9D59AC35A}" destId="{1D22AB0F-24FD-4A45-A6FA-F19BFE087EF3}" srcOrd="1" destOrd="0" parTransId="{2BD3E689-346B-4223-A148-85677BC28868}" sibTransId="{20CA3A7D-4CCB-46AA-B692-B5DD7D64F4BB}"/>
    <dgm:cxn modelId="{963886E2-ED6A-4DE9-A53F-CF1AB626A455}" srcId="{7A1CD15A-988C-488F-B442-01B38E9E7B24}" destId="{58BA9021-64E4-4DDC-B67E-B914C8C92D62}" srcOrd="3" destOrd="0" parTransId="{F1B3D48F-F2CE-4850-BD51-6F2685584C55}" sibTransId="{E72FF74A-5D88-48E0-BC5D-BD1D555E822A}"/>
    <dgm:cxn modelId="{97C5C2E4-166F-4D78-87E5-F6A023206AA7}" srcId="{1D22AB0F-24FD-4A45-A6FA-F19BFE087EF3}" destId="{4CFCE1F8-9F27-4CDB-9F76-CD3659362AF6}" srcOrd="3" destOrd="0" parTransId="{ED724E33-D77F-4EB6-9CA0-EDCEBFF02E68}" sibTransId="{157F3394-FF90-42B9-9C92-011F8551F5E0}"/>
    <dgm:cxn modelId="{065344E5-0669-43A9-94D7-6082D1AA7036}" srcId="{243B5236-8F29-4E9E-AAEF-E7F9D59AC35A}" destId="{7A1CD15A-988C-488F-B442-01B38E9E7B24}" srcOrd="0" destOrd="0" parTransId="{86EA7FC5-5D15-40FD-895A-483C5BC1B5E8}" sibTransId="{84C6F320-0347-42AE-ABC2-0BF2A45ECBF4}"/>
    <dgm:cxn modelId="{CE5C71FC-EA32-4D10-A9E2-D00FB9429A63}" type="presParOf" srcId="{747C3C16-1C3B-4665-B203-22614F5E1C21}" destId="{6FF0877A-D89F-4A96-807C-06132C33B779}" srcOrd="0" destOrd="0" presId="urn:microsoft.com/office/officeart/2005/8/layout/hList1"/>
    <dgm:cxn modelId="{EC375A87-06FB-45B5-89A6-D7667D8C9A28}" type="presParOf" srcId="{6FF0877A-D89F-4A96-807C-06132C33B779}" destId="{AA2A555D-9F5B-4D25-B6FC-95F36ED60102}" srcOrd="0" destOrd="0" presId="urn:microsoft.com/office/officeart/2005/8/layout/hList1"/>
    <dgm:cxn modelId="{EB0B8414-ECBF-4EF1-A88D-BB68F9BF6385}" type="presParOf" srcId="{6FF0877A-D89F-4A96-807C-06132C33B779}" destId="{23A3C1D7-8DFF-4BBB-BE6F-B104CB2C2D41}" srcOrd="1" destOrd="0" presId="urn:microsoft.com/office/officeart/2005/8/layout/hList1"/>
    <dgm:cxn modelId="{FD90BA6C-BF89-4FF5-B36E-91A1C9A80224}" type="presParOf" srcId="{747C3C16-1C3B-4665-B203-22614F5E1C21}" destId="{582FB812-7A8E-41A4-88D8-69BC8249DF0F}" srcOrd="1" destOrd="0" presId="urn:microsoft.com/office/officeart/2005/8/layout/hList1"/>
    <dgm:cxn modelId="{9509A465-5C6B-48EB-981A-3FD98BDD10E3}" type="presParOf" srcId="{747C3C16-1C3B-4665-B203-22614F5E1C21}" destId="{3220E021-B2BF-4D54-B205-5DB1B4D72A51}" srcOrd="2" destOrd="0" presId="urn:microsoft.com/office/officeart/2005/8/layout/hList1"/>
    <dgm:cxn modelId="{44FD6FD4-A3DF-4217-B7B3-B1CB1498D1B5}" type="presParOf" srcId="{3220E021-B2BF-4D54-B205-5DB1B4D72A51}" destId="{09043B8C-0FED-45AC-A370-17F0F4C8A636}" srcOrd="0" destOrd="0" presId="urn:microsoft.com/office/officeart/2005/8/layout/hList1"/>
    <dgm:cxn modelId="{7B3C11F9-9B87-4EB5-B3ED-9D5B24C5E864}" type="presParOf" srcId="{3220E021-B2BF-4D54-B205-5DB1B4D72A51}" destId="{A7261C66-2041-4A51-AA05-B92BA4175F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A555D-9F5B-4D25-B6FC-95F36ED60102}">
      <dsp:nvSpPr>
        <dsp:cNvPr id="0" name=""/>
        <dsp:cNvSpPr/>
      </dsp:nvSpPr>
      <dsp:spPr>
        <a:xfrm>
          <a:off x="49" y="142951"/>
          <a:ext cx="4751651" cy="9647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Por que sistemas de recomendação são necessários?</a:t>
          </a:r>
        </a:p>
      </dsp:txBody>
      <dsp:txXfrm>
        <a:off x="49" y="142951"/>
        <a:ext cx="4751651" cy="964773"/>
      </dsp:txXfrm>
    </dsp:sp>
    <dsp:sp modelId="{23A3C1D7-8DFF-4BBB-BE6F-B104CB2C2D41}">
      <dsp:nvSpPr>
        <dsp:cNvPr id="0" name=""/>
        <dsp:cNvSpPr/>
      </dsp:nvSpPr>
      <dsp:spPr>
        <a:xfrm>
          <a:off x="49" y="1107725"/>
          <a:ext cx="4751651" cy="30689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/>
            <a:t>Usuários não exploram todo o catálogo</a:t>
          </a:r>
          <a:endParaRPr lang="pt-BR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/>
            <a:t>Dificuldade de descoberta de novos itens</a:t>
          </a:r>
          <a:endParaRPr lang="pt-BR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/>
            <a:t>Tempo limitado para decisão</a:t>
          </a:r>
          <a:endParaRPr lang="pt-BR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 dirty="0"/>
            <a:t>Preferências variáveis ao longo do tempo</a:t>
          </a:r>
        </a:p>
      </dsp:txBody>
      <dsp:txXfrm>
        <a:off x="49" y="1107725"/>
        <a:ext cx="4751651" cy="3068909"/>
      </dsp:txXfrm>
    </dsp:sp>
    <dsp:sp modelId="{09043B8C-0FED-45AC-A370-17F0F4C8A636}">
      <dsp:nvSpPr>
        <dsp:cNvPr id="0" name=""/>
        <dsp:cNvSpPr/>
      </dsp:nvSpPr>
      <dsp:spPr>
        <a:xfrm>
          <a:off x="5416932" y="142951"/>
          <a:ext cx="4751651" cy="964773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Benefícios para o usuário</a:t>
          </a:r>
          <a:endParaRPr lang="pt-BR" sz="2600" kern="1200" dirty="0"/>
        </a:p>
      </dsp:txBody>
      <dsp:txXfrm>
        <a:off x="5416932" y="142951"/>
        <a:ext cx="4751651" cy="964773"/>
      </dsp:txXfrm>
    </dsp:sp>
    <dsp:sp modelId="{A7261C66-2041-4A51-AA05-B92BA4175F6B}">
      <dsp:nvSpPr>
        <dsp:cNvPr id="0" name=""/>
        <dsp:cNvSpPr/>
      </dsp:nvSpPr>
      <dsp:spPr>
        <a:xfrm>
          <a:off x="5416932" y="1107725"/>
          <a:ext cx="4751651" cy="3068909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/>
            <a:t>Economia de tempo</a:t>
          </a:r>
          <a:endParaRPr lang="pt-BR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/>
            <a:t>Conteúdo mais relevante</a:t>
          </a:r>
          <a:endParaRPr lang="pt-BR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 dirty="0"/>
            <a:t>Experiência personalizada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 dirty="0"/>
            <a:t>Sugestões atualizadas e surpreendentes</a:t>
          </a:r>
        </a:p>
      </dsp:txBody>
      <dsp:txXfrm>
        <a:off x="5416932" y="1107725"/>
        <a:ext cx="4751651" cy="3068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Alvin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Toffler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foi um escritor e futurista norte-americano, doutorado em Letras, Leis e Ciência, conhecido pelos seus escritos sobre a revolução digital, a revolução das comunicações e a singularidade tecnológica (faleceu em 2016)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54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 marL="11430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 aos sistemas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Definir o conceito de sistemas de recomendação e identificar os problemas centrais que eles visam mitigar, como a sobrecarga de informação e o paradoxo da escolha</a:t>
            </a:r>
          </a:p>
          <a:p>
            <a:r>
              <a:rPr lang="pt-BR" sz="2700" dirty="0"/>
              <a:t>Explicar a função dos sistemas de recomendação como filtros inteligentes que priorizam a relevância e conectam usuários a itens de interesse</a:t>
            </a:r>
          </a:p>
          <a:p>
            <a:r>
              <a:rPr lang="pt-BR" sz="2700" dirty="0"/>
              <a:t>Reconhecer as diversas aplicações práticas dos sistemas de recomendação em setores estratégicos, como e-commerce, serviços de streaming e redes sociais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CFF3C1-B01A-A23D-F592-E2AF8702C4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Vivemos em um mundo de abundância digital</a:t>
            </a:r>
          </a:p>
          <a:p>
            <a:pPr lvl="1"/>
            <a:r>
              <a:rPr lang="pt-BR" dirty="0"/>
              <a:t>Mais de 2.5 quintilhões de bytes gerados </a:t>
            </a:r>
            <a:r>
              <a:rPr lang="pt-BR" u="sng" dirty="0"/>
              <a:t>diariamente</a:t>
            </a:r>
          </a:p>
          <a:p>
            <a:pPr lvl="2"/>
            <a:r>
              <a:rPr lang="pt-BR" dirty="0"/>
              <a:t>Isso é um número com 18 zeros!</a:t>
            </a:r>
          </a:p>
          <a:p>
            <a:pPr lvl="2"/>
            <a:r>
              <a:rPr lang="pt-BR" dirty="0"/>
              <a:t>Existem 7.5 quintilhões de grãos de areia em todas as praias do mundo</a:t>
            </a:r>
          </a:p>
          <a:p>
            <a:r>
              <a:rPr lang="pt-BR" dirty="0"/>
              <a:t>Crescimento exponencial de dados e também de </a:t>
            </a:r>
            <a:r>
              <a:rPr lang="pt-BR" b="1" dirty="0"/>
              <a:t>opções</a:t>
            </a:r>
          </a:p>
          <a:p>
            <a:pPr lvl="1"/>
            <a:r>
              <a:rPr lang="pt-BR" dirty="0"/>
              <a:t>Milhões de produtos em </a:t>
            </a:r>
            <a:r>
              <a:rPr lang="pt-BR" i="1" dirty="0"/>
              <a:t>e-</a:t>
            </a:r>
            <a:r>
              <a:rPr lang="pt-BR" i="1" dirty="0" err="1"/>
              <a:t>commerces</a:t>
            </a:r>
            <a:endParaRPr lang="pt-BR" i="1" dirty="0"/>
          </a:p>
          <a:p>
            <a:pPr lvl="1"/>
            <a:r>
              <a:rPr lang="pt-BR" dirty="0"/>
              <a:t>Catálogos extensos de filmes, músicas e cursos</a:t>
            </a:r>
          </a:p>
          <a:p>
            <a:pPr lvl="1"/>
            <a:r>
              <a:rPr lang="pt-BR" dirty="0"/>
              <a:t>Quantidade enorme de notícias e canais de informação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18ECF2A-73C7-4151-2F36-87455AA6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 problema da sobrecarga de informação</a:t>
            </a:r>
          </a:p>
        </p:txBody>
      </p:sp>
    </p:spTree>
    <p:extLst>
      <p:ext uri="{BB962C8B-B14F-4D97-AF65-F5344CB8AC3E}">
        <p14:creationId xmlns:p14="http://schemas.microsoft.com/office/powerpoint/2010/main" val="335647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9C32E6B-66D3-5EEA-4997-82D644810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272821" y="301083"/>
            <a:ext cx="5646358" cy="20852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bIns="72000" rtlCol="0" anchor="ctr"/>
          <a:lstStyle/>
          <a:p>
            <a:pPr algn="ctr">
              <a:spcAft>
                <a:spcPts val="600"/>
              </a:spcAft>
            </a:pPr>
            <a:r>
              <a:rPr lang="pt-BR" sz="2800" dirty="0"/>
              <a:t>Escolher entre milhares de produtos, filmes ou notícias gera a </a:t>
            </a:r>
            <a:br>
              <a:rPr lang="pt-BR" sz="2800" dirty="0"/>
            </a:br>
            <a:r>
              <a:rPr lang="pt-BR" sz="3600" b="1" dirty="0">
                <a:solidFill>
                  <a:srgbClr val="FFC000"/>
                </a:solidFill>
              </a:rPr>
              <a:t>paralisia da escolha</a:t>
            </a:r>
            <a:endParaRPr lang="pt-BR" sz="2600" b="1" dirty="0">
              <a:solidFill>
                <a:srgbClr val="FFC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3D676E-7711-FD03-0977-AA7978BAC2A0}"/>
              </a:ext>
            </a:extLst>
          </p:cNvPr>
          <p:cNvSpPr txBox="1"/>
          <p:nvPr/>
        </p:nvSpPr>
        <p:spPr>
          <a:xfrm>
            <a:off x="81529" y="644346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0798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0372776-A196-DE5A-E229-5E80E074D4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7"/>
            <a:ext cx="11071225" cy="444465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</a:t>
            </a:r>
            <a:r>
              <a:rPr lang="pt-BR" b="1" dirty="0">
                <a:solidFill>
                  <a:srgbClr val="0070C0"/>
                </a:solidFill>
              </a:rPr>
              <a:t>paradoxo da escolha </a:t>
            </a:r>
            <a:r>
              <a:rPr lang="pt-BR" dirty="0"/>
              <a:t>foi popularizado pelo psicólogo Barry Schwartz em seu livro </a:t>
            </a:r>
            <a:r>
              <a:rPr lang="pt-BR" i="1" dirty="0"/>
              <a:t>The </a:t>
            </a:r>
            <a:r>
              <a:rPr lang="pt-BR" i="1" dirty="0" err="1"/>
              <a:t>Paradox</a:t>
            </a:r>
            <a:r>
              <a:rPr lang="pt-BR" i="1" dirty="0"/>
              <a:t> </a:t>
            </a:r>
            <a:r>
              <a:rPr lang="pt-BR" i="1" dirty="0" err="1"/>
              <a:t>of</a:t>
            </a:r>
            <a:r>
              <a:rPr lang="pt-BR" i="1" dirty="0"/>
              <a:t> </a:t>
            </a:r>
            <a:r>
              <a:rPr lang="pt-BR" i="1" dirty="0" err="1"/>
              <a:t>Choice</a:t>
            </a:r>
            <a:endParaRPr lang="pt-BR" i="1" dirty="0"/>
          </a:p>
          <a:p>
            <a:pPr lvl="1"/>
            <a:r>
              <a:rPr lang="pt-BR" i="1" dirty="0"/>
              <a:t>Quanto maior o número de opções disponíveis, mais difícil se torna escolher — e menor tende a ser a satisfação com a escolha feita</a:t>
            </a:r>
          </a:p>
          <a:p>
            <a:r>
              <a:rPr lang="pt-BR" dirty="0"/>
              <a:t>Ou seja, </a:t>
            </a:r>
            <a:r>
              <a:rPr lang="pt-BR" b="1" dirty="0"/>
              <a:t>mais opções ≠ decisões melhores</a:t>
            </a:r>
          </a:p>
          <a:p>
            <a:r>
              <a:rPr lang="pt-BR" dirty="0"/>
              <a:t>Um usuário pode desistir de um serviço ou produto, se não encontrar rapidamente o que procura</a:t>
            </a:r>
          </a:p>
          <a:p>
            <a:pPr lvl="1"/>
            <a:r>
              <a:rPr lang="pt-BR" dirty="0"/>
              <a:t>O problema não é a sobrecarga de opções e sim a ausência de </a:t>
            </a:r>
            <a:r>
              <a:rPr lang="pt-BR" b="1" dirty="0"/>
              <a:t>filtros inteligentes </a:t>
            </a:r>
            <a:r>
              <a:rPr lang="pt-BR" dirty="0"/>
              <a:t>priorizando a relevância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A19D86-812C-2C7F-376E-7C205C665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Paradoxo da Escolha</a:t>
            </a:r>
          </a:p>
        </p:txBody>
      </p:sp>
    </p:spTree>
    <p:extLst>
      <p:ext uri="{BB962C8B-B14F-4D97-AF65-F5344CB8AC3E}">
        <p14:creationId xmlns:p14="http://schemas.microsoft.com/office/powerpoint/2010/main" val="76783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685007-56B2-8F84-150C-55835E7C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99B36AB-01CE-E548-4714-BF7D3FBB3930}"/>
              </a:ext>
            </a:extLst>
          </p:cNvPr>
          <p:cNvSpPr txBox="1"/>
          <p:nvPr/>
        </p:nvSpPr>
        <p:spPr>
          <a:xfrm>
            <a:off x="3576000" y="6068125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31743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BBE16CC-C57B-F09A-0CEE-422747E7B51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Para endereçar o problema de filtro de informação relevante para um usuário, surgem os </a:t>
            </a:r>
            <a:r>
              <a:rPr lang="pt-BR" b="1" dirty="0">
                <a:solidFill>
                  <a:srgbClr val="0070C0"/>
                </a:solidFill>
              </a:rPr>
              <a:t>sistemas de recomendação</a:t>
            </a:r>
          </a:p>
          <a:p>
            <a:r>
              <a:rPr lang="pt-BR" dirty="0"/>
              <a:t>Definição informal</a:t>
            </a:r>
          </a:p>
          <a:p>
            <a:pPr lvl="1"/>
            <a:r>
              <a:rPr lang="pt-BR" dirty="0"/>
              <a:t>Subclasse de </a:t>
            </a:r>
            <a:r>
              <a:rPr lang="pt-BR" b="1" dirty="0"/>
              <a:t>sistemas de filtragem de informação </a:t>
            </a:r>
            <a:r>
              <a:rPr lang="pt-BR" dirty="0"/>
              <a:t>que busca prever a "preferência" ou "classificação", que um usuário daria a um item</a:t>
            </a:r>
          </a:p>
          <a:p>
            <a:r>
              <a:rPr lang="pt-BR" dirty="0"/>
              <a:t>Objetivo</a:t>
            </a:r>
          </a:p>
          <a:p>
            <a:pPr lvl="1"/>
            <a:r>
              <a:rPr lang="pt-BR" dirty="0"/>
              <a:t>Conectar o usuário certo ao item certo, no momento certo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8C4AE10-3A13-8587-B432-34E85111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224604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343879B-09E7-8964-95D0-816CA98D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74221BE-7E06-CDB3-EA72-16B1CE96022A}"/>
              </a:ext>
            </a:extLst>
          </p:cNvPr>
          <p:cNvSpPr txBox="1"/>
          <p:nvPr/>
        </p:nvSpPr>
        <p:spPr>
          <a:xfrm>
            <a:off x="3576000" y="6068125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69536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999E20C-6383-83F0-16B3-6C4BE068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C1A295E-AA47-0072-8F24-667DC4785BF6}"/>
              </a:ext>
            </a:extLst>
          </p:cNvPr>
          <p:cNvSpPr txBox="1"/>
          <p:nvPr/>
        </p:nvSpPr>
        <p:spPr>
          <a:xfrm>
            <a:off x="3575999" y="6402662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64925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B89DE1-2CDD-71D5-48F8-9274B8493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74221BE-7E06-CDB3-EA72-16B1CE96022A}"/>
              </a:ext>
            </a:extLst>
          </p:cNvPr>
          <p:cNvSpPr txBox="1"/>
          <p:nvPr/>
        </p:nvSpPr>
        <p:spPr>
          <a:xfrm>
            <a:off x="3575999" y="6402662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24260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6732366-5288-D5C0-8BA7-B4E7B45143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Personalização em escala</a:t>
            </a:r>
          </a:p>
          <a:p>
            <a:pPr lvl="1"/>
            <a:r>
              <a:rPr lang="pt-BR" dirty="0"/>
              <a:t>Atendimento individualizado para milhões de usuários simultaneamente</a:t>
            </a:r>
          </a:p>
          <a:p>
            <a:r>
              <a:rPr lang="pt-BR" dirty="0"/>
              <a:t>Diferencial competitivo</a:t>
            </a:r>
          </a:p>
          <a:p>
            <a:pPr lvl="1"/>
            <a:r>
              <a:rPr lang="pt-BR" dirty="0"/>
              <a:t>Empresas líderes (Netflix, </a:t>
            </a:r>
            <a:r>
              <a:rPr lang="pt-BR" dirty="0" err="1"/>
              <a:t>Amazon</a:t>
            </a:r>
            <a:r>
              <a:rPr lang="pt-BR" dirty="0"/>
              <a:t>, TikTok) têm os sistemas de recomendação como o núcleo de seu modelo de negócio</a:t>
            </a:r>
          </a:p>
          <a:p>
            <a:r>
              <a:rPr lang="pt-BR" dirty="0"/>
              <a:t>Recomendação é um dos principais motores da experiência digital moderna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851FDD-3D48-32FF-8C28-F6D8F10A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</p:spTree>
    <p:extLst>
      <p:ext uri="{BB962C8B-B14F-4D97-AF65-F5344CB8AC3E}">
        <p14:creationId xmlns:p14="http://schemas.microsoft.com/office/powerpoint/2010/main" val="3828204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2650831B-C7A9-41FB-C0E7-F2701B9687E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105514630"/>
              </p:ext>
            </p:extLst>
          </p:nvPr>
        </p:nvGraphicFramePr>
        <p:xfrm>
          <a:off x="1011683" y="1855788"/>
          <a:ext cx="10168634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19851FDD-3D48-32FF-8C28-F6D8F10A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</p:spTree>
    <p:extLst>
      <p:ext uri="{BB962C8B-B14F-4D97-AF65-F5344CB8AC3E}">
        <p14:creationId xmlns:p14="http://schemas.microsoft.com/office/powerpoint/2010/main" val="3248875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3C4BEC-4CF5-6913-63A4-35B10919F3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Explorando a "Cauda Longa" (</a:t>
            </a:r>
            <a:r>
              <a:rPr lang="pt-BR" i="1" dirty="0"/>
              <a:t>The </a:t>
            </a:r>
            <a:r>
              <a:rPr lang="pt-BR" i="1" dirty="0" err="1"/>
              <a:t>Long</a:t>
            </a:r>
            <a:r>
              <a:rPr lang="pt-BR" i="1" dirty="0"/>
              <a:t> </a:t>
            </a:r>
            <a:r>
              <a:rPr lang="pt-BR" i="1" dirty="0" err="1"/>
              <a:t>Tail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Diferente do varejo físico, o digital permite vender itens de nicho</a:t>
            </a:r>
          </a:p>
          <a:p>
            <a:endParaRPr lang="pt-BR" dirty="0"/>
          </a:p>
          <a:p>
            <a:r>
              <a:rPr lang="pt-BR" dirty="0"/>
              <a:t>Papel dos sistemas de recomendação (</a:t>
            </a:r>
            <a:r>
              <a:rPr lang="pt-BR" dirty="0" err="1"/>
              <a:t>RecSys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Levar o usuário além dos "hits" (mais populares) e descobrir itens específicos que ele vai amar, mas nunca encontraria sozinho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 “Cauda Longa”</a:t>
            </a:r>
          </a:p>
        </p:txBody>
      </p:sp>
    </p:spTree>
    <p:extLst>
      <p:ext uri="{BB962C8B-B14F-4D97-AF65-F5344CB8AC3E}">
        <p14:creationId xmlns:p14="http://schemas.microsoft.com/office/powerpoint/2010/main" val="64842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“Cauda Longa”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4065A4-B99F-F08A-0631-94301F19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5"/>
          <a:stretch/>
        </p:blipFill>
        <p:spPr>
          <a:xfrm>
            <a:off x="1219200" y="1393905"/>
            <a:ext cx="9753600" cy="483114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ACD08A9-FD0B-2EAF-7923-045D31BB22DD}"/>
              </a:ext>
            </a:extLst>
          </p:cNvPr>
          <p:cNvSpPr txBox="1"/>
          <p:nvPr/>
        </p:nvSpPr>
        <p:spPr>
          <a:xfrm>
            <a:off x="3576000" y="6225054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83114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sz="quarter" idx="11"/>
          </p:nvPr>
        </p:nvSpPr>
        <p:spPr>
          <a:xfrm>
            <a:off x="547688" y="2118732"/>
            <a:ext cx="6187649" cy="4057056"/>
          </a:xfrm>
        </p:spPr>
        <p:txBody>
          <a:bodyPr/>
          <a:lstStyle/>
          <a:p>
            <a:r>
              <a:rPr lang="en-US" dirty="0"/>
              <a:t>Chris Anderson no </a:t>
            </a:r>
            <a:r>
              <a:rPr lang="en-US" dirty="0" err="1"/>
              <a:t>livro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“A Cauda Longa”</a:t>
            </a:r>
          </a:p>
          <a:p>
            <a:pPr lvl="1"/>
            <a:r>
              <a:rPr lang="en-US" i="1" dirty="0"/>
              <a:t>“</a:t>
            </a:r>
            <a:r>
              <a:rPr lang="pt-BR" i="1" dirty="0"/>
              <a:t>Estamos deixando a era da informação e entrando na era </a:t>
            </a:r>
            <a:br>
              <a:rPr lang="pt-BR" i="1" dirty="0"/>
            </a:br>
            <a:r>
              <a:rPr lang="pt-BR" i="1" dirty="0"/>
              <a:t>da </a:t>
            </a:r>
            <a:r>
              <a:rPr lang="pt-BR" sz="4000" b="1" i="1" dirty="0"/>
              <a:t>recomendação</a:t>
            </a:r>
            <a:r>
              <a:rPr lang="pt-BR" i="1" dirty="0"/>
              <a:t>”</a:t>
            </a:r>
            <a:endParaRPr lang="pt-BR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Era da Recomendação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5BA3418-9662-5C82-8381-94FC14AEA4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EE"/>
              </a:clrFrom>
              <a:clrTo>
                <a:srgbClr val="FAFA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39427" y="2223778"/>
            <a:ext cx="4913812" cy="296076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E6FECC8-2B8E-708C-456F-23A5EBC5AD80}"/>
              </a:ext>
            </a:extLst>
          </p:cNvPr>
          <p:cNvSpPr txBox="1"/>
          <p:nvPr/>
        </p:nvSpPr>
        <p:spPr>
          <a:xfrm>
            <a:off x="6176333" y="5289588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66048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6"/>
          <p:cNvSpPr txBox="1">
            <a:spLocks/>
          </p:cNvSpPr>
          <p:nvPr/>
        </p:nvSpPr>
        <p:spPr>
          <a:xfrm>
            <a:off x="2383644" y="5219058"/>
            <a:ext cx="2088232" cy="730222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390323" indent="-390323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36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700" indent="-325269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8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01077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150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77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234193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77" kern="1200">
                <a:solidFill>
                  <a:srgbClr val="0D2E47"/>
                </a:solidFill>
                <a:latin typeface="+mn-lt"/>
                <a:ea typeface="+mn-ea"/>
                <a:cs typeface="+mn-cs"/>
              </a:defRPr>
            </a:lvl5pPr>
            <a:lvl6pPr marL="2862369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2800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0323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66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4000" b="1" dirty="0">
                <a:solidFill>
                  <a:schemeClr val="bg1"/>
                </a:solidFill>
              </a:rPr>
              <a:t>RECEITA</a:t>
            </a:r>
            <a:endParaRPr lang="pt-BR" sz="4000" b="1" i="1" dirty="0">
              <a:solidFill>
                <a:schemeClr val="bg1"/>
              </a:solidFill>
            </a:endParaRPr>
          </a:p>
        </p:txBody>
      </p:sp>
      <p:sp>
        <p:nvSpPr>
          <p:cNvPr id="7" name="Espaço Reservado para Conteúdo 6"/>
          <p:cNvSpPr txBox="1">
            <a:spLocks/>
          </p:cNvSpPr>
          <p:nvPr/>
        </p:nvSpPr>
        <p:spPr>
          <a:xfrm>
            <a:off x="6600056" y="5219058"/>
            <a:ext cx="4176464" cy="730222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390323" indent="-390323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36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700" indent="-325269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8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01077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150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77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234193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77" kern="1200">
                <a:solidFill>
                  <a:srgbClr val="0D2E47"/>
                </a:solidFill>
                <a:latin typeface="+mn-lt"/>
                <a:ea typeface="+mn-ea"/>
                <a:cs typeface="+mn-cs"/>
              </a:defRPr>
            </a:lvl5pPr>
            <a:lvl6pPr marL="2862369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2800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0323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66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4000" b="1" dirty="0">
                <a:solidFill>
                  <a:schemeClr val="bg1"/>
                </a:solidFill>
              </a:rPr>
              <a:t>PERSONALIZAÇÃO</a:t>
            </a:r>
            <a:endParaRPr lang="pt-BR" sz="4000" b="1" i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4639A9-C044-A1BB-85A4-3D132009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C1CE39F-54E7-A236-598E-5770A0244D6C}"/>
              </a:ext>
            </a:extLst>
          </p:cNvPr>
          <p:cNvSpPr txBox="1"/>
          <p:nvPr/>
        </p:nvSpPr>
        <p:spPr>
          <a:xfrm>
            <a:off x="3576000" y="6146992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760501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6"/>
          <p:cNvSpPr txBox="1">
            <a:spLocks/>
          </p:cNvSpPr>
          <p:nvPr/>
        </p:nvSpPr>
        <p:spPr>
          <a:xfrm>
            <a:off x="2383644" y="5219058"/>
            <a:ext cx="2088232" cy="730222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390323" indent="-390323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36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700" indent="-325269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8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01077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150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77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234193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77" kern="1200">
                <a:solidFill>
                  <a:srgbClr val="0D2E47"/>
                </a:solidFill>
                <a:latin typeface="+mn-lt"/>
                <a:ea typeface="+mn-ea"/>
                <a:cs typeface="+mn-cs"/>
              </a:defRPr>
            </a:lvl5pPr>
            <a:lvl6pPr marL="2862369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2800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0323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66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4000" b="1" dirty="0">
                <a:solidFill>
                  <a:schemeClr val="bg1"/>
                </a:solidFill>
              </a:rPr>
              <a:t>RECEITA</a:t>
            </a:r>
            <a:endParaRPr lang="pt-BR" sz="4000" b="1" i="1" dirty="0">
              <a:solidFill>
                <a:schemeClr val="bg1"/>
              </a:solidFill>
            </a:endParaRPr>
          </a:p>
        </p:txBody>
      </p:sp>
      <p:sp>
        <p:nvSpPr>
          <p:cNvPr id="7" name="Espaço Reservado para Conteúdo 6"/>
          <p:cNvSpPr txBox="1">
            <a:spLocks/>
          </p:cNvSpPr>
          <p:nvPr/>
        </p:nvSpPr>
        <p:spPr>
          <a:xfrm>
            <a:off x="6600056" y="5219058"/>
            <a:ext cx="4176464" cy="730222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390323" indent="-390323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36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700" indent="-325269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8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01077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150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77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2341938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77" kern="1200">
                <a:solidFill>
                  <a:srgbClr val="0D2E47"/>
                </a:solidFill>
                <a:latin typeface="+mn-lt"/>
                <a:ea typeface="+mn-ea"/>
                <a:cs typeface="+mn-cs"/>
              </a:defRPr>
            </a:lvl5pPr>
            <a:lvl6pPr marL="2862369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2800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0323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66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4000" b="1" dirty="0">
                <a:solidFill>
                  <a:schemeClr val="bg1"/>
                </a:solidFill>
              </a:rPr>
              <a:t>PERSONALIZAÇÃO</a:t>
            </a:r>
            <a:endParaRPr lang="pt-BR" sz="4000" b="1" i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68A872-A728-76CE-5178-AA48DBCECB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35% das vendas da </a:t>
            </a:r>
            <a:r>
              <a:rPr lang="pt-BR" dirty="0" err="1"/>
              <a:t>Amazon</a:t>
            </a:r>
            <a:r>
              <a:rPr lang="pt-BR" dirty="0"/>
              <a:t> vêm de recomendações</a:t>
            </a:r>
          </a:p>
          <a:p>
            <a:r>
              <a:rPr lang="pt-BR" dirty="0"/>
              <a:t>75% do conteúdo assistido na Netflix é recomendado</a:t>
            </a:r>
          </a:p>
          <a:p>
            <a:r>
              <a:rPr lang="pt-BR" dirty="0"/>
              <a:t>60% dos vídeos assistidos no YouTube vêm de recomendações</a:t>
            </a:r>
          </a:p>
          <a:p>
            <a:endParaRPr lang="pt-BR" dirty="0"/>
          </a:p>
          <a:p>
            <a:r>
              <a:rPr lang="pt-BR" dirty="0"/>
              <a:t>Aumento significativo em tempo de permanência e conversão</a:t>
            </a:r>
          </a:p>
          <a:p>
            <a:pPr lvl="1"/>
            <a:r>
              <a:rPr lang="pt-BR" dirty="0"/>
              <a:t>↑ Receita      ↑ Tempo de permanência      ↓ Taxa de abandono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6A2FB3-86CB-CD8E-3D96-EF4D0542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Impacto nos negócios digitais</a:t>
            </a:r>
          </a:p>
        </p:txBody>
      </p:sp>
    </p:spTree>
    <p:extLst>
      <p:ext uri="{BB962C8B-B14F-4D97-AF65-F5344CB8AC3E}">
        <p14:creationId xmlns:p14="http://schemas.microsoft.com/office/powerpoint/2010/main" val="3408271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4BE5004-9B82-2CF2-EE28-F79176E22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596534E-6D48-2027-7A85-C5C6EC1FFC86}"/>
              </a:ext>
            </a:extLst>
          </p:cNvPr>
          <p:cNvSpPr txBox="1"/>
          <p:nvPr/>
        </p:nvSpPr>
        <p:spPr>
          <a:xfrm>
            <a:off x="3575999" y="6402662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333076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5040001" cy="4320000"/>
          </a:xfrm>
        </p:spPr>
        <p:txBody>
          <a:bodyPr>
            <a:normAutofit fontScale="92500"/>
          </a:bodyPr>
          <a:lstStyle/>
          <a:p>
            <a:r>
              <a:rPr lang="pt-BR" sz="2800" dirty="0"/>
              <a:t>Netflix promoveu um concurso para a melhoria do seu algoritmo de recomendação em 2006</a:t>
            </a:r>
          </a:p>
          <a:p>
            <a:pPr lvl="1"/>
            <a:r>
              <a:rPr lang="pt-BR" sz="2400" dirty="0"/>
              <a:t>41 mil equipes</a:t>
            </a:r>
          </a:p>
          <a:p>
            <a:pPr lvl="1"/>
            <a:r>
              <a:rPr lang="pt-BR" sz="2400" dirty="0"/>
              <a:t>186 países</a:t>
            </a:r>
          </a:p>
          <a:p>
            <a:r>
              <a:rPr lang="pt-BR" sz="2800" dirty="0"/>
              <a:t>Prêmio de USD 1M</a:t>
            </a:r>
          </a:p>
          <a:p>
            <a:r>
              <a:rPr lang="pt-BR" sz="2800" dirty="0"/>
              <a:t>10% de ganhos</a:t>
            </a:r>
          </a:p>
          <a:p>
            <a:pPr lvl="1"/>
            <a:r>
              <a:rPr lang="pt-BR" sz="2400" dirty="0" err="1"/>
              <a:t>BellKor’s</a:t>
            </a:r>
            <a:r>
              <a:rPr lang="pt-BR" sz="2400" dirty="0"/>
              <a:t> </a:t>
            </a:r>
            <a:r>
              <a:rPr lang="pt-BR" sz="2400" dirty="0" err="1"/>
              <a:t>Pragmatic</a:t>
            </a:r>
            <a:r>
              <a:rPr lang="pt-BR" sz="2400" dirty="0"/>
              <a:t> </a:t>
            </a:r>
            <a:r>
              <a:rPr lang="pt-BR" sz="2400" dirty="0" err="1"/>
              <a:t>Chaos</a:t>
            </a:r>
            <a:r>
              <a:rPr lang="pt-BR" sz="2400" dirty="0"/>
              <a:t> reduziu em 10% o erro médio das recomendações</a:t>
            </a:r>
            <a:endParaRPr lang="pt-BR" sz="1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Netflix</a:t>
            </a:r>
            <a:r>
              <a:rPr lang="pt-BR" dirty="0"/>
              <a:t> </a:t>
            </a:r>
            <a:r>
              <a:rPr lang="pt-BR" dirty="0" err="1"/>
              <a:t>Prize</a:t>
            </a:r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8DA0D36-A486-4C80-5353-5A3B7D502E9D}"/>
              </a:ext>
            </a:extLst>
          </p:cNvPr>
          <p:cNvGrpSpPr/>
          <p:nvPr/>
        </p:nvGrpSpPr>
        <p:grpSpPr>
          <a:xfrm>
            <a:off x="5730565" y="1924044"/>
            <a:ext cx="5662264" cy="3793129"/>
            <a:chOff x="5641355" y="1855788"/>
            <a:chExt cx="5662264" cy="3793129"/>
          </a:xfrm>
        </p:grpSpPr>
        <p:pic>
          <p:nvPicPr>
            <p:cNvPr id="13314" name="Picture 2" descr="Netflix Never Used Its $1 Million Algorithm Due To Engineering Costs | WIRED">
              <a:extLst>
                <a:ext uri="{FF2B5EF4-FFF2-40B4-BE49-F238E27FC236}">
                  <a16:creationId xmlns:a16="http://schemas.microsoft.com/office/drawing/2014/main" id="{7312203B-E4FC-1789-255F-7C6409F3C9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355" y="1855788"/>
              <a:ext cx="5662264" cy="2965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94F60AD4-72ED-C56E-84D9-497E16106FF7}"/>
                </a:ext>
              </a:extLst>
            </p:cNvPr>
            <p:cNvSpPr txBox="1"/>
            <p:nvPr/>
          </p:nvSpPr>
          <p:spPr>
            <a:xfrm>
              <a:off x="5952487" y="4910253"/>
              <a:ext cx="50400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1">
                      <a:lumMod val="50000"/>
                    </a:schemeClr>
                  </a:solidFill>
                </a:rPr>
                <a:t>Fonte: imagem disponível em https://www.wired.com/2012/04/netflix-prize-costs/</a:t>
              </a:r>
            </a:p>
            <a:p>
              <a:pPr algn="ctr"/>
              <a:r>
                <a:rPr lang="pt-BR" sz="1400" dirty="0">
                  <a:solidFill>
                    <a:schemeClr val="bg1">
                      <a:lumMod val="50000"/>
                    </a:schemeClr>
                  </a:solidFill>
                </a:rPr>
                <a:t>Acesso em: 15 jan. 2026.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244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2996952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4340" name="Picture 4" descr="3 formas de gerenciar seus usuário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7728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ivros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2930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2999656" y="2708920"/>
            <a:ext cx="2016224" cy="50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2963572" y="4149080"/>
            <a:ext cx="198030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7728" y="216965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usuários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468993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itens</a:t>
            </a:r>
          </a:p>
        </p:txBody>
      </p:sp>
      <p:pic>
        <p:nvPicPr>
          <p:cNvPr id="14346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24439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21281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9816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de Seta Reta 12"/>
          <p:cNvCxnSpPr/>
          <p:nvPr/>
        </p:nvCxnSpPr>
        <p:spPr>
          <a:xfrm flipV="1">
            <a:off x="7320136" y="3572816"/>
            <a:ext cx="2160240" cy="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510076" y="3741090"/>
            <a:ext cx="1780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Ranking de itens </a:t>
            </a:r>
            <a:br>
              <a:rPr lang="pt-BR" dirty="0"/>
            </a:br>
            <a:r>
              <a:rPr lang="pt-BR" dirty="0"/>
              <a:t>recomendados</a:t>
            </a:r>
            <a:br>
              <a:rPr lang="pt-BR" dirty="0"/>
            </a:br>
            <a:r>
              <a:rPr lang="pt-BR" dirty="0"/>
              <a:t>para um usuário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0560496" y="25196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0.985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560495" y="33137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0.921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560495" y="41084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0.852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03912" y="4385873"/>
            <a:ext cx="14396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</a:rPr>
              <a:t>Comportamento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Relações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Similaridade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Contexto</a:t>
            </a:r>
          </a:p>
          <a:p>
            <a:pPr algn="ctr"/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0B70CD-2BB9-2B0A-3B5A-FB25780296E6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67079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1083855" y="1922696"/>
            <a:ext cx="10024289" cy="379788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endParaRPr lang="pt-BR" sz="1200" dirty="0"/>
          </a:p>
          <a:p>
            <a:pPr marL="0" indent="0" algn="r">
              <a:buNone/>
            </a:pPr>
            <a:r>
              <a:rPr lang="pt-BR" sz="3600" dirty="0"/>
              <a:t>“A</a:t>
            </a:r>
            <a:r>
              <a:rPr lang="pt-BR" sz="3600" i="1" dirty="0"/>
              <a:t>plicações que auxiliam </a:t>
            </a:r>
            <a:r>
              <a:rPr lang="pt-BR" sz="3600" b="1" i="1" dirty="0"/>
              <a:t>usuários</a:t>
            </a:r>
            <a:br>
              <a:rPr lang="pt-BR" sz="3600" b="1" i="1" dirty="0"/>
            </a:br>
            <a:r>
              <a:rPr lang="pt-BR" sz="3600" i="1" dirty="0"/>
              <a:t> na interação com </a:t>
            </a:r>
            <a:r>
              <a:rPr lang="pt-BR" sz="3600" b="1" i="1" dirty="0"/>
              <a:t>grandes espaços de informação</a:t>
            </a:r>
            <a:r>
              <a:rPr lang="pt-BR" sz="3600" i="1" dirty="0"/>
              <a:t>, recomendando </a:t>
            </a:r>
            <a:r>
              <a:rPr lang="pt-BR" sz="3600" b="1" i="1" dirty="0"/>
              <a:t>itens de interesse</a:t>
            </a:r>
            <a:r>
              <a:rPr lang="pt-BR" sz="3600" i="1" dirty="0"/>
              <a:t> com base em </a:t>
            </a:r>
            <a:r>
              <a:rPr lang="pt-BR" sz="3600" b="1" i="1" dirty="0"/>
              <a:t>preferências</a:t>
            </a:r>
            <a:r>
              <a:rPr lang="pt-BR" sz="3600" i="1" dirty="0"/>
              <a:t> expressas de explícita ou implicitamente</a:t>
            </a:r>
            <a:r>
              <a:rPr lang="pt-BR" sz="3600" dirty="0"/>
              <a:t>.”</a:t>
            </a:r>
          </a:p>
          <a:p>
            <a:pPr marL="0" indent="0" algn="r">
              <a:spcBef>
                <a:spcPts val="1800"/>
              </a:spcBef>
              <a:buNone/>
            </a:pPr>
            <a:r>
              <a:rPr lang="pt-BR" sz="2800" dirty="0"/>
              <a:t>ACM </a:t>
            </a:r>
            <a:r>
              <a:rPr lang="pt-BR" sz="2800" dirty="0" err="1"/>
              <a:t>RecSys</a:t>
            </a: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379726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5128283" cy="4319587"/>
          </a:xfrm>
        </p:spPr>
        <p:txBody>
          <a:bodyPr>
            <a:normAutofit/>
          </a:bodyPr>
          <a:lstStyle/>
          <a:p>
            <a:r>
              <a:rPr lang="pt-BR" dirty="0"/>
              <a:t>Livros</a:t>
            </a:r>
          </a:p>
          <a:p>
            <a:r>
              <a:rPr lang="pt-BR" dirty="0"/>
              <a:t>Produtos</a:t>
            </a:r>
          </a:p>
          <a:p>
            <a:r>
              <a:rPr lang="pt-BR" dirty="0"/>
              <a:t>Filmes, vídeos online</a:t>
            </a:r>
          </a:p>
          <a:p>
            <a:r>
              <a:rPr lang="pt-BR" dirty="0"/>
              <a:t>Músicas</a:t>
            </a:r>
          </a:p>
          <a:p>
            <a:r>
              <a:rPr lang="pt-BR" dirty="0"/>
              <a:t>Softwares</a:t>
            </a:r>
          </a:p>
          <a:p>
            <a:r>
              <a:rPr lang="pt-BR" dirty="0"/>
              <a:t>Pessoas</a:t>
            </a:r>
          </a:p>
          <a:p>
            <a:r>
              <a:rPr lang="pt-BR" dirty="0"/>
              <a:t>...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675" y="817948"/>
            <a:ext cx="11296650" cy="646112"/>
          </a:xfrm>
        </p:spPr>
        <p:txBody>
          <a:bodyPr/>
          <a:lstStyle/>
          <a:p>
            <a:pPr algn="l"/>
            <a:r>
              <a:rPr lang="pt-BR" dirty="0"/>
              <a:t>Itens de interesse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E5D0878-4A99-E187-A7F7-103400B7CAB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705" t="8618" r="10108" b="8130"/>
          <a:stretch/>
        </p:blipFill>
        <p:spPr>
          <a:xfrm>
            <a:off x="5809786" y="574287"/>
            <a:ext cx="5430644" cy="570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09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7666</TotalTime>
  <Words>853</Words>
  <Application>Microsoft Office PowerPoint</Application>
  <PresentationFormat>Widescreen</PresentationFormat>
  <Paragraphs>110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23</vt:i4>
      </vt:variant>
    </vt:vector>
  </HeadingPairs>
  <TitlesOfParts>
    <vt:vector size="33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Introdução aos sistemas de recomendação</vt:lpstr>
      <vt:lpstr>Objetivos de Aprendizagem</vt:lpstr>
      <vt:lpstr>O problema da sobrecarga de informação</vt:lpstr>
      <vt:lpstr>Apresentação do PowerPoint</vt:lpstr>
      <vt:lpstr>Paradoxo da Escolha</vt:lpstr>
      <vt:lpstr>Apresentação do PowerPoint</vt:lpstr>
      <vt:lpstr>Sistemas de Recomendação</vt:lpstr>
      <vt:lpstr>Apresentação do PowerPoint</vt:lpstr>
      <vt:lpstr>Apresentação do PowerPoint</vt:lpstr>
      <vt:lpstr>Apresentação do PowerPoint</vt:lpstr>
      <vt:lpstr>Motivação</vt:lpstr>
      <vt:lpstr>Motivação</vt:lpstr>
      <vt:lpstr>A “Cauda Longa”</vt:lpstr>
      <vt:lpstr>A “Cauda Longa”</vt:lpstr>
      <vt:lpstr>A Era da Recomendação</vt:lpstr>
      <vt:lpstr>Apresentação do PowerPoint</vt:lpstr>
      <vt:lpstr>Impacto nos negócios digitais</vt:lpstr>
      <vt:lpstr>Apresentação do PowerPoint</vt:lpstr>
      <vt:lpstr>Netflix Prize</vt:lpstr>
      <vt:lpstr>Sistemas de Recomendação</vt:lpstr>
      <vt:lpstr>Sistemas de Recomendação</vt:lpstr>
      <vt:lpstr>Itens de interesse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180</cp:revision>
  <dcterms:created xsi:type="dcterms:W3CDTF">2025-06-11T21:44:24Z</dcterms:created>
  <dcterms:modified xsi:type="dcterms:W3CDTF">2026-01-18T13:21:18Z</dcterms:modified>
</cp:coreProperties>
</file>