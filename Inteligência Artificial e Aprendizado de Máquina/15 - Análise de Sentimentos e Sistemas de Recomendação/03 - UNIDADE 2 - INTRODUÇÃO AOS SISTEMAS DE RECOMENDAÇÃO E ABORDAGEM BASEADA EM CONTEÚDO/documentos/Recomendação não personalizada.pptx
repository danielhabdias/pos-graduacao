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5"/>
  </p:notesMasterIdLst>
  <p:sldIdLst>
    <p:sldId id="1173" r:id="rId5"/>
    <p:sldId id="297" r:id="rId6"/>
    <p:sldId id="1185" r:id="rId7"/>
    <p:sldId id="1190" r:id="rId8"/>
    <p:sldId id="368" r:id="rId9"/>
    <p:sldId id="347" r:id="rId10"/>
    <p:sldId id="1191" r:id="rId11"/>
    <p:sldId id="348" r:id="rId12"/>
    <p:sldId id="1189" r:id="rId13"/>
    <p:sldId id="653" r:id="rId14"/>
    <p:sldId id="1107" r:id="rId15"/>
    <p:sldId id="1182" r:id="rId16"/>
    <p:sldId id="1184" r:id="rId17"/>
    <p:sldId id="1183" r:id="rId18"/>
    <p:sldId id="1113" r:id="rId19"/>
    <p:sldId id="1119" r:id="rId20"/>
    <p:sldId id="372" r:id="rId21"/>
    <p:sldId id="1122" r:id="rId22"/>
    <p:sldId id="1105" r:id="rId23"/>
    <p:sldId id="264" r:id="rId24"/>
  </p:sldIdLst>
  <p:sldSz cx="12192000" cy="6858000"/>
  <p:notesSz cx="6858000" cy="9144000"/>
  <p:embeddedFontLst>
    <p:embeddedFont>
      <p:font typeface="Cronos Pro" panose="020C0502030403020304" charset="0"/>
      <p:regular r:id="rId26"/>
      <p:bold r:id="rId27"/>
      <p: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408" y="5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7D4A64-5BD6-4D66-BEF6-DAA109ECDE59}" type="doc">
      <dgm:prSet loTypeId="urn:microsoft.com/office/officeart/2005/8/layout/chevron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pt-BR"/>
        </a:p>
      </dgm:t>
    </dgm:pt>
    <dgm:pt modelId="{9F48D0FF-8741-4FBC-84E5-3A3B2022D750}">
      <dgm:prSet phldrT="[Texto]"/>
      <dgm:spPr/>
      <dgm:t>
        <a:bodyPr/>
        <a:lstStyle/>
        <a:p>
          <a:r>
            <a:rPr lang="pt-BR" dirty="0"/>
            <a:t>Encontrar os itens frequentes (</a:t>
          </a:r>
          <a:r>
            <a:rPr lang="pt-BR" b="1" dirty="0"/>
            <a:t>suporte</a:t>
          </a:r>
          <a:r>
            <a:rPr lang="pt-BR" dirty="0"/>
            <a:t> mínimo)</a:t>
          </a:r>
        </a:p>
      </dgm:t>
    </dgm:pt>
    <dgm:pt modelId="{A8120514-37F6-4595-BF4F-E2CB179EF4CD}" type="parTrans" cxnId="{BD422DF0-EDE6-490B-99BE-B30955D434BC}">
      <dgm:prSet/>
      <dgm:spPr/>
      <dgm:t>
        <a:bodyPr/>
        <a:lstStyle/>
        <a:p>
          <a:endParaRPr lang="pt-BR"/>
        </a:p>
      </dgm:t>
    </dgm:pt>
    <dgm:pt modelId="{D0AA71AA-50A8-4759-9E9A-CDD27DC8E1E9}" type="sibTrans" cxnId="{BD422DF0-EDE6-490B-99BE-B30955D434BC}">
      <dgm:prSet/>
      <dgm:spPr/>
      <dgm:t>
        <a:bodyPr/>
        <a:lstStyle/>
        <a:p>
          <a:endParaRPr lang="pt-BR"/>
        </a:p>
      </dgm:t>
    </dgm:pt>
    <dgm:pt modelId="{4B59F25B-066A-4624-813A-15DA4D7CA6BE}">
      <dgm:prSet phldrT="[Texto]"/>
      <dgm:spPr/>
      <dgm:t>
        <a:bodyPr/>
        <a:lstStyle/>
        <a:p>
          <a:r>
            <a:rPr lang="pt-BR" dirty="0"/>
            <a:t>Gerar regras candidatas para cada item</a:t>
          </a:r>
        </a:p>
      </dgm:t>
    </dgm:pt>
    <dgm:pt modelId="{13ADBBA4-FBAD-479E-AB02-02F8B0201935}" type="parTrans" cxnId="{DF6D8514-7B60-4EBB-AF38-9A06AA4BA5A6}">
      <dgm:prSet/>
      <dgm:spPr/>
      <dgm:t>
        <a:bodyPr/>
        <a:lstStyle/>
        <a:p>
          <a:endParaRPr lang="pt-BR"/>
        </a:p>
      </dgm:t>
    </dgm:pt>
    <dgm:pt modelId="{0E8ACD2C-0B87-4134-91D3-1FB567E4DD61}" type="sibTrans" cxnId="{DF6D8514-7B60-4EBB-AF38-9A06AA4BA5A6}">
      <dgm:prSet/>
      <dgm:spPr/>
      <dgm:t>
        <a:bodyPr/>
        <a:lstStyle/>
        <a:p>
          <a:endParaRPr lang="pt-BR"/>
        </a:p>
      </dgm:t>
    </dgm:pt>
    <dgm:pt modelId="{629DFBFF-7B6A-40B3-AE12-6EA4436E439D}">
      <dgm:prSet phldrT="[Texto]"/>
      <dgm:spPr/>
      <dgm:t>
        <a:bodyPr/>
        <a:lstStyle/>
        <a:p>
          <a:r>
            <a:rPr lang="pt-BR" dirty="0"/>
            <a:t>Calcular a </a:t>
          </a:r>
          <a:r>
            <a:rPr lang="pt-BR" b="1" dirty="0"/>
            <a:t>confiança</a:t>
          </a:r>
          <a:r>
            <a:rPr lang="pt-BR" dirty="0"/>
            <a:t> da regra</a:t>
          </a:r>
        </a:p>
      </dgm:t>
    </dgm:pt>
    <dgm:pt modelId="{96D19261-5144-4D78-85A8-61F1D1D5CDBE}" type="parTrans" cxnId="{D2838827-41C6-41B2-86BA-B6EC496E1250}">
      <dgm:prSet/>
      <dgm:spPr/>
      <dgm:t>
        <a:bodyPr/>
        <a:lstStyle/>
        <a:p>
          <a:endParaRPr lang="pt-BR"/>
        </a:p>
      </dgm:t>
    </dgm:pt>
    <dgm:pt modelId="{4B9B8F03-6061-4C9B-8BAD-8D26AFFEA51F}" type="sibTrans" cxnId="{D2838827-41C6-41B2-86BA-B6EC496E1250}">
      <dgm:prSet/>
      <dgm:spPr/>
      <dgm:t>
        <a:bodyPr/>
        <a:lstStyle/>
        <a:p>
          <a:endParaRPr lang="pt-BR"/>
        </a:p>
      </dgm:t>
    </dgm:pt>
    <dgm:pt modelId="{09FD2BA0-4C24-4029-8B19-982E0056326F}">
      <dgm:prSet phldrT="[Texto]"/>
      <dgm:spPr/>
      <dgm:t>
        <a:bodyPr/>
        <a:lstStyle/>
        <a:p>
          <a:r>
            <a:rPr lang="pt-BR" dirty="0"/>
            <a:t>Verificar se a regra é relevante (</a:t>
          </a:r>
          <a:r>
            <a:rPr lang="pt-BR" b="1" i="1" dirty="0" err="1"/>
            <a:t>lift</a:t>
          </a:r>
          <a:r>
            <a:rPr lang="pt-BR" dirty="0"/>
            <a:t>)</a:t>
          </a:r>
        </a:p>
      </dgm:t>
    </dgm:pt>
    <dgm:pt modelId="{382F2A4C-DEE3-449D-9067-B314BECC9622}" type="parTrans" cxnId="{66A5110C-DD66-45AC-B265-E7D66AAB1A46}">
      <dgm:prSet/>
      <dgm:spPr/>
      <dgm:t>
        <a:bodyPr/>
        <a:lstStyle/>
        <a:p>
          <a:endParaRPr lang="pt-BR"/>
        </a:p>
      </dgm:t>
    </dgm:pt>
    <dgm:pt modelId="{B2413694-4BAE-4340-BA07-3405E0805558}" type="sibTrans" cxnId="{66A5110C-DD66-45AC-B265-E7D66AAB1A46}">
      <dgm:prSet/>
      <dgm:spPr/>
      <dgm:t>
        <a:bodyPr/>
        <a:lstStyle/>
        <a:p>
          <a:endParaRPr lang="pt-BR"/>
        </a:p>
      </dgm:t>
    </dgm:pt>
    <dgm:pt modelId="{C2B86D46-DE01-4988-A06C-A102FEA27242}" type="pres">
      <dgm:prSet presAssocID="{087D4A64-5BD6-4D66-BEF6-DAA109ECDE59}" presName="Name0" presStyleCnt="0">
        <dgm:presLayoutVars>
          <dgm:dir/>
          <dgm:animLvl val="lvl"/>
          <dgm:resizeHandles val="exact"/>
        </dgm:presLayoutVars>
      </dgm:prSet>
      <dgm:spPr/>
    </dgm:pt>
    <dgm:pt modelId="{1684ADD8-6686-4208-A65B-1BF6B7A900DC}" type="pres">
      <dgm:prSet presAssocID="{9F48D0FF-8741-4FBC-84E5-3A3B2022D750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6137CB4-3197-47F3-8A78-38607B8EDD54}" type="pres">
      <dgm:prSet presAssocID="{D0AA71AA-50A8-4759-9E9A-CDD27DC8E1E9}" presName="parTxOnlySpace" presStyleCnt="0"/>
      <dgm:spPr/>
    </dgm:pt>
    <dgm:pt modelId="{0931C702-BEE1-4EA3-9333-1ACB27F8B76A}" type="pres">
      <dgm:prSet presAssocID="{4B59F25B-066A-4624-813A-15DA4D7CA6BE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9B38D02-456F-456F-BD9B-AEC9F8A4DA4B}" type="pres">
      <dgm:prSet presAssocID="{0E8ACD2C-0B87-4134-91D3-1FB567E4DD61}" presName="parTxOnlySpace" presStyleCnt="0"/>
      <dgm:spPr/>
    </dgm:pt>
    <dgm:pt modelId="{8B8CC545-2BBF-496E-A965-E14EAC9204FD}" type="pres">
      <dgm:prSet presAssocID="{629DFBFF-7B6A-40B3-AE12-6EA4436E439D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897A70D-20BD-4FA8-8C4B-8E1B0A6A02DC}" type="pres">
      <dgm:prSet presAssocID="{4B9B8F03-6061-4C9B-8BAD-8D26AFFEA51F}" presName="parTxOnlySpace" presStyleCnt="0"/>
      <dgm:spPr/>
    </dgm:pt>
    <dgm:pt modelId="{C9BA4758-57B8-4F64-BC22-9B6CD53F8121}" type="pres">
      <dgm:prSet presAssocID="{09FD2BA0-4C24-4029-8B19-982E0056326F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6A5110C-DD66-45AC-B265-E7D66AAB1A46}" srcId="{087D4A64-5BD6-4D66-BEF6-DAA109ECDE59}" destId="{09FD2BA0-4C24-4029-8B19-982E0056326F}" srcOrd="3" destOrd="0" parTransId="{382F2A4C-DEE3-449D-9067-B314BECC9622}" sibTransId="{B2413694-4BAE-4340-BA07-3405E0805558}"/>
    <dgm:cxn modelId="{DF6D8514-7B60-4EBB-AF38-9A06AA4BA5A6}" srcId="{087D4A64-5BD6-4D66-BEF6-DAA109ECDE59}" destId="{4B59F25B-066A-4624-813A-15DA4D7CA6BE}" srcOrd="1" destOrd="0" parTransId="{13ADBBA4-FBAD-479E-AB02-02F8B0201935}" sibTransId="{0E8ACD2C-0B87-4134-91D3-1FB567E4DD61}"/>
    <dgm:cxn modelId="{D2838827-41C6-41B2-86BA-B6EC496E1250}" srcId="{087D4A64-5BD6-4D66-BEF6-DAA109ECDE59}" destId="{629DFBFF-7B6A-40B3-AE12-6EA4436E439D}" srcOrd="2" destOrd="0" parTransId="{96D19261-5144-4D78-85A8-61F1D1D5CDBE}" sibTransId="{4B9B8F03-6061-4C9B-8BAD-8D26AFFEA51F}"/>
    <dgm:cxn modelId="{BB712953-812D-4B8D-BAA1-B1318EA04490}" type="presOf" srcId="{087D4A64-5BD6-4D66-BEF6-DAA109ECDE59}" destId="{C2B86D46-DE01-4988-A06C-A102FEA27242}" srcOrd="0" destOrd="0" presId="urn:microsoft.com/office/officeart/2005/8/layout/chevron1"/>
    <dgm:cxn modelId="{FC95CAD4-2158-42F7-80B5-76BBB4C3C692}" type="presOf" srcId="{9F48D0FF-8741-4FBC-84E5-3A3B2022D750}" destId="{1684ADD8-6686-4208-A65B-1BF6B7A900DC}" srcOrd="0" destOrd="0" presId="urn:microsoft.com/office/officeart/2005/8/layout/chevron1"/>
    <dgm:cxn modelId="{EC5514E0-C4C3-4DA1-BB75-D4ABDF3737CB}" type="presOf" srcId="{629DFBFF-7B6A-40B3-AE12-6EA4436E439D}" destId="{8B8CC545-2BBF-496E-A965-E14EAC9204FD}" srcOrd="0" destOrd="0" presId="urn:microsoft.com/office/officeart/2005/8/layout/chevron1"/>
    <dgm:cxn modelId="{BD422DF0-EDE6-490B-99BE-B30955D434BC}" srcId="{087D4A64-5BD6-4D66-BEF6-DAA109ECDE59}" destId="{9F48D0FF-8741-4FBC-84E5-3A3B2022D750}" srcOrd="0" destOrd="0" parTransId="{A8120514-37F6-4595-BF4F-E2CB179EF4CD}" sibTransId="{D0AA71AA-50A8-4759-9E9A-CDD27DC8E1E9}"/>
    <dgm:cxn modelId="{001452F2-3FAD-4188-99C9-5FCABC298885}" type="presOf" srcId="{09FD2BA0-4C24-4029-8B19-982E0056326F}" destId="{C9BA4758-57B8-4F64-BC22-9B6CD53F8121}" srcOrd="0" destOrd="0" presId="urn:microsoft.com/office/officeart/2005/8/layout/chevron1"/>
    <dgm:cxn modelId="{885B70F5-EC5B-47A2-9800-E973A1121C2A}" type="presOf" srcId="{4B59F25B-066A-4624-813A-15DA4D7CA6BE}" destId="{0931C702-BEE1-4EA3-9333-1ACB27F8B76A}" srcOrd="0" destOrd="0" presId="urn:microsoft.com/office/officeart/2005/8/layout/chevron1"/>
    <dgm:cxn modelId="{DE89498F-6BC4-40F2-B088-350506405556}" type="presParOf" srcId="{C2B86D46-DE01-4988-A06C-A102FEA27242}" destId="{1684ADD8-6686-4208-A65B-1BF6B7A900DC}" srcOrd="0" destOrd="0" presId="urn:microsoft.com/office/officeart/2005/8/layout/chevron1"/>
    <dgm:cxn modelId="{58CE6BC7-27D2-4D96-B9BE-81947D2269D0}" type="presParOf" srcId="{C2B86D46-DE01-4988-A06C-A102FEA27242}" destId="{D6137CB4-3197-47F3-8A78-38607B8EDD54}" srcOrd="1" destOrd="0" presId="urn:microsoft.com/office/officeart/2005/8/layout/chevron1"/>
    <dgm:cxn modelId="{5B8AA72B-E21A-482A-BFB8-3E58DA72294E}" type="presParOf" srcId="{C2B86D46-DE01-4988-A06C-A102FEA27242}" destId="{0931C702-BEE1-4EA3-9333-1ACB27F8B76A}" srcOrd="2" destOrd="0" presId="urn:microsoft.com/office/officeart/2005/8/layout/chevron1"/>
    <dgm:cxn modelId="{6D10A6D0-B1AD-4707-9576-AFCFC938B35B}" type="presParOf" srcId="{C2B86D46-DE01-4988-A06C-A102FEA27242}" destId="{19B38D02-456F-456F-BD9B-AEC9F8A4DA4B}" srcOrd="3" destOrd="0" presId="urn:microsoft.com/office/officeart/2005/8/layout/chevron1"/>
    <dgm:cxn modelId="{AB367AA8-681F-4A57-B675-F9A53274F37C}" type="presParOf" srcId="{C2B86D46-DE01-4988-A06C-A102FEA27242}" destId="{8B8CC545-2BBF-496E-A965-E14EAC9204FD}" srcOrd="4" destOrd="0" presId="urn:microsoft.com/office/officeart/2005/8/layout/chevron1"/>
    <dgm:cxn modelId="{5F918811-2172-406B-BD5A-3D6D22B3818A}" type="presParOf" srcId="{C2B86D46-DE01-4988-A06C-A102FEA27242}" destId="{D897A70D-20BD-4FA8-8C4B-8E1B0A6A02DC}" srcOrd="5" destOrd="0" presId="urn:microsoft.com/office/officeart/2005/8/layout/chevron1"/>
    <dgm:cxn modelId="{2B94824A-9794-4781-8B85-3192AE1AEE9D}" type="presParOf" srcId="{C2B86D46-DE01-4988-A06C-A102FEA27242}" destId="{C9BA4758-57B8-4F64-BC22-9B6CD53F8121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47C118-FB6B-4837-B1E5-4B2D45B71526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pt-BR"/>
        </a:p>
      </dgm:t>
    </dgm:pt>
    <dgm:pt modelId="{A0AD9173-BA63-40E0-9953-D14A76359F82}">
      <dgm:prSet phldrT="[Texto]" custT="1"/>
      <dgm:spPr/>
      <dgm:t>
        <a:bodyPr/>
        <a:lstStyle/>
        <a:p>
          <a:r>
            <a:rPr lang="pt-BR" sz="2400" b="1" dirty="0"/>
            <a:t>Suporte</a:t>
          </a:r>
          <a:endParaRPr lang="pt-BR" sz="2200" b="1" dirty="0"/>
        </a:p>
      </dgm:t>
    </dgm:pt>
    <dgm:pt modelId="{4C5481F4-590F-4EC5-B2D3-AB60E6356EB9}" type="parTrans" cxnId="{1A2F36AE-F991-4316-81A8-12853A8CF44F}">
      <dgm:prSet/>
      <dgm:spPr/>
      <dgm:t>
        <a:bodyPr/>
        <a:lstStyle/>
        <a:p>
          <a:endParaRPr lang="pt-BR"/>
        </a:p>
      </dgm:t>
    </dgm:pt>
    <dgm:pt modelId="{66E98894-2A17-4B93-9961-686B74248D59}" type="sibTrans" cxnId="{1A2F36AE-F991-4316-81A8-12853A8CF44F}">
      <dgm:prSet/>
      <dgm:spPr/>
      <dgm:t>
        <a:bodyPr/>
        <a:lstStyle/>
        <a:p>
          <a:endParaRPr lang="pt-BR"/>
        </a:p>
      </dgm:t>
    </dgm:pt>
    <dgm:pt modelId="{6C889EE9-21D8-4CCF-90A1-5FA74E49658D}">
      <dgm:prSet phldrT="[Texto]"/>
      <dgm:spPr/>
      <dgm:t>
        <a:bodyPr/>
        <a:lstStyle/>
        <a:p>
          <a:r>
            <a:rPr lang="pt-BR" dirty="0"/>
            <a:t>Usado para selecionar os itens frequentes</a:t>
          </a:r>
        </a:p>
      </dgm:t>
    </dgm:pt>
    <dgm:pt modelId="{DB05F9E7-79E1-4FC1-9101-8BEBA30995CE}" type="parTrans" cxnId="{9373C5F5-F1F7-47E5-9DD7-C00A232788DF}">
      <dgm:prSet/>
      <dgm:spPr/>
      <dgm:t>
        <a:bodyPr/>
        <a:lstStyle/>
        <a:p>
          <a:endParaRPr lang="pt-BR"/>
        </a:p>
      </dgm:t>
    </dgm:pt>
    <dgm:pt modelId="{97C16C77-211F-4BE2-B0B2-7F2F3B9C9278}" type="sibTrans" cxnId="{9373C5F5-F1F7-47E5-9DD7-C00A232788DF}">
      <dgm:prSet/>
      <dgm:spPr/>
      <dgm:t>
        <a:bodyPr/>
        <a:lstStyle/>
        <a:p>
          <a:endParaRPr lang="pt-BR"/>
        </a:p>
      </dgm:t>
    </dgm:pt>
    <dgm:pt modelId="{D883759C-7FE5-4A25-A928-575823C42E4B}">
      <dgm:prSet phldrT="[Texto]" custT="1"/>
      <dgm:spPr/>
      <dgm:t>
        <a:bodyPr/>
        <a:lstStyle/>
        <a:p>
          <a:r>
            <a:rPr lang="pt-BR" sz="2400" b="1" dirty="0"/>
            <a:t>Confiança</a:t>
          </a:r>
          <a:endParaRPr lang="pt-BR" sz="2200" b="1" dirty="0"/>
        </a:p>
      </dgm:t>
    </dgm:pt>
    <dgm:pt modelId="{D3DF66AA-71A6-454D-8442-0CCA5D456530}" type="parTrans" cxnId="{0F7E5622-B0C6-467B-86D5-9B76779C6BF1}">
      <dgm:prSet/>
      <dgm:spPr/>
      <dgm:t>
        <a:bodyPr/>
        <a:lstStyle/>
        <a:p>
          <a:endParaRPr lang="pt-BR"/>
        </a:p>
      </dgm:t>
    </dgm:pt>
    <dgm:pt modelId="{BCA44CB7-85AA-430C-9B16-6F9B48B0BF6F}" type="sibTrans" cxnId="{0F7E5622-B0C6-467B-86D5-9B76779C6BF1}">
      <dgm:prSet/>
      <dgm:spPr/>
      <dgm:t>
        <a:bodyPr/>
        <a:lstStyle/>
        <a:p>
          <a:endParaRPr lang="pt-BR"/>
        </a:p>
      </dgm:t>
    </dgm:pt>
    <dgm:pt modelId="{CF1C4BF8-C602-4E9F-93D3-DBB3B3EF15B6}">
      <dgm:prSet phldrT="[Texto]"/>
      <dgm:spPr/>
      <dgm:t>
        <a:bodyPr/>
        <a:lstStyle/>
        <a:p>
          <a:r>
            <a:rPr lang="pt-BR" dirty="0"/>
            <a:t>Probabilidade do item X acontecer dado que o item Y já aconteceu</a:t>
          </a:r>
        </a:p>
      </dgm:t>
    </dgm:pt>
    <dgm:pt modelId="{18988A61-C0FE-4617-9ECD-67B950EC71FB}" type="parTrans" cxnId="{6BFECCA6-ADC2-445F-AC10-B3ADA7CFE7E5}">
      <dgm:prSet/>
      <dgm:spPr/>
      <dgm:t>
        <a:bodyPr/>
        <a:lstStyle/>
        <a:p>
          <a:endParaRPr lang="pt-BR"/>
        </a:p>
      </dgm:t>
    </dgm:pt>
    <dgm:pt modelId="{9D549722-D8CE-4F59-8AAB-D115190F1E1E}" type="sibTrans" cxnId="{6BFECCA6-ADC2-445F-AC10-B3ADA7CFE7E5}">
      <dgm:prSet/>
      <dgm:spPr/>
      <dgm:t>
        <a:bodyPr/>
        <a:lstStyle/>
        <a:p>
          <a:endParaRPr lang="pt-BR"/>
        </a:p>
      </dgm:t>
    </dgm:pt>
    <dgm:pt modelId="{C63D59BF-028F-4393-9C9A-73C922D95D66}">
      <dgm:prSet phldrT="[Texto]" custT="1"/>
      <dgm:spPr/>
      <dgm:t>
        <a:bodyPr/>
        <a:lstStyle/>
        <a:p>
          <a:r>
            <a:rPr lang="pt-BR" sz="2400" b="1" dirty="0" err="1"/>
            <a:t>Lift</a:t>
          </a:r>
          <a:endParaRPr lang="pt-BR" sz="2200" b="1" dirty="0"/>
        </a:p>
      </dgm:t>
    </dgm:pt>
    <dgm:pt modelId="{B087F417-D13F-46BE-B7AD-417D536FDB86}" type="parTrans" cxnId="{D7342831-DE90-4D5B-9AF0-FF38F5EF90D0}">
      <dgm:prSet/>
      <dgm:spPr/>
      <dgm:t>
        <a:bodyPr/>
        <a:lstStyle/>
        <a:p>
          <a:endParaRPr lang="pt-BR"/>
        </a:p>
      </dgm:t>
    </dgm:pt>
    <dgm:pt modelId="{C545B921-F5D5-4381-A761-DE1CDD932303}" type="sibTrans" cxnId="{D7342831-DE90-4D5B-9AF0-FF38F5EF90D0}">
      <dgm:prSet/>
      <dgm:spPr/>
      <dgm:t>
        <a:bodyPr/>
        <a:lstStyle/>
        <a:p>
          <a:endParaRPr lang="pt-BR"/>
        </a:p>
      </dgm:t>
    </dgm:pt>
    <dgm:pt modelId="{F0C7D1E9-1AB5-40E5-8011-42EBF00F9A90}">
      <dgm:prSet phldrT="[Texto]"/>
      <dgm:spPr/>
      <dgm:t>
        <a:bodyPr/>
        <a:lstStyle/>
        <a:p>
          <a:r>
            <a:rPr lang="pt-BR" b="0" dirty="0"/>
            <a:t>Medida do quanto uma regra de associação é melhor (ou pior) do que o acaso</a:t>
          </a:r>
        </a:p>
      </dgm:t>
    </dgm:pt>
    <dgm:pt modelId="{540405FF-1D55-4B36-95B1-C36B71BA3685}" type="parTrans" cxnId="{B63951A8-B13D-46A9-BB27-4BC5A240BC5B}">
      <dgm:prSet/>
      <dgm:spPr/>
      <dgm:t>
        <a:bodyPr/>
        <a:lstStyle/>
        <a:p>
          <a:endParaRPr lang="pt-BR"/>
        </a:p>
      </dgm:t>
    </dgm:pt>
    <dgm:pt modelId="{0FADE01B-08E3-48B9-A39A-8CDF7E83126F}" type="sibTrans" cxnId="{B63951A8-B13D-46A9-BB27-4BC5A240BC5B}">
      <dgm:prSet/>
      <dgm:spPr/>
      <dgm:t>
        <a:bodyPr/>
        <a:lstStyle/>
        <a:p>
          <a:endParaRPr lang="pt-BR"/>
        </a:p>
      </dgm:t>
    </dgm:pt>
    <dgm:pt modelId="{59FB9C24-4AFB-4309-974D-C828E8069900}">
      <dgm:prSet/>
      <dgm:spPr/>
      <dgm:t>
        <a:bodyPr/>
        <a:lstStyle/>
        <a:p>
          <a:r>
            <a:rPr lang="pt-BR" dirty="0"/>
            <a:t>Medido pela proporção de transações (frequência relativa) em que um conjunto de itens aparece</a:t>
          </a:r>
        </a:p>
      </dgm:t>
    </dgm:pt>
    <dgm:pt modelId="{495A2EF8-EE04-4EEB-9CA1-47820ED29C19}" type="parTrans" cxnId="{02990A31-6470-4294-898F-1C9B7C4C3820}">
      <dgm:prSet/>
      <dgm:spPr/>
      <dgm:t>
        <a:bodyPr/>
        <a:lstStyle/>
        <a:p>
          <a:endParaRPr lang="pt-BR"/>
        </a:p>
      </dgm:t>
    </dgm:pt>
    <dgm:pt modelId="{3BB99F9C-7284-4717-A70E-A3573CBF4B9D}" type="sibTrans" cxnId="{02990A31-6470-4294-898F-1C9B7C4C3820}">
      <dgm:prSet/>
      <dgm:spPr/>
      <dgm:t>
        <a:bodyPr/>
        <a:lstStyle/>
        <a:p>
          <a:endParaRPr lang="pt-BR"/>
        </a:p>
      </dgm:t>
    </dgm:pt>
    <dgm:pt modelId="{5D6B0FEE-EDEE-4615-B692-C4E38A5E8634}">
      <dgm:prSet/>
      <dgm:spPr/>
      <dgm:t>
        <a:bodyPr/>
        <a:lstStyle/>
        <a:p>
          <a:r>
            <a:rPr lang="pt-BR" dirty="0"/>
            <a:t>Frequência com que os </a:t>
          </a:r>
          <a:r>
            <a:rPr lang="pt-BR" i="0" dirty="0"/>
            <a:t>itens</a:t>
          </a:r>
          <a:r>
            <a:rPr lang="pt-BR" dirty="0"/>
            <a:t> X e Y ocorreram juntos em relação à frequência em que X ocorre no conjunto de dados </a:t>
          </a:r>
        </a:p>
      </dgm:t>
    </dgm:pt>
    <dgm:pt modelId="{579181FD-BB05-4E3A-AD08-761544D5F3E7}" type="parTrans" cxnId="{7B48B28E-E834-4454-9552-91C002E5F8D6}">
      <dgm:prSet/>
      <dgm:spPr/>
      <dgm:t>
        <a:bodyPr/>
        <a:lstStyle/>
        <a:p>
          <a:endParaRPr lang="pt-BR"/>
        </a:p>
      </dgm:t>
    </dgm:pt>
    <dgm:pt modelId="{069825F9-BD00-40C9-8190-106E8D5FC24D}" type="sibTrans" cxnId="{7B48B28E-E834-4454-9552-91C002E5F8D6}">
      <dgm:prSet/>
      <dgm:spPr/>
      <dgm:t>
        <a:bodyPr/>
        <a:lstStyle/>
        <a:p>
          <a:endParaRPr lang="pt-BR"/>
        </a:p>
      </dgm:t>
    </dgm:pt>
    <dgm:pt modelId="{99439E04-971B-43DD-8529-0624EDE4DCC1}">
      <dgm:prSet phldrT="[Texto]"/>
      <dgm:spPr/>
      <dgm:t>
        <a:bodyPr/>
        <a:lstStyle/>
        <a:p>
          <a:r>
            <a:rPr lang="pt-BR" dirty="0"/>
            <a:t>Em X </a:t>
          </a:r>
          <a:r>
            <a:rPr lang="pt-BR" dirty="0">
              <a:sym typeface="Wingdings" panose="05000000000000000000" pitchFamily="2" charset="2"/>
            </a:rPr>
            <a:t> Y, compara a</a:t>
          </a:r>
          <a:r>
            <a:rPr lang="pt-BR" dirty="0"/>
            <a:t> chance de comprar </a:t>
          </a:r>
          <a:r>
            <a:rPr lang="pt-BR" b="1" dirty="0"/>
            <a:t>Y quando X ocorre</a:t>
          </a:r>
          <a:r>
            <a:rPr lang="pt-BR" dirty="0"/>
            <a:t> com a chance de comprar </a:t>
          </a:r>
          <a:r>
            <a:rPr lang="pt-BR" b="1" dirty="0"/>
            <a:t>Y</a:t>
          </a:r>
          <a:endParaRPr lang="pt-BR" dirty="0"/>
        </a:p>
      </dgm:t>
    </dgm:pt>
    <dgm:pt modelId="{EBDB5EAE-13D2-4833-B62C-F39BEF1BD1F0}" type="parTrans" cxnId="{8CD5709B-A4CB-47F7-924D-7344598C08DD}">
      <dgm:prSet/>
      <dgm:spPr/>
      <dgm:t>
        <a:bodyPr/>
        <a:lstStyle/>
        <a:p>
          <a:endParaRPr lang="pt-BR"/>
        </a:p>
      </dgm:t>
    </dgm:pt>
    <dgm:pt modelId="{0D1FB712-6FDE-4293-990B-9DADFCFE730B}" type="sibTrans" cxnId="{8CD5709B-A4CB-47F7-924D-7344598C08DD}">
      <dgm:prSet/>
      <dgm:spPr/>
      <dgm:t>
        <a:bodyPr/>
        <a:lstStyle/>
        <a:p>
          <a:endParaRPr lang="pt-BR"/>
        </a:p>
      </dgm:t>
    </dgm:pt>
    <dgm:pt modelId="{0BAD0181-CC99-4383-AE38-C54E604D4BA5}">
      <dgm:prSet phldrT="[Texto]"/>
      <dgm:spPr/>
      <dgm:t>
        <a:bodyPr/>
        <a:lstStyle/>
        <a:p>
          <a:r>
            <a:rPr lang="pt-BR" b="0" dirty="0"/>
            <a:t>Comprar X aumenta a chance de comprar Y</a:t>
          </a:r>
        </a:p>
      </dgm:t>
    </dgm:pt>
    <dgm:pt modelId="{DA86EC68-57EB-4C6A-BBC2-3300D8AF79F7}" type="parTrans" cxnId="{EE0BA72F-D946-4D4A-A2CF-93E1BA791181}">
      <dgm:prSet/>
      <dgm:spPr/>
      <dgm:t>
        <a:bodyPr/>
        <a:lstStyle/>
        <a:p>
          <a:endParaRPr lang="pt-BR"/>
        </a:p>
      </dgm:t>
    </dgm:pt>
    <dgm:pt modelId="{9C89573F-D412-41EB-BD70-AE286F34D171}" type="sibTrans" cxnId="{EE0BA72F-D946-4D4A-A2CF-93E1BA791181}">
      <dgm:prSet/>
      <dgm:spPr/>
      <dgm:t>
        <a:bodyPr/>
        <a:lstStyle/>
        <a:p>
          <a:endParaRPr lang="pt-BR"/>
        </a:p>
      </dgm:t>
    </dgm:pt>
    <dgm:pt modelId="{5FFD91C8-6C08-4031-80A2-379B5883FEA0}" type="pres">
      <dgm:prSet presAssocID="{D947C118-FB6B-4837-B1E5-4B2D45B71526}" presName="Name0" presStyleCnt="0">
        <dgm:presLayoutVars>
          <dgm:dir/>
          <dgm:animLvl val="lvl"/>
          <dgm:resizeHandles val="exact"/>
        </dgm:presLayoutVars>
      </dgm:prSet>
      <dgm:spPr/>
    </dgm:pt>
    <dgm:pt modelId="{3580DA26-D53B-4771-8A29-ADE2D2F382A5}" type="pres">
      <dgm:prSet presAssocID="{A0AD9173-BA63-40E0-9953-D14A76359F82}" presName="composite" presStyleCnt="0"/>
      <dgm:spPr/>
    </dgm:pt>
    <dgm:pt modelId="{B8CBC9E2-CCFF-4469-9A99-EB060B51E1D1}" type="pres">
      <dgm:prSet presAssocID="{A0AD9173-BA63-40E0-9953-D14A76359F8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010A930-513F-4EC9-B9C5-45093CF2FD7C}" type="pres">
      <dgm:prSet presAssocID="{A0AD9173-BA63-40E0-9953-D14A76359F82}" presName="desTx" presStyleLbl="alignAccFollowNode1" presStyleIdx="0" presStyleCnt="3">
        <dgm:presLayoutVars>
          <dgm:bulletEnabled val="1"/>
        </dgm:presLayoutVars>
      </dgm:prSet>
      <dgm:spPr/>
    </dgm:pt>
    <dgm:pt modelId="{12090143-4F33-4855-A0A2-ECD30C8BDD7D}" type="pres">
      <dgm:prSet presAssocID="{66E98894-2A17-4B93-9961-686B74248D59}" presName="space" presStyleCnt="0"/>
      <dgm:spPr/>
    </dgm:pt>
    <dgm:pt modelId="{AE260575-9C77-45C1-8A26-5EAC42FF8274}" type="pres">
      <dgm:prSet presAssocID="{D883759C-7FE5-4A25-A928-575823C42E4B}" presName="composite" presStyleCnt="0"/>
      <dgm:spPr/>
    </dgm:pt>
    <dgm:pt modelId="{F36331C6-318F-44B6-A489-A0A44E5AFF03}" type="pres">
      <dgm:prSet presAssocID="{D883759C-7FE5-4A25-A928-575823C42E4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1AFA63D-1E72-4376-A91A-9BFAB74ECA76}" type="pres">
      <dgm:prSet presAssocID="{D883759C-7FE5-4A25-A928-575823C42E4B}" presName="desTx" presStyleLbl="alignAccFollowNode1" presStyleIdx="1" presStyleCnt="3">
        <dgm:presLayoutVars>
          <dgm:bulletEnabled val="1"/>
        </dgm:presLayoutVars>
      </dgm:prSet>
      <dgm:spPr/>
    </dgm:pt>
    <dgm:pt modelId="{CF9A1D16-7FEB-4B8F-B145-A382AE3E02B3}" type="pres">
      <dgm:prSet presAssocID="{BCA44CB7-85AA-430C-9B16-6F9B48B0BF6F}" presName="space" presStyleCnt="0"/>
      <dgm:spPr/>
    </dgm:pt>
    <dgm:pt modelId="{1C27F834-5D06-4B3B-BC2E-3A9193C3CE80}" type="pres">
      <dgm:prSet presAssocID="{C63D59BF-028F-4393-9C9A-73C922D95D66}" presName="composite" presStyleCnt="0"/>
      <dgm:spPr/>
    </dgm:pt>
    <dgm:pt modelId="{C9D71451-B13E-4583-80A4-468B86ABE774}" type="pres">
      <dgm:prSet presAssocID="{C63D59BF-028F-4393-9C9A-73C922D95D6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DAF2006-FED9-46AA-A0A2-11737C8144D3}" type="pres">
      <dgm:prSet presAssocID="{C63D59BF-028F-4393-9C9A-73C922D95D6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A81F202-C365-4613-AE9C-FFAF40BD1950}" type="presOf" srcId="{6C889EE9-21D8-4CCF-90A1-5FA74E49658D}" destId="{2010A930-513F-4EC9-B9C5-45093CF2FD7C}" srcOrd="0" destOrd="0" presId="urn:microsoft.com/office/officeart/2005/8/layout/hList1"/>
    <dgm:cxn modelId="{062C8F18-B729-4B12-92F0-4CC997D54474}" type="presOf" srcId="{99439E04-971B-43DD-8529-0624EDE4DCC1}" destId="{6DAF2006-FED9-46AA-A0A2-11737C8144D3}" srcOrd="0" destOrd="2" presId="urn:microsoft.com/office/officeart/2005/8/layout/hList1"/>
    <dgm:cxn modelId="{0F7E5622-B0C6-467B-86D5-9B76779C6BF1}" srcId="{D947C118-FB6B-4837-B1E5-4B2D45B71526}" destId="{D883759C-7FE5-4A25-A928-575823C42E4B}" srcOrd="1" destOrd="0" parTransId="{D3DF66AA-71A6-454D-8442-0CCA5D456530}" sibTransId="{BCA44CB7-85AA-430C-9B16-6F9B48B0BF6F}"/>
    <dgm:cxn modelId="{EE0BA72F-D946-4D4A-A2CF-93E1BA791181}" srcId="{C63D59BF-028F-4393-9C9A-73C922D95D66}" destId="{0BAD0181-CC99-4383-AE38-C54E604D4BA5}" srcOrd="1" destOrd="0" parTransId="{DA86EC68-57EB-4C6A-BBC2-3300D8AF79F7}" sibTransId="{9C89573F-D412-41EB-BD70-AE286F34D171}"/>
    <dgm:cxn modelId="{02990A31-6470-4294-898F-1C9B7C4C3820}" srcId="{A0AD9173-BA63-40E0-9953-D14A76359F82}" destId="{59FB9C24-4AFB-4309-974D-C828E8069900}" srcOrd="1" destOrd="0" parTransId="{495A2EF8-EE04-4EEB-9CA1-47820ED29C19}" sibTransId="{3BB99F9C-7284-4717-A70E-A3573CBF4B9D}"/>
    <dgm:cxn modelId="{D7342831-DE90-4D5B-9AF0-FF38F5EF90D0}" srcId="{D947C118-FB6B-4837-B1E5-4B2D45B71526}" destId="{C63D59BF-028F-4393-9C9A-73C922D95D66}" srcOrd="2" destOrd="0" parTransId="{B087F417-D13F-46BE-B7AD-417D536FDB86}" sibTransId="{C545B921-F5D5-4381-A761-DE1CDD932303}"/>
    <dgm:cxn modelId="{C677CE61-D2FE-4BA4-976D-F6C039FE9611}" type="presOf" srcId="{A0AD9173-BA63-40E0-9953-D14A76359F82}" destId="{B8CBC9E2-CCFF-4469-9A99-EB060B51E1D1}" srcOrd="0" destOrd="0" presId="urn:microsoft.com/office/officeart/2005/8/layout/hList1"/>
    <dgm:cxn modelId="{B3119669-9024-4FC7-89EE-FF32135EEA76}" type="presOf" srcId="{CF1C4BF8-C602-4E9F-93D3-DBB3B3EF15B6}" destId="{C1AFA63D-1E72-4376-A91A-9BFAB74ECA76}" srcOrd="0" destOrd="0" presId="urn:microsoft.com/office/officeart/2005/8/layout/hList1"/>
    <dgm:cxn modelId="{4108164F-01CF-4006-A543-46BA0706CB0D}" type="presOf" srcId="{0BAD0181-CC99-4383-AE38-C54E604D4BA5}" destId="{6DAF2006-FED9-46AA-A0A2-11737C8144D3}" srcOrd="0" destOrd="1" presId="urn:microsoft.com/office/officeart/2005/8/layout/hList1"/>
    <dgm:cxn modelId="{55BE894F-97F7-4226-8C96-53AF06093530}" type="presOf" srcId="{D883759C-7FE5-4A25-A928-575823C42E4B}" destId="{F36331C6-318F-44B6-A489-A0A44E5AFF03}" srcOrd="0" destOrd="0" presId="urn:microsoft.com/office/officeart/2005/8/layout/hList1"/>
    <dgm:cxn modelId="{20F8FB73-6580-43BC-8280-273C7F06FA45}" type="presOf" srcId="{D947C118-FB6B-4837-B1E5-4B2D45B71526}" destId="{5FFD91C8-6C08-4031-80A2-379B5883FEA0}" srcOrd="0" destOrd="0" presId="urn:microsoft.com/office/officeart/2005/8/layout/hList1"/>
    <dgm:cxn modelId="{FED2EF7E-165D-463E-9248-B19F48975D3C}" type="presOf" srcId="{C63D59BF-028F-4393-9C9A-73C922D95D66}" destId="{C9D71451-B13E-4583-80A4-468B86ABE774}" srcOrd="0" destOrd="0" presId="urn:microsoft.com/office/officeart/2005/8/layout/hList1"/>
    <dgm:cxn modelId="{7B48B28E-E834-4454-9552-91C002E5F8D6}" srcId="{D883759C-7FE5-4A25-A928-575823C42E4B}" destId="{5D6B0FEE-EDEE-4615-B692-C4E38A5E8634}" srcOrd="1" destOrd="0" parTransId="{579181FD-BB05-4E3A-AD08-761544D5F3E7}" sibTransId="{069825F9-BD00-40C9-8190-106E8D5FC24D}"/>
    <dgm:cxn modelId="{8CD5709B-A4CB-47F7-924D-7344598C08DD}" srcId="{C63D59BF-028F-4393-9C9A-73C922D95D66}" destId="{99439E04-971B-43DD-8529-0624EDE4DCC1}" srcOrd="2" destOrd="0" parTransId="{EBDB5EAE-13D2-4833-B62C-F39BEF1BD1F0}" sibTransId="{0D1FB712-6FDE-4293-990B-9DADFCFE730B}"/>
    <dgm:cxn modelId="{6BFECCA6-ADC2-445F-AC10-B3ADA7CFE7E5}" srcId="{D883759C-7FE5-4A25-A928-575823C42E4B}" destId="{CF1C4BF8-C602-4E9F-93D3-DBB3B3EF15B6}" srcOrd="0" destOrd="0" parTransId="{18988A61-C0FE-4617-9ECD-67B950EC71FB}" sibTransId="{9D549722-D8CE-4F59-8AAB-D115190F1E1E}"/>
    <dgm:cxn modelId="{B63951A8-B13D-46A9-BB27-4BC5A240BC5B}" srcId="{C63D59BF-028F-4393-9C9A-73C922D95D66}" destId="{F0C7D1E9-1AB5-40E5-8011-42EBF00F9A90}" srcOrd="0" destOrd="0" parTransId="{540405FF-1D55-4B36-95B1-C36B71BA3685}" sibTransId="{0FADE01B-08E3-48B9-A39A-8CDF7E83126F}"/>
    <dgm:cxn modelId="{1A2F36AE-F991-4316-81A8-12853A8CF44F}" srcId="{D947C118-FB6B-4837-B1E5-4B2D45B71526}" destId="{A0AD9173-BA63-40E0-9953-D14A76359F82}" srcOrd="0" destOrd="0" parTransId="{4C5481F4-590F-4EC5-B2D3-AB60E6356EB9}" sibTransId="{66E98894-2A17-4B93-9961-686B74248D59}"/>
    <dgm:cxn modelId="{C0CFEAAE-65FA-43D8-9D46-341FD3A6CEA5}" type="presOf" srcId="{5D6B0FEE-EDEE-4615-B692-C4E38A5E8634}" destId="{C1AFA63D-1E72-4376-A91A-9BFAB74ECA76}" srcOrd="0" destOrd="1" presId="urn:microsoft.com/office/officeart/2005/8/layout/hList1"/>
    <dgm:cxn modelId="{9DED10B8-9CCF-433E-A4F9-0E1132CCC6BC}" type="presOf" srcId="{F0C7D1E9-1AB5-40E5-8011-42EBF00F9A90}" destId="{6DAF2006-FED9-46AA-A0A2-11737C8144D3}" srcOrd="0" destOrd="0" presId="urn:microsoft.com/office/officeart/2005/8/layout/hList1"/>
    <dgm:cxn modelId="{9373C5F5-F1F7-47E5-9DD7-C00A232788DF}" srcId="{A0AD9173-BA63-40E0-9953-D14A76359F82}" destId="{6C889EE9-21D8-4CCF-90A1-5FA74E49658D}" srcOrd="0" destOrd="0" parTransId="{DB05F9E7-79E1-4FC1-9101-8BEBA30995CE}" sibTransId="{97C16C77-211F-4BE2-B0B2-7F2F3B9C9278}"/>
    <dgm:cxn modelId="{4D8112FE-6179-49E1-A5B2-2C4D2F2C53F1}" type="presOf" srcId="{59FB9C24-4AFB-4309-974D-C828E8069900}" destId="{2010A930-513F-4EC9-B9C5-45093CF2FD7C}" srcOrd="0" destOrd="1" presId="urn:microsoft.com/office/officeart/2005/8/layout/hList1"/>
    <dgm:cxn modelId="{ECDD9281-1CDF-4741-98F5-39AFDAA4DA58}" type="presParOf" srcId="{5FFD91C8-6C08-4031-80A2-379B5883FEA0}" destId="{3580DA26-D53B-4771-8A29-ADE2D2F382A5}" srcOrd="0" destOrd="0" presId="urn:microsoft.com/office/officeart/2005/8/layout/hList1"/>
    <dgm:cxn modelId="{E7EBECBC-ECA6-41C8-A4BB-07ED3639D26D}" type="presParOf" srcId="{3580DA26-D53B-4771-8A29-ADE2D2F382A5}" destId="{B8CBC9E2-CCFF-4469-9A99-EB060B51E1D1}" srcOrd="0" destOrd="0" presId="urn:microsoft.com/office/officeart/2005/8/layout/hList1"/>
    <dgm:cxn modelId="{EB6CDB50-A75A-4B3A-B7D7-B97E67F2D990}" type="presParOf" srcId="{3580DA26-D53B-4771-8A29-ADE2D2F382A5}" destId="{2010A930-513F-4EC9-B9C5-45093CF2FD7C}" srcOrd="1" destOrd="0" presId="urn:microsoft.com/office/officeart/2005/8/layout/hList1"/>
    <dgm:cxn modelId="{10DBF142-779A-40BF-B83C-629F38A8430E}" type="presParOf" srcId="{5FFD91C8-6C08-4031-80A2-379B5883FEA0}" destId="{12090143-4F33-4855-A0A2-ECD30C8BDD7D}" srcOrd="1" destOrd="0" presId="urn:microsoft.com/office/officeart/2005/8/layout/hList1"/>
    <dgm:cxn modelId="{24FED058-486C-407F-A2A1-D7A4333DA9ED}" type="presParOf" srcId="{5FFD91C8-6C08-4031-80A2-379B5883FEA0}" destId="{AE260575-9C77-45C1-8A26-5EAC42FF8274}" srcOrd="2" destOrd="0" presId="urn:microsoft.com/office/officeart/2005/8/layout/hList1"/>
    <dgm:cxn modelId="{C2ADD6FD-81EE-4972-8C5C-31B10979E309}" type="presParOf" srcId="{AE260575-9C77-45C1-8A26-5EAC42FF8274}" destId="{F36331C6-318F-44B6-A489-A0A44E5AFF03}" srcOrd="0" destOrd="0" presId="urn:microsoft.com/office/officeart/2005/8/layout/hList1"/>
    <dgm:cxn modelId="{2BDE0715-5AAE-4CF5-85A9-FFA9E97706E8}" type="presParOf" srcId="{AE260575-9C77-45C1-8A26-5EAC42FF8274}" destId="{C1AFA63D-1E72-4376-A91A-9BFAB74ECA76}" srcOrd="1" destOrd="0" presId="urn:microsoft.com/office/officeart/2005/8/layout/hList1"/>
    <dgm:cxn modelId="{AD789671-1549-4CB3-A7DB-9B244F8D0D4F}" type="presParOf" srcId="{5FFD91C8-6C08-4031-80A2-379B5883FEA0}" destId="{CF9A1D16-7FEB-4B8F-B145-A382AE3E02B3}" srcOrd="3" destOrd="0" presId="urn:microsoft.com/office/officeart/2005/8/layout/hList1"/>
    <dgm:cxn modelId="{DEA7A123-910B-4829-B5CB-CDE490228FF5}" type="presParOf" srcId="{5FFD91C8-6C08-4031-80A2-379B5883FEA0}" destId="{1C27F834-5D06-4B3B-BC2E-3A9193C3CE80}" srcOrd="4" destOrd="0" presId="urn:microsoft.com/office/officeart/2005/8/layout/hList1"/>
    <dgm:cxn modelId="{F51EDA76-9C8D-4BAC-8126-4A54168B69F4}" type="presParOf" srcId="{1C27F834-5D06-4B3B-BC2E-3A9193C3CE80}" destId="{C9D71451-B13E-4583-80A4-468B86ABE774}" srcOrd="0" destOrd="0" presId="urn:microsoft.com/office/officeart/2005/8/layout/hList1"/>
    <dgm:cxn modelId="{45367818-1FAF-4ED1-82B5-49918F70E959}" type="presParOf" srcId="{1C27F834-5D06-4B3B-BC2E-3A9193C3CE80}" destId="{6DAF2006-FED9-46AA-A0A2-11737C8144D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4ADD8-6686-4208-A65B-1BF6B7A900DC}">
      <dsp:nvSpPr>
        <dsp:cNvPr id="0" name=""/>
        <dsp:cNvSpPr/>
      </dsp:nvSpPr>
      <dsp:spPr>
        <a:xfrm>
          <a:off x="4701" y="951342"/>
          <a:ext cx="2736698" cy="1094679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Encontrar os itens frequentes (</a:t>
          </a:r>
          <a:r>
            <a:rPr lang="pt-BR" sz="1800" b="1" kern="1200" dirty="0"/>
            <a:t>suporte</a:t>
          </a:r>
          <a:r>
            <a:rPr lang="pt-BR" sz="1800" kern="1200" dirty="0"/>
            <a:t> mínimo)</a:t>
          </a:r>
        </a:p>
      </dsp:txBody>
      <dsp:txXfrm>
        <a:off x="552041" y="951342"/>
        <a:ext cx="1642019" cy="1094679"/>
      </dsp:txXfrm>
    </dsp:sp>
    <dsp:sp modelId="{0931C702-BEE1-4EA3-9333-1ACB27F8B76A}">
      <dsp:nvSpPr>
        <dsp:cNvPr id="0" name=""/>
        <dsp:cNvSpPr/>
      </dsp:nvSpPr>
      <dsp:spPr>
        <a:xfrm>
          <a:off x="2467729" y="951342"/>
          <a:ext cx="2736698" cy="1094679"/>
        </a:xfrm>
        <a:prstGeom prst="chevron">
          <a:avLst/>
        </a:prstGeom>
        <a:solidFill>
          <a:schemeClr val="accent4">
            <a:hueOff val="-1173315"/>
            <a:satOff val="-12043"/>
            <a:lumOff val="50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Gerar regras candidatas para cada item</a:t>
          </a:r>
        </a:p>
      </dsp:txBody>
      <dsp:txXfrm>
        <a:off x="3015069" y="951342"/>
        <a:ext cx="1642019" cy="1094679"/>
      </dsp:txXfrm>
    </dsp:sp>
    <dsp:sp modelId="{8B8CC545-2BBF-496E-A965-E14EAC9204FD}">
      <dsp:nvSpPr>
        <dsp:cNvPr id="0" name=""/>
        <dsp:cNvSpPr/>
      </dsp:nvSpPr>
      <dsp:spPr>
        <a:xfrm>
          <a:off x="4930758" y="951342"/>
          <a:ext cx="2736698" cy="1094679"/>
        </a:xfrm>
        <a:prstGeom prst="chevron">
          <a:avLst/>
        </a:prstGeom>
        <a:solidFill>
          <a:schemeClr val="accent4">
            <a:hueOff val="-2346630"/>
            <a:satOff val="-24086"/>
            <a:lumOff val="100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Calcular a </a:t>
          </a:r>
          <a:r>
            <a:rPr lang="pt-BR" sz="1800" b="1" kern="1200" dirty="0"/>
            <a:t>confiança</a:t>
          </a:r>
          <a:r>
            <a:rPr lang="pt-BR" sz="1800" kern="1200" dirty="0"/>
            <a:t> da regra</a:t>
          </a:r>
        </a:p>
      </dsp:txBody>
      <dsp:txXfrm>
        <a:off x="5478098" y="951342"/>
        <a:ext cx="1642019" cy="1094679"/>
      </dsp:txXfrm>
    </dsp:sp>
    <dsp:sp modelId="{C9BA4758-57B8-4F64-BC22-9B6CD53F8121}">
      <dsp:nvSpPr>
        <dsp:cNvPr id="0" name=""/>
        <dsp:cNvSpPr/>
      </dsp:nvSpPr>
      <dsp:spPr>
        <a:xfrm>
          <a:off x="7393786" y="951342"/>
          <a:ext cx="2736698" cy="1094679"/>
        </a:xfrm>
        <a:prstGeom prst="chevron">
          <a:avLst/>
        </a:prstGeom>
        <a:solidFill>
          <a:schemeClr val="accent4">
            <a:hueOff val="-3519944"/>
            <a:satOff val="-36129"/>
            <a:lumOff val="150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Verificar se a regra é relevante (</a:t>
          </a:r>
          <a:r>
            <a:rPr lang="pt-BR" sz="1800" b="1" i="1" kern="1200" dirty="0" err="1"/>
            <a:t>lift</a:t>
          </a:r>
          <a:r>
            <a:rPr lang="pt-BR" sz="1800" kern="1200" dirty="0"/>
            <a:t>)</a:t>
          </a:r>
        </a:p>
      </dsp:txBody>
      <dsp:txXfrm>
        <a:off x="7941126" y="951342"/>
        <a:ext cx="1642019" cy="10946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BC9E2-CCFF-4469-9A99-EB060B51E1D1}">
      <dsp:nvSpPr>
        <dsp:cNvPr id="0" name=""/>
        <dsp:cNvSpPr/>
      </dsp:nvSpPr>
      <dsp:spPr>
        <a:xfrm>
          <a:off x="3459" y="15928"/>
          <a:ext cx="3373263" cy="662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Suporte</a:t>
          </a:r>
          <a:endParaRPr lang="pt-BR" sz="2200" b="1" kern="1200" dirty="0"/>
        </a:p>
      </dsp:txBody>
      <dsp:txXfrm>
        <a:off x="3459" y="15928"/>
        <a:ext cx="3373263" cy="662400"/>
      </dsp:txXfrm>
    </dsp:sp>
    <dsp:sp modelId="{2010A930-513F-4EC9-B9C5-45093CF2FD7C}">
      <dsp:nvSpPr>
        <dsp:cNvPr id="0" name=""/>
        <dsp:cNvSpPr/>
      </dsp:nvSpPr>
      <dsp:spPr>
        <a:xfrm>
          <a:off x="3459" y="678328"/>
          <a:ext cx="3373263" cy="362533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Usado para selecionar os itens frequentes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Medido pela proporção de transações (frequência relativa) em que um conjunto de itens aparece</a:t>
          </a:r>
        </a:p>
      </dsp:txBody>
      <dsp:txXfrm>
        <a:off x="3459" y="678328"/>
        <a:ext cx="3373263" cy="3625330"/>
      </dsp:txXfrm>
    </dsp:sp>
    <dsp:sp modelId="{F36331C6-318F-44B6-A489-A0A44E5AFF03}">
      <dsp:nvSpPr>
        <dsp:cNvPr id="0" name=""/>
        <dsp:cNvSpPr/>
      </dsp:nvSpPr>
      <dsp:spPr>
        <a:xfrm>
          <a:off x="3848980" y="15928"/>
          <a:ext cx="3373263" cy="662400"/>
        </a:xfrm>
        <a:prstGeom prst="rect">
          <a:avLst/>
        </a:prstGeom>
        <a:solidFill>
          <a:schemeClr val="accent4">
            <a:hueOff val="-1759972"/>
            <a:satOff val="-18065"/>
            <a:lumOff val="7550"/>
            <a:alphaOff val="0"/>
          </a:schemeClr>
        </a:solidFill>
        <a:ln w="12700" cap="flat" cmpd="sng" algn="ctr">
          <a:solidFill>
            <a:schemeClr val="accent4">
              <a:hueOff val="-1759972"/>
              <a:satOff val="-18065"/>
              <a:lumOff val="75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Confiança</a:t>
          </a:r>
          <a:endParaRPr lang="pt-BR" sz="2200" b="1" kern="1200" dirty="0"/>
        </a:p>
      </dsp:txBody>
      <dsp:txXfrm>
        <a:off x="3848980" y="15928"/>
        <a:ext cx="3373263" cy="662400"/>
      </dsp:txXfrm>
    </dsp:sp>
    <dsp:sp modelId="{C1AFA63D-1E72-4376-A91A-9BFAB74ECA76}">
      <dsp:nvSpPr>
        <dsp:cNvPr id="0" name=""/>
        <dsp:cNvSpPr/>
      </dsp:nvSpPr>
      <dsp:spPr>
        <a:xfrm>
          <a:off x="3848980" y="678328"/>
          <a:ext cx="3373263" cy="3625330"/>
        </a:xfrm>
        <a:prstGeom prst="rect">
          <a:avLst/>
        </a:prstGeom>
        <a:solidFill>
          <a:schemeClr val="accent4">
            <a:tint val="40000"/>
            <a:alpha val="90000"/>
            <a:hueOff val="-1307836"/>
            <a:satOff val="-4704"/>
            <a:lumOff val="51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307836"/>
              <a:satOff val="-4704"/>
              <a:lumOff val="5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Probabilidade do item X acontecer dado que o item Y já aconteceu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Frequência com que os </a:t>
          </a:r>
          <a:r>
            <a:rPr lang="pt-BR" sz="2300" i="0" kern="1200" dirty="0"/>
            <a:t>itens</a:t>
          </a:r>
          <a:r>
            <a:rPr lang="pt-BR" sz="2300" kern="1200" dirty="0"/>
            <a:t> X e Y ocorreram juntos em relação à frequência em que X ocorre no conjunto de dados </a:t>
          </a:r>
        </a:p>
      </dsp:txBody>
      <dsp:txXfrm>
        <a:off x="3848980" y="678328"/>
        <a:ext cx="3373263" cy="3625330"/>
      </dsp:txXfrm>
    </dsp:sp>
    <dsp:sp modelId="{C9D71451-B13E-4583-80A4-468B86ABE774}">
      <dsp:nvSpPr>
        <dsp:cNvPr id="0" name=""/>
        <dsp:cNvSpPr/>
      </dsp:nvSpPr>
      <dsp:spPr>
        <a:xfrm>
          <a:off x="7694501" y="15928"/>
          <a:ext cx="3373263" cy="662400"/>
        </a:xfrm>
        <a:prstGeom prst="rect">
          <a:avLst/>
        </a:prstGeom>
        <a:solidFill>
          <a:schemeClr val="accent4">
            <a:hueOff val="-3519944"/>
            <a:satOff val="-36129"/>
            <a:lumOff val="15099"/>
            <a:alphaOff val="0"/>
          </a:schemeClr>
        </a:solidFill>
        <a:ln w="12700" cap="flat" cmpd="sng" algn="ctr">
          <a:solidFill>
            <a:schemeClr val="accent4">
              <a:hueOff val="-3519944"/>
              <a:satOff val="-36129"/>
              <a:lumOff val="150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 err="1"/>
            <a:t>Lift</a:t>
          </a:r>
          <a:endParaRPr lang="pt-BR" sz="2200" b="1" kern="1200" dirty="0"/>
        </a:p>
      </dsp:txBody>
      <dsp:txXfrm>
        <a:off x="7694501" y="15928"/>
        <a:ext cx="3373263" cy="662400"/>
      </dsp:txXfrm>
    </dsp:sp>
    <dsp:sp modelId="{6DAF2006-FED9-46AA-A0A2-11737C8144D3}">
      <dsp:nvSpPr>
        <dsp:cNvPr id="0" name=""/>
        <dsp:cNvSpPr/>
      </dsp:nvSpPr>
      <dsp:spPr>
        <a:xfrm>
          <a:off x="7694501" y="678328"/>
          <a:ext cx="3373263" cy="3625330"/>
        </a:xfrm>
        <a:prstGeom prst="rect">
          <a:avLst/>
        </a:prstGeom>
        <a:solidFill>
          <a:schemeClr val="accent4">
            <a:tint val="40000"/>
            <a:alpha val="90000"/>
            <a:hueOff val="-2615673"/>
            <a:satOff val="-9408"/>
            <a:lumOff val="1029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2615673"/>
              <a:satOff val="-9408"/>
              <a:lumOff val="1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b="0" kern="1200" dirty="0"/>
            <a:t>Medida do quanto uma regra de associação é melhor (ou pior) do que o acaso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b="0" kern="1200" dirty="0"/>
            <a:t>Comprar X aumenta a chance de comprar 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Em X </a:t>
          </a:r>
          <a:r>
            <a:rPr lang="pt-BR" sz="2300" kern="1200" dirty="0">
              <a:sym typeface="Wingdings" panose="05000000000000000000" pitchFamily="2" charset="2"/>
            </a:rPr>
            <a:t> Y, compara a</a:t>
          </a:r>
          <a:r>
            <a:rPr lang="pt-BR" sz="2300" kern="1200" dirty="0"/>
            <a:t> chance de comprar </a:t>
          </a:r>
          <a:r>
            <a:rPr lang="pt-BR" sz="2300" b="1" kern="1200" dirty="0"/>
            <a:t>Y quando X ocorre</a:t>
          </a:r>
          <a:r>
            <a:rPr lang="pt-BR" sz="2300" kern="1200" dirty="0"/>
            <a:t> com a chance de comprar </a:t>
          </a:r>
          <a:r>
            <a:rPr lang="pt-BR" sz="2300" b="1" kern="1200" dirty="0"/>
            <a:t>Y</a:t>
          </a:r>
          <a:endParaRPr lang="pt-BR" sz="2300" kern="1200" dirty="0"/>
        </a:p>
      </dsp:txBody>
      <dsp:txXfrm>
        <a:off x="7694501" y="678328"/>
        <a:ext cx="3373263" cy="3625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A2FEC-4FEE-4F08-B8C2-0E6F8D9636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82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89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  <p:sldLayoutId id="214748369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não personalizada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Definir o conceito de recomendação não personalizada, identificando suas características principais</a:t>
            </a:r>
          </a:p>
          <a:p>
            <a:r>
              <a:rPr lang="pt-BR" dirty="0"/>
              <a:t>Explicar o funcionamento de métricas de ordenação global, incluindo o cálculo de médias ponderadas</a:t>
            </a:r>
          </a:p>
          <a:p>
            <a:r>
              <a:rPr lang="pt-BR" dirty="0"/>
              <a:t>Analisar o processo de geração e avaliação de regras, compreendendo o uso de algoritmos de itens frequentes e métricas de suporte, confiança e </a:t>
            </a:r>
            <a:r>
              <a:rPr lang="pt-BR" i="1" dirty="0" err="1"/>
              <a:t>lift</a:t>
            </a:r>
            <a:endParaRPr lang="pt-BR" i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E52537F-0486-379E-D1EF-3E85B437E74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 recomendação </a:t>
            </a:r>
            <a:r>
              <a:rPr lang="pt-BR" b="1" dirty="0"/>
              <a:t>não personalizada</a:t>
            </a:r>
            <a:r>
              <a:rPr lang="pt-BR" dirty="0"/>
              <a:t> oferece sugestões </a:t>
            </a:r>
            <a:r>
              <a:rPr lang="pt-BR" b="1" dirty="0"/>
              <a:t>iguais para todos os usuários</a:t>
            </a:r>
            <a:r>
              <a:rPr lang="pt-BR" dirty="0"/>
              <a:t>, sem considerar histórico, perfil ou contexto individual</a:t>
            </a:r>
          </a:p>
          <a:p>
            <a:endParaRPr lang="pt-BR" dirty="0"/>
          </a:p>
          <a:p>
            <a:r>
              <a:rPr lang="pt-BR" dirty="0"/>
              <a:t>Características</a:t>
            </a:r>
          </a:p>
          <a:p>
            <a:pPr lvl="1"/>
            <a:r>
              <a:rPr lang="pt-BR" dirty="0"/>
              <a:t>Baseada em </a:t>
            </a:r>
            <a:r>
              <a:rPr lang="pt-BR" b="1" dirty="0"/>
              <a:t>popularidade </a:t>
            </a:r>
            <a:r>
              <a:rPr lang="pt-BR" dirty="0"/>
              <a:t>ou </a:t>
            </a:r>
            <a:r>
              <a:rPr lang="pt-BR" b="1" dirty="0"/>
              <a:t>tendências globais</a:t>
            </a:r>
            <a:endParaRPr lang="pt-BR" dirty="0"/>
          </a:p>
          <a:p>
            <a:pPr lvl="1"/>
            <a:r>
              <a:rPr lang="pt-BR" dirty="0"/>
              <a:t>Simples de implementar e escalável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2DE4C22-161B-1DDE-BF2A-884AE7E8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Não Personalizada</a:t>
            </a:r>
          </a:p>
        </p:txBody>
      </p:sp>
    </p:spTree>
    <p:extLst>
      <p:ext uri="{BB962C8B-B14F-4D97-AF65-F5344CB8AC3E}">
        <p14:creationId xmlns:p14="http://schemas.microsoft.com/office/powerpoint/2010/main" val="151809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DE4C22-161B-1DDE-BF2A-884AE7E8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Não Personalizada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21FF03-A122-073F-56D7-8646663E7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690"/>
          <a:stretch/>
        </p:blipFill>
        <p:spPr>
          <a:xfrm>
            <a:off x="1219200" y="1706137"/>
            <a:ext cx="9753600" cy="432934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344210B-31B6-62AA-FC6D-80DF9948021E}"/>
              </a:ext>
            </a:extLst>
          </p:cNvPr>
          <p:cNvSpPr txBox="1"/>
          <p:nvPr/>
        </p:nvSpPr>
        <p:spPr>
          <a:xfrm>
            <a:off x="3883999" y="5881592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74659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Não Personalizada</a:t>
            </a:r>
          </a:p>
        </p:txBody>
      </p:sp>
      <p:sp>
        <p:nvSpPr>
          <p:cNvPr id="5" name="Balão de Fala: Oval 4">
            <a:extLst>
              <a:ext uri="{FF2B5EF4-FFF2-40B4-BE49-F238E27FC236}">
                <a16:creationId xmlns:a16="http://schemas.microsoft.com/office/drawing/2014/main" id="{3298EBAF-27C9-4C32-84C1-144798A3AB26}"/>
              </a:ext>
            </a:extLst>
          </p:cNvPr>
          <p:cNvSpPr/>
          <p:nvPr/>
        </p:nvSpPr>
        <p:spPr>
          <a:xfrm>
            <a:off x="447747" y="2756542"/>
            <a:ext cx="1656184" cy="942953"/>
          </a:xfrm>
          <a:prstGeom prst="wedgeEllipseCallout">
            <a:avLst>
              <a:gd name="adj1" fmla="val 77853"/>
              <a:gd name="adj2" fmla="val -607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/>
              <a:t>Com segmentação</a:t>
            </a:r>
          </a:p>
        </p:txBody>
      </p:sp>
      <p:sp>
        <p:nvSpPr>
          <p:cNvPr id="8" name="Balão de Fala: Oval 7">
            <a:extLst>
              <a:ext uri="{FF2B5EF4-FFF2-40B4-BE49-F238E27FC236}">
                <a16:creationId xmlns:a16="http://schemas.microsoft.com/office/drawing/2014/main" id="{7C88289E-E864-4BDF-94A9-E13F269E6C1F}"/>
              </a:ext>
            </a:extLst>
          </p:cNvPr>
          <p:cNvSpPr/>
          <p:nvPr/>
        </p:nvSpPr>
        <p:spPr>
          <a:xfrm>
            <a:off x="9600437" y="4288702"/>
            <a:ext cx="1656184" cy="942953"/>
          </a:xfrm>
          <a:prstGeom prst="wedgeEllipseCallout">
            <a:avLst>
              <a:gd name="adj1" fmla="val -70770"/>
              <a:gd name="adj2" fmla="val 465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/>
              <a:t>Sem segmentação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DCD0D2C-0912-915A-3F9A-BCE0CD7BD5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714" b="26648"/>
          <a:stretch/>
        </p:blipFill>
        <p:spPr>
          <a:xfrm>
            <a:off x="2453269" y="1547769"/>
            <a:ext cx="9067335" cy="216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71D9025-76A8-5473-2F39-0704171E12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9875" b="24944"/>
          <a:stretch/>
        </p:blipFill>
        <p:spPr>
          <a:xfrm>
            <a:off x="574569" y="3966552"/>
            <a:ext cx="8757423" cy="2160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0115892-3C5F-84E3-9037-AB1D8B9EF8A6}"/>
              </a:ext>
            </a:extLst>
          </p:cNvPr>
          <p:cNvSpPr txBox="1"/>
          <p:nvPr/>
        </p:nvSpPr>
        <p:spPr>
          <a:xfrm>
            <a:off x="2741279" y="6104250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A4052B8-2319-24CD-BB21-8693F7F7888B}"/>
              </a:ext>
            </a:extLst>
          </p:cNvPr>
          <p:cNvSpPr txBox="1"/>
          <p:nvPr/>
        </p:nvSpPr>
        <p:spPr>
          <a:xfrm>
            <a:off x="4774935" y="344279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15967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5317852" cy="4320000"/>
          </a:xfrm>
        </p:spPr>
        <p:txBody>
          <a:bodyPr>
            <a:normAutofit fontScale="92500"/>
          </a:bodyPr>
          <a:lstStyle/>
          <a:p>
            <a:r>
              <a:rPr lang="pt-BR" dirty="0"/>
              <a:t>Métricas</a:t>
            </a:r>
          </a:p>
          <a:p>
            <a:pPr lvl="1"/>
            <a:r>
              <a:rPr lang="pt-BR" dirty="0"/>
              <a:t>Mais vistos</a:t>
            </a:r>
          </a:p>
          <a:p>
            <a:pPr lvl="1"/>
            <a:r>
              <a:rPr lang="pt-BR" dirty="0"/>
              <a:t>Mais votados</a:t>
            </a:r>
          </a:p>
          <a:p>
            <a:pPr lvl="1"/>
            <a:r>
              <a:rPr lang="pt-BR" dirty="0"/>
              <a:t>Melhores avaliações</a:t>
            </a:r>
          </a:p>
          <a:p>
            <a:r>
              <a:rPr lang="pt-BR" dirty="0"/>
              <a:t>É possível definir métricas customizadas para ordenação</a:t>
            </a:r>
          </a:p>
          <a:p>
            <a:pPr lvl="1"/>
            <a:r>
              <a:rPr lang="pt-BR" dirty="0"/>
              <a:t>Balancear a quantidade de avaliações e a média das avaliações que um item recebeu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907582"/>
            <a:ext cx="11296507" cy="646331"/>
          </a:xfrm>
        </p:spPr>
        <p:txBody>
          <a:bodyPr/>
          <a:lstStyle/>
          <a:p>
            <a:pPr algn="l"/>
            <a:r>
              <a:rPr lang="pt-BR" dirty="0"/>
              <a:t>Listas Top-10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87D76D-69F1-2F51-DC34-90F042DB2FE7}"/>
              </a:ext>
            </a:extLst>
          </p:cNvPr>
          <p:cNvSpPr txBox="1"/>
          <p:nvPr/>
        </p:nvSpPr>
        <p:spPr>
          <a:xfrm>
            <a:off x="6453846" y="5809779"/>
            <a:ext cx="504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disponível em https://www.imdb.com/pt/chart/top</a:t>
            </a:r>
          </a:p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Acesso em: 15 jan. 2026.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C16EC5-0DCB-B7D2-BA61-AA33DE76AE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0"/>
          <a:stretch/>
        </p:blipFill>
        <p:spPr>
          <a:xfrm>
            <a:off x="6096000" y="941035"/>
            <a:ext cx="5755692" cy="4790687"/>
          </a:xfrm>
          <a:prstGeom prst="rect">
            <a:avLst/>
          </a:prstGeom>
        </p:spPr>
      </p:pic>
      <p:sp>
        <p:nvSpPr>
          <p:cNvPr id="7" name="Texto Explicativo em Elipse 6"/>
          <p:cNvSpPr/>
          <p:nvPr/>
        </p:nvSpPr>
        <p:spPr>
          <a:xfrm>
            <a:off x="7327592" y="196614"/>
            <a:ext cx="1374118" cy="1098557"/>
          </a:xfrm>
          <a:prstGeom prst="wedgeEllipseCallout">
            <a:avLst>
              <a:gd name="adj1" fmla="val 130672"/>
              <a:gd name="adj2" fmla="val 26779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 err="1"/>
              <a:t>IMDb</a:t>
            </a:r>
            <a:r>
              <a:rPr lang="pt-BR" sz="2000" b="1" dirty="0"/>
              <a:t> Rating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49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B0FE1AE4-DBE6-92F6-AA7D-575B7A510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0" y="677672"/>
            <a:ext cx="10080000" cy="5502656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2D1A73CF-DE55-0A50-5169-A78D5EA34372}"/>
              </a:ext>
            </a:extLst>
          </p:cNvPr>
          <p:cNvSpPr txBox="1"/>
          <p:nvPr/>
        </p:nvSpPr>
        <p:spPr>
          <a:xfrm>
            <a:off x="3883999" y="6071043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29721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i="1" dirty="0" err="1"/>
              <a:t>Weighted</a:t>
            </a:r>
            <a:r>
              <a:rPr lang="pt-BR" i="1" dirty="0"/>
              <a:t> Rating </a:t>
            </a:r>
            <a:r>
              <a:rPr lang="pt-BR" dirty="0"/>
              <a:t>do </a:t>
            </a:r>
            <a:r>
              <a:rPr lang="pt-BR" dirty="0" err="1"/>
              <a:t>IMDb</a:t>
            </a:r>
            <a:endParaRPr lang="pt-BR" dirty="0"/>
          </a:p>
          <a:p>
            <a:pPr lvl="1"/>
            <a:r>
              <a:rPr lang="pt-BR" dirty="0"/>
              <a:t>Pondera o total de avaliações e a média de avaliações que um filme recebeu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Top-10</a:t>
            </a:r>
          </a:p>
        </p:txBody>
      </p:sp>
      <p:sp>
        <p:nvSpPr>
          <p:cNvPr id="7" name="Texto Explicativo em Elipse 6"/>
          <p:cNvSpPr/>
          <p:nvPr/>
        </p:nvSpPr>
        <p:spPr>
          <a:xfrm>
            <a:off x="9289076" y="3239761"/>
            <a:ext cx="1374118" cy="1098557"/>
          </a:xfrm>
          <a:prstGeom prst="wedgeEllipseCallout">
            <a:avLst>
              <a:gd name="adj1" fmla="val -119557"/>
              <a:gd name="adj2" fmla="val 35563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 err="1"/>
              <a:t>IMDb</a:t>
            </a:r>
            <a:r>
              <a:rPr lang="pt-BR" sz="2000" b="1" dirty="0"/>
              <a:t> Rating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491" y="3789040"/>
            <a:ext cx="5753903" cy="8764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CaixaDeTexto 12"/>
          <p:cNvSpPr txBox="1"/>
          <p:nvPr/>
        </p:nvSpPr>
        <p:spPr>
          <a:xfrm>
            <a:off x="1991544" y="4883676"/>
            <a:ext cx="59293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pt-BR" sz="2400" b="1" i="1" dirty="0">
                <a:solidFill>
                  <a:schemeClr val="tx2"/>
                </a:solidFill>
              </a:rPr>
              <a:t>R</a:t>
            </a:r>
            <a:r>
              <a:rPr lang="pt-BR" sz="2400" dirty="0">
                <a:solidFill>
                  <a:schemeClr val="tx2"/>
                </a:solidFill>
              </a:rPr>
              <a:t> = classificação média do filme </a:t>
            </a:r>
          </a:p>
          <a:p>
            <a:pPr lvl="1"/>
            <a:r>
              <a:rPr lang="pt-BR" sz="2400" b="1" i="1" dirty="0">
                <a:solidFill>
                  <a:schemeClr val="tx2"/>
                </a:solidFill>
              </a:rPr>
              <a:t>v</a:t>
            </a:r>
            <a:r>
              <a:rPr lang="pt-BR" sz="2400" dirty="0">
                <a:solidFill>
                  <a:schemeClr val="tx2"/>
                </a:solidFill>
              </a:rPr>
              <a:t> = número de votos do filme</a:t>
            </a:r>
          </a:p>
          <a:p>
            <a:pPr lvl="1"/>
            <a:r>
              <a:rPr lang="pt-BR" sz="2400" b="1" i="1" dirty="0">
                <a:solidFill>
                  <a:schemeClr val="tx2"/>
                </a:solidFill>
              </a:rPr>
              <a:t>m</a:t>
            </a:r>
            <a:r>
              <a:rPr lang="pt-BR" sz="2400" dirty="0">
                <a:solidFill>
                  <a:schemeClr val="tx2"/>
                </a:solidFill>
              </a:rPr>
              <a:t> = número mínimo de votos a considerar</a:t>
            </a:r>
          </a:p>
          <a:p>
            <a:pPr lvl="1"/>
            <a:r>
              <a:rPr lang="pt-BR" sz="2400" b="1" i="1" dirty="0">
                <a:solidFill>
                  <a:schemeClr val="tx2"/>
                </a:solidFill>
              </a:rPr>
              <a:t>C</a:t>
            </a:r>
            <a:r>
              <a:rPr lang="pt-BR" sz="2400" dirty="0">
                <a:solidFill>
                  <a:schemeClr val="tx2"/>
                </a:solidFill>
              </a:rPr>
              <a:t> = classificação média de todos os filmes</a:t>
            </a:r>
          </a:p>
        </p:txBody>
      </p:sp>
    </p:spTree>
    <p:extLst>
      <p:ext uri="{BB962C8B-B14F-4D97-AF65-F5344CB8AC3E}">
        <p14:creationId xmlns:p14="http://schemas.microsoft.com/office/powerpoint/2010/main" val="68216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88D0D46-B34A-6326-4D01-17ED8F44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06330"/>
            <a:ext cx="5276086" cy="3869473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08E181-50D3-4F37-8B49-BEDA2BFE262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2106330"/>
            <a:ext cx="4992325" cy="4069458"/>
          </a:xfrm>
        </p:spPr>
        <p:txBody>
          <a:bodyPr/>
          <a:lstStyle/>
          <a:p>
            <a:r>
              <a:rPr lang="pt-BR" dirty="0"/>
              <a:t>Recomendações de itens </a:t>
            </a:r>
            <a:r>
              <a:rPr lang="pt-BR" u="sng" dirty="0"/>
              <a:t>associados</a:t>
            </a:r>
            <a:r>
              <a:rPr lang="pt-BR" dirty="0"/>
              <a:t> a outro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4A914E-5A15-4AEC-8E04-88286F9D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Não Personalizada</a:t>
            </a:r>
          </a:p>
        </p:txBody>
      </p:sp>
      <p:sp>
        <p:nvSpPr>
          <p:cNvPr id="7" name="Balão de Fala: Oval 6">
            <a:extLst>
              <a:ext uri="{FF2B5EF4-FFF2-40B4-BE49-F238E27FC236}">
                <a16:creationId xmlns:a16="http://schemas.microsoft.com/office/drawing/2014/main" id="{3FFE8D50-A7B4-4FB2-A07C-EC1ECFBA0C66}"/>
              </a:ext>
            </a:extLst>
          </p:cNvPr>
          <p:cNvSpPr/>
          <p:nvPr/>
        </p:nvSpPr>
        <p:spPr>
          <a:xfrm>
            <a:off x="2885189" y="4141059"/>
            <a:ext cx="2567756" cy="942953"/>
          </a:xfrm>
          <a:prstGeom prst="wedgeEllipseCallout">
            <a:avLst>
              <a:gd name="adj1" fmla="val 80699"/>
              <a:gd name="adj2" fmla="val -877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/>
              <a:t>Itens comprados juntos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021F891-C953-3D10-15AE-5D11F348CCE8}"/>
              </a:ext>
            </a:extLst>
          </p:cNvPr>
          <p:cNvSpPr txBox="1"/>
          <p:nvPr/>
        </p:nvSpPr>
        <p:spPr>
          <a:xfrm>
            <a:off x="6522042" y="5941099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09754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Técnica de </a:t>
            </a:r>
            <a:r>
              <a:rPr lang="pt-BR" b="1" dirty="0"/>
              <a:t>aprendizado não-supervisionado</a:t>
            </a:r>
            <a:r>
              <a:rPr lang="pt-BR" dirty="0"/>
              <a:t> para encontrar padrões associativos entre os dados</a:t>
            </a:r>
          </a:p>
          <a:p>
            <a:r>
              <a:rPr lang="pt-BR" dirty="0"/>
              <a:t>Regras de associações são regras no formato</a:t>
            </a:r>
            <a:br>
              <a:rPr lang="pt-BR" dirty="0"/>
            </a:br>
            <a:r>
              <a:rPr lang="pt-BR" dirty="0"/>
              <a:t>X</a:t>
            </a:r>
            <a:r>
              <a:rPr lang="pt-BR" dirty="0">
                <a:sym typeface="Wingdings" pitchFamily="2" charset="2"/>
              </a:rPr>
              <a:t></a:t>
            </a:r>
            <a:r>
              <a:rPr lang="pt-BR" dirty="0"/>
              <a:t>Y (condição </a:t>
            </a:r>
            <a:r>
              <a:rPr lang="pt-BR" dirty="0">
                <a:sym typeface="Wingdings" pitchFamily="2" charset="2"/>
              </a:rPr>
              <a:t> </a:t>
            </a:r>
            <a:r>
              <a:rPr lang="pt-BR" dirty="0"/>
              <a:t>resultado)</a:t>
            </a:r>
          </a:p>
          <a:p>
            <a:pPr lvl="1"/>
            <a:r>
              <a:rPr lang="pt-BR" dirty="0"/>
              <a:t>antecedente </a:t>
            </a:r>
            <a:r>
              <a:rPr lang="pt-BR" dirty="0">
                <a:sym typeface="Wingdings" panose="05000000000000000000" pitchFamily="2" charset="2"/>
              </a:rPr>
              <a:t> consequente</a:t>
            </a:r>
            <a:endParaRPr lang="pt-BR" dirty="0"/>
          </a:p>
          <a:p>
            <a:r>
              <a:rPr lang="pt-BR" dirty="0"/>
              <a:t>Métricas medem a força da associação entre X e Y</a:t>
            </a:r>
          </a:p>
          <a:p>
            <a:pPr lvl="1"/>
            <a:r>
              <a:rPr lang="pt-BR" dirty="0"/>
              <a:t>Exemplo: X implica em Y com 90% de confiança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Associações</a:t>
            </a:r>
          </a:p>
        </p:txBody>
      </p:sp>
    </p:spTree>
    <p:extLst>
      <p:ext uri="{BB962C8B-B14F-4D97-AF65-F5344CB8AC3E}">
        <p14:creationId xmlns:p14="http://schemas.microsoft.com/office/powerpoint/2010/main" val="786347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A regra de associação </a:t>
            </a:r>
            <a:r>
              <a:rPr lang="pt-BR" b="1" dirty="0">
                <a:solidFill>
                  <a:srgbClr val="0070C0"/>
                </a:solidFill>
              </a:rPr>
              <a:t>X</a:t>
            </a:r>
            <a:r>
              <a:rPr lang="pt-BR" b="1" dirty="0">
                <a:solidFill>
                  <a:srgbClr val="0070C0"/>
                </a:solidFill>
                <a:sym typeface="Wingdings" pitchFamily="2" charset="2"/>
              </a:rPr>
              <a:t></a:t>
            </a:r>
            <a:r>
              <a:rPr lang="pt-BR" b="1" dirty="0">
                <a:solidFill>
                  <a:srgbClr val="0070C0"/>
                </a:solidFill>
              </a:rPr>
              <a:t>Y</a:t>
            </a:r>
            <a:r>
              <a:rPr lang="pt-BR" dirty="0"/>
              <a:t> indica que se encontrarmos o conjunto de itens X em uma transação, então temos uma boa chance de encontrar também os itens do conjunto Y na mesma transação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de Associação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C81BF80-5E4C-AF68-8884-16AD1E5AB7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3" t="5332" r="6416"/>
          <a:stretch/>
        </p:blipFill>
        <p:spPr>
          <a:xfrm>
            <a:off x="3546088" y="3791415"/>
            <a:ext cx="4873083" cy="249345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D292DD9-AAD6-153C-56F0-40917EBD17E8}"/>
              </a:ext>
            </a:extLst>
          </p:cNvPr>
          <p:cNvSpPr txBox="1"/>
          <p:nvPr/>
        </p:nvSpPr>
        <p:spPr>
          <a:xfrm>
            <a:off x="3770628" y="617578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1345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48FDB1-DCA2-5B5B-99CD-AE5B84DC523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Para a geração das regras de associação são necessários executar os seguintes passos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4A6FE2-FB51-4CD8-9F25-CB5BFECC9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das regras de associação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BA8A8198-A706-5A91-D9C3-9853CCEF3D44}"/>
              </a:ext>
            </a:extLst>
          </p:cNvPr>
          <p:cNvGraphicFramePr/>
          <p:nvPr/>
        </p:nvGraphicFramePr>
        <p:xfrm>
          <a:off x="1028407" y="3140968"/>
          <a:ext cx="10135186" cy="2997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8187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C6F28D6E-FF38-76BC-D32F-A993306C0AB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848189393"/>
              </p:ext>
            </p:extLst>
          </p:nvPr>
        </p:nvGraphicFramePr>
        <p:xfrm>
          <a:off x="547688" y="1855788"/>
          <a:ext cx="11071225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A45BC833-9B7A-653A-1293-3E21992A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Métricas da associação</a:t>
            </a:r>
          </a:p>
        </p:txBody>
      </p:sp>
    </p:spTree>
    <p:extLst>
      <p:ext uri="{BB962C8B-B14F-4D97-AF65-F5344CB8AC3E}">
        <p14:creationId xmlns:p14="http://schemas.microsoft.com/office/powerpoint/2010/main" val="40480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B57D11-0CE5-8D47-BECB-42959D50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6931" y="6497146"/>
            <a:ext cx="227093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pt-BR"/>
            </a:defPPr>
            <a:lvl1pPr marL="0" algn="r" defTabSz="914400" rtl="0" eaLnBrk="1" latinLnBrk="0" hangingPunct="1">
              <a:defRPr sz="1252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1E2FF6-93F7-41BC-B57B-70780702280D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6CC2661-0B7D-8379-F2D9-BEED64D1C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3F01530-0858-1A7B-84FB-EE78B62152E0}"/>
              </a:ext>
            </a:extLst>
          </p:cNvPr>
          <p:cNvSpPr txBox="1"/>
          <p:nvPr/>
        </p:nvSpPr>
        <p:spPr>
          <a:xfrm>
            <a:off x="3883999" y="6398470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03498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transações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0CEB55E-E301-49FD-9F0C-A0C0F33D8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40" y="2151949"/>
            <a:ext cx="10566120" cy="31527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3CD9159-C1F4-3531-E4E6-23634AE7CBF8}"/>
              </a:ext>
            </a:extLst>
          </p:cNvPr>
          <p:cNvSpPr txBox="1"/>
          <p:nvPr/>
        </p:nvSpPr>
        <p:spPr>
          <a:xfrm>
            <a:off x="3883999" y="543946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469831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1BBFB74C-CC32-46E0-B82D-5073130532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5301348" cy="4320000"/>
          </a:xfrm>
        </p:spPr>
        <p:txBody>
          <a:bodyPr/>
          <a:lstStyle/>
          <a:p>
            <a:r>
              <a:rPr lang="pt-BR" dirty="0"/>
              <a:t>Algoritmo </a:t>
            </a:r>
            <a:r>
              <a:rPr lang="pt-BR" b="1" dirty="0" err="1"/>
              <a:t>apriori</a:t>
            </a:r>
            <a:r>
              <a:rPr lang="pt-BR" dirty="0"/>
              <a:t> ou </a:t>
            </a:r>
            <a:br>
              <a:rPr lang="pt-BR" dirty="0"/>
            </a:br>
            <a:r>
              <a:rPr lang="pt-BR" b="1" dirty="0"/>
              <a:t>FP-</a:t>
            </a:r>
            <a:r>
              <a:rPr lang="pt-BR" b="1" dirty="0" err="1"/>
              <a:t>growth</a:t>
            </a:r>
            <a:r>
              <a:rPr lang="pt-BR" dirty="0"/>
              <a:t> podem gerar os conjuntos dos itens frequentes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4CB484-7FB3-434A-867F-85526D90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Itens frequentes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B05640C-D241-40D0-9534-92560F074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714" y="984632"/>
            <a:ext cx="4536504" cy="486346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9F98CA5-35C5-44A7-8044-D0691D12B6C3}"/>
              </a:ext>
            </a:extLst>
          </p:cNvPr>
          <p:cNvSpPr txBox="1"/>
          <p:nvPr/>
        </p:nvSpPr>
        <p:spPr>
          <a:xfrm>
            <a:off x="1829164" y="4346952"/>
            <a:ext cx="3076133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Suporte mínimo </a:t>
            </a:r>
            <a:br>
              <a:rPr lang="pt-BR" sz="3200" b="1" dirty="0"/>
            </a:br>
            <a:r>
              <a:rPr lang="pt-BR" sz="3200" dirty="0"/>
              <a:t>0.3 ou 30%</a:t>
            </a:r>
            <a:endParaRPr lang="pt-BR" sz="3200" dirty="0">
              <a:sym typeface="Wingdings" panose="05000000000000000000" pitchFamily="2" charset="2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BB325CD-4AE9-E051-E76C-EA9DB799B422}"/>
              </a:ext>
            </a:extLst>
          </p:cNvPr>
          <p:cNvSpPr txBox="1"/>
          <p:nvPr/>
        </p:nvSpPr>
        <p:spPr>
          <a:xfrm>
            <a:off x="6342965" y="5971971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107972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A76E1DE9-E4D6-4E55-BD37-6932DEC4A4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/>
          <a:lstStyle/>
          <a:p>
            <a:r>
              <a:rPr lang="pt-BR" dirty="0"/>
              <a:t>Uma vez identificados os conjuntos de itens frequentes, são geradas regras de associação “se X, então Y” – X </a:t>
            </a:r>
            <a:r>
              <a:rPr lang="pt-BR" dirty="0">
                <a:sym typeface="Wingdings" panose="05000000000000000000" pitchFamily="2" charset="2"/>
              </a:rPr>
              <a:t> Y</a:t>
            </a:r>
          </a:p>
          <a:p>
            <a:endParaRPr lang="pt-BR" dirty="0"/>
          </a:p>
          <a:p>
            <a:r>
              <a:rPr lang="pt-BR" dirty="0"/>
              <a:t>As regras de associação são avaliadas com base em métricas como </a:t>
            </a:r>
            <a:r>
              <a:rPr lang="pt-BR" b="1" dirty="0">
                <a:solidFill>
                  <a:srgbClr val="0070C0"/>
                </a:solidFill>
              </a:rPr>
              <a:t>confiança</a:t>
            </a:r>
            <a:r>
              <a:rPr lang="pt-BR" dirty="0"/>
              <a:t> e </a:t>
            </a:r>
            <a:r>
              <a:rPr lang="pt-BR" b="1" i="1" dirty="0" err="1">
                <a:solidFill>
                  <a:srgbClr val="0070C0"/>
                </a:solidFill>
              </a:rPr>
              <a:t>lift</a:t>
            </a:r>
            <a:endParaRPr lang="pt-BR" b="1" i="1" dirty="0">
              <a:solidFill>
                <a:srgbClr val="0070C0"/>
              </a:solidFill>
            </a:endParaRPr>
          </a:p>
          <a:p>
            <a:pPr lvl="1"/>
            <a:r>
              <a:rPr lang="pt-BR" dirty="0"/>
              <a:t>Seleciona as regras com confiança mínima</a:t>
            </a:r>
          </a:p>
          <a:p>
            <a:pPr lvl="1"/>
            <a:r>
              <a:rPr lang="pt-BR" dirty="0"/>
              <a:t>Verifica se o </a:t>
            </a:r>
            <a:r>
              <a:rPr lang="pt-BR" i="1" dirty="0" err="1"/>
              <a:t>lift</a:t>
            </a:r>
            <a:r>
              <a:rPr lang="pt-BR" dirty="0"/>
              <a:t> é maior do que 1 (há correlação positiva)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4A914E-5A15-4AEC-8E04-88286F9D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Regras de associação</a:t>
            </a:r>
          </a:p>
        </p:txBody>
      </p:sp>
    </p:spTree>
    <p:extLst>
      <p:ext uri="{BB962C8B-B14F-4D97-AF65-F5344CB8AC3E}">
        <p14:creationId xmlns:p14="http://schemas.microsoft.com/office/powerpoint/2010/main" val="3893288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D2133CDD-095F-417A-A624-41E7990AD8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5384760" cy="4320000"/>
          </a:xfrm>
        </p:spPr>
        <p:txBody>
          <a:bodyPr>
            <a:normAutofit/>
          </a:bodyPr>
          <a:lstStyle/>
          <a:p>
            <a:r>
              <a:rPr lang="pt-BR" sz="2400" b="1" dirty="0"/>
              <a:t>O que é comprado junto com Torta (X)? </a:t>
            </a:r>
          </a:p>
          <a:p>
            <a:pPr lvl="1"/>
            <a:r>
              <a:rPr lang="pt-BR" sz="2200" b="1" dirty="0"/>
              <a:t>Chocolate e Cookie</a:t>
            </a:r>
          </a:p>
          <a:p>
            <a:pPr lvl="1"/>
            <a:r>
              <a:rPr lang="pt-BR" sz="2200" dirty="0"/>
              <a:t>Esses produtos podem ser impactados se a venda de Torta for interrompida</a:t>
            </a:r>
          </a:p>
          <a:p>
            <a:r>
              <a:rPr lang="pt-BR" sz="2400" b="1" dirty="0"/>
              <a:t>O que contribui para a venda de Cookie (Y)?</a:t>
            </a:r>
          </a:p>
          <a:p>
            <a:pPr lvl="1"/>
            <a:r>
              <a:rPr lang="pt-BR" sz="2200" b="1" dirty="0"/>
              <a:t>Chocolate e Torta</a:t>
            </a:r>
          </a:p>
          <a:p>
            <a:pPr lvl="1"/>
            <a:r>
              <a:rPr lang="pt-BR" sz="2200" dirty="0"/>
              <a:t>Colocar o Cookie perto deles pode aumentar ainda mais a venda de Cookies</a:t>
            </a:r>
          </a:p>
          <a:p>
            <a:endParaRPr lang="pt-BR" sz="20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4A914E-5A15-4AEC-8E04-88286F9D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de associação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E4ED83E-3734-44FE-863F-F51FC0837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762" y="1628775"/>
            <a:ext cx="4968552" cy="45995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E8037D3-8036-0695-02FE-0E2891EDB4CA}"/>
              </a:ext>
            </a:extLst>
          </p:cNvPr>
          <p:cNvSpPr txBox="1"/>
          <p:nvPr/>
        </p:nvSpPr>
        <p:spPr>
          <a:xfrm>
            <a:off x="6343037" y="622828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3375431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A914E-5A15-4AEC-8E04-88286F9D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 prática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333C6CE-F5B5-981E-FB48-93E2A0123414}"/>
              </a:ext>
            </a:extLst>
          </p:cNvPr>
          <p:cNvGrpSpPr/>
          <p:nvPr/>
        </p:nvGrpSpPr>
        <p:grpSpPr>
          <a:xfrm>
            <a:off x="2171564" y="1682165"/>
            <a:ext cx="7848872" cy="4140000"/>
            <a:chOff x="2320030" y="1527489"/>
            <a:chExt cx="7848872" cy="4140000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A033E185-35EA-4092-8D0F-1CC7D59153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0030" y="1527489"/>
              <a:ext cx="2759999" cy="41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8BAA766E-9251-4169-B5B0-EC3408510097}"/>
                </a:ext>
              </a:extLst>
            </p:cNvPr>
            <p:cNvGrpSpPr/>
            <p:nvPr/>
          </p:nvGrpSpPr>
          <p:grpSpPr>
            <a:xfrm>
              <a:off x="6027934" y="1527489"/>
              <a:ext cx="4140968" cy="4140000"/>
              <a:chOff x="3810000" y="764704"/>
              <a:chExt cx="4572000" cy="4896544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CEDD2004-EEB8-4903-86CA-32847747DD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1150" b="17451"/>
              <a:stretch/>
            </p:blipFill>
            <p:spPr>
              <a:xfrm>
                <a:off x="3810000" y="764704"/>
                <a:ext cx="4572000" cy="4896544"/>
              </a:xfrm>
              <a:prstGeom prst="rect">
                <a:avLst/>
              </a:prstGeom>
            </p:spPr>
          </p:pic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0E4AC93A-9B9C-4984-9D9D-8346E49345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1944" y="1310324"/>
                <a:ext cx="320068" cy="60965"/>
              </a:xfrm>
              <a:prstGeom prst="rect">
                <a:avLst/>
              </a:prstGeom>
            </p:spPr>
          </p:pic>
        </p:grp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8E09F4-0C1F-B341-2C69-7BA0CC1732E2}"/>
              </a:ext>
            </a:extLst>
          </p:cNvPr>
          <p:cNvSpPr txBox="1"/>
          <p:nvPr/>
        </p:nvSpPr>
        <p:spPr>
          <a:xfrm>
            <a:off x="3883999" y="5971369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262225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7607</TotalTime>
  <Words>737</Words>
  <Application>Microsoft Office PowerPoint</Application>
  <PresentationFormat>Widescreen</PresentationFormat>
  <Paragraphs>92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20</vt:i4>
      </vt:variant>
    </vt:vector>
  </HeadingPairs>
  <TitlesOfParts>
    <vt:vector size="30" baseType="lpstr">
      <vt:lpstr>Wingdings</vt:lpstr>
      <vt:lpstr>Montserrat</vt:lpstr>
      <vt:lpstr>Cronos Pro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Recomendação não personalizada</vt:lpstr>
      <vt:lpstr>Objetivos de Aprendizagem</vt:lpstr>
      <vt:lpstr>Recomendação Não Personalizada</vt:lpstr>
      <vt:lpstr>Recomendação Não Personalizada</vt:lpstr>
      <vt:lpstr>Recomendação Não Personalizada</vt:lpstr>
      <vt:lpstr>Listas Top-10</vt:lpstr>
      <vt:lpstr>Apresentação do PowerPoint</vt:lpstr>
      <vt:lpstr>Listas Top-10</vt:lpstr>
      <vt:lpstr>Recomendação Não Personalizada</vt:lpstr>
      <vt:lpstr>Associações</vt:lpstr>
      <vt:lpstr>Regras de Associação</vt:lpstr>
      <vt:lpstr>Geração das regras de associação</vt:lpstr>
      <vt:lpstr>Métricas da associação</vt:lpstr>
      <vt:lpstr>Apresentação do PowerPoint</vt:lpstr>
      <vt:lpstr>Exemplo de transações</vt:lpstr>
      <vt:lpstr>Itens frequentes</vt:lpstr>
      <vt:lpstr>Regras de associação</vt:lpstr>
      <vt:lpstr>Regras de associação</vt:lpstr>
      <vt:lpstr>Aplicação prática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168</cp:revision>
  <dcterms:created xsi:type="dcterms:W3CDTF">2025-06-11T21:44:24Z</dcterms:created>
  <dcterms:modified xsi:type="dcterms:W3CDTF">2026-01-19T15:19:54Z</dcterms:modified>
</cp:coreProperties>
</file>