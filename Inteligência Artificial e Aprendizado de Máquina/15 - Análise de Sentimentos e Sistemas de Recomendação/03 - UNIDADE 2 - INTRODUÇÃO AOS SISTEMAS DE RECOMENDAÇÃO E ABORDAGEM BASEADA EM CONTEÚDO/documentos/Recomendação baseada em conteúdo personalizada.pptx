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15"/>
  </p:notesMasterIdLst>
  <p:sldIdLst>
    <p:sldId id="1173" r:id="rId5"/>
    <p:sldId id="297" r:id="rId6"/>
    <p:sldId id="372" r:id="rId7"/>
    <p:sldId id="1176" r:id="rId8"/>
    <p:sldId id="1178" r:id="rId9"/>
    <p:sldId id="377" r:id="rId10"/>
    <p:sldId id="1181" r:id="rId11"/>
    <p:sldId id="381" r:id="rId12"/>
    <p:sldId id="1180" r:id="rId13"/>
    <p:sldId id="264" r:id="rId14"/>
  </p:sldIdLst>
  <p:sldSz cx="12192000" cy="6858000"/>
  <p:notesSz cx="6858000" cy="9144000"/>
  <p:embeddedFontLst>
    <p:embeddedFont>
      <p:font typeface="Cronos Pro" panose="020C0502030403020304" charset="0"/>
      <p:regular r:id="rId16"/>
      <p:bold r:id="rId17"/>
      <p:italic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8027" autoAdjust="0"/>
    <p:restoredTop sz="93725" autoAdjust="0"/>
  </p:normalViewPr>
  <p:slideViewPr>
    <p:cSldViewPr snapToGrid="0">
      <p:cViewPr varScale="1">
        <p:scale>
          <a:sx n="55" d="100"/>
          <a:sy n="55" d="100"/>
        </p:scale>
        <p:origin x="792" y="34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A2FEC-4FEE-4F08-B8C2-0E6F8D9636F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826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644417-3C20-4C83-9BA8-890BA50599E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3792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644417-3C20-4C83-9BA8-890BA50599E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6692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644417-3C20-4C83-9BA8-890BA50599E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6075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4800" dirty="0"/>
              <a:t>Recomendação baseada em conteúdo personalizada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Explicar o papel do </a:t>
            </a:r>
            <a:r>
              <a:rPr lang="pt-BR" i="1" dirty="0" err="1"/>
              <a:t>User</a:t>
            </a:r>
            <a:r>
              <a:rPr lang="pt-BR" i="1" dirty="0"/>
              <a:t> Profile </a:t>
            </a:r>
            <a:r>
              <a:rPr lang="pt-BR" dirty="0"/>
              <a:t>(perfil do usuário) como a representação consolidada das interações históricas (compras, avaliações, visualizações) para personalizar as sugestões</a:t>
            </a:r>
          </a:p>
          <a:p>
            <a:r>
              <a:rPr lang="pt-BR" dirty="0"/>
              <a:t>Descrever o fluxo detalhado da recomendação baseada em conteúdo até a geração de um ranking de sugestões para o usuário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/>
          <p:cNvPicPr>
            <a:picLocks noChangeAspect="1"/>
          </p:cNvPicPr>
          <p:nvPr/>
        </p:nvPicPr>
        <p:blipFill rotWithShape="1">
          <a:blip r:embed="rId2"/>
          <a:srcRect t="5455" r="19485" b="8513"/>
          <a:stretch/>
        </p:blipFill>
        <p:spPr>
          <a:xfrm>
            <a:off x="756264" y="1607627"/>
            <a:ext cx="1273849" cy="857276"/>
          </a:xfrm>
          <a:prstGeom prst="rect">
            <a:avLst/>
          </a:prstGeom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Recomendação baseada em conteúdo</a:t>
            </a:r>
          </a:p>
        </p:txBody>
      </p:sp>
      <p:sp>
        <p:nvSpPr>
          <p:cNvPr id="6" name="Cubo 5"/>
          <p:cNvSpPr/>
          <p:nvPr/>
        </p:nvSpPr>
        <p:spPr>
          <a:xfrm>
            <a:off x="5087888" y="3501008"/>
            <a:ext cx="2016224" cy="1296144"/>
          </a:xfrm>
          <a:prstGeom prst="cub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Sistema de recomendação</a:t>
            </a:r>
          </a:p>
        </p:txBody>
      </p:sp>
      <p:pic>
        <p:nvPicPr>
          <p:cNvPr id="13322" name="Picture 10" descr="Male Icon 1600*1600 transprent Png Free Download - Communication, Hearing,  Chin. - CleanPNG / KissP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57" y="1570581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9264352" y="3068960"/>
          <a:ext cx="19382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125">
                  <a:extLst>
                    <a:ext uri="{9D8B030D-6E8A-4147-A177-3AD203B41FA5}">
                      <a16:colId xmlns:a16="http://schemas.microsoft.com/office/drawing/2014/main" val="2209866978"/>
                    </a:ext>
                  </a:extLst>
                </a:gridCol>
                <a:gridCol w="969125">
                  <a:extLst>
                    <a:ext uri="{9D8B030D-6E8A-4147-A177-3AD203B41FA5}">
                      <a16:colId xmlns:a16="http://schemas.microsoft.com/office/drawing/2014/main" val="3395637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238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6572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54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0.852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194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815230"/>
                  </a:ext>
                </a:extLst>
              </a:tr>
            </a:tbl>
          </a:graphicData>
        </a:graphic>
      </p:graphicFrame>
      <p:pic>
        <p:nvPicPr>
          <p:cNvPr id="15" name="Picture 10" descr="Livro verde clipart. Download grátis. | Creaz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349230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Livro fechado clipart. Download grátis. | Creazil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389829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 descr="Livro azul clipart. Download grátis. | Creazill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430334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eta para a Direita 8"/>
          <p:cNvSpPr/>
          <p:nvPr/>
        </p:nvSpPr>
        <p:spPr>
          <a:xfrm>
            <a:off x="7320136" y="3941680"/>
            <a:ext cx="1800199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9343201" y="5169386"/>
            <a:ext cx="17805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/>
              <a:t>Lista de </a:t>
            </a:r>
            <a:br>
              <a:rPr lang="pt-BR" sz="2000" dirty="0"/>
            </a:br>
            <a:r>
              <a:rPr lang="pt-BR" sz="2000" dirty="0"/>
              <a:t>Recomendação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698164" y="2474802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Preferências e </a:t>
            </a:r>
            <a:br>
              <a:rPr lang="pt-BR" sz="1200" dirty="0"/>
            </a:br>
            <a:r>
              <a:rPr lang="pt-BR" sz="1200" dirty="0"/>
              <a:t>perfil do usuário</a:t>
            </a:r>
          </a:p>
        </p:txBody>
      </p:sp>
      <p:sp>
        <p:nvSpPr>
          <p:cNvPr id="8" name="Seta Circular 7"/>
          <p:cNvSpPr/>
          <p:nvPr/>
        </p:nvSpPr>
        <p:spPr>
          <a:xfrm>
            <a:off x="933719" y="2042495"/>
            <a:ext cx="4761654" cy="2614220"/>
          </a:xfrm>
          <a:prstGeom prst="circularArrow">
            <a:avLst>
              <a:gd name="adj1" fmla="val 6040"/>
              <a:gd name="adj2" fmla="val 549398"/>
              <a:gd name="adj3" fmla="val 21108739"/>
              <a:gd name="adj4" fmla="val 14829329"/>
              <a:gd name="adj5" fmla="val 8228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aphicFrame>
        <p:nvGraphicFramePr>
          <p:cNvPr id="22" name="Tabela 21"/>
          <p:cNvGraphicFramePr>
            <a:graphicFrameLocks noGrp="1"/>
          </p:cNvGraphicFramePr>
          <p:nvPr/>
        </p:nvGraphicFramePr>
        <p:xfrm>
          <a:off x="571158" y="4174307"/>
          <a:ext cx="1794744" cy="468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20694">
                  <a:extLst>
                    <a:ext uri="{9D8B030D-6E8A-4147-A177-3AD203B41FA5}">
                      <a16:colId xmlns:a16="http://schemas.microsoft.com/office/drawing/2014/main" val="2209866978"/>
                    </a:ext>
                  </a:extLst>
                </a:gridCol>
                <a:gridCol w="520694">
                  <a:extLst>
                    <a:ext uri="{9D8B030D-6E8A-4147-A177-3AD203B41FA5}">
                      <a16:colId xmlns:a16="http://schemas.microsoft.com/office/drawing/2014/main" val="3395637710"/>
                    </a:ext>
                  </a:extLst>
                </a:gridCol>
                <a:gridCol w="520694">
                  <a:extLst>
                    <a:ext uri="{9D8B030D-6E8A-4147-A177-3AD203B41FA5}">
                      <a16:colId xmlns:a16="http://schemas.microsoft.com/office/drawing/2014/main" val="4092107064"/>
                    </a:ext>
                  </a:extLst>
                </a:gridCol>
                <a:gridCol w="232662">
                  <a:extLst>
                    <a:ext uri="{9D8B030D-6E8A-4147-A177-3AD203B41FA5}">
                      <a16:colId xmlns:a16="http://schemas.microsoft.com/office/drawing/2014/main" val="127678862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Título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Gênero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Atores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...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9823899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27815230"/>
                  </a:ext>
                </a:extLst>
              </a:tr>
            </a:tbl>
          </a:graphicData>
        </a:graphic>
      </p:graphicFrame>
      <p:sp>
        <p:nvSpPr>
          <p:cNvPr id="23" name="CaixaDeTexto 22"/>
          <p:cNvSpPr txBox="1"/>
          <p:nvPr/>
        </p:nvSpPr>
        <p:spPr>
          <a:xfrm>
            <a:off x="625934" y="4677474"/>
            <a:ext cx="1685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Características dos itens</a:t>
            </a:r>
          </a:p>
        </p:txBody>
      </p:sp>
      <p:sp>
        <p:nvSpPr>
          <p:cNvPr id="28" name="Seta para a Direita 27"/>
          <p:cNvSpPr/>
          <p:nvPr/>
        </p:nvSpPr>
        <p:spPr>
          <a:xfrm rot="21369445">
            <a:off x="2606745" y="4294474"/>
            <a:ext cx="2332888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/>
          <p:cNvSpPr txBox="1"/>
          <p:nvPr/>
        </p:nvSpPr>
        <p:spPr>
          <a:xfrm>
            <a:off x="5087888" y="1651433"/>
            <a:ext cx="6132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b="1" dirty="0"/>
              <a:t>Recomendações definidas a partir de itens que o usuário gostou, viu, avaliou, comprou etc.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89F09A0-BDE7-0CFB-65D5-8C77F6792D53}"/>
              </a:ext>
            </a:extLst>
          </p:cNvPr>
          <p:cNvSpPr txBox="1"/>
          <p:nvPr/>
        </p:nvSpPr>
        <p:spPr>
          <a:xfrm>
            <a:off x="3576000" y="5097250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2421782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714D48A-F27B-5B15-F3A0-83035C3A8FE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9" y="1855788"/>
            <a:ext cx="10480530" cy="4320000"/>
          </a:xfrm>
        </p:spPr>
        <p:txBody>
          <a:bodyPr/>
          <a:lstStyle/>
          <a:p>
            <a:pPr algn="r"/>
            <a:r>
              <a:rPr lang="pt-BR" dirty="0"/>
              <a:t>Personalizada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Recomendação baseada em conteúdo</a:t>
            </a:r>
          </a:p>
        </p:txBody>
      </p:sp>
      <p:sp>
        <p:nvSpPr>
          <p:cNvPr id="3" name="Texto Explicativo em Elipse 7">
            <a:extLst>
              <a:ext uri="{FF2B5EF4-FFF2-40B4-BE49-F238E27FC236}">
                <a16:creationId xmlns:a16="http://schemas.microsoft.com/office/drawing/2014/main" id="{5B3CE112-81B9-852C-0C5E-64655880F8B7}"/>
              </a:ext>
            </a:extLst>
          </p:cNvPr>
          <p:cNvSpPr/>
          <p:nvPr/>
        </p:nvSpPr>
        <p:spPr>
          <a:xfrm>
            <a:off x="9120336" y="3927744"/>
            <a:ext cx="2977008" cy="1733504"/>
          </a:xfrm>
          <a:prstGeom prst="wedgeEllipseCallout">
            <a:avLst>
              <a:gd name="adj1" fmla="val -78987"/>
              <a:gd name="adj2" fmla="val -3285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Sugestões para o seu perfil</a:t>
            </a:r>
            <a:endParaRPr lang="pt-BR" sz="1600" b="1" dirty="0"/>
          </a:p>
          <a:p>
            <a:pPr algn="ctr"/>
            <a:r>
              <a:rPr lang="pt-BR" sz="1600" dirty="0"/>
              <a:t>Recomendações gerais baseadas no seu </a:t>
            </a:r>
            <a:br>
              <a:rPr lang="pt-BR" sz="1600" dirty="0"/>
            </a:br>
            <a:r>
              <a:rPr lang="pt-BR" sz="1600" b="1" i="1" dirty="0" err="1"/>
              <a:t>user</a:t>
            </a:r>
            <a:r>
              <a:rPr lang="pt-BR" sz="1600" b="1" i="1" dirty="0"/>
              <a:t> profile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65A4E3E-59CF-A0E2-B45A-1F59C9AD6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1" y="1889533"/>
            <a:ext cx="7162800" cy="3910161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DC627AA-80CF-8527-BAE9-114E35E5C689}"/>
              </a:ext>
            </a:extLst>
          </p:cNvPr>
          <p:cNvSpPr txBox="1"/>
          <p:nvPr/>
        </p:nvSpPr>
        <p:spPr>
          <a:xfrm>
            <a:off x="2256090" y="5884924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6630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B63A7EB0-6478-23ED-B27E-4E1B76EFAA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634836"/>
            <a:ext cx="11071225" cy="4540952"/>
          </a:xfrm>
        </p:spPr>
        <p:txBody>
          <a:bodyPr/>
          <a:lstStyle/>
          <a:p>
            <a:r>
              <a:rPr lang="pt-BR" dirty="0"/>
              <a:t>Personalizada (criar um perfil do usuário)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Recomendação baseada em conteúdo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73FA774-1FE6-AFF9-F8F1-B68CEAF7F3F1}"/>
              </a:ext>
            </a:extLst>
          </p:cNvPr>
          <p:cNvSpPr txBox="1"/>
          <p:nvPr/>
        </p:nvSpPr>
        <p:spPr>
          <a:xfrm>
            <a:off x="3883999" y="6146313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D756E0-4BAD-E212-194A-EE0B8394A5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426" b="13441"/>
          <a:stretch/>
        </p:blipFill>
        <p:spPr>
          <a:xfrm>
            <a:off x="695999" y="2202213"/>
            <a:ext cx="10800000" cy="395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568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Representação de todos os itens que o usuário já viu, comprou, gostou, avaliou etc.</a:t>
            </a:r>
          </a:p>
          <a:p>
            <a:r>
              <a:rPr lang="pt-BR" dirty="0"/>
              <a:t>É utilizado para deixar as recomendações baseadas em conteúdo personalizadas</a:t>
            </a:r>
          </a:p>
          <a:p>
            <a:r>
              <a:rPr lang="pt-BR" dirty="0"/>
              <a:t>Pode ser usado sozinho para encontrar recomendações para o usuário</a:t>
            </a:r>
          </a:p>
          <a:p>
            <a:r>
              <a:rPr lang="pt-BR" dirty="0"/>
              <a:t>Pode ser combinado com os itens similares pelo conteúdo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User</a:t>
            </a:r>
            <a:r>
              <a:rPr lang="pt-BR" i="1" dirty="0"/>
              <a:t> Profile</a:t>
            </a:r>
          </a:p>
        </p:txBody>
      </p:sp>
    </p:spTree>
    <p:extLst>
      <p:ext uri="{BB962C8B-B14F-4D97-AF65-F5344CB8AC3E}">
        <p14:creationId xmlns:p14="http://schemas.microsoft.com/office/powerpoint/2010/main" val="1804414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0094E097-C612-5D32-E5C9-8F7F2F65366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0386" y="1739125"/>
            <a:ext cx="11071225" cy="4443970"/>
          </a:xfrm>
        </p:spPr>
        <p:txBody>
          <a:bodyPr/>
          <a:lstStyle/>
          <a:p>
            <a:r>
              <a:rPr lang="pt-BR" dirty="0"/>
              <a:t>Recomendação personalizada baseada em conteúdo</a:t>
            </a:r>
          </a:p>
          <a:p>
            <a:pPr lvl="1"/>
            <a:r>
              <a:rPr lang="pt-BR" dirty="0"/>
              <a:t>Criação do perfil do usuário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User</a:t>
            </a:r>
            <a:r>
              <a:rPr lang="pt-BR" i="1" dirty="0"/>
              <a:t> Profile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40FEADC-E9B5-B3E1-FBBC-89103952BBE0}"/>
              </a:ext>
            </a:extLst>
          </p:cNvPr>
          <p:cNvSpPr txBox="1"/>
          <p:nvPr/>
        </p:nvSpPr>
        <p:spPr>
          <a:xfrm>
            <a:off x="3883997" y="6029206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F7E2437-759A-2F50-C091-964F79DC9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198" y="2924398"/>
            <a:ext cx="975360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263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Representação gráfica do </a:t>
            </a:r>
            <a:r>
              <a:rPr lang="pt-BR" b="1" i="1" dirty="0" err="1"/>
              <a:t>user</a:t>
            </a:r>
            <a:r>
              <a:rPr lang="pt-BR" b="1" i="1" dirty="0"/>
              <a:t> profile</a:t>
            </a:r>
            <a:r>
              <a:rPr lang="pt-BR" dirty="0"/>
              <a:t>, representando o “</a:t>
            </a:r>
            <a:r>
              <a:rPr lang="pt-BR" b="1" dirty="0"/>
              <a:t>gosto</a:t>
            </a:r>
            <a:r>
              <a:rPr lang="pt-BR" dirty="0"/>
              <a:t>” do usuário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User</a:t>
            </a:r>
            <a:r>
              <a:rPr lang="pt-BR" i="1" dirty="0"/>
              <a:t> Profile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5999" y="3041623"/>
            <a:ext cx="10800000" cy="3001719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D91E7E9-83F9-906E-903B-B399364595D1}"/>
              </a:ext>
            </a:extLst>
          </p:cNvPr>
          <p:cNvSpPr txBox="1"/>
          <p:nvPr/>
        </p:nvSpPr>
        <p:spPr>
          <a:xfrm>
            <a:off x="3576000" y="5997247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22257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285A7033-4837-1C2C-342F-E3AD816BD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00" y="552976"/>
            <a:ext cx="10080000" cy="5502653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1516AA80-EAD1-4EBB-01D1-B714C18AAF83}"/>
              </a:ext>
            </a:extLst>
          </p:cNvPr>
          <p:cNvSpPr txBox="1"/>
          <p:nvPr/>
        </p:nvSpPr>
        <p:spPr>
          <a:xfrm>
            <a:off x="3883999" y="6104748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888452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8994</TotalTime>
  <Words>282</Words>
  <Application>Microsoft Office PowerPoint</Application>
  <PresentationFormat>Widescreen</PresentationFormat>
  <Paragraphs>47</Paragraphs>
  <Slides>10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10</vt:i4>
      </vt:variant>
    </vt:vector>
  </HeadingPairs>
  <TitlesOfParts>
    <vt:vector size="20" baseType="lpstr">
      <vt:lpstr>Wingdings</vt:lpstr>
      <vt:lpstr>Cronos Pro</vt:lpstr>
      <vt:lpstr>Arial</vt:lpstr>
      <vt:lpstr>Montserrat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Recomendação baseada em conteúdo personalizada</vt:lpstr>
      <vt:lpstr>Objetivos de Aprendizagem</vt:lpstr>
      <vt:lpstr>Recomendação baseada em conteúdo</vt:lpstr>
      <vt:lpstr>Recomendação baseada em conteúdo</vt:lpstr>
      <vt:lpstr>Recomendação baseada em conteúdo</vt:lpstr>
      <vt:lpstr>User Profile</vt:lpstr>
      <vt:lpstr>User Profile</vt:lpstr>
      <vt:lpstr>User Profile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169</cp:revision>
  <dcterms:created xsi:type="dcterms:W3CDTF">2025-06-11T21:44:24Z</dcterms:created>
  <dcterms:modified xsi:type="dcterms:W3CDTF">2026-01-27T20:00:04Z</dcterms:modified>
</cp:coreProperties>
</file>