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26"/>
  </p:notesMasterIdLst>
  <p:sldIdLst>
    <p:sldId id="1173" r:id="rId5"/>
    <p:sldId id="297" r:id="rId6"/>
    <p:sldId id="394" r:id="rId7"/>
    <p:sldId id="405" r:id="rId8"/>
    <p:sldId id="414" r:id="rId9"/>
    <p:sldId id="1174" r:id="rId10"/>
    <p:sldId id="1175" r:id="rId11"/>
    <p:sldId id="395" r:id="rId12"/>
    <p:sldId id="1178" r:id="rId13"/>
    <p:sldId id="396" r:id="rId14"/>
    <p:sldId id="1176" r:id="rId15"/>
    <p:sldId id="1179" r:id="rId16"/>
    <p:sldId id="397" r:id="rId17"/>
    <p:sldId id="398" r:id="rId18"/>
    <p:sldId id="399" r:id="rId19"/>
    <p:sldId id="1177" r:id="rId20"/>
    <p:sldId id="1180" r:id="rId21"/>
    <p:sldId id="400" r:id="rId22"/>
    <p:sldId id="401" r:id="rId23"/>
    <p:sldId id="404" r:id="rId24"/>
    <p:sldId id="264" r:id="rId25"/>
  </p:sldIdLst>
  <p:sldSz cx="12192000" cy="6858000"/>
  <p:notesSz cx="6858000" cy="9144000"/>
  <p:embeddedFontLst>
    <p:embeddedFont>
      <p:font typeface="Cambria Math" panose="02040503050406030204" pitchFamily="18" charset="0"/>
      <p:regular r:id="rId27"/>
    </p:embeddedFont>
    <p:embeddedFont>
      <p:font typeface="Cronos Pro" panose="020C0502030403020304" charset="0"/>
      <p:regular r:id="rId28"/>
      <p:bold r:id="rId29"/>
      <p:italic r:id="rId30"/>
    </p:embeddedFon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Verdana" panose="020B0604030504040204" pitchFamily="34" charset="0"/>
      <p:regular r:id="rId35"/>
      <p:bold r:id="rId36"/>
      <p:italic r:id="rId37"/>
      <p:boldItalic r:id="rId38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77" d="100"/>
          <a:sy n="77" d="100"/>
        </p:scale>
        <p:origin x="230" y="67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496203-FCEC-415C-A225-FFCFE915C469}" type="doc">
      <dgm:prSet loTypeId="urn:microsoft.com/office/officeart/2005/8/layout/process5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pt-BR"/>
        </a:p>
      </dgm:t>
    </dgm:pt>
    <dgm:pt modelId="{2BC7F5B8-CD19-432F-BB9D-7700462D720F}">
      <dgm:prSet phldrT="[Texto]" custT="1"/>
      <dgm:spPr/>
      <dgm:t>
        <a:bodyPr/>
        <a:lstStyle/>
        <a:p>
          <a:r>
            <a:rPr lang="pt-BR" sz="2800" dirty="0"/>
            <a:t>Calcula as similaridades</a:t>
          </a:r>
        </a:p>
      </dgm:t>
    </dgm:pt>
    <dgm:pt modelId="{02A868ED-9C67-4C6F-8BBC-B65CC75583B3}" type="parTrans" cxnId="{24F0A07F-A7F3-423A-A784-B36FF0A14AB7}">
      <dgm:prSet/>
      <dgm:spPr/>
      <dgm:t>
        <a:bodyPr/>
        <a:lstStyle/>
        <a:p>
          <a:endParaRPr lang="pt-BR" sz="1800"/>
        </a:p>
      </dgm:t>
    </dgm:pt>
    <dgm:pt modelId="{4D62F3CA-F067-47CE-A8E7-FBACDDCCD416}" type="sibTrans" cxnId="{24F0A07F-A7F3-423A-A784-B36FF0A14AB7}">
      <dgm:prSet custT="1"/>
      <dgm:spPr/>
      <dgm:t>
        <a:bodyPr/>
        <a:lstStyle/>
        <a:p>
          <a:endParaRPr lang="pt-BR" sz="2400"/>
        </a:p>
      </dgm:t>
    </dgm:pt>
    <dgm:pt modelId="{7937F4F1-D959-4B0F-AF3C-B244B1AEF648}">
      <dgm:prSet phldrT="[Texto]" custT="1"/>
      <dgm:spPr/>
      <dgm:t>
        <a:bodyPr/>
        <a:lstStyle/>
        <a:p>
          <a:r>
            <a:rPr lang="pt-BR" sz="2800" dirty="0"/>
            <a:t>Seleciona a vizinhança</a:t>
          </a:r>
        </a:p>
      </dgm:t>
    </dgm:pt>
    <dgm:pt modelId="{1FBB9F13-E8C9-4EA6-9697-1CF8CBB1B580}" type="parTrans" cxnId="{05EE7E5F-0274-4B39-B371-98B66FBA1364}">
      <dgm:prSet/>
      <dgm:spPr/>
      <dgm:t>
        <a:bodyPr/>
        <a:lstStyle/>
        <a:p>
          <a:endParaRPr lang="pt-BR" sz="1800"/>
        </a:p>
      </dgm:t>
    </dgm:pt>
    <dgm:pt modelId="{A269CD34-3A2A-4C23-8E11-0A32FFBBDAA2}" type="sibTrans" cxnId="{05EE7E5F-0274-4B39-B371-98B66FBA1364}">
      <dgm:prSet custT="1"/>
      <dgm:spPr/>
      <dgm:t>
        <a:bodyPr/>
        <a:lstStyle/>
        <a:p>
          <a:endParaRPr lang="pt-BR" sz="2400"/>
        </a:p>
      </dgm:t>
    </dgm:pt>
    <dgm:pt modelId="{7F2BE915-E2EA-4349-ACD4-71385E62C62B}">
      <dgm:prSet phldrT="[Texto]" custT="1"/>
      <dgm:spPr/>
      <dgm:t>
        <a:bodyPr/>
        <a:lstStyle/>
        <a:p>
          <a:r>
            <a:rPr lang="pt-BR" sz="2800" dirty="0"/>
            <a:t>Realiza as predições</a:t>
          </a:r>
        </a:p>
      </dgm:t>
    </dgm:pt>
    <dgm:pt modelId="{3A8C11A8-38F1-4C91-971D-990A07AFD5DC}" type="parTrans" cxnId="{C9289028-2378-46D9-BC37-E5995975B77F}">
      <dgm:prSet/>
      <dgm:spPr/>
      <dgm:t>
        <a:bodyPr/>
        <a:lstStyle/>
        <a:p>
          <a:endParaRPr lang="pt-BR" sz="1800"/>
        </a:p>
      </dgm:t>
    </dgm:pt>
    <dgm:pt modelId="{3FA63AC9-5FFD-4D27-9830-06DF21874511}" type="sibTrans" cxnId="{C9289028-2378-46D9-BC37-E5995975B77F}">
      <dgm:prSet custT="1"/>
      <dgm:spPr/>
      <dgm:t>
        <a:bodyPr/>
        <a:lstStyle/>
        <a:p>
          <a:endParaRPr lang="pt-BR" sz="2400"/>
        </a:p>
      </dgm:t>
    </dgm:pt>
    <dgm:pt modelId="{17956CA8-ABE3-48D7-824D-0812B8463F5E}">
      <dgm:prSet phldrT="[Texto]" custT="1"/>
      <dgm:spPr/>
      <dgm:t>
        <a:bodyPr/>
        <a:lstStyle/>
        <a:p>
          <a:r>
            <a:rPr lang="pt-BR" sz="2800" dirty="0"/>
            <a:t>Gera as recomendações</a:t>
          </a:r>
        </a:p>
      </dgm:t>
    </dgm:pt>
    <dgm:pt modelId="{5D9B5064-FF04-4CEE-8921-E52E407132B9}" type="parTrans" cxnId="{44F813EA-0449-4372-AEE0-56C26A03B7C5}">
      <dgm:prSet/>
      <dgm:spPr/>
      <dgm:t>
        <a:bodyPr/>
        <a:lstStyle/>
        <a:p>
          <a:endParaRPr lang="pt-BR" sz="1800"/>
        </a:p>
      </dgm:t>
    </dgm:pt>
    <dgm:pt modelId="{C84C6C72-44B6-4AC5-828A-80184696FC1C}" type="sibTrans" cxnId="{44F813EA-0449-4372-AEE0-56C26A03B7C5}">
      <dgm:prSet/>
      <dgm:spPr/>
      <dgm:t>
        <a:bodyPr/>
        <a:lstStyle/>
        <a:p>
          <a:endParaRPr lang="pt-BR" sz="1800"/>
        </a:p>
      </dgm:t>
    </dgm:pt>
    <dgm:pt modelId="{BBD7B439-1B75-4354-ADD1-8F59C4C31AC9}" type="pres">
      <dgm:prSet presAssocID="{F4496203-FCEC-415C-A225-FFCFE915C469}" presName="diagram" presStyleCnt="0">
        <dgm:presLayoutVars>
          <dgm:dir/>
          <dgm:resizeHandles val="exact"/>
        </dgm:presLayoutVars>
      </dgm:prSet>
      <dgm:spPr/>
    </dgm:pt>
    <dgm:pt modelId="{C9594595-A655-429D-9106-2D42A3EC132F}" type="pres">
      <dgm:prSet presAssocID="{2BC7F5B8-CD19-432F-BB9D-7700462D720F}" presName="node" presStyleLbl="node1" presStyleIdx="0" presStyleCnt="4">
        <dgm:presLayoutVars>
          <dgm:bulletEnabled val="1"/>
        </dgm:presLayoutVars>
      </dgm:prSet>
      <dgm:spPr/>
    </dgm:pt>
    <dgm:pt modelId="{F7613C15-6530-46A3-9453-30261518D3A0}" type="pres">
      <dgm:prSet presAssocID="{4D62F3CA-F067-47CE-A8E7-FBACDDCCD416}" presName="sibTrans" presStyleLbl="sibTrans2D1" presStyleIdx="0" presStyleCnt="3"/>
      <dgm:spPr/>
    </dgm:pt>
    <dgm:pt modelId="{6933B813-EAD0-4F15-84D8-FECBDCDD7ADE}" type="pres">
      <dgm:prSet presAssocID="{4D62F3CA-F067-47CE-A8E7-FBACDDCCD416}" presName="connectorText" presStyleLbl="sibTrans2D1" presStyleIdx="0" presStyleCnt="3"/>
      <dgm:spPr/>
    </dgm:pt>
    <dgm:pt modelId="{474882EE-4B1D-4892-8FFF-E8909FAD1E56}" type="pres">
      <dgm:prSet presAssocID="{7937F4F1-D959-4B0F-AF3C-B244B1AEF648}" presName="node" presStyleLbl="node1" presStyleIdx="1" presStyleCnt="4">
        <dgm:presLayoutVars>
          <dgm:bulletEnabled val="1"/>
        </dgm:presLayoutVars>
      </dgm:prSet>
      <dgm:spPr/>
    </dgm:pt>
    <dgm:pt modelId="{D2AC1705-78B3-4111-9206-6C21F0D509C3}" type="pres">
      <dgm:prSet presAssocID="{A269CD34-3A2A-4C23-8E11-0A32FFBBDAA2}" presName="sibTrans" presStyleLbl="sibTrans2D1" presStyleIdx="1" presStyleCnt="3"/>
      <dgm:spPr/>
    </dgm:pt>
    <dgm:pt modelId="{01F351DB-5185-4B2D-951D-44F6E4B9CA20}" type="pres">
      <dgm:prSet presAssocID="{A269CD34-3A2A-4C23-8E11-0A32FFBBDAA2}" presName="connectorText" presStyleLbl="sibTrans2D1" presStyleIdx="1" presStyleCnt="3"/>
      <dgm:spPr/>
    </dgm:pt>
    <dgm:pt modelId="{43525534-AF9E-46D5-AFEA-CCF94224F00F}" type="pres">
      <dgm:prSet presAssocID="{7F2BE915-E2EA-4349-ACD4-71385E62C62B}" presName="node" presStyleLbl="node1" presStyleIdx="2" presStyleCnt="4">
        <dgm:presLayoutVars>
          <dgm:bulletEnabled val="1"/>
        </dgm:presLayoutVars>
      </dgm:prSet>
      <dgm:spPr/>
    </dgm:pt>
    <dgm:pt modelId="{796610FD-4E34-4AD9-BF59-D0FB4266298F}" type="pres">
      <dgm:prSet presAssocID="{3FA63AC9-5FFD-4D27-9830-06DF21874511}" presName="sibTrans" presStyleLbl="sibTrans2D1" presStyleIdx="2" presStyleCnt="3"/>
      <dgm:spPr/>
    </dgm:pt>
    <dgm:pt modelId="{02D7AE4C-A85B-4BA8-9698-D71465811202}" type="pres">
      <dgm:prSet presAssocID="{3FA63AC9-5FFD-4D27-9830-06DF21874511}" presName="connectorText" presStyleLbl="sibTrans2D1" presStyleIdx="2" presStyleCnt="3"/>
      <dgm:spPr/>
    </dgm:pt>
    <dgm:pt modelId="{15C43209-C8C0-4C64-9C2B-79FB39DE51F8}" type="pres">
      <dgm:prSet presAssocID="{17956CA8-ABE3-48D7-824D-0812B8463F5E}" presName="node" presStyleLbl="node1" presStyleIdx="3" presStyleCnt="4">
        <dgm:presLayoutVars>
          <dgm:bulletEnabled val="1"/>
        </dgm:presLayoutVars>
      </dgm:prSet>
      <dgm:spPr/>
    </dgm:pt>
  </dgm:ptLst>
  <dgm:cxnLst>
    <dgm:cxn modelId="{A07FC41A-6D6C-48F6-913A-EA3BF0AC25B0}" type="presOf" srcId="{A269CD34-3A2A-4C23-8E11-0A32FFBBDAA2}" destId="{01F351DB-5185-4B2D-951D-44F6E4B9CA20}" srcOrd="1" destOrd="0" presId="urn:microsoft.com/office/officeart/2005/8/layout/process5"/>
    <dgm:cxn modelId="{C9289028-2378-46D9-BC37-E5995975B77F}" srcId="{F4496203-FCEC-415C-A225-FFCFE915C469}" destId="{7F2BE915-E2EA-4349-ACD4-71385E62C62B}" srcOrd="2" destOrd="0" parTransId="{3A8C11A8-38F1-4C91-971D-990A07AFD5DC}" sibTransId="{3FA63AC9-5FFD-4D27-9830-06DF21874511}"/>
    <dgm:cxn modelId="{9B9B202D-5B31-4FBB-8591-CC082A292BC1}" type="presOf" srcId="{3FA63AC9-5FFD-4D27-9830-06DF21874511}" destId="{02D7AE4C-A85B-4BA8-9698-D71465811202}" srcOrd="1" destOrd="0" presId="urn:microsoft.com/office/officeart/2005/8/layout/process5"/>
    <dgm:cxn modelId="{05EE7E5F-0274-4B39-B371-98B66FBA1364}" srcId="{F4496203-FCEC-415C-A225-FFCFE915C469}" destId="{7937F4F1-D959-4B0F-AF3C-B244B1AEF648}" srcOrd="1" destOrd="0" parTransId="{1FBB9F13-E8C9-4EA6-9697-1CF8CBB1B580}" sibTransId="{A269CD34-3A2A-4C23-8E11-0A32FFBBDAA2}"/>
    <dgm:cxn modelId="{3BFE2561-7826-4884-A84E-3A7EED40222C}" type="presOf" srcId="{7937F4F1-D959-4B0F-AF3C-B244B1AEF648}" destId="{474882EE-4B1D-4892-8FFF-E8909FAD1E56}" srcOrd="0" destOrd="0" presId="urn:microsoft.com/office/officeart/2005/8/layout/process5"/>
    <dgm:cxn modelId="{24F0A07F-A7F3-423A-A784-B36FF0A14AB7}" srcId="{F4496203-FCEC-415C-A225-FFCFE915C469}" destId="{2BC7F5B8-CD19-432F-BB9D-7700462D720F}" srcOrd="0" destOrd="0" parTransId="{02A868ED-9C67-4C6F-8BBC-B65CC75583B3}" sibTransId="{4D62F3CA-F067-47CE-A8E7-FBACDDCCD416}"/>
    <dgm:cxn modelId="{B37452A1-0172-4A59-962C-260F5BE313D2}" type="presOf" srcId="{7F2BE915-E2EA-4349-ACD4-71385E62C62B}" destId="{43525534-AF9E-46D5-AFEA-CCF94224F00F}" srcOrd="0" destOrd="0" presId="urn:microsoft.com/office/officeart/2005/8/layout/process5"/>
    <dgm:cxn modelId="{42805EA4-DEC5-4E0D-8E21-CCE24D211DF7}" type="presOf" srcId="{17956CA8-ABE3-48D7-824D-0812B8463F5E}" destId="{15C43209-C8C0-4C64-9C2B-79FB39DE51F8}" srcOrd="0" destOrd="0" presId="urn:microsoft.com/office/officeart/2005/8/layout/process5"/>
    <dgm:cxn modelId="{140B27A9-00E8-4FA1-87C4-23E048B8A430}" type="presOf" srcId="{2BC7F5B8-CD19-432F-BB9D-7700462D720F}" destId="{C9594595-A655-429D-9106-2D42A3EC132F}" srcOrd="0" destOrd="0" presId="urn:microsoft.com/office/officeart/2005/8/layout/process5"/>
    <dgm:cxn modelId="{D55BB6A9-C643-41F1-926F-19B73FE56667}" type="presOf" srcId="{F4496203-FCEC-415C-A225-FFCFE915C469}" destId="{BBD7B439-1B75-4354-ADD1-8F59C4C31AC9}" srcOrd="0" destOrd="0" presId="urn:microsoft.com/office/officeart/2005/8/layout/process5"/>
    <dgm:cxn modelId="{7985F7BD-1063-432C-91FE-86BC2B343F71}" type="presOf" srcId="{3FA63AC9-5FFD-4D27-9830-06DF21874511}" destId="{796610FD-4E34-4AD9-BF59-D0FB4266298F}" srcOrd="0" destOrd="0" presId="urn:microsoft.com/office/officeart/2005/8/layout/process5"/>
    <dgm:cxn modelId="{0B8AF2C7-B64E-4FE4-BFC5-2C8A7D16BE63}" type="presOf" srcId="{A269CD34-3A2A-4C23-8E11-0A32FFBBDAA2}" destId="{D2AC1705-78B3-4111-9206-6C21F0D509C3}" srcOrd="0" destOrd="0" presId="urn:microsoft.com/office/officeart/2005/8/layout/process5"/>
    <dgm:cxn modelId="{44F813EA-0449-4372-AEE0-56C26A03B7C5}" srcId="{F4496203-FCEC-415C-A225-FFCFE915C469}" destId="{17956CA8-ABE3-48D7-824D-0812B8463F5E}" srcOrd="3" destOrd="0" parTransId="{5D9B5064-FF04-4CEE-8921-E52E407132B9}" sibTransId="{C84C6C72-44B6-4AC5-828A-80184696FC1C}"/>
    <dgm:cxn modelId="{607AEAED-F938-4B16-9B8C-9AB349DD96AF}" type="presOf" srcId="{4D62F3CA-F067-47CE-A8E7-FBACDDCCD416}" destId="{F7613C15-6530-46A3-9453-30261518D3A0}" srcOrd="0" destOrd="0" presId="urn:microsoft.com/office/officeart/2005/8/layout/process5"/>
    <dgm:cxn modelId="{849CE0F8-E2CD-4993-B7F7-477582DB838C}" type="presOf" srcId="{4D62F3CA-F067-47CE-A8E7-FBACDDCCD416}" destId="{6933B813-EAD0-4F15-84D8-FECBDCDD7ADE}" srcOrd="1" destOrd="0" presId="urn:microsoft.com/office/officeart/2005/8/layout/process5"/>
    <dgm:cxn modelId="{5BD007B9-0735-48CE-B2A9-F27180DAF640}" type="presParOf" srcId="{BBD7B439-1B75-4354-ADD1-8F59C4C31AC9}" destId="{C9594595-A655-429D-9106-2D42A3EC132F}" srcOrd="0" destOrd="0" presId="urn:microsoft.com/office/officeart/2005/8/layout/process5"/>
    <dgm:cxn modelId="{57EA8802-DCC4-48E6-830B-52DF4A73563C}" type="presParOf" srcId="{BBD7B439-1B75-4354-ADD1-8F59C4C31AC9}" destId="{F7613C15-6530-46A3-9453-30261518D3A0}" srcOrd="1" destOrd="0" presId="urn:microsoft.com/office/officeart/2005/8/layout/process5"/>
    <dgm:cxn modelId="{1A760FE2-EB92-4976-AF57-4642BC1AA599}" type="presParOf" srcId="{F7613C15-6530-46A3-9453-30261518D3A0}" destId="{6933B813-EAD0-4F15-84D8-FECBDCDD7ADE}" srcOrd="0" destOrd="0" presId="urn:microsoft.com/office/officeart/2005/8/layout/process5"/>
    <dgm:cxn modelId="{3A28F89D-0A0D-40B6-BBB1-48327FF20DDE}" type="presParOf" srcId="{BBD7B439-1B75-4354-ADD1-8F59C4C31AC9}" destId="{474882EE-4B1D-4892-8FFF-E8909FAD1E56}" srcOrd="2" destOrd="0" presId="urn:microsoft.com/office/officeart/2005/8/layout/process5"/>
    <dgm:cxn modelId="{0D03781F-B740-4332-933E-0AB01E2286C2}" type="presParOf" srcId="{BBD7B439-1B75-4354-ADD1-8F59C4C31AC9}" destId="{D2AC1705-78B3-4111-9206-6C21F0D509C3}" srcOrd="3" destOrd="0" presId="urn:microsoft.com/office/officeart/2005/8/layout/process5"/>
    <dgm:cxn modelId="{6230A50E-8461-4AD0-8C67-6280FE41E074}" type="presParOf" srcId="{D2AC1705-78B3-4111-9206-6C21F0D509C3}" destId="{01F351DB-5185-4B2D-951D-44F6E4B9CA20}" srcOrd="0" destOrd="0" presId="urn:microsoft.com/office/officeart/2005/8/layout/process5"/>
    <dgm:cxn modelId="{CB8B0796-7E13-49B5-A346-30038A70FBEC}" type="presParOf" srcId="{BBD7B439-1B75-4354-ADD1-8F59C4C31AC9}" destId="{43525534-AF9E-46D5-AFEA-CCF94224F00F}" srcOrd="4" destOrd="0" presId="urn:microsoft.com/office/officeart/2005/8/layout/process5"/>
    <dgm:cxn modelId="{DD496819-208F-477B-86F9-76BBE1C30294}" type="presParOf" srcId="{BBD7B439-1B75-4354-ADD1-8F59C4C31AC9}" destId="{796610FD-4E34-4AD9-BF59-D0FB4266298F}" srcOrd="5" destOrd="0" presId="urn:microsoft.com/office/officeart/2005/8/layout/process5"/>
    <dgm:cxn modelId="{89F18607-1EF2-4264-8A72-5C030C9EDBD2}" type="presParOf" srcId="{796610FD-4E34-4AD9-BF59-D0FB4266298F}" destId="{02D7AE4C-A85B-4BA8-9698-D71465811202}" srcOrd="0" destOrd="0" presId="urn:microsoft.com/office/officeart/2005/8/layout/process5"/>
    <dgm:cxn modelId="{D9EA6FD3-6DAF-4B2D-9D20-845D9744ED6E}" type="presParOf" srcId="{BBD7B439-1B75-4354-ADD1-8F59C4C31AC9}" destId="{15C43209-C8C0-4C64-9C2B-79FB39DE51F8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A93077-91BF-4BDF-93C7-7BABDE257AB1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2B3670DB-5127-4D86-9801-C1787518D558}">
      <dgm:prSet phldrT="[Texto]" custT="1"/>
      <dgm:spPr/>
      <dgm:t>
        <a:bodyPr/>
        <a:lstStyle/>
        <a:p>
          <a:r>
            <a:rPr lang="pt-BR" sz="3200" b="1" dirty="0"/>
            <a:t>Vantagens</a:t>
          </a:r>
        </a:p>
      </dgm:t>
    </dgm:pt>
    <dgm:pt modelId="{7F23C70A-73B5-4232-A403-C7DE57B65708}" type="parTrans" cxnId="{ABB4E17C-615A-4D0F-BDFF-6A7FBB33C105}">
      <dgm:prSet/>
      <dgm:spPr/>
      <dgm:t>
        <a:bodyPr/>
        <a:lstStyle/>
        <a:p>
          <a:endParaRPr lang="pt-BR"/>
        </a:p>
      </dgm:t>
    </dgm:pt>
    <dgm:pt modelId="{04E56CCB-D3DC-4EB8-BE5A-1DA47BBC369C}" type="sibTrans" cxnId="{ABB4E17C-615A-4D0F-BDFF-6A7FBB33C105}">
      <dgm:prSet/>
      <dgm:spPr/>
      <dgm:t>
        <a:bodyPr/>
        <a:lstStyle/>
        <a:p>
          <a:endParaRPr lang="pt-BR"/>
        </a:p>
      </dgm:t>
    </dgm:pt>
    <dgm:pt modelId="{CEF998B2-54D6-4625-A249-18398F0CF209}">
      <dgm:prSet phldrT="[Texto]"/>
      <dgm:spPr/>
      <dgm:t>
        <a:bodyPr/>
        <a:lstStyle/>
        <a:p>
          <a:r>
            <a:rPr lang="pt-BR" dirty="0"/>
            <a:t>✅ Simples de entender
✅ Fácil de explicar ao usuário (explicável)
✅ Não requer treinamento pesado
✅ Funciona bem em sistemas pequenos ou médios</a:t>
          </a:r>
        </a:p>
      </dgm:t>
    </dgm:pt>
    <dgm:pt modelId="{B1325E36-5285-4DB0-A17B-6179FA535F6F}" type="parTrans" cxnId="{B4A5EFAA-8CCD-4AB2-B1CC-1C226C69C4A9}">
      <dgm:prSet/>
      <dgm:spPr/>
      <dgm:t>
        <a:bodyPr/>
        <a:lstStyle/>
        <a:p>
          <a:endParaRPr lang="pt-BR"/>
        </a:p>
      </dgm:t>
    </dgm:pt>
    <dgm:pt modelId="{AE143E73-5B6D-4D13-B20E-95B6F9A1B7F1}" type="sibTrans" cxnId="{B4A5EFAA-8CCD-4AB2-B1CC-1C226C69C4A9}">
      <dgm:prSet/>
      <dgm:spPr/>
      <dgm:t>
        <a:bodyPr/>
        <a:lstStyle/>
        <a:p>
          <a:endParaRPr lang="pt-BR"/>
        </a:p>
      </dgm:t>
    </dgm:pt>
    <dgm:pt modelId="{7708160D-9DDE-47E9-B656-C23753BA02D0}">
      <dgm:prSet phldrT="[Texto]" custT="1"/>
      <dgm:spPr/>
      <dgm:t>
        <a:bodyPr/>
        <a:lstStyle/>
        <a:p>
          <a:r>
            <a:rPr lang="pt-BR" sz="3200" b="1" dirty="0"/>
            <a:t>Desvantagens</a:t>
          </a:r>
        </a:p>
      </dgm:t>
    </dgm:pt>
    <dgm:pt modelId="{0101B0C6-123A-46F0-B30F-061AD55324A3}" type="parTrans" cxnId="{B63851F2-3EC1-467D-9C65-6DC730E9A8CD}">
      <dgm:prSet/>
      <dgm:spPr/>
      <dgm:t>
        <a:bodyPr/>
        <a:lstStyle/>
        <a:p>
          <a:endParaRPr lang="pt-BR"/>
        </a:p>
      </dgm:t>
    </dgm:pt>
    <dgm:pt modelId="{5F068771-5F45-4EC2-97C1-8D057D545A6F}" type="sibTrans" cxnId="{B63851F2-3EC1-467D-9C65-6DC730E9A8CD}">
      <dgm:prSet/>
      <dgm:spPr/>
      <dgm:t>
        <a:bodyPr/>
        <a:lstStyle/>
        <a:p>
          <a:endParaRPr lang="pt-BR"/>
        </a:p>
      </dgm:t>
    </dgm:pt>
    <dgm:pt modelId="{EFA16888-362A-4630-980E-EE2924A59F90}">
      <dgm:prSet phldrT="[Texto]"/>
      <dgm:spPr/>
      <dgm:t>
        <a:bodyPr/>
        <a:lstStyle/>
        <a:p>
          <a:r>
            <a:rPr lang="pt-BR" dirty="0"/>
            <a:t>❌ Escalabilidade
❌ Sensível à </a:t>
          </a:r>
          <a:r>
            <a:rPr lang="pt-BR" dirty="0" err="1"/>
            <a:t>esparsidade</a:t>
          </a:r>
          <a:r>
            <a:rPr lang="pt-BR" dirty="0"/>
            <a:t>
❌ Cold start
❌ Atualizações custosas
❌ Performance pior em grandes catálogos</a:t>
          </a:r>
        </a:p>
      </dgm:t>
    </dgm:pt>
    <dgm:pt modelId="{4CC9C74D-4692-419E-AA60-7CF6F3294D5D}" type="parTrans" cxnId="{6B62CC87-D9B3-49A3-AB3E-E87730C802EF}">
      <dgm:prSet/>
      <dgm:spPr/>
      <dgm:t>
        <a:bodyPr/>
        <a:lstStyle/>
        <a:p>
          <a:endParaRPr lang="pt-BR"/>
        </a:p>
      </dgm:t>
    </dgm:pt>
    <dgm:pt modelId="{DE25922B-027A-44E5-9903-7253A3920411}" type="sibTrans" cxnId="{6B62CC87-D9B3-49A3-AB3E-E87730C802EF}">
      <dgm:prSet/>
      <dgm:spPr/>
      <dgm:t>
        <a:bodyPr/>
        <a:lstStyle/>
        <a:p>
          <a:endParaRPr lang="pt-BR"/>
        </a:p>
      </dgm:t>
    </dgm:pt>
    <dgm:pt modelId="{41422DF1-F43A-4D1F-B806-1F0DFAE15C2C}" type="pres">
      <dgm:prSet presAssocID="{9EA93077-91BF-4BDF-93C7-7BABDE257AB1}" presName="Name0" presStyleCnt="0">
        <dgm:presLayoutVars>
          <dgm:dir/>
          <dgm:animLvl val="lvl"/>
          <dgm:resizeHandles val="exact"/>
        </dgm:presLayoutVars>
      </dgm:prSet>
      <dgm:spPr/>
    </dgm:pt>
    <dgm:pt modelId="{D1C3B2D8-45B8-4262-847A-45BA0B297C3A}" type="pres">
      <dgm:prSet presAssocID="{2B3670DB-5127-4D86-9801-C1787518D558}" presName="composite" presStyleCnt="0"/>
      <dgm:spPr/>
    </dgm:pt>
    <dgm:pt modelId="{70AD76C4-B3B8-4137-B975-30184802F706}" type="pres">
      <dgm:prSet presAssocID="{2B3670DB-5127-4D86-9801-C1787518D558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59D5A14E-8A9E-4BD4-A334-FC424E44B300}" type="pres">
      <dgm:prSet presAssocID="{2B3670DB-5127-4D86-9801-C1787518D558}" presName="desTx" presStyleLbl="alignAccFollowNode1" presStyleIdx="0" presStyleCnt="2">
        <dgm:presLayoutVars>
          <dgm:bulletEnabled val="1"/>
        </dgm:presLayoutVars>
      </dgm:prSet>
      <dgm:spPr/>
    </dgm:pt>
    <dgm:pt modelId="{09910600-B21B-4D90-B2BA-4581B4706AAE}" type="pres">
      <dgm:prSet presAssocID="{04E56CCB-D3DC-4EB8-BE5A-1DA47BBC369C}" presName="space" presStyleCnt="0"/>
      <dgm:spPr/>
    </dgm:pt>
    <dgm:pt modelId="{568EDF11-A3F6-4280-8D4E-137F852CF2F2}" type="pres">
      <dgm:prSet presAssocID="{7708160D-9DDE-47E9-B656-C23753BA02D0}" presName="composite" presStyleCnt="0"/>
      <dgm:spPr/>
    </dgm:pt>
    <dgm:pt modelId="{46627F86-857C-4B2E-B6F4-9A730B333ACC}" type="pres">
      <dgm:prSet presAssocID="{7708160D-9DDE-47E9-B656-C23753BA02D0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08522555-A7BD-45D3-94F6-96C917932563}" type="pres">
      <dgm:prSet presAssocID="{7708160D-9DDE-47E9-B656-C23753BA02D0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091F9266-02E2-4629-8DCA-BE6EDA19CD51}" type="presOf" srcId="{EFA16888-362A-4630-980E-EE2924A59F90}" destId="{08522555-A7BD-45D3-94F6-96C917932563}" srcOrd="0" destOrd="0" presId="urn:microsoft.com/office/officeart/2005/8/layout/hList1"/>
    <dgm:cxn modelId="{6ACAD351-2FC9-4C88-971E-C106DF2FD0FA}" type="presOf" srcId="{7708160D-9DDE-47E9-B656-C23753BA02D0}" destId="{46627F86-857C-4B2E-B6F4-9A730B333ACC}" srcOrd="0" destOrd="0" presId="urn:microsoft.com/office/officeart/2005/8/layout/hList1"/>
    <dgm:cxn modelId="{ABB4E17C-615A-4D0F-BDFF-6A7FBB33C105}" srcId="{9EA93077-91BF-4BDF-93C7-7BABDE257AB1}" destId="{2B3670DB-5127-4D86-9801-C1787518D558}" srcOrd="0" destOrd="0" parTransId="{7F23C70A-73B5-4232-A403-C7DE57B65708}" sibTransId="{04E56CCB-D3DC-4EB8-BE5A-1DA47BBC369C}"/>
    <dgm:cxn modelId="{6B62CC87-D9B3-49A3-AB3E-E87730C802EF}" srcId="{7708160D-9DDE-47E9-B656-C23753BA02D0}" destId="{EFA16888-362A-4630-980E-EE2924A59F90}" srcOrd="0" destOrd="0" parTransId="{4CC9C74D-4692-419E-AA60-7CF6F3294D5D}" sibTransId="{DE25922B-027A-44E5-9903-7253A3920411}"/>
    <dgm:cxn modelId="{C7AD268F-3EEA-4E55-834F-A563EF3E8028}" type="presOf" srcId="{9EA93077-91BF-4BDF-93C7-7BABDE257AB1}" destId="{41422DF1-F43A-4D1F-B806-1F0DFAE15C2C}" srcOrd="0" destOrd="0" presId="urn:microsoft.com/office/officeart/2005/8/layout/hList1"/>
    <dgm:cxn modelId="{B4A5EFAA-8CCD-4AB2-B1CC-1C226C69C4A9}" srcId="{2B3670DB-5127-4D86-9801-C1787518D558}" destId="{CEF998B2-54D6-4625-A249-18398F0CF209}" srcOrd="0" destOrd="0" parTransId="{B1325E36-5285-4DB0-A17B-6179FA535F6F}" sibTransId="{AE143E73-5B6D-4D13-B20E-95B6F9A1B7F1}"/>
    <dgm:cxn modelId="{C68917B4-D8F9-4626-B224-7AF8EE2BAB3B}" type="presOf" srcId="{2B3670DB-5127-4D86-9801-C1787518D558}" destId="{70AD76C4-B3B8-4137-B975-30184802F706}" srcOrd="0" destOrd="0" presId="urn:microsoft.com/office/officeart/2005/8/layout/hList1"/>
    <dgm:cxn modelId="{B541A6DA-AD56-4AB1-8551-5FC74A986566}" type="presOf" srcId="{CEF998B2-54D6-4625-A249-18398F0CF209}" destId="{59D5A14E-8A9E-4BD4-A334-FC424E44B300}" srcOrd="0" destOrd="0" presId="urn:microsoft.com/office/officeart/2005/8/layout/hList1"/>
    <dgm:cxn modelId="{B63851F2-3EC1-467D-9C65-6DC730E9A8CD}" srcId="{9EA93077-91BF-4BDF-93C7-7BABDE257AB1}" destId="{7708160D-9DDE-47E9-B656-C23753BA02D0}" srcOrd="1" destOrd="0" parTransId="{0101B0C6-123A-46F0-B30F-061AD55324A3}" sibTransId="{5F068771-5F45-4EC2-97C1-8D057D545A6F}"/>
    <dgm:cxn modelId="{17DA878D-0736-4329-BEDD-B90007ED4C97}" type="presParOf" srcId="{41422DF1-F43A-4D1F-B806-1F0DFAE15C2C}" destId="{D1C3B2D8-45B8-4262-847A-45BA0B297C3A}" srcOrd="0" destOrd="0" presId="urn:microsoft.com/office/officeart/2005/8/layout/hList1"/>
    <dgm:cxn modelId="{03B65EC6-4286-402C-8103-FD93207D9FF8}" type="presParOf" srcId="{D1C3B2D8-45B8-4262-847A-45BA0B297C3A}" destId="{70AD76C4-B3B8-4137-B975-30184802F706}" srcOrd="0" destOrd="0" presId="urn:microsoft.com/office/officeart/2005/8/layout/hList1"/>
    <dgm:cxn modelId="{34791181-7C07-4754-8ABC-787C73D672EA}" type="presParOf" srcId="{D1C3B2D8-45B8-4262-847A-45BA0B297C3A}" destId="{59D5A14E-8A9E-4BD4-A334-FC424E44B300}" srcOrd="1" destOrd="0" presId="urn:microsoft.com/office/officeart/2005/8/layout/hList1"/>
    <dgm:cxn modelId="{8CFB8A8D-EEDE-480F-ABE2-A1573334D94B}" type="presParOf" srcId="{41422DF1-F43A-4D1F-B806-1F0DFAE15C2C}" destId="{09910600-B21B-4D90-B2BA-4581B4706AAE}" srcOrd="1" destOrd="0" presId="urn:microsoft.com/office/officeart/2005/8/layout/hList1"/>
    <dgm:cxn modelId="{18EA0C7A-7E32-4C2B-B04F-867441402B8B}" type="presParOf" srcId="{41422DF1-F43A-4D1F-B806-1F0DFAE15C2C}" destId="{568EDF11-A3F6-4280-8D4E-137F852CF2F2}" srcOrd="2" destOrd="0" presId="urn:microsoft.com/office/officeart/2005/8/layout/hList1"/>
    <dgm:cxn modelId="{C6B36E4E-9B1A-472F-B823-2145864711DE}" type="presParOf" srcId="{568EDF11-A3F6-4280-8D4E-137F852CF2F2}" destId="{46627F86-857C-4B2E-B6F4-9A730B333ACC}" srcOrd="0" destOrd="0" presId="urn:microsoft.com/office/officeart/2005/8/layout/hList1"/>
    <dgm:cxn modelId="{5A64A544-34ED-4B1B-9712-94B630759815}" type="presParOf" srcId="{568EDF11-A3F6-4280-8D4E-137F852CF2F2}" destId="{08522555-A7BD-45D3-94F6-96C91793256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594595-A655-429D-9106-2D42A3EC132F}">
      <dsp:nvSpPr>
        <dsp:cNvPr id="0" name=""/>
        <dsp:cNvSpPr/>
      </dsp:nvSpPr>
      <dsp:spPr>
        <a:xfrm>
          <a:off x="1312906" y="3003"/>
          <a:ext cx="2695987" cy="16175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Calcula as similaridades</a:t>
          </a:r>
        </a:p>
      </dsp:txBody>
      <dsp:txXfrm>
        <a:off x="1360284" y="50381"/>
        <a:ext cx="2601231" cy="1522836"/>
      </dsp:txXfrm>
    </dsp:sp>
    <dsp:sp modelId="{F7613C15-6530-46A3-9453-30261518D3A0}">
      <dsp:nvSpPr>
        <dsp:cNvPr id="0" name=""/>
        <dsp:cNvSpPr/>
      </dsp:nvSpPr>
      <dsp:spPr>
        <a:xfrm>
          <a:off x="4246140" y="477497"/>
          <a:ext cx="571549" cy="6686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/>
        </a:p>
      </dsp:txBody>
      <dsp:txXfrm>
        <a:off x="4246140" y="611218"/>
        <a:ext cx="400084" cy="401162"/>
      </dsp:txXfrm>
    </dsp:sp>
    <dsp:sp modelId="{474882EE-4B1D-4892-8FFF-E8909FAD1E56}">
      <dsp:nvSpPr>
        <dsp:cNvPr id="0" name=""/>
        <dsp:cNvSpPr/>
      </dsp:nvSpPr>
      <dsp:spPr>
        <a:xfrm>
          <a:off x="5087289" y="3003"/>
          <a:ext cx="2695987" cy="1617592"/>
        </a:xfrm>
        <a:prstGeom prst="roundRect">
          <a:avLst>
            <a:gd name="adj" fmla="val 10000"/>
          </a:avLst>
        </a:prstGeom>
        <a:solidFill>
          <a:schemeClr val="accent3">
            <a:hueOff val="-379119"/>
            <a:satOff val="-1563"/>
            <a:lumOff val="-3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Seleciona a vizinhança</a:t>
          </a:r>
        </a:p>
      </dsp:txBody>
      <dsp:txXfrm>
        <a:off x="5134667" y="50381"/>
        <a:ext cx="2601231" cy="1522836"/>
      </dsp:txXfrm>
    </dsp:sp>
    <dsp:sp modelId="{D2AC1705-78B3-4111-9206-6C21F0D509C3}">
      <dsp:nvSpPr>
        <dsp:cNvPr id="0" name=""/>
        <dsp:cNvSpPr/>
      </dsp:nvSpPr>
      <dsp:spPr>
        <a:xfrm rot="5400000">
          <a:off x="6149508" y="1809315"/>
          <a:ext cx="571549" cy="6686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568678"/>
            <a:satOff val="-2344"/>
            <a:lumOff val="-49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/>
        </a:p>
      </dsp:txBody>
      <dsp:txXfrm rot="-5400000">
        <a:off x="6234702" y="1857843"/>
        <a:ext cx="401162" cy="400084"/>
      </dsp:txXfrm>
    </dsp:sp>
    <dsp:sp modelId="{43525534-AF9E-46D5-AFEA-CCF94224F00F}">
      <dsp:nvSpPr>
        <dsp:cNvPr id="0" name=""/>
        <dsp:cNvSpPr/>
      </dsp:nvSpPr>
      <dsp:spPr>
        <a:xfrm>
          <a:off x="5087289" y="2698991"/>
          <a:ext cx="2695987" cy="1617592"/>
        </a:xfrm>
        <a:prstGeom prst="roundRect">
          <a:avLst>
            <a:gd name="adj" fmla="val 10000"/>
          </a:avLst>
        </a:prstGeom>
        <a:solidFill>
          <a:schemeClr val="accent3">
            <a:hueOff val="-758238"/>
            <a:satOff val="-3126"/>
            <a:lumOff val="-6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Realiza as predições</a:t>
          </a:r>
        </a:p>
      </dsp:txBody>
      <dsp:txXfrm>
        <a:off x="5134667" y="2746369"/>
        <a:ext cx="2601231" cy="1522836"/>
      </dsp:txXfrm>
    </dsp:sp>
    <dsp:sp modelId="{796610FD-4E34-4AD9-BF59-D0FB4266298F}">
      <dsp:nvSpPr>
        <dsp:cNvPr id="0" name=""/>
        <dsp:cNvSpPr/>
      </dsp:nvSpPr>
      <dsp:spPr>
        <a:xfrm rot="10800000">
          <a:off x="4278492" y="3173484"/>
          <a:ext cx="571549" cy="66860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1137357"/>
            <a:satOff val="-4689"/>
            <a:lumOff val="-98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2400" kern="1200"/>
        </a:p>
      </dsp:txBody>
      <dsp:txXfrm rot="10800000">
        <a:off x="4449957" y="3307205"/>
        <a:ext cx="400084" cy="401162"/>
      </dsp:txXfrm>
    </dsp:sp>
    <dsp:sp modelId="{15C43209-C8C0-4C64-9C2B-79FB39DE51F8}">
      <dsp:nvSpPr>
        <dsp:cNvPr id="0" name=""/>
        <dsp:cNvSpPr/>
      </dsp:nvSpPr>
      <dsp:spPr>
        <a:xfrm>
          <a:off x="1312906" y="2698991"/>
          <a:ext cx="2695987" cy="1617592"/>
        </a:xfrm>
        <a:prstGeom prst="roundRect">
          <a:avLst>
            <a:gd name="adj" fmla="val 10000"/>
          </a:avLst>
        </a:prstGeom>
        <a:solidFill>
          <a:schemeClr val="accent3">
            <a:hueOff val="-1137357"/>
            <a:satOff val="-4689"/>
            <a:lumOff val="-9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kern="1200" dirty="0"/>
            <a:t>Gera as recomendações</a:t>
          </a:r>
        </a:p>
      </dsp:txBody>
      <dsp:txXfrm>
        <a:off x="1360284" y="2746369"/>
        <a:ext cx="2601231" cy="15228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AD76C4-B3B8-4137-B975-30184802F706}">
      <dsp:nvSpPr>
        <dsp:cNvPr id="0" name=""/>
        <dsp:cNvSpPr/>
      </dsp:nvSpPr>
      <dsp:spPr>
        <a:xfrm>
          <a:off x="49" y="143883"/>
          <a:ext cx="4710234" cy="748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b="1" kern="1200" dirty="0"/>
            <a:t>Vantagens</a:t>
          </a:r>
        </a:p>
      </dsp:txBody>
      <dsp:txXfrm>
        <a:off x="49" y="143883"/>
        <a:ext cx="4710234" cy="748800"/>
      </dsp:txXfrm>
    </dsp:sp>
    <dsp:sp modelId="{59D5A14E-8A9E-4BD4-A334-FC424E44B300}">
      <dsp:nvSpPr>
        <dsp:cNvPr id="0" name=""/>
        <dsp:cNvSpPr/>
      </dsp:nvSpPr>
      <dsp:spPr>
        <a:xfrm>
          <a:off x="49" y="892683"/>
          <a:ext cx="4710234" cy="328301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600" kern="1200" dirty="0"/>
            <a:t>✅ Simples de entender
✅ Fácil de explicar ao usuário (explicável)
✅ Não requer treinamento pesado
✅ Funciona bem em sistemas pequenos ou médios</a:t>
          </a:r>
        </a:p>
      </dsp:txBody>
      <dsp:txXfrm>
        <a:off x="49" y="892683"/>
        <a:ext cx="4710234" cy="3283019"/>
      </dsp:txXfrm>
    </dsp:sp>
    <dsp:sp modelId="{46627F86-857C-4B2E-B6F4-9A730B333ACC}">
      <dsp:nvSpPr>
        <dsp:cNvPr id="0" name=""/>
        <dsp:cNvSpPr/>
      </dsp:nvSpPr>
      <dsp:spPr>
        <a:xfrm>
          <a:off x="5369716" y="143883"/>
          <a:ext cx="4710234" cy="748800"/>
        </a:xfrm>
        <a:prstGeom prst="rect">
          <a:avLst/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12700" cap="flat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3200" b="1" kern="1200" dirty="0"/>
            <a:t>Desvantagens</a:t>
          </a:r>
        </a:p>
      </dsp:txBody>
      <dsp:txXfrm>
        <a:off x="5369716" y="143883"/>
        <a:ext cx="4710234" cy="748800"/>
      </dsp:txXfrm>
    </dsp:sp>
    <dsp:sp modelId="{08522555-A7BD-45D3-94F6-96C917932563}">
      <dsp:nvSpPr>
        <dsp:cNvPr id="0" name=""/>
        <dsp:cNvSpPr/>
      </dsp:nvSpPr>
      <dsp:spPr>
        <a:xfrm>
          <a:off x="5369716" y="892683"/>
          <a:ext cx="4710234" cy="3283019"/>
        </a:xfrm>
        <a:prstGeom prst="rect">
          <a:avLst/>
        </a:prstGeom>
        <a:solidFill>
          <a:schemeClr val="accent2">
            <a:tint val="40000"/>
            <a:alpha val="90000"/>
            <a:hueOff val="-1452578"/>
            <a:satOff val="-133"/>
            <a:lumOff val="3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452578"/>
              <a:satOff val="-133"/>
              <a:lumOff val="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600" kern="1200" dirty="0"/>
            <a:t>❌ Escalabilidade
❌ Sensível à </a:t>
          </a:r>
          <a:r>
            <a:rPr lang="pt-BR" sz="2600" kern="1200" dirty="0" err="1"/>
            <a:t>esparsidade</a:t>
          </a:r>
          <a:r>
            <a:rPr lang="pt-BR" sz="2600" kern="1200" dirty="0"/>
            <a:t>
❌ Cold start
❌ Atualizações custosas
❌ Performance pior em grandes catálogos</a:t>
          </a:r>
        </a:p>
      </dsp:txBody>
      <dsp:txXfrm>
        <a:off x="5369716" y="892683"/>
        <a:ext cx="4710234" cy="32830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30/01/2026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(2 coluna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9" y="1855788"/>
            <a:ext cx="5400000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  <p:sp>
        <p:nvSpPr>
          <p:cNvPr id="5" name="Espaço Reservado para Conteúdo 3">
            <a:extLst>
              <a:ext uri="{FF2B5EF4-FFF2-40B4-BE49-F238E27FC236}">
                <a16:creationId xmlns:a16="http://schemas.microsoft.com/office/drawing/2014/main" id="{F738C20A-F5B1-1310-6A27-8BBD0FF895C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44311" y="1837701"/>
            <a:ext cx="5400000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74754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145240" y="4569151"/>
            <a:ext cx="5901518" cy="1362075"/>
          </a:xfrm>
        </p:spPr>
        <p:txBody>
          <a:bodyPr lIns="90000" tIns="46800" anchor="ctr" anchorCtr="0"/>
          <a:lstStyle>
            <a:lvl1pPr algn="ctr">
              <a:defRPr sz="4553" b="1" cap="all"/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145240" y="3068961"/>
            <a:ext cx="5901519" cy="1500187"/>
          </a:xfrm>
        </p:spPr>
        <p:txBody>
          <a:bodyPr lIns="90000" tIns="46800" anchor="b"/>
          <a:lstStyle>
            <a:lvl1pPr marL="0" indent="0" algn="ctr">
              <a:buNone/>
              <a:defRPr sz="2277">
                <a:solidFill>
                  <a:schemeClr val="tx1">
                    <a:tint val="75000"/>
                  </a:schemeClr>
                </a:solidFill>
              </a:defRPr>
            </a:lvl1pPr>
            <a:lvl2pPr marL="520431" indent="0">
              <a:buNone/>
              <a:defRPr sz="2049">
                <a:solidFill>
                  <a:schemeClr val="tx1">
                    <a:tint val="75000"/>
                  </a:schemeClr>
                </a:solidFill>
              </a:defRPr>
            </a:lvl2pPr>
            <a:lvl3pPr marL="1040862" indent="0">
              <a:buNone/>
              <a:defRPr sz="1821">
                <a:solidFill>
                  <a:schemeClr val="tx1">
                    <a:tint val="75000"/>
                  </a:schemeClr>
                </a:solidFill>
              </a:defRPr>
            </a:lvl3pPr>
            <a:lvl4pPr marL="1561292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4pPr>
            <a:lvl5pPr marL="2081723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5pPr>
            <a:lvl6pPr marL="2602154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6pPr>
            <a:lvl7pPr marL="312258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7pPr>
            <a:lvl8pPr marL="3643015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8pPr>
            <a:lvl9pPr marL="416344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2F8BE-93B8-4E97-8EFC-F1EDF9C57694}" type="datetime1">
              <a:rPr lang="pt-BR" smtClean="0"/>
              <a:t>30/01/2026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1014137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 userDrawn="1"/>
        </p:nvCxnSpPr>
        <p:spPr>
          <a:xfrm>
            <a:off x="9210689" y="5319439"/>
            <a:ext cx="1967173" cy="0"/>
          </a:xfrm>
          <a:prstGeom prst="line">
            <a:avLst/>
          </a:prstGeom>
          <a:ln>
            <a:solidFill>
              <a:srgbClr val="4C71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568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7.jp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92" r:id="rId2"/>
    <p:sldLayoutId id="2147483687" r:id="rId3"/>
    <p:sldLayoutId id="2147483688" r:id="rId4"/>
    <p:sldLayoutId id="214748369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</p:spPr>
        <p:txBody>
          <a:bodyPr>
            <a:noAutofit/>
          </a:bodyPr>
          <a:lstStyle/>
          <a:p>
            <a:r>
              <a:rPr lang="pt-BR" sz="4400" dirty="0"/>
              <a:t>Recomendação colaborativa baseada em memória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 fontScale="92500"/>
          </a:bodyPr>
          <a:lstStyle/>
          <a:p>
            <a:r>
              <a:rPr lang="pt-BR" dirty="0"/>
              <a:t>Definir o </a:t>
            </a:r>
            <a:r>
              <a:rPr lang="pt-BR" b="1" dirty="0"/>
              <a:t>conceito de recomendação colaborativa baseada em memória</a:t>
            </a:r>
            <a:r>
              <a:rPr lang="pt-BR" dirty="0"/>
              <a:t>, identificando o uso direto de dados históricos de interação</a:t>
            </a:r>
          </a:p>
          <a:p>
            <a:r>
              <a:rPr lang="pt-BR" dirty="0"/>
              <a:t>Diferenciar as abordagens </a:t>
            </a:r>
            <a:r>
              <a:rPr lang="pt-BR" b="1" dirty="0" err="1"/>
              <a:t>User-User</a:t>
            </a:r>
            <a:r>
              <a:rPr lang="pt-BR" b="1" dirty="0"/>
              <a:t> </a:t>
            </a:r>
            <a:r>
              <a:rPr lang="pt-BR" dirty="0"/>
              <a:t>e </a:t>
            </a:r>
            <a:r>
              <a:rPr lang="pt-BR" b="1" dirty="0"/>
              <a:t>Item-Item</a:t>
            </a:r>
            <a:r>
              <a:rPr lang="pt-BR" dirty="0"/>
              <a:t>, compreendendo como cada uma utiliza a “</a:t>
            </a:r>
            <a:r>
              <a:rPr lang="pt-BR" b="1" dirty="0"/>
              <a:t>vizinhança</a:t>
            </a:r>
            <a:r>
              <a:rPr lang="pt-BR" dirty="0"/>
              <a:t>”</a:t>
            </a:r>
          </a:p>
          <a:p>
            <a:r>
              <a:rPr lang="pt-BR" dirty="0"/>
              <a:t>Identificar o papel das </a:t>
            </a:r>
            <a:r>
              <a:rPr lang="pt-BR" b="1" dirty="0"/>
              <a:t>métricas de similaridade</a:t>
            </a:r>
            <a:r>
              <a:rPr lang="pt-BR" dirty="0"/>
              <a:t> no processamento da matriz de avaliações</a:t>
            </a:r>
          </a:p>
          <a:p>
            <a:r>
              <a:rPr lang="pt-BR" b="1" dirty="0"/>
              <a:t>Calcular a predição de uma avaliação </a:t>
            </a:r>
            <a:r>
              <a:rPr lang="pt-BR" dirty="0"/>
              <a:t>para um item específico, aplicando as pontuações de similaridade sobre os dados históricos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836B38-82A9-F65B-3D0D-09E9D67139F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A recomendação colaborativa </a:t>
            </a:r>
            <a:r>
              <a:rPr lang="pt-BR" b="1" dirty="0">
                <a:solidFill>
                  <a:srgbClr val="0070C0"/>
                </a:solidFill>
              </a:rPr>
              <a:t>baseada em memória</a:t>
            </a:r>
            <a:r>
              <a:rPr lang="pt-BR" dirty="0">
                <a:solidFill>
                  <a:srgbClr val="0070C0"/>
                </a:solidFill>
              </a:rPr>
              <a:t> </a:t>
            </a:r>
            <a:r>
              <a:rPr lang="pt-BR" dirty="0"/>
              <a:t>utiliza </a:t>
            </a:r>
            <a:r>
              <a:rPr lang="pt-BR" b="1" dirty="0"/>
              <a:t>diretamente os dados históricos de interação</a:t>
            </a:r>
            <a:r>
              <a:rPr lang="pt-BR" dirty="0"/>
              <a:t> (ratings, compras, cliques) para gerar recomendações, </a:t>
            </a:r>
            <a:r>
              <a:rPr lang="pt-BR" b="1" dirty="0"/>
              <a:t>sem treinar </a:t>
            </a:r>
            <a:r>
              <a:rPr lang="pt-BR" dirty="0"/>
              <a:t>um modelo preditivo complexo</a:t>
            </a:r>
          </a:p>
          <a:p>
            <a:r>
              <a:rPr lang="pt-BR" dirty="0"/>
              <a:t>A ideia central é simples</a:t>
            </a:r>
          </a:p>
          <a:p>
            <a:pPr lvl="1"/>
            <a:r>
              <a:rPr lang="pt-BR" dirty="0"/>
              <a:t>Usuários semelhantes tendem a gostar de itens semelhantes</a:t>
            </a:r>
          </a:p>
          <a:p>
            <a:pPr lvl="1"/>
            <a:r>
              <a:rPr lang="pt-BR" dirty="0"/>
              <a:t>Itens semelhantes tendem a ser consumidos pelos mesmos usuários</a:t>
            </a:r>
          </a:p>
          <a:p>
            <a:r>
              <a:rPr lang="pt-BR" dirty="0"/>
              <a:t>Essas “semelhanças” definem a </a:t>
            </a:r>
            <a:r>
              <a:rPr lang="pt-BR" b="1" dirty="0"/>
              <a:t>vizinhança</a:t>
            </a:r>
            <a:r>
              <a:rPr lang="pt-BR" dirty="0"/>
              <a:t> (</a:t>
            </a:r>
            <a:r>
              <a:rPr lang="pt-BR" i="1" dirty="0" err="1"/>
              <a:t>neighborhood</a:t>
            </a:r>
            <a:r>
              <a:rPr lang="pt-BR" dirty="0"/>
              <a:t>)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200" dirty="0"/>
              <a:t>Recomendação colaborativa baseada em memória</a:t>
            </a:r>
            <a:endParaRPr lang="pt-BR" sz="36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502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A57606BD-84F0-CA07-C1D4-E05494F62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275" y="1585745"/>
            <a:ext cx="9197604" cy="4500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200" dirty="0"/>
              <a:t>Recomendação colaborativa baseada em memória</a:t>
            </a:r>
            <a:endParaRPr lang="pt-BR" sz="36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Balão de Fala: Oval 5">
            <a:extLst>
              <a:ext uri="{FF2B5EF4-FFF2-40B4-BE49-F238E27FC236}">
                <a16:creationId xmlns:a16="http://schemas.microsoft.com/office/drawing/2014/main" id="{7FCB9CBF-8380-616D-E4B9-0609622B4A4D}"/>
              </a:ext>
            </a:extLst>
          </p:cNvPr>
          <p:cNvSpPr/>
          <p:nvPr/>
        </p:nvSpPr>
        <p:spPr>
          <a:xfrm>
            <a:off x="208961" y="5173342"/>
            <a:ext cx="1649277" cy="646331"/>
          </a:xfrm>
          <a:prstGeom prst="wedgeEllipseCallout">
            <a:avLst>
              <a:gd name="adj1" fmla="val 31652"/>
              <a:gd name="adj2" fmla="val -921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err="1"/>
              <a:t>User-User</a:t>
            </a:r>
            <a:endParaRPr lang="pt-BR" b="1" dirty="0"/>
          </a:p>
        </p:txBody>
      </p:sp>
      <p:sp>
        <p:nvSpPr>
          <p:cNvPr id="7" name="Balão de Fala: Oval 6">
            <a:extLst>
              <a:ext uri="{FF2B5EF4-FFF2-40B4-BE49-F238E27FC236}">
                <a16:creationId xmlns:a16="http://schemas.microsoft.com/office/drawing/2014/main" id="{25BCE59B-FA05-226B-6552-426A4474CB89}"/>
              </a:ext>
            </a:extLst>
          </p:cNvPr>
          <p:cNvSpPr/>
          <p:nvPr/>
        </p:nvSpPr>
        <p:spPr>
          <a:xfrm>
            <a:off x="10406914" y="1981345"/>
            <a:ext cx="1649277" cy="646331"/>
          </a:xfrm>
          <a:prstGeom prst="wedgeEllipseCallout">
            <a:avLst>
              <a:gd name="adj1" fmla="val -36357"/>
              <a:gd name="adj2" fmla="val 16436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Item-Item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69944DE-3197-A43E-D599-C8FB1E537C19}"/>
              </a:ext>
            </a:extLst>
          </p:cNvPr>
          <p:cNvSpPr txBox="1"/>
          <p:nvPr/>
        </p:nvSpPr>
        <p:spPr>
          <a:xfrm>
            <a:off x="3883997" y="6071839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584164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ço Reservado para Conteúdo 4"/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2862981162"/>
              </p:ext>
            </p:extLst>
          </p:nvPr>
        </p:nvGraphicFramePr>
        <p:xfrm>
          <a:off x="1547908" y="1770385"/>
          <a:ext cx="9096183" cy="4319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200" dirty="0"/>
              <a:t>Recomendação colaborativa baseada em memória</a:t>
            </a:r>
            <a:endParaRPr lang="pt-BR" sz="36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245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200" dirty="0"/>
              <a:t>Recomendação colaborativa baseada em memória</a:t>
            </a:r>
            <a:endParaRPr lang="pt-BR" sz="36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Retângulo Arredondado 8"/>
          <p:cNvSpPr/>
          <p:nvPr/>
        </p:nvSpPr>
        <p:spPr>
          <a:xfrm>
            <a:off x="2488292" y="2271278"/>
            <a:ext cx="2124236" cy="122413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Usuário</a:t>
            </a:r>
          </a:p>
        </p:txBody>
      </p:sp>
      <p:sp>
        <p:nvSpPr>
          <p:cNvPr id="13" name="Retângulo Arredondado 12"/>
          <p:cNvSpPr/>
          <p:nvPr/>
        </p:nvSpPr>
        <p:spPr>
          <a:xfrm>
            <a:off x="7492848" y="2271278"/>
            <a:ext cx="2124236" cy="122413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Outros usuários</a:t>
            </a:r>
          </a:p>
        </p:txBody>
      </p:sp>
      <p:sp>
        <p:nvSpPr>
          <p:cNvPr id="14" name="Retângulo Arredondado 13"/>
          <p:cNvSpPr/>
          <p:nvPr/>
        </p:nvSpPr>
        <p:spPr>
          <a:xfrm>
            <a:off x="2488292" y="4250013"/>
            <a:ext cx="2124236" cy="122413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Itens avaliados</a:t>
            </a:r>
          </a:p>
        </p:txBody>
      </p:sp>
      <p:sp>
        <p:nvSpPr>
          <p:cNvPr id="15" name="Retângulo Arredondado 14"/>
          <p:cNvSpPr/>
          <p:nvPr/>
        </p:nvSpPr>
        <p:spPr>
          <a:xfrm>
            <a:off x="7492848" y="4250013"/>
            <a:ext cx="2124236" cy="122413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Itens a recomendar</a:t>
            </a:r>
          </a:p>
        </p:txBody>
      </p:sp>
      <p:cxnSp>
        <p:nvCxnSpPr>
          <p:cNvPr id="17" name="Conector de Seta Reta 16"/>
          <p:cNvCxnSpPr>
            <a:stCxn id="9" idx="3"/>
            <a:endCxn id="13" idx="1"/>
          </p:cNvCxnSpPr>
          <p:nvPr/>
        </p:nvCxnSpPr>
        <p:spPr>
          <a:xfrm>
            <a:off x="4612528" y="2883346"/>
            <a:ext cx="2880320" cy="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>
            <a:stCxn id="13" idx="2"/>
            <a:endCxn id="15" idx="0"/>
          </p:cNvCxnSpPr>
          <p:nvPr/>
        </p:nvCxnSpPr>
        <p:spPr>
          <a:xfrm>
            <a:off x="8554966" y="3495414"/>
            <a:ext cx="0" cy="75459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/>
          <p:cNvCxnSpPr>
            <a:stCxn id="9" idx="2"/>
            <a:endCxn id="14" idx="0"/>
          </p:cNvCxnSpPr>
          <p:nvPr/>
        </p:nvCxnSpPr>
        <p:spPr>
          <a:xfrm>
            <a:off x="3550410" y="3495414"/>
            <a:ext cx="0" cy="754599"/>
          </a:xfrm>
          <a:prstGeom prst="straightConnector1">
            <a:avLst/>
          </a:prstGeom>
          <a:ln w="381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>
            <a:stCxn id="14" idx="3"/>
            <a:endCxn id="15" idx="1"/>
          </p:cNvCxnSpPr>
          <p:nvPr/>
        </p:nvCxnSpPr>
        <p:spPr>
          <a:xfrm>
            <a:off x="4612528" y="4862081"/>
            <a:ext cx="2880320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aixaDeTexto 23"/>
          <p:cNvSpPr txBox="1"/>
          <p:nvPr/>
        </p:nvSpPr>
        <p:spPr>
          <a:xfrm>
            <a:off x="5271064" y="2441840"/>
            <a:ext cx="15632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/>
              <a:t>similaridades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5271063" y="4417994"/>
            <a:ext cx="15632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000" dirty="0"/>
              <a:t>similaridades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8616280" y="3641880"/>
            <a:ext cx="12768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/>
              <a:t>avaliações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2226823" y="3641879"/>
            <a:ext cx="12768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2000" dirty="0"/>
              <a:t>avaliações</a:t>
            </a:r>
          </a:p>
        </p:txBody>
      </p:sp>
      <p:grpSp>
        <p:nvGrpSpPr>
          <p:cNvPr id="32" name="Agrupar 31"/>
          <p:cNvGrpSpPr/>
          <p:nvPr/>
        </p:nvGrpSpPr>
        <p:grpSpPr>
          <a:xfrm>
            <a:off x="3550408" y="1612083"/>
            <a:ext cx="7010085" cy="3422045"/>
            <a:chOff x="3550408" y="1807155"/>
            <a:chExt cx="7010085" cy="3422045"/>
          </a:xfrm>
        </p:grpSpPr>
        <p:sp>
          <p:nvSpPr>
            <p:cNvPr id="28" name="Seta Dobrada 27"/>
            <p:cNvSpPr/>
            <p:nvPr/>
          </p:nvSpPr>
          <p:spPr>
            <a:xfrm rot="5400000">
              <a:off x="5363263" y="31970"/>
              <a:ext cx="3384375" cy="7010085"/>
            </a:xfrm>
            <a:prstGeom prst="bentArrow">
              <a:avLst>
                <a:gd name="adj1" fmla="val 9353"/>
                <a:gd name="adj2" fmla="val 12115"/>
                <a:gd name="adj3" fmla="val 16238"/>
                <a:gd name="adj4" fmla="val 21531"/>
              </a:avLst>
            </a:prstGeom>
            <a:solidFill>
              <a:schemeClr val="bg1">
                <a:lumMod val="6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30" name="CaixaDeTexto 29"/>
            <p:cNvSpPr txBox="1"/>
            <p:nvPr/>
          </p:nvSpPr>
          <p:spPr>
            <a:xfrm>
              <a:off x="6433324" y="1807155"/>
              <a:ext cx="12442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000" b="1" dirty="0" err="1"/>
                <a:t>User-User</a:t>
              </a:r>
              <a:endParaRPr lang="pt-BR" sz="2000" b="1" dirty="0"/>
            </a:p>
          </p:txBody>
        </p:sp>
      </p:grpSp>
      <p:grpSp>
        <p:nvGrpSpPr>
          <p:cNvPr id="33" name="Agrupar 32"/>
          <p:cNvGrpSpPr/>
          <p:nvPr/>
        </p:nvGrpSpPr>
        <p:grpSpPr>
          <a:xfrm>
            <a:off x="1804088" y="2883344"/>
            <a:ext cx="6812192" cy="3465839"/>
            <a:chOff x="1804088" y="3078416"/>
            <a:chExt cx="6812192" cy="3465839"/>
          </a:xfrm>
        </p:grpSpPr>
        <p:sp>
          <p:nvSpPr>
            <p:cNvPr id="29" name="Seta Dobrada 28"/>
            <p:cNvSpPr/>
            <p:nvPr/>
          </p:nvSpPr>
          <p:spPr>
            <a:xfrm flipV="1">
              <a:off x="1804088" y="3078416"/>
              <a:ext cx="6812192" cy="3465839"/>
            </a:xfrm>
            <a:prstGeom prst="bentArrow">
              <a:avLst>
                <a:gd name="adj1" fmla="val 9353"/>
                <a:gd name="adj2" fmla="val 10918"/>
                <a:gd name="adj3" fmla="val 16238"/>
                <a:gd name="adj4" fmla="val 21531"/>
              </a:avLst>
            </a:prstGeom>
            <a:solidFill>
              <a:schemeClr val="bg1">
                <a:lumMod val="6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chemeClr val="tx1"/>
                </a:solidFill>
              </a:endParaRPr>
            </a:p>
          </p:txBody>
        </p:sp>
        <p:sp>
          <p:nvSpPr>
            <p:cNvPr id="31" name="CaixaDeTexto 30"/>
            <p:cNvSpPr txBox="1"/>
            <p:nvPr/>
          </p:nvSpPr>
          <p:spPr>
            <a:xfrm>
              <a:off x="4586392" y="5958068"/>
              <a:ext cx="12475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2000" b="1" dirty="0"/>
                <a:t>Item-Item</a:t>
              </a:r>
            </a:p>
          </p:txBody>
        </p:sp>
      </p:grpSp>
      <p:sp>
        <p:nvSpPr>
          <p:cNvPr id="3" name="CaixaDeTexto 2">
            <a:extLst>
              <a:ext uri="{FF2B5EF4-FFF2-40B4-BE49-F238E27FC236}">
                <a16:creationId xmlns:a16="http://schemas.microsoft.com/office/drawing/2014/main" id="{B0D4A302-733B-3CB4-046C-DD49B83F526B}"/>
              </a:ext>
            </a:extLst>
          </p:cNvPr>
          <p:cNvSpPr txBox="1"/>
          <p:nvPr/>
        </p:nvSpPr>
        <p:spPr>
          <a:xfrm>
            <a:off x="3883998" y="6238813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elaborada pelo autor (2025)</a:t>
            </a:r>
          </a:p>
        </p:txBody>
      </p:sp>
    </p:spTree>
    <p:extLst>
      <p:ext uri="{BB962C8B-B14F-4D97-AF65-F5344CB8AC3E}">
        <p14:creationId xmlns:p14="http://schemas.microsoft.com/office/powerpoint/2010/main" val="2245847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75F0E9B-3B71-7547-797D-4FACE0593B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53"/>
          <a:stretch/>
        </p:blipFill>
        <p:spPr>
          <a:xfrm>
            <a:off x="712578" y="695737"/>
            <a:ext cx="10766844" cy="544545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51632B7-E545-C107-74F8-315AC9C597B7}"/>
              </a:ext>
            </a:extLst>
          </p:cNvPr>
          <p:cNvSpPr txBox="1"/>
          <p:nvPr/>
        </p:nvSpPr>
        <p:spPr>
          <a:xfrm>
            <a:off x="3883999" y="6254457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728132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Usar a matriz de avaliações usuário x item para encontrar usuários ou itens similares e as predições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200" dirty="0"/>
              <a:t>Recomendação colaborativa baseada em memória</a:t>
            </a:r>
            <a:endParaRPr lang="pt-BR" sz="36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34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7605141"/>
              </p:ext>
            </p:extLst>
          </p:nvPr>
        </p:nvGraphicFramePr>
        <p:xfrm>
          <a:off x="3495250" y="3780624"/>
          <a:ext cx="6096000" cy="2225040"/>
        </p:xfrm>
        <a:graphic>
          <a:graphicData uri="http://schemas.openxmlformats.org/drawingml/2006/table">
            <a:tbl>
              <a:tblPr firstRow="1" bandRow="1"/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Item5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="1" baseline="0" dirty="0">
                          <a:solidFill>
                            <a:srgbClr val="0070C0"/>
                          </a:solidFill>
                          <a:latin typeface="Calibri" pitchFamily="34" charset="0"/>
                        </a:rPr>
                        <a:t>Alice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800" b="1" baseline="0" dirty="0">
                          <a:solidFill>
                            <a:srgbClr val="C00000"/>
                          </a:solidFill>
                          <a:latin typeface="Calibri" pitchFamily="34" charset="0"/>
                        </a:rPr>
                        <a:t>?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="1" baseline="0" dirty="0">
                          <a:latin typeface="Calibri" pitchFamily="34" charset="0"/>
                        </a:rPr>
                        <a:t>User1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="1" baseline="0" dirty="0">
                          <a:latin typeface="Calibri" pitchFamily="34" charset="0"/>
                        </a:rPr>
                        <a:t>User2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="1" baseline="0" dirty="0">
                          <a:latin typeface="Calibri" pitchFamily="34" charset="0"/>
                        </a:rPr>
                        <a:t>User3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="1" baseline="0" dirty="0">
                          <a:latin typeface="Calibri" pitchFamily="34" charset="0"/>
                        </a:rPr>
                        <a:t>User4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eta para a Esquerda e para a Direita 6"/>
          <p:cNvSpPr/>
          <p:nvPr/>
        </p:nvSpPr>
        <p:spPr>
          <a:xfrm>
            <a:off x="3495250" y="3178684"/>
            <a:ext cx="6095999" cy="5400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Itens similares</a:t>
            </a:r>
          </a:p>
        </p:txBody>
      </p:sp>
      <p:sp>
        <p:nvSpPr>
          <p:cNvPr id="8" name="Seta para Cima e para Baixo 7"/>
          <p:cNvSpPr/>
          <p:nvPr/>
        </p:nvSpPr>
        <p:spPr>
          <a:xfrm>
            <a:off x="2870843" y="3780624"/>
            <a:ext cx="540000" cy="222504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pt-BR" sz="1600" b="1" dirty="0"/>
              <a:t>Usuários similares</a:t>
            </a:r>
          </a:p>
        </p:txBody>
      </p:sp>
      <p:sp>
        <p:nvSpPr>
          <p:cNvPr id="35" name="Texto Explicativo em Elipse 34"/>
          <p:cNvSpPr/>
          <p:nvPr/>
        </p:nvSpPr>
        <p:spPr>
          <a:xfrm>
            <a:off x="9903608" y="3178684"/>
            <a:ext cx="2169056" cy="1152128"/>
          </a:xfrm>
          <a:prstGeom prst="wedgeEllipseCallout">
            <a:avLst>
              <a:gd name="adj1" fmla="val -71796"/>
              <a:gd name="adj2" fmla="val 55834"/>
            </a:avLst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500" dirty="0"/>
              <a:t>Qual seria a avaliação da </a:t>
            </a:r>
            <a:r>
              <a:rPr lang="pt-BR" sz="1500" b="1" i="1" dirty="0"/>
              <a:t>Alice</a:t>
            </a:r>
            <a:r>
              <a:rPr lang="pt-BR" sz="1500" dirty="0"/>
              <a:t> para o </a:t>
            </a:r>
            <a:br>
              <a:rPr lang="pt-BR" sz="1500" dirty="0"/>
            </a:br>
            <a:r>
              <a:rPr lang="pt-BR" sz="1500" b="1" i="1" dirty="0"/>
              <a:t>Item 5 </a:t>
            </a:r>
            <a:r>
              <a:rPr lang="pt-BR" sz="1500" dirty="0"/>
              <a:t>???</a:t>
            </a:r>
            <a:endParaRPr lang="pt-BR" sz="1500" b="1" i="1" dirty="0"/>
          </a:p>
        </p:txBody>
      </p:sp>
      <p:sp>
        <p:nvSpPr>
          <p:cNvPr id="10" name="CaixaDeTexto 9"/>
          <p:cNvSpPr txBox="1"/>
          <p:nvPr/>
        </p:nvSpPr>
        <p:spPr>
          <a:xfrm>
            <a:off x="521366" y="3632403"/>
            <a:ext cx="2307274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i="1" dirty="0">
                <a:solidFill>
                  <a:schemeClr val="accent1">
                    <a:lumMod val="50000"/>
                  </a:schemeClr>
                </a:solidFill>
              </a:rPr>
              <a:t>Como calcular a </a:t>
            </a:r>
            <a:r>
              <a:rPr lang="pt-BR" sz="2000" b="1" i="1" dirty="0">
                <a:solidFill>
                  <a:schemeClr val="accent1">
                    <a:lumMod val="50000"/>
                  </a:schemeClr>
                </a:solidFill>
              </a:rPr>
              <a:t>similaridade</a:t>
            </a:r>
            <a:r>
              <a:rPr lang="pt-BR" sz="2000" i="1" dirty="0">
                <a:solidFill>
                  <a:schemeClr val="accent1">
                    <a:lumMod val="50000"/>
                  </a:schemeClr>
                </a:solidFill>
              </a:rPr>
              <a:t>?</a:t>
            </a:r>
          </a:p>
          <a:p>
            <a:endParaRPr lang="pt-BR" sz="1400" i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pt-BR" sz="2000" i="1" dirty="0">
                <a:solidFill>
                  <a:schemeClr val="accent1">
                    <a:lumMod val="50000"/>
                  </a:schemeClr>
                </a:solidFill>
              </a:rPr>
              <a:t>Quantos </a:t>
            </a:r>
            <a:r>
              <a:rPr lang="pt-BR" sz="2000" b="1" i="1" dirty="0">
                <a:solidFill>
                  <a:schemeClr val="accent1">
                    <a:lumMod val="50000"/>
                  </a:schemeClr>
                </a:solidFill>
              </a:rPr>
              <a:t>vizinhos</a:t>
            </a:r>
            <a:r>
              <a:rPr lang="pt-BR" sz="2000" i="1" dirty="0">
                <a:solidFill>
                  <a:schemeClr val="accent1">
                    <a:lumMod val="50000"/>
                  </a:schemeClr>
                </a:solidFill>
              </a:rPr>
              <a:t> serão considerados?</a:t>
            </a:r>
          </a:p>
          <a:p>
            <a:endParaRPr lang="pt-BR" sz="1400" i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pt-BR" sz="2000" i="1" dirty="0">
                <a:solidFill>
                  <a:schemeClr val="accent1">
                    <a:lumMod val="50000"/>
                  </a:schemeClr>
                </a:solidFill>
              </a:rPr>
              <a:t>Como gerar a </a:t>
            </a:r>
            <a:r>
              <a:rPr lang="pt-BR" sz="2000" b="1" i="1" dirty="0">
                <a:solidFill>
                  <a:schemeClr val="accent1">
                    <a:lumMod val="50000"/>
                  </a:schemeClr>
                </a:solidFill>
              </a:rPr>
              <a:t>predição</a:t>
            </a:r>
            <a:r>
              <a:rPr lang="pt-BR" sz="2000" i="1" dirty="0">
                <a:solidFill>
                  <a:schemeClr val="accent1">
                    <a:lumMod val="50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32535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3200" dirty="0"/>
              <a:t>Recomendação colaborativa baseada em memória</a:t>
            </a:r>
            <a:endParaRPr lang="pt-BR" sz="36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4090809A-D653-66B2-6114-3D876EAB2154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477446165"/>
              </p:ext>
            </p:extLst>
          </p:nvPr>
        </p:nvGraphicFramePr>
        <p:xfrm>
          <a:off x="1056000" y="1855788"/>
          <a:ext cx="10080000" cy="4319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0685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Usuários similares </a:t>
            </a:r>
            <a:r>
              <a:rPr lang="pt-BR" dirty="0"/>
              <a:t>tendem a ter </a:t>
            </a:r>
            <a:r>
              <a:rPr lang="pt-BR" b="1" dirty="0">
                <a:solidFill>
                  <a:srgbClr val="0070C0"/>
                </a:solidFill>
              </a:rPr>
              <a:t>avaliações similares </a:t>
            </a:r>
            <a:r>
              <a:rPr lang="pt-BR" dirty="0"/>
              <a:t>para os mesmos itens</a:t>
            </a:r>
          </a:p>
          <a:p>
            <a:r>
              <a:rPr lang="pt-BR" dirty="0"/>
              <a:t>Uma função de similaridade irá computar a similaridade de um usuário </a:t>
            </a:r>
            <a:r>
              <a:rPr lang="pt-BR" b="1" dirty="0">
                <a:solidFill>
                  <a:srgbClr val="0070C0"/>
                </a:solidFill>
              </a:rPr>
              <a:t>com todos os demais usuários </a:t>
            </a:r>
            <a:r>
              <a:rPr lang="pt-BR" dirty="0"/>
              <a:t>a partir de suas avaliações</a:t>
            </a:r>
          </a:p>
          <a:p>
            <a:r>
              <a:rPr lang="pt-BR" dirty="0"/>
              <a:t>Se usuários diferentes avaliaram itens de forma similar no passado, então as avaliações de um dado item podem ajudar a </a:t>
            </a:r>
            <a:r>
              <a:rPr lang="pt-BR" b="1" dirty="0">
                <a:solidFill>
                  <a:srgbClr val="0070C0"/>
                </a:solidFill>
              </a:rPr>
              <a:t>predizer a avaliação </a:t>
            </a:r>
            <a:r>
              <a:rPr lang="pt-BR" dirty="0"/>
              <a:t>deste item para outros usuários </a:t>
            </a:r>
            <a:r>
              <a:rPr lang="pt-BR" dirty="0" err="1"/>
              <a:t>similiares</a:t>
            </a:r>
            <a:endParaRPr lang="pt-BR" baseline="-250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Abordagem </a:t>
            </a:r>
            <a:r>
              <a:rPr lang="pt-BR" dirty="0" err="1"/>
              <a:t>User-User</a:t>
            </a:r>
            <a:endParaRPr lang="pt-BR" sz="44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103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6042DC19-B184-4083-959D-3DAFC9179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5159" y="639000"/>
            <a:ext cx="10221679" cy="55800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711E6BE2-39EF-4A96-77E3-36E7C13193E0}"/>
              </a:ext>
            </a:extLst>
          </p:cNvPr>
          <p:cNvSpPr txBox="1"/>
          <p:nvPr/>
        </p:nvSpPr>
        <p:spPr>
          <a:xfrm>
            <a:off x="3883999" y="6254457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3096407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46A8CB81-33E1-7450-12FC-9329F7E5189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Passos</a:t>
            </a:r>
          </a:p>
          <a:p>
            <a:pPr lvl="1">
              <a:buFont typeface="+mj-lt"/>
              <a:buAutoNum type="arabicPeriod"/>
            </a:pPr>
            <a:r>
              <a:rPr lang="pt-BR" dirty="0"/>
              <a:t>Calcular similaridade entre usuários</a:t>
            </a:r>
          </a:p>
          <a:p>
            <a:pPr lvl="1">
              <a:buFont typeface="+mj-lt"/>
              <a:buAutoNum type="arabicPeriod"/>
            </a:pPr>
            <a:r>
              <a:rPr lang="pt-BR" dirty="0"/>
              <a:t>Selecionar os </a:t>
            </a:r>
            <a:r>
              <a:rPr lang="pt-BR" i="1" dirty="0"/>
              <a:t>k</a:t>
            </a:r>
            <a:r>
              <a:rPr lang="pt-BR" dirty="0"/>
              <a:t> usuários mais similares (vizinhos)</a:t>
            </a:r>
          </a:p>
          <a:p>
            <a:pPr lvl="1">
              <a:buFont typeface="+mj-lt"/>
              <a:buAutoNum type="arabicPeriod"/>
            </a:pPr>
            <a:r>
              <a:rPr lang="pt-BR" dirty="0"/>
              <a:t>Agregar as avaliações desses vizinhos</a:t>
            </a:r>
          </a:p>
          <a:p>
            <a:pPr lvl="1">
              <a:buFont typeface="+mj-lt"/>
              <a:buAutoNum type="arabicPeriod"/>
            </a:pPr>
            <a:r>
              <a:rPr lang="pt-BR" dirty="0"/>
              <a:t>Gerar recomendação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F275D5F-9494-B613-AC9D-E15650E41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Abordagem </a:t>
            </a:r>
            <a:r>
              <a:rPr lang="pt-BR" dirty="0" err="1"/>
              <a:t>User-User</a:t>
            </a: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DDC71C6-3B60-8B85-D99D-134AE37C61F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pt-BR" b="1" dirty="0"/>
              <a:t>Exemplo</a:t>
            </a:r>
          </a:p>
          <a:p>
            <a:pPr lvl="1"/>
            <a:r>
              <a:rPr lang="pt-BR" dirty="0"/>
              <a:t>Usuários A e B avaliam filmes de forma parecida</a:t>
            </a:r>
          </a:p>
          <a:p>
            <a:pPr lvl="1"/>
            <a:r>
              <a:rPr lang="pt-BR" dirty="0"/>
              <a:t>B gostou de um filme que A ainda não viu</a:t>
            </a:r>
          </a:p>
          <a:p>
            <a:pPr lvl="1"/>
            <a:r>
              <a:rPr lang="pt-BR" dirty="0"/>
              <a:t>O filme é recomendado para A</a:t>
            </a:r>
          </a:p>
        </p:txBody>
      </p:sp>
    </p:spTree>
    <p:extLst>
      <p:ext uri="{BB962C8B-B14F-4D97-AF65-F5344CB8AC3E}">
        <p14:creationId xmlns:p14="http://schemas.microsoft.com/office/powerpoint/2010/main" val="3130726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Medindo a similaridade </a:t>
            </a:r>
            <a:br>
              <a:rPr lang="pt-BR" dirty="0"/>
            </a:br>
            <a:r>
              <a:rPr lang="pt-BR" dirty="0"/>
              <a:t>(cosseno ou </a:t>
            </a:r>
            <a:r>
              <a:rPr lang="pt-BR" b="1" i="1" dirty="0" err="1">
                <a:solidFill>
                  <a:schemeClr val="tx2"/>
                </a:solidFill>
              </a:rPr>
              <a:t>pearson</a:t>
            </a:r>
            <a:r>
              <a:rPr lang="pt-BR" dirty="0"/>
              <a:t>)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Abordagem </a:t>
            </a:r>
            <a:r>
              <a:rPr lang="pt-BR" dirty="0" err="1"/>
              <a:t>User-User</a:t>
            </a:r>
            <a:endParaRPr lang="pt-BR" sz="44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9" name="Tabelle 18"/>
          <p:cNvGraphicFramePr>
            <a:graphicFrameLocks noGrp="1"/>
          </p:cNvGraphicFramePr>
          <p:nvPr/>
        </p:nvGraphicFramePr>
        <p:xfrm>
          <a:off x="1487486" y="3284984"/>
          <a:ext cx="6703986" cy="2680445"/>
        </p:xfrm>
        <a:graphic>
          <a:graphicData uri="http://schemas.openxmlformats.org/drawingml/2006/table">
            <a:tbl>
              <a:tblPr firstRow="1" bandRow="1"/>
              <a:tblGrid>
                <a:gridCol w="1117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7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7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73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73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4649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000" baseline="0" dirty="0">
                        <a:latin typeface="Calibri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Item1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Item2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Item3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Item4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Item5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39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Alice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baseline="0" dirty="0">
                          <a:solidFill>
                            <a:srgbClr val="C00000"/>
                          </a:solidFill>
                          <a:latin typeface="Calibri" pitchFamily="34" charset="0"/>
                        </a:rPr>
                        <a:t>?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649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User1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649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User2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649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User3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649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User4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3" name="Agrupar 32"/>
          <p:cNvGrpSpPr/>
          <p:nvPr/>
        </p:nvGrpSpPr>
        <p:grpSpPr>
          <a:xfrm>
            <a:off x="8256240" y="3808489"/>
            <a:ext cx="2462365" cy="844647"/>
            <a:chOff x="8256240" y="3808489"/>
            <a:chExt cx="2462365" cy="844647"/>
          </a:xfrm>
        </p:grpSpPr>
        <p:sp>
          <p:nvSpPr>
            <p:cNvPr id="21" name="Textfeld 16"/>
            <p:cNvSpPr txBox="1"/>
            <p:nvPr/>
          </p:nvSpPr>
          <p:spPr>
            <a:xfrm>
              <a:off x="8770764" y="4191471"/>
              <a:ext cx="19478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sim</a:t>
              </a:r>
              <a:r>
                <a:rPr lang="pt-BR" sz="2400" baseline="-25000" dirty="0"/>
                <a:t>A,U1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=  0,85</a:t>
              </a:r>
            </a:p>
          </p:txBody>
        </p:sp>
        <p:sp>
          <p:nvSpPr>
            <p:cNvPr id="22" name="Nach links gekrümmter Pfeil 3"/>
            <p:cNvSpPr/>
            <p:nvPr/>
          </p:nvSpPr>
          <p:spPr bwMode="auto">
            <a:xfrm>
              <a:off x="8256240" y="3808489"/>
              <a:ext cx="238254" cy="612000"/>
            </a:xfrm>
            <a:prstGeom prst="curvedLeftArrow">
              <a:avLst/>
            </a:prstGeom>
            <a:solidFill>
              <a:srgbClr val="BBE0E3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</a:endParaRPr>
            </a:p>
          </p:txBody>
        </p:sp>
      </p:grpSp>
      <p:grpSp>
        <p:nvGrpSpPr>
          <p:cNvPr id="34" name="Agrupar 33"/>
          <p:cNvGrpSpPr/>
          <p:nvPr/>
        </p:nvGrpSpPr>
        <p:grpSpPr>
          <a:xfrm>
            <a:off x="8256240" y="3790750"/>
            <a:ext cx="2462365" cy="1294434"/>
            <a:chOff x="8256240" y="3790750"/>
            <a:chExt cx="2462365" cy="1294434"/>
          </a:xfrm>
        </p:grpSpPr>
        <p:sp>
          <p:nvSpPr>
            <p:cNvPr id="24" name="Nach links gekrümmter Pfeil 15"/>
            <p:cNvSpPr/>
            <p:nvPr/>
          </p:nvSpPr>
          <p:spPr bwMode="auto">
            <a:xfrm>
              <a:off x="8256240" y="3790750"/>
              <a:ext cx="288032" cy="1080000"/>
            </a:xfrm>
            <a:prstGeom prst="curvedLeftArrow">
              <a:avLst/>
            </a:prstGeom>
            <a:solidFill>
              <a:srgbClr val="BBE0E3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</a:endParaRPr>
            </a:p>
          </p:txBody>
        </p:sp>
        <p:sp>
          <p:nvSpPr>
            <p:cNvPr id="25" name="Textfeld 17"/>
            <p:cNvSpPr txBox="1"/>
            <p:nvPr/>
          </p:nvSpPr>
          <p:spPr>
            <a:xfrm>
              <a:off x="8770764" y="4623519"/>
              <a:ext cx="19478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sim</a:t>
              </a:r>
              <a:r>
                <a:rPr lang="pt-BR" sz="2400" baseline="-25000" dirty="0"/>
                <a:t>A,U2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=  0,70</a:t>
              </a:r>
            </a:p>
          </p:txBody>
        </p:sp>
      </p:grpSp>
      <p:grpSp>
        <p:nvGrpSpPr>
          <p:cNvPr id="35" name="Agrupar 34"/>
          <p:cNvGrpSpPr/>
          <p:nvPr/>
        </p:nvGrpSpPr>
        <p:grpSpPr>
          <a:xfrm>
            <a:off x="8256240" y="3790750"/>
            <a:ext cx="2462365" cy="1752240"/>
            <a:chOff x="8256240" y="3790750"/>
            <a:chExt cx="2462365" cy="1752240"/>
          </a:xfrm>
        </p:grpSpPr>
        <p:sp>
          <p:nvSpPr>
            <p:cNvPr id="27" name="Textfeld 21"/>
            <p:cNvSpPr txBox="1"/>
            <p:nvPr/>
          </p:nvSpPr>
          <p:spPr>
            <a:xfrm>
              <a:off x="8770764" y="5081325"/>
              <a:ext cx="19478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sim</a:t>
              </a:r>
              <a:r>
                <a:rPr lang="pt-BR" sz="2400" baseline="-25000" dirty="0"/>
                <a:t>A,U3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=  0,00</a:t>
              </a:r>
            </a:p>
          </p:txBody>
        </p:sp>
        <p:sp>
          <p:nvSpPr>
            <p:cNvPr id="28" name="Nach links gekrümmter Pfeil 19"/>
            <p:cNvSpPr/>
            <p:nvPr/>
          </p:nvSpPr>
          <p:spPr bwMode="auto">
            <a:xfrm>
              <a:off x="8256240" y="3790750"/>
              <a:ext cx="360040" cy="1512000"/>
            </a:xfrm>
            <a:prstGeom prst="curvedLeftArrow">
              <a:avLst/>
            </a:prstGeom>
            <a:solidFill>
              <a:srgbClr val="BBE0E3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</a:endParaRPr>
            </a:p>
          </p:txBody>
        </p:sp>
      </p:grpSp>
      <p:grpSp>
        <p:nvGrpSpPr>
          <p:cNvPr id="36" name="Agrupar 35"/>
          <p:cNvGrpSpPr/>
          <p:nvPr/>
        </p:nvGrpSpPr>
        <p:grpSpPr>
          <a:xfrm>
            <a:off x="8256240" y="3790748"/>
            <a:ext cx="2489490" cy="2188149"/>
            <a:chOff x="8256240" y="3790748"/>
            <a:chExt cx="2489490" cy="2188149"/>
          </a:xfrm>
        </p:grpSpPr>
        <p:sp>
          <p:nvSpPr>
            <p:cNvPr id="30" name="Textfeld 24"/>
            <p:cNvSpPr txBox="1"/>
            <p:nvPr/>
          </p:nvSpPr>
          <p:spPr>
            <a:xfrm>
              <a:off x="8772241" y="5517232"/>
              <a:ext cx="19734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sim</a:t>
              </a:r>
              <a:r>
                <a:rPr lang="pt-BR" sz="2400" baseline="-25000" dirty="0"/>
                <a:t>A,U4</a:t>
              </a:r>
              <a:r>
                <a: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= -0,79</a:t>
              </a:r>
            </a:p>
          </p:txBody>
        </p:sp>
        <p:sp>
          <p:nvSpPr>
            <p:cNvPr id="31" name="Nach links gekrümmter Pfeil 25"/>
            <p:cNvSpPr/>
            <p:nvPr/>
          </p:nvSpPr>
          <p:spPr bwMode="auto">
            <a:xfrm>
              <a:off x="8256240" y="3790748"/>
              <a:ext cx="432048" cy="1980000"/>
            </a:xfrm>
            <a:prstGeom prst="curvedLeftArrow">
              <a:avLst/>
            </a:prstGeom>
            <a:solidFill>
              <a:srgbClr val="BBE0E3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200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</a:endParaRPr>
            </a:p>
          </p:txBody>
        </p:sp>
      </p:grpSp>
      <p:sp>
        <p:nvSpPr>
          <p:cNvPr id="32" name="CaixaDeTexto 31"/>
          <p:cNvSpPr txBox="1"/>
          <p:nvPr/>
        </p:nvSpPr>
        <p:spPr>
          <a:xfrm>
            <a:off x="8653996" y="2852936"/>
            <a:ext cx="21719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00" b="1" i="1" dirty="0">
                <a:solidFill>
                  <a:schemeClr val="tx2"/>
                </a:solidFill>
              </a:rPr>
              <a:t>Similaridade entre os usuários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3"/>
              <p:cNvSpPr txBox="1"/>
              <p:nvPr/>
            </p:nvSpPr>
            <p:spPr>
              <a:xfrm>
                <a:off x="6065344" y="1646539"/>
                <a:ext cx="5410840" cy="9902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𝒔𝒊𝒎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𝒂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𝒃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1" i="1" smtClean="0">
                                  <a:latin typeface="Cambria Math"/>
                                </a:rPr>
                                <m:t>𝒑</m:t>
                              </m:r>
                              <m:r>
                                <a:rPr lang="en-US" b="1" i="1" smtClean="0">
                                  <a:latin typeface="Cambria Math"/>
                                </a:rPr>
                                <m:t> ∈</m:t>
                              </m:r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𝑷</m:t>
                              </m:r>
                            </m:sub>
                            <m:sup/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𝒂</m:t>
                                  </m:r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 i="1" smtClean="0">
                                          <a:latin typeface="Cambria Math"/>
                                        </a:rPr>
                                        <m:t>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𝒂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𝒃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/>
                                    </a:rPr>
                                    <m:t>𝒑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 ∈</m:t>
                                  </m:r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𝑷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𝒂</m:t>
                                              </m:r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𝒑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>
                                                      <a:latin typeface="Cambria Math"/>
                                                    </a:rPr>
                                                    <m:t>𝒓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𝒂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1" i="1" smtClean="0">
                                          <a:latin typeface="Cambria Math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/>
                                    </a:rPr>
                                    <m:t>𝒑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 ∈</m:t>
                                  </m:r>
                                  <m:r>
                                    <a:rPr lang="en-US" i="1">
                                      <a:latin typeface="Cambria Math"/>
                                      <a:ea typeface="Cambria Math"/>
                                    </a:rPr>
                                    <m:t>𝑷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1" i="1" smtClean="0">
                                                  <a:latin typeface="Cambria Math"/>
                                                </a:rPr>
                                                <m:t>𝒃</m:t>
                                              </m:r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𝒑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̅"/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>
                                                      <a:latin typeface="Cambria Math"/>
                                                    </a:rPr>
                                                    <m:t>𝒓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b="1" i="1" smtClean="0">
                                                  <a:latin typeface="Cambria Math"/>
                                                </a:rPr>
                                                <m:t>𝒃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feld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344" y="1646539"/>
                <a:ext cx="5410840" cy="9902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feld 16"/>
          <p:cNvSpPr txBox="1"/>
          <p:nvPr/>
        </p:nvSpPr>
        <p:spPr>
          <a:xfrm>
            <a:off x="8753056" y="3738705"/>
            <a:ext cx="1970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sim</a:t>
            </a:r>
            <a:r>
              <a:rPr lang="pt-BR" sz="2400" baseline="-25000" dirty="0"/>
              <a:t>A,A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  =  1,00</a:t>
            </a:r>
          </a:p>
        </p:txBody>
      </p:sp>
      <p:sp>
        <p:nvSpPr>
          <p:cNvPr id="26" name="Seta para Cima 8">
            <a:extLst>
              <a:ext uri="{FF2B5EF4-FFF2-40B4-BE49-F238E27FC236}">
                <a16:creationId xmlns:a16="http://schemas.microsoft.com/office/drawing/2014/main" id="{7AEABF90-8E4B-4BA3-B020-CD3BF8CC8211}"/>
              </a:ext>
            </a:extLst>
          </p:cNvPr>
          <p:cNvSpPr/>
          <p:nvPr/>
        </p:nvSpPr>
        <p:spPr>
          <a:xfrm rot="5400000">
            <a:off x="1080983" y="4240468"/>
            <a:ext cx="267761" cy="3600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Seta para Cima 8">
            <a:extLst>
              <a:ext uri="{FF2B5EF4-FFF2-40B4-BE49-F238E27FC236}">
                <a16:creationId xmlns:a16="http://schemas.microsoft.com/office/drawing/2014/main" id="{A11EF06D-E9AE-4CC1-9591-D7A440B64D8B}"/>
              </a:ext>
            </a:extLst>
          </p:cNvPr>
          <p:cNvSpPr/>
          <p:nvPr/>
        </p:nvSpPr>
        <p:spPr>
          <a:xfrm rot="5400000">
            <a:off x="1101577" y="4696575"/>
            <a:ext cx="267761" cy="3600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Seta para Cima 8">
            <a:extLst>
              <a:ext uri="{FF2B5EF4-FFF2-40B4-BE49-F238E27FC236}">
                <a16:creationId xmlns:a16="http://schemas.microsoft.com/office/drawing/2014/main" id="{77ED27D8-2C8B-44C9-9FDD-8CF689A61488}"/>
              </a:ext>
            </a:extLst>
          </p:cNvPr>
          <p:cNvSpPr/>
          <p:nvPr/>
        </p:nvSpPr>
        <p:spPr>
          <a:xfrm rot="16200000">
            <a:off x="10798264" y="4240469"/>
            <a:ext cx="267761" cy="3600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Seta para Cima 8">
            <a:extLst>
              <a:ext uri="{FF2B5EF4-FFF2-40B4-BE49-F238E27FC236}">
                <a16:creationId xmlns:a16="http://schemas.microsoft.com/office/drawing/2014/main" id="{29B162B3-9BF9-4BD6-81C3-D70EF8229986}"/>
              </a:ext>
            </a:extLst>
          </p:cNvPr>
          <p:cNvSpPr/>
          <p:nvPr/>
        </p:nvSpPr>
        <p:spPr>
          <a:xfrm rot="16200000">
            <a:off x="10799584" y="4674330"/>
            <a:ext cx="267761" cy="3600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5707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9" grpId="0" animBg="1"/>
      <p:bldP spid="37" grpId="0" animBg="1"/>
      <p:bldP spid="3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Realizando as predições para</a:t>
            </a:r>
            <a:br>
              <a:rPr lang="pt-BR" dirty="0"/>
            </a:br>
            <a:r>
              <a:rPr lang="pt-BR" dirty="0"/>
              <a:t>o usuário </a:t>
            </a:r>
            <a:r>
              <a:rPr lang="pt-BR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pt-BR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pt-BR" dirty="0"/>
              <a:t>  para o item </a:t>
            </a:r>
            <a:r>
              <a:rPr lang="pt-BR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pt-BR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endParaRPr lang="pt-BR" i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r>
              <a:rPr lang="pt-BR" sz="2000" dirty="0"/>
              <a:t>4 + (((0.85*(3-2.4)) + (0.70*(5-3.8))) / (0.85+0.70))</a:t>
            </a:r>
          </a:p>
          <a:p>
            <a:pPr lvl="1"/>
            <a:r>
              <a:rPr lang="pt-BR" sz="2000" dirty="0"/>
              <a:t>4 + (((0.85*0.6) + (0.70*1.2) ) / 1.55)</a:t>
            </a:r>
          </a:p>
          <a:p>
            <a:pPr lvl="1"/>
            <a:r>
              <a:rPr lang="pt-BR" sz="2000" dirty="0"/>
              <a:t>4 + ((0.51 + 0.84)/1.55)</a:t>
            </a:r>
          </a:p>
          <a:p>
            <a:pPr lvl="1"/>
            <a:r>
              <a:rPr lang="pt-BR" sz="2000" dirty="0"/>
              <a:t>4 + 0.87 = </a:t>
            </a:r>
            <a:r>
              <a:rPr lang="pt-BR" sz="2000" b="1" dirty="0"/>
              <a:t>4.87</a:t>
            </a:r>
            <a:endParaRPr lang="pt-BR" sz="3600" b="1" i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Abordagem </a:t>
            </a:r>
            <a:r>
              <a:rPr lang="pt-BR" dirty="0" err="1"/>
              <a:t>User-User</a:t>
            </a:r>
            <a:endParaRPr lang="pt-BR" sz="44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Tabelle 1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1866302"/>
                  </p:ext>
                </p:extLst>
              </p:nvPr>
            </p:nvGraphicFramePr>
            <p:xfrm>
              <a:off x="6916081" y="2094316"/>
              <a:ext cx="4990277" cy="18288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64801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537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537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537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537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5379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13208">
                      <a:extLst>
                        <a:ext uri="{9D8B030D-6E8A-4147-A177-3AD203B41FA5}">
                          <a16:colId xmlns:a16="http://schemas.microsoft.com/office/drawing/2014/main" val="2329978274"/>
                        </a:ext>
                      </a:extLst>
                    </a:gridCol>
                    <a:gridCol w="460071">
                      <a:extLst>
                        <a:ext uri="{9D8B030D-6E8A-4147-A177-3AD203B41FA5}">
                          <a16:colId xmlns:a16="http://schemas.microsoft.com/office/drawing/2014/main" val="4014023664"/>
                        </a:ext>
                      </a:extLst>
                    </a:gridCol>
                  </a:tblGrid>
                  <a:tr h="241952"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endParaRPr lang="en-US" sz="1400" baseline="0" dirty="0">
                            <a:latin typeface="Calibri" pitchFamily="34" charset="0"/>
                          </a:endParaRP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Item1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Item2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Item3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Item4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Item5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bg1"/>
                              </a:solidFill>
                              <a:latin typeface="Calibri" pitchFamily="34" charset="0"/>
                            </a:rPr>
                            <a:t>Sim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pt-BR" sz="1400" b="1" i="1" baseline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pt-BR" sz="1400" b="1" i="1" baseline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400" b="1" baseline="0" dirty="0">
                            <a:solidFill>
                              <a:schemeClr val="bg1"/>
                            </a:solidFill>
                            <a:latin typeface="Calibri" pitchFamily="34" charset="0"/>
                          </a:endParaRP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49512"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="1" baseline="0" dirty="0">
                              <a:solidFill>
                                <a:srgbClr val="0070C0"/>
                              </a:solidFill>
                              <a:latin typeface="Calibri" pitchFamily="34" charset="0"/>
                            </a:rPr>
                            <a:t>Alice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5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3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4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4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="1" baseline="0" dirty="0">
                              <a:solidFill>
                                <a:srgbClr val="C00000"/>
                              </a:solidFill>
                              <a:latin typeface="Calibri" pitchFamily="34" charset="0"/>
                            </a:rPr>
                            <a:t>4.87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tx2"/>
                              </a:solidFill>
                              <a:latin typeface="Calibri" pitchFamily="34" charset="0"/>
                            </a:rPr>
                            <a:t>1.00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BCB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tx2"/>
                              </a:solidFill>
                              <a:latin typeface="Calibri" pitchFamily="34" charset="0"/>
                            </a:rPr>
                            <a:t>4.0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BCBC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1952"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User1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3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2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3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3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tx2"/>
                              </a:solidFill>
                              <a:latin typeface="Calibri" pitchFamily="34" charset="0"/>
                            </a:rPr>
                            <a:t>0.85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tx2"/>
                              </a:solidFill>
                              <a:latin typeface="Calibri" pitchFamily="34" charset="0"/>
                            </a:rPr>
                            <a:t>2.4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41952"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User2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4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3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4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3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5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tx2"/>
                              </a:solidFill>
                              <a:latin typeface="Calibri" pitchFamily="34" charset="0"/>
                            </a:rPr>
                            <a:t>0.70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tx2"/>
                              </a:solidFill>
                              <a:latin typeface="Calibri" pitchFamily="34" charset="0"/>
                            </a:rPr>
                            <a:t>3.8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41952"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User3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3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3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5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4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tx2"/>
                              </a:solidFill>
                              <a:latin typeface="Calibri" pitchFamily="34" charset="0"/>
                            </a:rPr>
                            <a:t>0.00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tx2"/>
                              </a:solidFill>
                              <a:latin typeface="Calibri" pitchFamily="34" charset="0"/>
                            </a:rPr>
                            <a:t>3.2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41952"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User4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5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5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2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tx2"/>
                              </a:solidFill>
                              <a:latin typeface="Calibri" pitchFamily="34" charset="0"/>
                            </a:rPr>
                            <a:t>-0.79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tx2"/>
                              </a:solidFill>
                              <a:latin typeface="Calibri" pitchFamily="34" charset="0"/>
                            </a:rPr>
                            <a:t>2.8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Tabelle 1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1866302"/>
                  </p:ext>
                </p:extLst>
              </p:nvPr>
            </p:nvGraphicFramePr>
            <p:xfrm>
              <a:off x="6916081" y="2094316"/>
              <a:ext cx="4990277" cy="1828800"/>
            </p:xfrm>
            <a:graphic>
              <a:graphicData uri="http://schemas.openxmlformats.org/drawingml/2006/table">
                <a:tbl>
                  <a:tblPr firstRow="1" bandRow="1"/>
                  <a:tblGrid>
                    <a:gridCol w="64801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5379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537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5379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5379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53796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13208">
                      <a:extLst>
                        <a:ext uri="{9D8B030D-6E8A-4147-A177-3AD203B41FA5}">
                          <a16:colId xmlns:a16="http://schemas.microsoft.com/office/drawing/2014/main" val="2329978274"/>
                        </a:ext>
                      </a:extLst>
                    </a:gridCol>
                    <a:gridCol w="460071">
                      <a:extLst>
                        <a:ext uri="{9D8B030D-6E8A-4147-A177-3AD203B41FA5}">
                          <a16:colId xmlns:a16="http://schemas.microsoft.com/office/drawing/2014/main" val="4014023664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endParaRPr lang="en-US" sz="1400" baseline="0" dirty="0">
                            <a:latin typeface="Calibri" pitchFamily="34" charset="0"/>
                          </a:endParaRP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Item1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Item2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Item3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Item4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b="1" kern="1200">
                              <a:solidFill>
                                <a:schemeClr val="lt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Item5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bg1"/>
                              </a:solidFill>
                              <a:latin typeface="Calibri" pitchFamily="34" charset="0"/>
                            </a:rPr>
                            <a:t>Sim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980263" t="-2000" r="-5263" b="-5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="1" baseline="0" dirty="0">
                              <a:solidFill>
                                <a:srgbClr val="0070C0"/>
                              </a:solidFill>
                              <a:latin typeface="Calibri" pitchFamily="34" charset="0"/>
                            </a:rPr>
                            <a:t>Alice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5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3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4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4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="1" baseline="0" dirty="0">
                              <a:solidFill>
                                <a:srgbClr val="C00000"/>
                              </a:solidFill>
                              <a:latin typeface="Calibri" pitchFamily="34" charset="0"/>
                            </a:rPr>
                            <a:t>4.87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tx2"/>
                              </a:solidFill>
                              <a:latin typeface="Calibri" pitchFamily="34" charset="0"/>
                            </a:rPr>
                            <a:t>1.00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BCBC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tx2"/>
                              </a:solidFill>
                              <a:latin typeface="Calibri" pitchFamily="34" charset="0"/>
                            </a:rPr>
                            <a:t>4.0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381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CBCBC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User1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3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2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3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3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tx2"/>
                              </a:solidFill>
                              <a:latin typeface="Calibri" pitchFamily="34" charset="0"/>
                            </a:rPr>
                            <a:t>0.85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tx2"/>
                              </a:solidFill>
                              <a:latin typeface="Calibri" pitchFamily="34" charset="0"/>
                            </a:rPr>
                            <a:t>2.4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04800"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User2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4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3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4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3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5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tx2"/>
                              </a:solidFill>
                              <a:latin typeface="Calibri" pitchFamily="34" charset="0"/>
                            </a:rPr>
                            <a:t>0.70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tx2"/>
                              </a:solidFill>
                              <a:latin typeface="Calibri" pitchFamily="34" charset="0"/>
                            </a:rPr>
                            <a:t>3.8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04800"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User3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3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3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5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4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tx2"/>
                              </a:solidFill>
                              <a:latin typeface="Calibri" pitchFamily="34" charset="0"/>
                            </a:rPr>
                            <a:t>0.00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tx2"/>
                              </a:solidFill>
                              <a:latin typeface="Calibri" pitchFamily="34" charset="0"/>
                            </a:rPr>
                            <a:t>3.2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2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04800"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User4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5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5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2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>
                          <a:lvl1pPr marL="0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1pPr>
                          <a:lvl2pPr marL="520431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2pPr>
                          <a:lvl3pPr marL="104086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3pPr>
                          <a:lvl4pPr marL="1561292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4pPr>
                          <a:lvl5pPr marL="2081723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5pPr>
                          <a:lvl6pPr marL="2602154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6pPr>
                          <a:lvl7pPr marL="312258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7pPr>
                          <a:lvl8pPr marL="3643015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8pPr>
                          <a:lvl9pPr marL="4163446" algn="l" defTabSz="1040862" rtl="0" eaLnBrk="1" latinLnBrk="0" hangingPunct="1">
                            <a:defRPr sz="2049" kern="1200">
                              <a:solidFill>
                                <a:schemeClr val="dk1"/>
                              </a:solidFill>
                              <a:latin typeface="Verdana"/>
                            </a:defRPr>
                          </a:lvl9pPr>
                        </a:lstStyle>
                        <a:p>
                          <a:pPr algn="ctr"/>
                          <a:r>
                            <a:rPr lang="en-US" sz="1400" baseline="0" dirty="0">
                              <a:latin typeface="Calibri" pitchFamily="34" charset="0"/>
                            </a:rPr>
                            <a:t>1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rgbClr val="FFFFFF"/>
                          </a:solidFill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tx2"/>
                              </a:solidFill>
                              <a:latin typeface="Calibri" pitchFamily="34" charset="0"/>
                            </a:rPr>
                            <a:t>-0.79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b="1" baseline="0" dirty="0">
                              <a:solidFill>
                                <a:schemeClr val="tx2"/>
                              </a:solidFill>
                              <a:latin typeface="Calibri" pitchFamily="34" charset="0"/>
                            </a:rPr>
                            <a:t>2.8</a:t>
                          </a:r>
                        </a:p>
                      </a:txBody>
                      <a:tcPr anchor="ctr">
                        <a:lnL w="12700" cmpd="sng">
                          <a:solidFill>
                            <a:srgbClr val="FFFFFF"/>
                          </a:solidFill>
                        </a:lnL>
                        <a:lnR w="12700" cmpd="sng">
                          <a:solidFill>
                            <a:srgbClr val="FFFFFF"/>
                          </a:solidFill>
                        </a:lnR>
                        <a:lnT w="12700" cap="flat" cmpd="sng" algn="ctr">
                          <a:solidFill>
                            <a:srgbClr val="FFFFFF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solidFill>
                            <a:srgbClr val="FFFFFF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000000">
                            <a:tint val="40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feld 4"/>
              <p:cNvSpPr txBox="1"/>
              <p:nvPr/>
            </p:nvSpPr>
            <p:spPr>
              <a:xfrm>
                <a:off x="686274" y="4974120"/>
                <a:ext cx="6061659" cy="8408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/>
                        </a:rPr>
                        <m:t>𝒑𝒓𝒆𝒅</m:t>
                      </m:r>
                      <m:d>
                        <m:d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smtClean="0">
                              <a:latin typeface="Cambria Math"/>
                            </a:rPr>
                            <m:t>𝒂</m:t>
                          </m:r>
                          <m:r>
                            <a:rPr lang="en-US" sz="22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200" b="1" i="1" smtClean="0">
                              <a:latin typeface="Cambria Math"/>
                            </a:rPr>
                            <m:t>𝒑</m:t>
                          </m:r>
                        </m:e>
                      </m:d>
                      <m:r>
                        <a:rPr lang="en-US" sz="2200" b="1" i="1" smtClean="0">
                          <a:latin typeface="Cambria Math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/>
                                </a:rPr>
                                <m:t>𝒂</m:t>
                              </m:r>
                            </m:sub>
                          </m:sSub>
                        </m:e>
                      </m:acc>
                      <m:r>
                        <a:rPr lang="en-US" sz="2200" b="1" i="1" smtClean="0">
                          <a:latin typeface="Cambria Math"/>
                        </a:rPr>
                        <m:t>+</m:t>
                      </m:r>
                      <m:f>
                        <m:f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2200" b="1" i="1" smtClean="0">
                                  <a:latin typeface="Cambria Math"/>
                                </a:rPr>
                                <m:t>𝒃</m:t>
                              </m:r>
                              <m:r>
                                <a:rPr lang="en-US" sz="2200" b="1" i="1" smtClean="0">
                                  <a:latin typeface="Cambria Math"/>
                                </a:rPr>
                                <m:t> ∈</m:t>
                              </m:r>
                              <m:r>
                                <a:rPr lang="en-US" sz="2200" b="1" i="1" smtClean="0">
                                  <a:latin typeface="Cambria Math"/>
                                  <a:ea typeface="Cambria Math"/>
                                </a:rPr>
                                <m:t>𝑵</m:t>
                              </m:r>
                            </m:sub>
                            <m:sup/>
                            <m:e>
                              <m:r>
                                <a:rPr lang="en-US" sz="2200" b="1" i="1" smtClean="0">
                                  <a:latin typeface="Cambria Math"/>
                                </a:rPr>
                                <m:t>𝒔𝒊𝒎</m:t>
                              </m:r>
                              <m:d>
                                <m:dPr>
                                  <m:ctrlPr>
                                    <a:rPr lang="en-US" sz="2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1" i="1" smtClean="0">
                                      <a:latin typeface="Cambria Math"/>
                                    </a:rPr>
                                    <m:t>𝒂</m:t>
                                  </m:r>
                                  <m:r>
                                    <a:rPr lang="en-US" sz="2200" b="1" i="1" smtClean="0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200" b="1" i="1" smtClean="0">
                                      <a:latin typeface="Cambria Math"/>
                                    </a:rPr>
                                    <m:t>𝒃</m:t>
                                  </m:r>
                                </m:e>
                              </m:d>
                              <m:r>
                                <a:rPr lang="en-US" sz="2200" b="1" i="1" smtClean="0">
                                  <a:latin typeface="Cambria Math"/>
                                </a:rPr>
                                <m:t>∗(</m:t>
                              </m:r>
                              <m:sSub>
                                <m:sSubPr>
                                  <m:ctrlPr>
                                    <a:rPr lang="en-US" sz="2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1" i="1" smtClean="0">
                                      <a:latin typeface="Cambria Math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2200" b="1" i="1" smtClean="0">
                                      <a:latin typeface="Cambria Math"/>
                                    </a:rPr>
                                    <m:t>𝒃</m:t>
                                  </m:r>
                                  <m:r>
                                    <a:rPr lang="en-US" sz="2200" b="1" i="1" smtClean="0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200" b="1" i="1" smtClean="0">
                                      <a:latin typeface="Cambria Math"/>
                                    </a:rPr>
                                    <m:t>𝒑</m:t>
                                  </m:r>
                                </m:sub>
                              </m:sSub>
                              <m:r>
                                <a:rPr lang="en-US" sz="2200" b="1" i="1" smtClean="0">
                                  <a:latin typeface="Cambria Math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22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1" i="1" smtClean="0">
                                          <a:latin typeface="Cambria Math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sz="2200" b="1" i="1" smtClean="0">
                                          <a:latin typeface="Cambria Math"/>
                                        </a:rPr>
                                        <m:t>𝒃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2200" b="1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2200" i="1">
                                  <a:latin typeface="Cambria Math"/>
                                </a:rPr>
                                <m:t>𝒃</m:t>
                              </m:r>
                              <m:r>
                                <a:rPr lang="en-US" sz="2200" i="1">
                                  <a:latin typeface="Cambria Math"/>
                                </a:rPr>
                                <m:t> ∈</m:t>
                              </m:r>
                              <m:r>
                                <a:rPr lang="en-US" sz="2200" i="1">
                                  <a:latin typeface="Cambria Math"/>
                                  <a:ea typeface="Cambria Math"/>
                                </a:rPr>
                                <m:t>𝑵</m:t>
                              </m:r>
                            </m:sub>
                            <m:sup/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𝒔𝒊𝒎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/>
                                    </a:rPr>
                                    <m:t>𝒂</m:t>
                                  </m:r>
                                  <m:r>
                                    <a:rPr lang="en-US" sz="22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200" i="1">
                                      <a:latin typeface="Cambria Math"/>
                                    </a:rPr>
                                    <m:t>𝒃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23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274" y="4974120"/>
                <a:ext cx="6061659" cy="8408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CaixaDeTexto 28"/>
          <p:cNvSpPr txBox="1"/>
          <p:nvPr/>
        </p:nvSpPr>
        <p:spPr>
          <a:xfrm>
            <a:off x="7176120" y="4655891"/>
            <a:ext cx="40324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i="1" dirty="0">
                <a:solidFill>
                  <a:schemeClr val="accent2"/>
                </a:solidFill>
              </a:rPr>
              <a:t>sim(</a:t>
            </a:r>
            <a:r>
              <a:rPr lang="pt-BR" i="1" dirty="0" err="1">
                <a:solidFill>
                  <a:schemeClr val="accent2"/>
                </a:solidFill>
              </a:rPr>
              <a:t>a,b</a:t>
            </a:r>
            <a:r>
              <a:rPr lang="pt-BR" i="1" dirty="0">
                <a:solidFill>
                  <a:schemeClr val="accent2"/>
                </a:solidFill>
              </a:rPr>
              <a:t>) é a similaridade entre </a:t>
            </a:r>
            <a:r>
              <a:rPr lang="pt-BR" i="1" dirty="0" err="1">
                <a:solidFill>
                  <a:schemeClr val="accent2"/>
                </a:solidFill>
              </a:rPr>
              <a:t>u</a:t>
            </a:r>
            <a:r>
              <a:rPr lang="pt-BR" i="1" baseline="-25000" dirty="0" err="1">
                <a:solidFill>
                  <a:schemeClr val="accent2"/>
                </a:solidFill>
              </a:rPr>
              <a:t>a</a:t>
            </a:r>
            <a:r>
              <a:rPr lang="pt-BR" i="1" baseline="-25000" dirty="0">
                <a:solidFill>
                  <a:schemeClr val="accent2"/>
                </a:solidFill>
              </a:rPr>
              <a:t> </a:t>
            </a:r>
            <a:r>
              <a:rPr lang="pt-BR" i="1" dirty="0">
                <a:solidFill>
                  <a:schemeClr val="accent2"/>
                </a:solidFill>
              </a:rPr>
              <a:t>e </a:t>
            </a:r>
            <a:r>
              <a:rPr lang="pt-BR" i="1" dirty="0" err="1">
                <a:solidFill>
                  <a:schemeClr val="accent2"/>
                </a:solidFill>
              </a:rPr>
              <a:t>u</a:t>
            </a:r>
            <a:r>
              <a:rPr lang="pt-BR" i="1" baseline="-25000" dirty="0" err="1">
                <a:solidFill>
                  <a:schemeClr val="accent2"/>
                </a:solidFill>
              </a:rPr>
              <a:t>b</a:t>
            </a:r>
            <a:endParaRPr lang="pt-BR" i="1" dirty="0">
              <a:solidFill>
                <a:schemeClr val="accent2"/>
              </a:solidFill>
            </a:endParaRPr>
          </a:p>
          <a:p>
            <a:r>
              <a:rPr lang="pt-BR" i="1" dirty="0" err="1">
                <a:solidFill>
                  <a:schemeClr val="accent2"/>
                </a:solidFill>
              </a:rPr>
              <a:t>r</a:t>
            </a:r>
            <a:r>
              <a:rPr lang="pt-BR" i="1" baseline="-25000" dirty="0" err="1">
                <a:solidFill>
                  <a:schemeClr val="accent2"/>
                </a:solidFill>
              </a:rPr>
              <a:t>a</a:t>
            </a:r>
            <a:r>
              <a:rPr lang="pt-BR" i="1" dirty="0">
                <a:solidFill>
                  <a:schemeClr val="accent2"/>
                </a:solidFill>
              </a:rPr>
              <a:t> é avaliação média do </a:t>
            </a:r>
            <a:r>
              <a:rPr lang="pt-BR" i="1" dirty="0" err="1">
                <a:solidFill>
                  <a:schemeClr val="accent2"/>
                </a:solidFill>
              </a:rPr>
              <a:t>u</a:t>
            </a:r>
            <a:r>
              <a:rPr lang="pt-BR" i="1" baseline="-25000" dirty="0" err="1">
                <a:solidFill>
                  <a:schemeClr val="accent2"/>
                </a:solidFill>
              </a:rPr>
              <a:t>a</a:t>
            </a:r>
            <a:endParaRPr lang="pt-BR" i="1" baseline="-25000" dirty="0">
              <a:solidFill>
                <a:schemeClr val="accent2"/>
              </a:solidFill>
            </a:endParaRPr>
          </a:p>
          <a:p>
            <a:r>
              <a:rPr lang="pt-BR" i="1" dirty="0" err="1">
                <a:solidFill>
                  <a:schemeClr val="accent2"/>
                </a:solidFill>
              </a:rPr>
              <a:t>r</a:t>
            </a:r>
            <a:r>
              <a:rPr lang="pt-BR" i="1" baseline="-25000" dirty="0" err="1">
                <a:solidFill>
                  <a:schemeClr val="accent2"/>
                </a:solidFill>
              </a:rPr>
              <a:t>b</a:t>
            </a:r>
            <a:r>
              <a:rPr lang="pt-BR" i="1" dirty="0">
                <a:solidFill>
                  <a:schemeClr val="accent2"/>
                </a:solidFill>
              </a:rPr>
              <a:t> é avaliação média do </a:t>
            </a:r>
            <a:r>
              <a:rPr lang="pt-BR" i="1" dirty="0" err="1">
                <a:solidFill>
                  <a:schemeClr val="accent2"/>
                </a:solidFill>
              </a:rPr>
              <a:t>u</a:t>
            </a:r>
            <a:r>
              <a:rPr lang="pt-BR" i="1" baseline="-25000" dirty="0" err="1">
                <a:solidFill>
                  <a:schemeClr val="accent2"/>
                </a:solidFill>
              </a:rPr>
              <a:t>b</a:t>
            </a:r>
            <a:endParaRPr lang="pt-BR" i="1" baseline="-25000" dirty="0">
              <a:solidFill>
                <a:schemeClr val="accent2"/>
              </a:solidFill>
            </a:endParaRPr>
          </a:p>
          <a:p>
            <a:r>
              <a:rPr lang="pt-BR" i="1" dirty="0" err="1">
                <a:solidFill>
                  <a:schemeClr val="accent2"/>
                </a:solidFill>
              </a:rPr>
              <a:t>r</a:t>
            </a:r>
            <a:r>
              <a:rPr lang="pt-BR" i="1" baseline="-25000" dirty="0" err="1">
                <a:solidFill>
                  <a:schemeClr val="accent2"/>
                </a:solidFill>
              </a:rPr>
              <a:t>a,p</a:t>
            </a:r>
            <a:r>
              <a:rPr lang="pt-BR" i="1" dirty="0">
                <a:solidFill>
                  <a:schemeClr val="accent2"/>
                </a:solidFill>
              </a:rPr>
              <a:t> é avaliação do </a:t>
            </a:r>
            <a:r>
              <a:rPr lang="pt-BR" i="1" dirty="0" err="1">
                <a:solidFill>
                  <a:schemeClr val="accent2"/>
                </a:solidFill>
              </a:rPr>
              <a:t>u</a:t>
            </a:r>
            <a:r>
              <a:rPr lang="pt-BR" i="1" baseline="-25000" dirty="0" err="1">
                <a:solidFill>
                  <a:schemeClr val="accent2"/>
                </a:solidFill>
              </a:rPr>
              <a:t>a</a:t>
            </a:r>
            <a:r>
              <a:rPr lang="pt-BR" i="1" dirty="0">
                <a:solidFill>
                  <a:schemeClr val="accent2"/>
                </a:solidFill>
              </a:rPr>
              <a:t> para o item </a:t>
            </a:r>
            <a:r>
              <a:rPr lang="pt-BR" i="1" dirty="0" err="1">
                <a:solidFill>
                  <a:schemeClr val="accent2"/>
                </a:solidFill>
              </a:rPr>
              <a:t>i</a:t>
            </a:r>
            <a:r>
              <a:rPr lang="pt-BR" i="1" baseline="-25000" dirty="0" err="1">
                <a:solidFill>
                  <a:schemeClr val="accent2"/>
                </a:solidFill>
              </a:rPr>
              <a:t>p</a:t>
            </a:r>
            <a:endParaRPr lang="pt-BR" i="1" dirty="0">
              <a:solidFill>
                <a:schemeClr val="accent2"/>
              </a:solidFill>
            </a:endParaRPr>
          </a:p>
          <a:p>
            <a:r>
              <a:rPr lang="pt-BR" i="1" dirty="0" err="1">
                <a:solidFill>
                  <a:schemeClr val="accent2"/>
                </a:solidFill>
              </a:rPr>
              <a:t>r</a:t>
            </a:r>
            <a:r>
              <a:rPr lang="pt-BR" i="1" baseline="-25000" dirty="0" err="1">
                <a:solidFill>
                  <a:schemeClr val="accent2"/>
                </a:solidFill>
              </a:rPr>
              <a:t>b,p</a:t>
            </a:r>
            <a:r>
              <a:rPr lang="pt-BR" i="1" dirty="0">
                <a:solidFill>
                  <a:schemeClr val="accent2"/>
                </a:solidFill>
              </a:rPr>
              <a:t> é avaliação do </a:t>
            </a:r>
            <a:r>
              <a:rPr lang="pt-BR" i="1" dirty="0" err="1">
                <a:solidFill>
                  <a:schemeClr val="accent2"/>
                </a:solidFill>
              </a:rPr>
              <a:t>u</a:t>
            </a:r>
            <a:r>
              <a:rPr lang="pt-BR" i="1" baseline="-25000" dirty="0" err="1">
                <a:solidFill>
                  <a:schemeClr val="accent2"/>
                </a:solidFill>
              </a:rPr>
              <a:t>b</a:t>
            </a:r>
            <a:r>
              <a:rPr lang="pt-BR" i="1" dirty="0">
                <a:solidFill>
                  <a:schemeClr val="accent2"/>
                </a:solidFill>
              </a:rPr>
              <a:t> para o item </a:t>
            </a:r>
            <a:r>
              <a:rPr lang="pt-BR" i="1" dirty="0" err="1">
                <a:solidFill>
                  <a:schemeClr val="accent2"/>
                </a:solidFill>
              </a:rPr>
              <a:t>i</a:t>
            </a:r>
            <a:r>
              <a:rPr lang="pt-BR" i="1" baseline="-25000" dirty="0" err="1">
                <a:solidFill>
                  <a:schemeClr val="accent2"/>
                </a:solidFill>
              </a:rPr>
              <a:t>p</a:t>
            </a:r>
            <a:endParaRPr lang="pt-BR" i="1" baseline="-25000" dirty="0">
              <a:solidFill>
                <a:schemeClr val="accent2"/>
              </a:solidFill>
            </a:endParaRPr>
          </a:p>
        </p:txBody>
      </p:sp>
      <p:sp>
        <p:nvSpPr>
          <p:cNvPr id="9" name="Texto Explicativo em Elipse 8"/>
          <p:cNvSpPr/>
          <p:nvPr/>
        </p:nvSpPr>
        <p:spPr>
          <a:xfrm>
            <a:off x="9873874" y="333100"/>
            <a:ext cx="2169056" cy="1152128"/>
          </a:xfrm>
          <a:prstGeom prst="wedgeEllipseCallout">
            <a:avLst>
              <a:gd name="adj1" fmla="val -20538"/>
              <a:gd name="adj2" fmla="val 94340"/>
            </a:avLst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500" dirty="0"/>
              <a:t>Qual seria a avaliação da </a:t>
            </a:r>
            <a:r>
              <a:rPr lang="pt-BR" sz="1500" b="1" i="1" dirty="0"/>
              <a:t>Alice</a:t>
            </a:r>
            <a:r>
              <a:rPr lang="pt-BR" sz="1500" dirty="0"/>
              <a:t> para o </a:t>
            </a:r>
            <a:br>
              <a:rPr lang="pt-BR" sz="1500" dirty="0"/>
            </a:br>
            <a:r>
              <a:rPr lang="pt-BR" sz="1500" b="1" i="1" dirty="0"/>
              <a:t>Item 5 </a:t>
            </a:r>
            <a:r>
              <a:rPr lang="pt-BR" sz="1500" dirty="0"/>
              <a:t>???</a:t>
            </a:r>
            <a:endParaRPr lang="pt-BR" sz="1500" b="1" i="1" dirty="0"/>
          </a:p>
        </p:txBody>
      </p:sp>
    </p:spTree>
    <p:extLst>
      <p:ext uri="{BB962C8B-B14F-4D97-AF65-F5344CB8AC3E}">
        <p14:creationId xmlns:p14="http://schemas.microsoft.com/office/powerpoint/2010/main" val="1248279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Itens similares </a:t>
            </a:r>
            <a:r>
              <a:rPr lang="pt-BR" dirty="0"/>
              <a:t>tem</a:t>
            </a:r>
            <a:r>
              <a:rPr lang="pt-BR" b="1" dirty="0">
                <a:solidFill>
                  <a:srgbClr val="0070C0"/>
                </a:solidFill>
              </a:rPr>
              <a:t> avaliações similares </a:t>
            </a:r>
            <a:r>
              <a:rPr lang="pt-BR" dirty="0"/>
              <a:t>para os mesmos usuários</a:t>
            </a:r>
          </a:p>
          <a:p>
            <a:r>
              <a:rPr lang="pt-BR" dirty="0"/>
              <a:t>Uma função de similaridade irá computar a similaridade de um item </a:t>
            </a:r>
            <a:r>
              <a:rPr lang="pt-BR" b="1" dirty="0">
                <a:solidFill>
                  <a:srgbClr val="0070C0"/>
                </a:solidFill>
              </a:rPr>
              <a:t>com todos os demais itens </a:t>
            </a:r>
            <a:r>
              <a:rPr lang="pt-BR" dirty="0"/>
              <a:t>a partir de suas avaliações</a:t>
            </a:r>
          </a:p>
          <a:p>
            <a:r>
              <a:rPr lang="pt-BR" dirty="0"/>
              <a:t>Se itens foram avaliados de forma </a:t>
            </a:r>
            <a:r>
              <a:rPr lang="pt-BR" b="1" dirty="0">
                <a:solidFill>
                  <a:srgbClr val="0070C0"/>
                </a:solidFill>
              </a:rPr>
              <a:t>similar</a:t>
            </a:r>
            <a:r>
              <a:rPr lang="pt-BR" dirty="0"/>
              <a:t> no passado, então a avaliação de um item para um usuário pode ajudar a </a:t>
            </a:r>
            <a:r>
              <a:rPr lang="pt-BR" b="1" dirty="0">
                <a:solidFill>
                  <a:srgbClr val="0070C0"/>
                </a:solidFill>
              </a:rPr>
              <a:t>predizer a avaliação de outro item similar </a:t>
            </a:r>
            <a:r>
              <a:rPr lang="pt-BR" dirty="0"/>
              <a:t>para outro usuário</a:t>
            </a:r>
            <a:endParaRPr lang="pt-BR" baseline="-2500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Abordagem Item-Item</a:t>
            </a:r>
            <a:endParaRPr lang="pt-BR" sz="44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059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0D7198A8-028F-A2FA-E43F-8DAEAAFD4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5160" y="639000"/>
            <a:ext cx="10221679" cy="5580000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21EFE90D-CC1B-C9E8-6C47-CD6F59B0098A}"/>
              </a:ext>
            </a:extLst>
          </p:cNvPr>
          <p:cNvSpPr txBox="1"/>
          <p:nvPr/>
        </p:nvSpPr>
        <p:spPr>
          <a:xfrm>
            <a:off x="3883999" y="6254457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</p:spTree>
    <p:extLst>
      <p:ext uri="{BB962C8B-B14F-4D97-AF65-F5344CB8AC3E}">
        <p14:creationId xmlns:p14="http://schemas.microsoft.com/office/powerpoint/2010/main" val="1491427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46A8CB81-33E1-7450-12FC-9329F7E5189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Passos</a:t>
            </a:r>
          </a:p>
          <a:p>
            <a:pPr lvl="1">
              <a:buFont typeface="+mj-lt"/>
              <a:buAutoNum type="arabicPeriod"/>
            </a:pPr>
            <a:r>
              <a:rPr lang="pt-BR" dirty="0"/>
              <a:t>Calcular similaridade entre itens</a:t>
            </a:r>
          </a:p>
          <a:p>
            <a:pPr lvl="1">
              <a:buFont typeface="+mj-lt"/>
              <a:buAutoNum type="arabicPeriod"/>
            </a:pPr>
            <a:r>
              <a:rPr lang="pt-BR" dirty="0"/>
              <a:t>Encontrar itens similares aos já consumidos</a:t>
            </a:r>
          </a:p>
          <a:p>
            <a:pPr lvl="1">
              <a:buFont typeface="+mj-lt"/>
              <a:buAutoNum type="arabicPeriod"/>
            </a:pPr>
            <a:r>
              <a:rPr lang="pt-BR" dirty="0"/>
              <a:t>Recomendar os mais próximos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F275D5F-9494-B613-AC9D-E15650E41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Abordagem Item-Item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DDC71C6-3B60-8B85-D99D-134AE37C61FE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pt-BR" b="1" dirty="0"/>
              <a:t>Exemplo</a:t>
            </a:r>
          </a:p>
          <a:p>
            <a:pPr lvl="1"/>
            <a:r>
              <a:rPr lang="pt-BR" dirty="0"/>
              <a:t>Usuário comprou </a:t>
            </a:r>
            <a:r>
              <a:rPr lang="pt-BR" b="1" dirty="0"/>
              <a:t>Notebook</a:t>
            </a:r>
            <a:endParaRPr lang="pt-BR" dirty="0"/>
          </a:p>
          <a:p>
            <a:pPr lvl="1"/>
            <a:r>
              <a:rPr lang="pt-BR" dirty="0"/>
              <a:t>Muitos usuários também compraram </a:t>
            </a:r>
            <a:r>
              <a:rPr lang="pt-BR" b="1" dirty="0"/>
              <a:t>Mouse</a:t>
            </a:r>
            <a:endParaRPr lang="pt-BR" dirty="0"/>
          </a:p>
          <a:p>
            <a:pPr lvl="1"/>
            <a:r>
              <a:rPr lang="pt-BR" dirty="0"/>
              <a:t>Mouse é recomendado</a:t>
            </a:r>
          </a:p>
          <a:p>
            <a:r>
              <a:rPr lang="pt-BR" sz="2800" dirty="0"/>
              <a:t>Muito comum em </a:t>
            </a:r>
            <a:r>
              <a:rPr lang="pt-BR" sz="2800" i="1" dirty="0"/>
              <a:t>e-commerce</a:t>
            </a:r>
            <a:r>
              <a:rPr lang="pt-BR" sz="2800" dirty="0"/>
              <a:t> (“frequentemente comprados juntos”)</a:t>
            </a:r>
          </a:p>
        </p:txBody>
      </p:sp>
    </p:spTree>
    <p:extLst>
      <p:ext uri="{BB962C8B-B14F-4D97-AF65-F5344CB8AC3E}">
        <p14:creationId xmlns:p14="http://schemas.microsoft.com/office/powerpoint/2010/main" val="1429738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Medindo a similaridade </a:t>
            </a:r>
            <a:br>
              <a:rPr lang="pt-BR" sz="3600" dirty="0"/>
            </a:br>
            <a:r>
              <a:rPr lang="pt-BR" sz="3600" dirty="0"/>
              <a:t>(</a:t>
            </a:r>
            <a:r>
              <a:rPr lang="pt-BR" sz="3600" b="1" dirty="0">
                <a:solidFill>
                  <a:schemeClr val="tx2"/>
                </a:solidFill>
              </a:rPr>
              <a:t>cosseno ajustado </a:t>
            </a:r>
            <a:r>
              <a:rPr lang="pt-BR" sz="3600" dirty="0"/>
              <a:t>ou </a:t>
            </a:r>
            <a:r>
              <a:rPr lang="pt-BR" sz="3600" i="1" dirty="0" err="1"/>
              <a:t>pearson</a:t>
            </a:r>
            <a:r>
              <a:rPr lang="pt-BR" sz="3600" dirty="0"/>
              <a:t>)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dirty="0"/>
              <a:t>Abordagem Item-Item</a:t>
            </a:r>
            <a:endParaRPr lang="pt-BR" sz="44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41" name="Tabelle 3"/>
          <p:cNvGraphicFramePr>
            <a:graphicFrameLocks noGrp="1"/>
          </p:cNvGraphicFramePr>
          <p:nvPr/>
        </p:nvGraphicFramePr>
        <p:xfrm>
          <a:off x="1127448" y="3364226"/>
          <a:ext cx="6821244" cy="2729070"/>
        </p:xfrm>
        <a:graphic>
          <a:graphicData uri="http://schemas.openxmlformats.org/drawingml/2006/table">
            <a:tbl>
              <a:tblPr firstRow="1" bandRow="1"/>
              <a:tblGrid>
                <a:gridCol w="1136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68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68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68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68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68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4374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2000" baseline="0" dirty="0">
                        <a:latin typeface="Calibri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Item1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Item2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Item3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Item4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Item5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374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Alice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400" b="1" baseline="0" dirty="0">
                          <a:solidFill>
                            <a:srgbClr val="C00000"/>
                          </a:solidFill>
                          <a:latin typeface="Calibri" pitchFamily="34" charset="0"/>
                        </a:rPr>
                        <a:t>?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374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User1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374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User2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374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User3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374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User4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20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2" name="Abgerundetes Rechteck 5"/>
          <p:cNvSpPr/>
          <p:nvPr/>
        </p:nvSpPr>
        <p:spPr bwMode="auto">
          <a:xfrm>
            <a:off x="6825604" y="4307626"/>
            <a:ext cx="1071570" cy="1780362"/>
          </a:xfrm>
          <a:prstGeom prst="roundRect">
            <a:avLst/>
          </a:prstGeom>
          <a:solidFill>
            <a:srgbClr val="FFC000">
              <a:alpha val="29000"/>
            </a:srgbClr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</a:endParaRPr>
          </a:p>
        </p:txBody>
      </p:sp>
      <p:grpSp>
        <p:nvGrpSpPr>
          <p:cNvPr id="43" name="Gruppieren 8"/>
          <p:cNvGrpSpPr/>
          <p:nvPr/>
        </p:nvGrpSpPr>
        <p:grpSpPr>
          <a:xfrm>
            <a:off x="2280239" y="4307626"/>
            <a:ext cx="4464807" cy="1767144"/>
            <a:chOff x="1558725" y="3796110"/>
            <a:chExt cx="4464807" cy="1847469"/>
          </a:xfrm>
        </p:grpSpPr>
        <p:sp>
          <p:nvSpPr>
            <p:cNvPr id="44" name="Abgerundetes Rechteck 6"/>
            <p:cNvSpPr/>
            <p:nvPr/>
          </p:nvSpPr>
          <p:spPr bwMode="auto">
            <a:xfrm>
              <a:off x="1558725" y="3796110"/>
              <a:ext cx="1071570" cy="1847468"/>
            </a:xfrm>
            <a:prstGeom prst="roundRect">
              <a:avLst/>
            </a:prstGeom>
            <a:solidFill>
              <a:srgbClr val="2D2D8A">
                <a:lumMod val="75000"/>
                <a:alpha val="29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</a:endParaRPr>
            </a:p>
          </p:txBody>
        </p:sp>
        <p:sp>
          <p:nvSpPr>
            <p:cNvPr id="45" name="Abgerundetes Rechteck 7"/>
            <p:cNvSpPr/>
            <p:nvPr/>
          </p:nvSpPr>
          <p:spPr bwMode="auto">
            <a:xfrm>
              <a:off x="4951962" y="3796111"/>
              <a:ext cx="1071570" cy="1847468"/>
            </a:xfrm>
            <a:prstGeom prst="roundRect">
              <a:avLst/>
            </a:prstGeom>
            <a:solidFill>
              <a:srgbClr val="2D2D8A">
                <a:lumMod val="75000"/>
                <a:alpha val="29000"/>
              </a:srgbClr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</a:endParaRPr>
            </a:p>
          </p:txBody>
        </p:sp>
      </p:grpSp>
      <p:grpSp>
        <p:nvGrpSpPr>
          <p:cNvPr id="46" name="Gruppieren 15"/>
          <p:cNvGrpSpPr/>
          <p:nvPr/>
        </p:nvGrpSpPr>
        <p:grpSpPr>
          <a:xfrm>
            <a:off x="2587879" y="3796272"/>
            <a:ext cx="3894893" cy="511355"/>
            <a:chOff x="1906216" y="4060653"/>
            <a:chExt cx="3894893" cy="511355"/>
          </a:xfrm>
        </p:grpSpPr>
        <p:sp>
          <p:nvSpPr>
            <p:cNvPr id="47" name="Ellipse 13"/>
            <p:cNvSpPr/>
            <p:nvPr/>
          </p:nvSpPr>
          <p:spPr bwMode="auto">
            <a:xfrm>
              <a:off x="1906216" y="4071942"/>
              <a:ext cx="500066" cy="500066"/>
            </a:xfrm>
            <a:prstGeom prst="ellipse">
              <a:avLst/>
            </a:prstGeom>
            <a:noFill/>
            <a:ln w="349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Verdana" pitchFamily="34" charset="0"/>
              </a:endParaRPr>
            </a:p>
          </p:txBody>
        </p:sp>
        <p:sp>
          <p:nvSpPr>
            <p:cNvPr id="48" name="Ellipse 14"/>
            <p:cNvSpPr/>
            <p:nvPr/>
          </p:nvSpPr>
          <p:spPr bwMode="auto">
            <a:xfrm>
              <a:off x="5301043" y="4060653"/>
              <a:ext cx="500066" cy="500066"/>
            </a:xfrm>
            <a:prstGeom prst="ellipse">
              <a:avLst/>
            </a:prstGeom>
            <a:noFill/>
            <a:ln w="349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b="1">
                <a:solidFill>
                  <a:srgbClr val="000000"/>
                </a:solidFill>
                <a:latin typeface="Verdana" pitchFamily="34" charset="0"/>
              </a:endParaRPr>
            </a:p>
          </p:txBody>
        </p:sp>
      </p:grpSp>
      <p:sp>
        <p:nvSpPr>
          <p:cNvPr id="49" name="CaixaDeTexto 48"/>
          <p:cNvSpPr txBox="1"/>
          <p:nvPr/>
        </p:nvSpPr>
        <p:spPr>
          <a:xfrm>
            <a:off x="8391224" y="3471887"/>
            <a:ext cx="3177384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i="1" dirty="0">
                <a:solidFill>
                  <a:schemeClr val="accent1">
                    <a:lumMod val="50000"/>
                  </a:schemeClr>
                </a:solidFill>
              </a:rPr>
              <a:t>Usar a </a:t>
            </a:r>
            <a:r>
              <a:rPr lang="pt-BR" sz="2000" b="1" i="1" dirty="0">
                <a:solidFill>
                  <a:schemeClr val="accent1">
                    <a:lumMod val="50000"/>
                  </a:schemeClr>
                </a:solidFill>
              </a:rPr>
              <a:t>similaridade</a:t>
            </a:r>
            <a:r>
              <a:rPr lang="pt-BR" sz="2000" i="1" dirty="0">
                <a:solidFill>
                  <a:schemeClr val="accent1">
                    <a:lumMod val="50000"/>
                  </a:schemeClr>
                </a:solidFill>
              </a:rPr>
              <a:t> dos itens para fazer as predições</a:t>
            </a:r>
          </a:p>
          <a:p>
            <a:endParaRPr lang="pt-BR" sz="1200" i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pt-BR" sz="2000" i="1" dirty="0">
                <a:solidFill>
                  <a:schemeClr val="accent1">
                    <a:lumMod val="50000"/>
                  </a:schemeClr>
                </a:solidFill>
              </a:rPr>
              <a:t>Os itens 1 e 4 são similares ao item 5</a:t>
            </a:r>
          </a:p>
          <a:p>
            <a:endParaRPr lang="pt-BR" sz="1200" i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pt-BR" sz="2000" i="1" dirty="0">
                <a:solidFill>
                  <a:schemeClr val="accent1">
                    <a:lumMod val="50000"/>
                  </a:schemeClr>
                </a:solidFill>
              </a:rPr>
              <a:t>Usar as avalições da Alice para 1 e 4 para descobrir a predição para o item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feld 9"/>
              <p:cNvSpPr txBox="1"/>
              <p:nvPr/>
            </p:nvSpPr>
            <p:spPr>
              <a:xfrm>
                <a:off x="6641268" y="1041049"/>
                <a:ext cx="5396157" cy="9723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</a:rPr>
                        <m:t>𝒔𝒊𝒎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𝒂</m:t>
                              </m:r>
                            </m:e>
                          </m:acc>
                          <m:r>
                            <a:rPr lang="en-US" i="1">
                              <a:latin typeface="Cambria Math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𝒃</m:t>
                              </m:r>
                            </m:e>
                          </m:acc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1" i="1" smtClean="0">
                                  <a:latin typeface="Cambria Math"/>
                                </a:rPr>
                                <m:t>𝒖</m:t>
                              </m:r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∈</m:t>
                              </m:r>
                              <m:r>
                                <a:rPr lang="en-US" b="1" i="1" smtClean="0">
                                  <a:latin typeface="Cambria Math"/>
                                  <a:ea typeface="Cambria Math"/>
                                </a:rPr>
                                <m:t>𝑼</m:t>
                              </m:r>
                            </m:sub>
                            <m:sup/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𝒖</m:t>
                                  </m:r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𝒂</m:t>
                                  </m:r>
                                </m:sub>
                              </m:sSub>
                              <m:r>
                                <a:rPr lang="en-US" b="1" i="1" smtClean="0">
                                  <a:latin typeface="Cambria Math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latin typeface="Cambria Math"/>
                                        </a:rPr>
                                        <m:t>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b="1" i="1" smtClean="0">
                                  <a:latin typeface="Cambria Math"/>
                                </a:rPr>
                                <m:t>)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𝒖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𝒃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 smtClean="0">
                                          <a:latin typeface="Cambria Math"/>
                                        </a:rPr>
                                        <m:t>𝒓</m:t>
                                      </m:r>
                                    </m:e>
                                    <m:sub>
                                      <m:r>
                                        <a:rPr lang="en-US" b="1" i="1" smtClean="0">
                                          <a:latin typeface="Cambria Math"/>
                                        </a:rPr>
                                        <m:t>𝒖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i="1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𝒖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∈</m:t>
                                  </m:r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𝑼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1" i="1" smtClean="0">
                                                  <a:latin typeface="Cambria Math"/>
                                                </a:rPr>
                                                <m:t>𝒖</m:t>
                                              </m:r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1" i="1" smtClean="0">
                                                  <a:latin typeface="Cambria Math"/>
                                                </a:rPr>
                                                <m:t>𝒂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1" i="1" smtClean="0">
                                                      <a:latin typeface="Cambria Math"/>
                                                    </a:rPr>
                                                    <m:t>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1" i="1" smtClean="0">
                                                      <a:latin typeface="Cambria Math"/>
                                                    </a:rPr>
                                                    <m:t>𝒖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1" i="1" smtClean="0">
                                          <a:latin typeface="Cambria Math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𝒖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∈</m:t>
                                  </m:r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𝑼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𝒓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1" i="1" smtClean="0">
                                                  <a:latin typeface="Cambria Math"/>
                                                </a:rPr>
                                                <m:t>𝒖</m:t>
                                              </m:r>
                                              <m:r>
                                                <a:rPr lang="en-US" i="1">
                                                  <a:latin typeface="Cambria Math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b="1" i="1" smtClean="0">
                                                  <a:latin typeface="Cambria Math"/>
                                                </a:rPr>
                                                <m:t>𝒃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1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1" i="1" smtClean="0">
                                                      <a:latin typeface="Cambria Math"/>
                                                    </a:rPr>
                                                    <m:t>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1" i="1" smtClean="0">
                                                      <a:latin typeface="Cambria Math"/>
                                                    </a:rPr>
                                                    <m:t>𝒖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feld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268" y="1041049"/>
                <a:ext cx="5396157" cy="9723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aixaDeTexto 16"/>
          <p:cNvSpPr txBox="1"/>
          <p:nvPr/>
        </p:nvSpPr>
        <p:spPr>
          <a:xfrm>
            <a:off x="7810775" y="2033591"/>
            <a:ext cx="403244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i="1" dirty="0">
                <a:solidFill>
                  <a:schemeClr val="accent2"/>
                </a:solidFill>
              </a:rPr>
              <a:t>sim(</a:t>
            </a:r>
            <a:r>
              <a:rPr lang="pt-BR" sz="1600" i="1" dirty="0" err="1">
                <a:solidFill>
                  <a:schemeClr val="accent2"/>
                </a:solidFill>
              </a:rPr>
              <a:t>a,b</a:t>
            </a:r>
            <a:r>
              <a:rPr lang="pt-BR" sz="1600" i="1" dirty="0">
                <a:solidFill>
                  <a:schemeClr val="accent2"/>
                </a:solidFill>
              </a:rPr>
              <a:t>) é a similaridade entre i</a:t>
            </a:r>
            <a:r>
              <a:rPr lang="pt-BR" sz="1600" i="1" baseline="-25000" dirty="0">
                <a:solidFill>
                  <a:schemeClr val="accent2"/>
                </a:solidFill>
              </a:rPr>
              <a:t>a </a:t>
            </a:r>
            <a:r>
              <a:rPr lang="pt-BR" sz="1600" i="1" dirty="0">
                <a:solidFill>
                  <a:schemeClr val="accent2"/>
                </a:solidFill>
              </a:rPr>
              <a:t>e </a:t>
            </a:r>
            <a:r>
              <a:rPr lang="pt-BR" sz="1600" i="1" dirty="0" err="1">
                <a:solidFill>
                  <a:schemeClr val="accent2"/>
                </a:solidFill>
              </a:rPr>
              <a:t>i</a:t>
            </a:r>
            <a:r>
              <a:rPr lang="pt-BR" sz="1600" i="1" baseline="-25000" dirty="0" err="1">
                <a:solidFill>
                  <a:schemeClr val="accent2"/>
                </a:solidFill>
              </a:rPr>
              <a:t>b</a:t>
            </a:r>
            <a:endParaRPr lang="pt-BR" sz="1600" i="1" dirty="0">
              <a:solidFill>
                <a:schemeClr val="accent2"/>
              </a:solidFill>
            </a:endParaRPr>
          </a:p>
          <a:p>
            <a:r>
              <a:rPr lang="pt-BR" sz="1600" i="1" dirty="0" err="1">
                <a:solidFill>
                  <a:schemeClr val="accent2"/>
                </a:solidFill>
              </a:rPr>
              <a:t>r</a:t>
            </a:r>
            <a:r>
              <a:rPr lang="pt-BR" sz="1600" i="1" baseline="-25000" dirty="0" err="1">
                <a:solidFill>
                  <a:schemeClr val="accent2"/>
                </a:solidFill>
              </a:rPr>
              <a:t>u</a:t>
            </a:r>
            <a:r>
              <a:rPr lang="pt-BR" sz="1600" i="1" dirty="0">
                <a:solidFill>
                  <a:schemeClr val="accent2"/>
                </a:solidFill>
              </a:rPr>
              <a:t> é avaliação média do usuário </a:t>
            </a:r>
            <a:r>
              <a:rPr lang="pt-BR" sz="1600" i="1" dirty="0" err="1">
                <a:solidFill>
                  <a:schemeClr val="accent2"/>
                </a:solidFill>
              </a:rPr>
              <a:t>u</a:t>
            </a:r>
            <a:r>
              <a:rPr lang="pt-BR" sz="1600" i="1" baseline="-25000" dirty="0" err="1">
                <a:solidFill>
                  <a:schemeClr val="accent2"/>
                </a:solidFill>
              </a:rPr>
              <a:t>u</a:t>
            </a:r>
            <a:endParaRPr lang="pt-BR" sz="1600" i="1" baseline="-25000" dirty="0">
              <a:solidFill>
                <a:schemeClr val="accent2"/>
              </a:solidFill>
            </a:endParaRPr>
          </a:p>
          <a:p>
            <a:r>
              <a:rPr lang="pt-BR" sz="1600" i="1" dirty="0" err="1">
                <a:solidFill>
                  <a:schemeClr val="accent2"/>
                </a:solidFill>
              </a:rPr>
              <a:t>r</a:t>
            </a:r>
            <a:r>
              <a:rPr lang="pt-BR" sz="1600" i="1" baseline="-25000" dirty="0" err="1">
                <a:solidFill>
                  <a:schemeClr val="accent2"/>
                </a:solidFill>
              </a:rPr>
              <a:t>u,a</a:t>
            </a:r>
            <a:r>
              <a:rPr lang="pt-BR" sz="1600" i="1" dirty="0">
                <a:solidFill>
                  <a:schemeClr val="accent2"/>
                </a:solidFill>
              </a:rPr>
              <a:t> é avaliação do </a:t>
            </a:r>
            <a:r>
              <a:rPr lang="pt-BR" sz="1600" i="1" dirty="0" err="1">
                <a:solidFill>
                  <a:schemeClr val="accent2"/>
                </a:solidFill>
              </a:rPr>
              <a:t>u</a:t>
            </a:r>
            <a:r>
              <a:rPr lang="pt-BR" sz="1600" i="1" baseline="-25000" dirty="0" err="1">
                <a:solidFill>
                  <a:schemeClr val="accent2"/>
                </a:solidFill>
              </a:rPr>
              <a:t>u</a:t>
            </a:r>
            <a:r>
              <a:rPr lang="pt-BR" sz="1600" i="1" dirty="0">
                <a:solidFill>
                  <a:schemeClr val="accent2"/>
                </a:solidFill>
              </a:rPr>
              <a:t> para o item i</a:t>
            </a:r>
            <a:r>
              <a:rPr lang="pt-BR" sz="1600" i="1" baseline="-25000" dirty="0">
                <a:solidFill>
                  <a:schemeClr val="accent2"/>
                </a:solidFill>
              </a:rPr>
              <a:t>a</a:t>
            </a:r>
            <a:endParaRPr lang="pt-BR" sz="1600" i="1" dirty="0">
              <a:solidFill>
                <a:schemeClr val="accent2"/>
              </a:solidFill>
            </a:endParaRPr>
          </a:p>
          <a:p>
            <a:r>
              <a:rPr lang="pt-BR" sz="1600" i="1" dirty="0" err="1">
                <a:solidFill>
                  <a:schemeClr val="accent2"/>
                </a:solidFill>
              </a:rPr>
              <a:t>r</a:t>
            </a:r>
            <a:r>
              <a:rPr lang="pt-BR" sz="1600" i="1" baseline="-25000" dirty="0" err="1">
                <a:solidFill>
                  <a:schemeClr val="accent2"/>
                </a:solidFill>
              </a:rPr>
              <a:t>u,b</a:t>
            </a:r>
            <a:r>
              <a:rPr lang="pt-BR" sz="1600" i="1" dirty="0">
                <a:solidFill>
                  <a:schemeClr val="accent2"/>
                </a:solidFill>
              </a:rPr>
              <a:t> é avaliação do </a:t>
            </a:r>
            <a:r>
              <a:rPr lang="pt-BR" sz="1600" i="1" dirty="0" err="1">
                <a:solidFill>
                  <a:schemeClr val="accent2"/>
                </a:solidFill>
              </a:rPr>
              <a:t>u</a:t>
            </a:r>
            <a:r>
              <a:rPr lang="pt-BR" sz="1600" i="1" baseline="-25000" dirty="0" err="1">
                <a:solidFill>
                  <a:schemeClr val="accent2"/>
                </a:solidFill>
              </a:rPr>
              <a:t>u</a:t>
            </a:r>
            <a:r>
              <a:rPr lang="pt-BR" sz="1600" i="1" dirty="0">
                <a:solidFill>
                  <a:schemeClr val="accent2"/>
                </a:solidFill>
              </a:rPr>
              <a:t> para o item </a:t>
            </a:r>
            <a:r>
              <a:rPr lang="pt-BR" sz="1600" i="1" dirty="0" err="1">
                <a:solidFill>
                  <a:schemeClr val="accent2"/>
                </a:solidFill>
              </a:rPr>
              <a:t>i</a:t>
            </a:r>
            <a:r>
              <a:rPr lang="pt-BR" sz="1600" i="1" baseline="-25000" dirty="0" err="1">
                <a:solidFill>
                  <a:schemeClr val="accent2"/>
                </a:solidFill>
              </a:rPr>
              <a:t>b</a:t>
            </a:r>
            <a:endParaRPr lang="pt-BR" sz="1600" i="1" baseline="-25000" dirty="0">
              <a:solidFill>
                <a:schemeClr val="accent2"/>
              </a:solidFill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A15CAB9-908F-4C45-A33A-85838D706D0D}"/>
              </a:ext>
            </a:extLst>
          </p:cNvPr>
          <p:cNvSpPr/>
          <p:nvPr/>
        </p:nvSpPr>
        <p:spPr>
          <a:xfrm>
            <a:off x="2135560" y="4296338"/>
            <a:ext cx="5882459" cy="1850393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Nach links gekrümmter Pfeil 3">
            <a:extLst>
              <a:ext uri="{FF2B5EF4-FFF2-40B4-BE49-F238E27FC236}">
                <a16:creationId xmlns:a16="http://schemas.microsoft.com/office/drawing/2014/main" id="{4CF7499E-1B45-4DDF-A443-2FD1BCA3E3DD}"/>
              </a:ext>
            </a:extLst>
          </p:cNvPr>
          <p:cNvSpPr/>
          <p:nvPr/>
        </p:nvSpPr>
        <p:spPr bwMode="auto">
          <a:xfrm rot="5400000">
            <a:off x="6507645" y="5769312"/>
            <a:ext cx="238254" cy="936000"/>
          </a:xfrm>
          <a:prstGeom prst="curvedLeftArrow">
            <a:avLst/>
          </a:prstGeom>
          <a:solidFill>
            <a:srgbClr val="BBE0E3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2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</a:endParaRPr>
          </a:p>
        </p:txBody>
      </p:sp>
      <p:sp>
        <p:nvSpPr>
          <p:cNvPr id="22" name="Nach links gekrümmter Pfeil 3">
            <a:extLst>
              <a:ext uri="{FF2B5EF4-FFF2-40B4-BE49-F238E27FC236}">
                <a16:creationId xmlns:a16="http://schemas.microsoft.com/office/drawing/2014/main" id="{AEC3D3DD-2478-4692-9C1D-4D3A4AFD5E37}"/>
              </a:ext>
            </a:extLst>
          </p:cNvPr>
          <p:cNvSpPr/>
          <p:nvPr/>
        </p:nvSpPr>
        <p:spPr bwMode="auto">
          <a:xfrm rot="5400000">
            <a:off x="5417793" y="4892071"/>
            <a:ext cx="356900" cy="2888918"/>
          </a:xfrm>
          <a:prstGeom prst="curvedLeftArrow">
            <a:avLst/>
          </a:prstGeom>
          <a:solidFill>
            <a:srgbClr val="BBE0E3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</a:endParaRPr>
          </a:p>
        </p:txBody>
      </p:sp>
      <p:sp>
        <p:nvSpPr>
          <p:cNvPr id="23" name="Nach links gekrümmter Pfeil 3">
            <a:extLst>
              <a:ext uri="{FF2B5EF4-FFF2-40B4-BE49-F238E27FC236}">
                <a16:creationId xmlns:a16="http://schemas.microsoft.com/office/drawing/2014/main" id="{BD0091FD-216C-43E7-84A5-2B0CC2C3BB02}"/>
              </a:ext>
            </a:extLst>
          </p:cNvPr>
          <p:cNvSpPr/>
          <p:nvPr/>
        </p:nvSpPr>
        <p:spPr bwMode="auto">
          <a:xfrm rot="5400000">
            <a:off x="6026145" y="5377192"/>
            <a:ext cx="238254" cy="1790860"/>
          </a:xfrm>
          <a:prstGeom prst="curvedLeftArrow">
            <a:avLst/>
          </a:prstGeom>
          <a:solidFill>
            <a:srgbClr val="BBE0E3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</a:endParaRPr>
          </a:p>
        </p:txBody>
      </p:sp>
      <p:sp>
        <p:nvSpPr>
          <p:cNvPr id="24" name="Nach links gekrümmter Pfeil 3">
            <a:extLst>
              <a:ext uri="{FF2B5EF4-FFF2-40B4-BE49-F238E27FC236}">
                <a16:creationId xmlns:a16="http://schemas.microsoft.com/office/drawing/2014/main" id="{3682554C-6F75-4DD9-BD60-4F9892FB9F2A}"/>
              </a:ext>
            </a:extLst>
          </p:cNvPr>
          <p:cNvSpPr/>
          <p:nvPr/>
        </p:nvSpPr>
        <p:spPr bwMode="auto">
          <a:xfrm rot="5400000">
            <a:off x="4912909" y="4311117"/>
            <a:ext cx="356900" cy="4006827"/>
          </a:xfrm>
          <a:prstGeom prst="curvedLeftArrow">
            <a:avLst/>
          </a:prstGeom>
          <a:solidFill>
            <a:srgbClr val="BBE0E3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6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9" grpId="0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Conteúdo 4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Realizando as predições para</a:t>
            </a:r>
            <a:br>
              <a:rPr lang="pt-BR" dirty="0"/>
            </a:br>
            <a:r>
              <a:rPr lang="pt-BR" dirty="0"/>
              <a:t>o usuário </a:t>
            </a:r>
            <a:r>
              <a:rPr lang="pt-BR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u</a:t>
            </a:r>
            <a:r>
              <a:rPr lang="pt-BR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</a:t>
            </a:r>
            <a:r>
              <a:rPr lang="pt-BR" dirty="0"/>
              <a:t>  para o item </a:t>
            </a:r>
            <a:r>
              <a:rPr lang="pt-BR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</a:t>
            </a:r>
            <a:r>
              <a:rPr lang="pt-BR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endParaRPr lang="pt-BR" i="1" baseline="-25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r>
              <a:rPr lang="pt-BR" sz="2400" dirty="0"/>
              <a:t>((0.71 * 5.0) + (0.43 * 4.0)) / (0.71+0.43)</a:t>
            </a:r>
          </a:p>
          <a:p>
            <a:pPr lvl="1"/>
            <a:r>
              <a:rPr lang="pt-BR" sz="2400" dirty="0"/>
              <a:t>(3.57 + 1.73) / 1.14</a:t>
            </a:r>
          </a:p>
          <a:p>
            <a:pPr lvl="1"/>
            <a:r>
              <a:rPr lang="pt-BR" sz="2400" dirty="0"/>
              <a:t>5.30 / 1.14 = </a:t>
            </a:r>
            <a:r>
              <a:rPr lang="pt-BR" sz="2400" b="1" dirty="0"/>
              <a:t>4.62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pt-BR" dirty="0"/>
              <a:t>Abordagem Item-Item</a:t>
            </a:r>
            <a:endParaRPr lang="pt-BR" sz="44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9921875" y="6507163"/>
            <a:ext cx="2270125" cy="365125"/>
          </a:xfrm>
        </p:spPr>
        <p:txBody>
          <a:bodyPr/>
          <a:lstStyle/>
          <a:p>
            <a:fld id="{E21E2FF6-93F7-41BC-B57B-70780702280D}" type="slidenum">
              <a:rPr lang="pt-BR" smtClean="0"/>
              <a:t>19</a:t>
            </a:fld>
            <a:endParaRPr lang="pt-BR" dirty="0"/>
          </a:p>
        </p:txBody>
      </p:sp>
      <p:graphicFrame>
        <p:nvGraphicFramePr>
          <p:cNvPr id="19" name="Tabelle 18"/>
          <p:cNvGraphicFramePr>
            <a:graphicFrameLocks noGrp="1"/>
          </p:cNvGraphicFramePr>
          <p:nvPr/>
        </p:nvGraphicFramePr>
        <p:xfrm>
          <a:off x="7320136" y="1959997"/>
          <a:ext cx="3852000" cy="2164080"/>
        </p:xfrm>
        <a:graphic>
          <a:graphicData uri="http://schemas.openxmlformats.org/drawingml/2006/table">
            <a:tbl>
              <a:tblPr firstRow="1" bandRow="1"/>
              <a:tblGrid>
                <a:gridCol w="64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952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endParaRPr lang="en-US" sz="1400" baseline="0" dirty="0">
                        <a:latin typeface="Calibri" pitchFamily="34" charset="0"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Item1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Item2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Item3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Item4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Item5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512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Alice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600" b="1" baseline="0" dirty="0">
                          <a:solidFill>
                            <a:srgbClr val="C00000"/>
                          </a:solidFill>
                          <a:latin typeface="Calibri" pitchFamily="34" charset="0"/>
                        </a:rPr>
                        <a:t>4.62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952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User1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952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User2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952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User3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952"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User4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520431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04086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561292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081723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2602154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12258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3643015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163446" algn="l" defTabSz="1040862" rtl="0" eaLnBrk="1" latinLnBrk="0" hangingPunct="1">
                        <a:defRPr sz="2049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algn="ctr"/>
                      <a:r>
                        <a:rPr lang="en-US" sz="1400" baseline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952"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solidFill>
                            <a:schemeClr val="tx2"/>
                          </a:solidFill>
                          <a:latin typeface="Calibri" pitchFamily="34" charset="0"/>
                        </a:rPr>
                        <a:t>Sim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solidFill>
                            <a:schemeClr val="tx2"/>
                          </a:solidFill>
                          <a:latin typeface="Calibri" pitchFamily="34" charset="0"/>
                        </a:rPr>
                        <a:t>0.71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solidFill>
                            <a:schemeClr val="tx2"/>
                          </a:solidFill>
                          <a:latin typeface="Calibri" pitchFamily="34" charset="0"/>
                        </a:rPr>
                        <a:t>-0.85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solidFill>
                            <a:schemeClr val="tx2"/>
                          </a:solidFill>
                          <a:latin typeface="Calibri" pitchFamily="34" charset="0"/>
                        </a:rPr>
                        <a:t>-0.76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solidFill>
                            <a:schemeClr val="tx2"/>
                          </a:solidFill>
                          <a:latin typeface="Calibri" pitchFamily="34" charset="0"/>
                        </a:rPr>
                        <a:t>0.43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baseline="0" dirty="0">
                          <a:solidFill>
                            <a:schemeClr val="tx2"/>
                          </a:solidFill>
                          <a:latin typeface="Calibri" pitchFamily="34" charset="0"/>
                        </a:rPr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0000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400727"/>
                  </a:ext>
                </a:extLst>
              </a:tr>
            </a:tbl>
          </a:graphicData>
        </a:graphic>
      </p:graphicFrame>
      <p:sp>
        <p:nvSpPr>
          <p:cNvPr id="29" name="CaixaDeTexto 28"/>
          <p:cNvSpPr txBox="1"/>
          <p:nvPr/>
        </p:nvSpPr>
        <p:spPr>
          <a:xfrm>
            <a:off x="7229911" y="4888901"/>
            <a:ext cx="4032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i="1" dirty="0">
                <a:solidFill>
                  <a:schemeClr val="accent2"/>
                </a:solidFill>
              </a:rPr>
              <a:t>sim(</a:t>
            </a:r>
            <a:r>
              <a:rPr lang="pt-BR" sz="2000" i="1" dirty="0" err="1">
                <a:solidFill>
                  <a:schemeClr val="accent2"/>
                </a:solidFill>
              </a:rPr>
              <a:t>a,b</a:t>
            </a:r>
            <a:r>
              <a:rPr lang="pt-BR" sz="2000" i="1" dirty="0">
                <a:solidFill>
                  <a:schemeClr val="accent2"/>
                </a:solidFill>
              </a:rPr>
              <a:t>) é a similaridade entre i</a:t>
            </a:r>
            <a:r>
              <a:rPr lang="pt-BR" sz="2000" i="1" baseline="-25000" dirty="0">
                <a:solidFill>
                  <a:schemeClr val="accent2"/>
                </a:solidFill>
              </a:rPr>
              <a:t>a </a:t>
            </a:r>
            <a:r>
              <a:rPr lang="pt-BR" sz="2000" i="1" dirty="0">
                <a:solidFill>
                  <a:schemeClr val="accent2"/>
                </a:solidFill>
              </a:rPr>
              <a:t>e </a:t>
            </a:r>
            <a:r>
              <a:rPr lang="pt-BR" sz="2000" i="1" dirty="0" err="1">
                <a:solidFill>
                  <a:schemeClr val="accent2"/>
                </a:solidFill>
              </a:rPr>
              <a:t>i</a:t>
            </a:r>
            <a:r>
              <a:rPr lang="pt-BR" sz="2000" i="1" baseline="-25000" dirty="0" err="1">
                <a:solidFill>
                  <a:schemeClr val="accent2"/>
                </a:solidFill>
              </a:rPr>
              <a:t>b</a:t>
            </a:r>
            <a:endParaRPr lang="pt-BR" sz="2000" i="1" dirty="0">
              <a:solidFill>
                <a:schemeClr val="accent2"/>
              </a:solidFill>
            </a:endParaRPr>
          </a:p>
          <a:p>
            <a:r>
              <a:rPr lang="pt-BR" sz="2000" i="1" dirty="0" err="1">
                <a:solidFill>
                  <a:schemeClr val="accent2"/>
                </a:solidFill>
              </a:rPr>
              <a:t>r</a:t>
            </a:r>
            <a:r>
              <a:rPr lang="pt-BR" sz="2000" i="1" baseline="-25000" dirty="0" err="1">
                <a:solidFill>
                  <a:schemeClr val="accent2"/>
                </a:solidFill>
              </a:rPr>
              <a:t>b,p</a:t>
            </a:r>
            <a:r>
              <a:rPr lang="pt-BR" sz="2000" i="1" dirty="0">
                <a:solidFill>
                  <a:schemeClr val="accent2"/>
                </a:solidFill>
              </a:rPr>
              <a:t> é avaliação do </a:t>
            </a:r>
            <a:r>
              <a:rPr lang="pt-BR" sz="2000" i="1" dirty="0" err="1">
                <a:solidFill>
                  <a:schemeClr val="accent2"/>
                </a:solidFill>
              </a:rPr>
              <a:t>u</a:t>
            </a:r>
            <a:r>
              <a:rPr lang="pt-BR" sz="2000" i="1" baseline="-25000" dirty="0" err="1">
                <a:solidFill>
                  <a:schemeClr val="accent2"/>
                </a:solidFill>
              </a:rPr>
              <a:t>b</a:t>
            </a:r>
            <a:r>
              <a:rPr lang="pt-BR" sz="2000" i="1" dirty="0">
                <a:solidFill>
                  <a:schemeClr val="accent2"/>
                </a:solidFill>
              </a:rPr>
              <a:t> para o item </a:t>
            </a:r>
            <a:r>
              <a:rPr lang="pt-BR" sz="2000" i="1" dirty="0" err="1">
                <a:solidFill>
                  <a:schemeClr val="accent2"/>
                </a:solidFill>
              </a:rPr>
              <a:t>i</a:t>
            </a:r>
            <a:r>
              <a:rPr lang="pt-BR" sz="2000" i="1" baseline="-25000" dirty="0" err="1">
                <a:solidFill>
                  <a:schemeClr val="accent2"/>
                </a:solidFill>
              </a:rPr>
              <a:t>p</a:t>
            </a:r>
            <a:endParaRPr lang="pt-BR" sz="2000" i="1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4"/>
              <p:cNvSpPr txBox="1"/>
              <p:nvPr/>
            </p:nvSpPr>
            <p:spPr>
              <a:xfrm>
                <a:off x="1415480" y="4822409"/>
                <a:ext cx="4578689" cy="8408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/>
                        </a:rPr>
                        <m:t>𝒑𝒓𝒆𝒅</m:t>
                      </m:r>
                      <m:d>
                        <m:d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1" i="1" smtClean="0">
                              <a:latin typeface="Cambria Math"/>
                            </a:rPr>
                            <m:t>𝒂</m:t>
                          </m:r>
                          <m:r>
                            <a:rPr lang="en-US" sz="2200" b="1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200" b="1" i="1" smtClean="0">
                              <a:latin typeface="Cambria Math"/>
                            </a:rPr>
                            <m:t>𝒑</m:t>
                          </m:r>
                        </m:e>
                      </m:d>
                      <m:r>
                        <a:rPr lang="en-US" sz="2200" b="1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2200" b="1" i="1" smtClean="0">
                                  <a:latin typeface="Cambria Math"/>
                                </a:rPr>
                                <m:t>𝒃</m:t>
                              </m:r>
                              <m:r>
                                <a:rPr lang="en-US" sz="2200" b="1" i="1" smtClean="0">
                                  <a:latin typeface="Cambria Math"/>
                                </a:rPr>
                                <m:t> ∈</m:t>
                              </m:r>
                              <m:r>
                                <a:rPr lang="en-US" sz="2200" b="1" i="1" smtClean="0">
                                  <a:latin typeface="Cambria Math"/>
                                  <a:ea typeface="Cambria Math"/>
                                </a:rPr>
                                <m:t>𝑵</m:t>
                              </m:r>
                            </m:sub>
                            <m:sup/>
                            <m:e>
                              <m:r>
                                <a:rPr lang="en-US" sz="2200" b="1" i="1" smtClean="0">
                                  <a:latin typeface="Cambria Math"/>
                                </a:rPr>
                                <m:t>𝒔𝒊𝒎</m:t>
                              </m:r>
                              <m:d>
                                <m:dPr>
                                  <m:ctrlPr>
                                    <a:rPr lang="en-US" sz="2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1" i="1" smtClean="0">
                                      <a:latin typeface="Cambria Math"/>
                                    </a:rPr>
                                    <m:t>𝒂</m:t>
                                  </m:r>
                                  <m:r>
                                    <a:rPr lang="en-US" sz="2200" b="1" i="1" smtClean="0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200" b="1" i="1" smtClean="0">
                                      <a:latin typeface="Cambria Math"/>
                                    </a:rPr>
                                    <m:t>𝒃</m:t>
                                  </m:r>
                                </m:e>
                              </m:d>
                              <m:r>
                                <a:rPr lang="en-US" sz="2200" b="1" i="1" smtClean="0">
                                  <a:latin typeface="Cambria Math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sz="2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200" b="1" i="1" smtClean="0">
                                      <a:latin typeface="Cambria Math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en-US" sz="2200" b="1" i="1" smtClean="0">
                                      <a:latin typeface="Cambria Math"/>
                                    </a:rPr>
                                    <m:t>𝒃</m:t>
                                  </m:r>
                                  <m:r>
                                    <a:rPr lang="en-US" sz="2200" b="1" i="1" smtClean="0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200" b="1" i="1" smtClean="0">
                                      <a:latin typeface="Cambria Math"/>
                                    </a:rPr>
                                    <m:t>𝒑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sz="2200" i="1">
                                  <a:latin typeface="Cambria Math"/>
                                </a:rPr>
                                <m:t>𝒃</m:t>
                              </m:r>
                              <m:r>
                                <a:rPr lang="en-US" sz="2200" i="1">
                                  <a:latin typeface="Cambria Math"/>
                                </a:rPr>
                                <m:t> ∈</m:t>
                              </m:r>
                              <m:r>
                                <a:rPr lang="en-US" sz="2200" i="1">
                                  <a:latin typeface="Cambria Math"/>
                                  <a:ea typeface="Cambria Math"/>
                                </a:rPr>
                                <m:t>𝑵</m:t>
                              </m:r>
                            </m:sub>
                            <m:sup/>
                            <m:e>
                              <m:r>
                                <a:rPr lang="en-US" sz="2200" i="1">
                                  <a:latin typeface="Cambria Math"/>
                                </a:rPr>
                                <m:t>𝒔𝒊𝒎</m:t>
                              </m:r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/>
                                    </a:rPr>
                                    <m:t>𝒂</m:t>
                                  </m:r>
                                  <m:r>
                                    <a:rPr lang="en-US" sz="2200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sz="2200" i="1">
                                      <a:latin typeface="Cambria Math"/>
                                    </a:rPr>
                                    <m:t>𝒃</m:t>
                                  </m:r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1" name="Textfeld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480" y="4822409"/>
                <a:ext cx="4578689" cy="84087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o Explicativo em Elipse 11"/>
          <p:cNvSpPr/>
          <p:nvPr/>
        </p:nvSpPr>
        <p:spPr>
          <a:xfrm>
            <a:off x="9003080" y="336806"/>
            <a:ext cx="2169056" cy="1152128"/>
          </a:xfrm>
          <a:prstGeom prst="wedgeEllipseCallout">
            <a:avLst>
              <a:gd name="adj1" fmla="val 32299"/>
              <a:gd name="adj2" fmla="val 78467"/>
            </a:avLst>
          </a:prstGeom>
          <a:solidFill>
            <a:schemeClr val="bg2">
              <a:lumMod val="90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500" dirty="0"/>
              <a:t>Qual seria a avaliação da </a:t>
            </a:r>
            <a:r>
              <a:rPr lang="pt-BR" sz="1500" b="1" i="1" dirty="0"/>
              <a:t>Alice</a:t>
            </a:r>
            <a:r>
              <a:rPr lang="pt-BR" sz="1500" dirty="0"/>
              <a:t> para o </a:t>
            </a:r>
            <a:br>
              <a:rPr lang="pt-BR" sz="1500" dirty="0"/>
            </a:br>
            <a:r>
              <a:rPr lang="pt-BR" sz="1500" b="1" i="1" dirty="0"/>
              <a:t>Item 5 </a:t>
            </a:r>
            <a:r>
              <a:rPr lang="pt-BR" sz="1500" dirty="0"/>
              <a:t>???</a:t>
            </a:r>
            <a:endParaRPr lang="pt-BR" sz="1500" b="1" i="1" dirty="0"/>
          </a:p>
        </p:txBody>
      </p:sp>
      <p:sp>
        <p:nvSpPr>
          <p:cNvPr id="9" name="Seta para Cima 8"/>
          <p:cNvSpPr/>
          <p:nvPr/>
        </p:nvSpPr>
        <p:spPr>
          <a:xfrm>
            <a:off x="8184232" y="4160237"/>
            <a:ext cx="267761" cy="3600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eta para Cima 9"/>
          <p:cNvSpPr/>
          <p:nvPr/>
        </p:nvSpPr>
        <p:spPr>
          <a:xfrm>
            <a:off x="10073883" y="4162007"/>
            <a:ext cx="267761" cy="3600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2794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Em geral, </a:t>
            </a:r>
            <a:r>
              <a:rPr lang="pt-BR" b="1" dirty="0"/>
              <a:t>Item-Item</a:t>
            </a:r>
            <a:r>
              <a:rPr lang="pt-BR" dirty="0"/>
              <a:t> consegue recomendações mais relevantes</a:t>
            </a:r>
          </a:p>
          <a:p>
            <a:pPr lvl="1"/>
            <a:r>
              <a:rPr lang="pt-BR" dirty="0"/>
              <a:t>As avaliações do próprio usuário são consideradas</a:t>
            </a:r>
          </a:p>
          <a:p>
            <a:endParaRPr lang="pt-BR" dirty="0"/>
          </a:p>
          <a:p>
            <a:r>
              <a:rPr lang="pt-BR" b="1" dirty="0"/>
              <a:t>Item-Item</a:t>
            </a:r>
            <a:r>
              <a:rPr lang="pt-BR" dirty="0"/>
              <a:t> é mais estável às mudanças de avaliações, mais escalável e transparente</a:t>
            </a:r>
          </a:p>
          <a:p>
            <a:endParaRPr lang="pt-BR" dirty="0"/>
          </a:p>
          <a:p>
            <a:r>
              <a:rPr lang="pt-BR" b="1" dirty="0" err="1"/>
              <a:t>User-User</a:t>
            </a:r>
            <a:r>
              <a:rPr lang="pt-BR" dirty="0"/>
              <a:t> fornece mais diversidade e novidade (serendipidade), mas é menos estável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Comparação </a:t>
            </a:r>
            <a:r>
              <a:rPr lang="pt-BR" dirty="0" err="1"/>
              <a:t>User-User</a:t>
            </a:r>
            <a:r>
              <a:rPr lang="pt-BR" dirty="0"/>
              <a:t> vs. Item-Item</a:t>
            </a:r>
            <a:endParaRPr lang="pt-BR" sz="44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17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7822</TotalTime>
  <Words>1160</Words>
  <Application>Microsoft Office PowerPoint</Application>
  <PresentationFormat>Widescreen</PresentationFormat>
  <Paragraphs>323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21</vt:i4>
      </vt:variant>
    </vt:vector>
  </HeadingPairs>
  <TitlesOfParts>
    <vt:vector size="33" baseType="lpstr">
      <vt:lpstr>Wingdings</vt:lpstr>
      <vt:lpstr>Cambria Math</vt:lpstr>
      <vt:lpstr>Verdana</vt:lpstr>
      <vt:lpstr>Cronos Pro</vt:lpstr>
      <vt:lpstr>Montserrat</vt:lpstr>
      <vt:lpstr>Arial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Recomendação colaborativa baseada em memória</vt:lpstr>
      <vt:lpstr>Objetivos de Aprendizagem</vt:lpstr>
      <vt:lpstr>Recomendação colaborativa baseada em memória</vt:lpstr>
      <vt:lpstr>Recomendação colaborativa baseada em memória</vt:lpstr>
      <vt:lpstr>Recomendação colaborativa baseada em memória</vt:lpstr>
      <vt:lpstr>Recomendação colaborativa baseada em memória</vt:lpstr>
      <vt:lpstr>Apresentação do PowerPoint</vt:lpstr>
      <vt:lpstr>Recomendação colaborativa baseada em memória</vt:lpstr>
      <vt:lpstr>Recomendação colaborativa baseada em memória</vt:lpstr>
      <vt:lpstr>Abordagem User-User</vt:lpstr>
      <vt:lpstr>Apresentação do PowerPoint</vt:lpstr>
      <vt:lpstr>Abordagem User-User</vt:lpstr>
      <vt:lpstr>Abordagem User-User</vt:lpstr>
      <vt:lpstr>Abordagem User-User</vt:lpstr>
      <vt:lpstr>Abordagem Item-Item</vt:lpstr>
      <vt:lpstr>Apresentação do PowerPoint</vt:lpstr>
      <vt:lpstr>Abordagem Item-Item</vt:lpstr>
      <vt:lpstr>Abordagem Item-Item</vt:lpstr>
      <vt:lpstr>Abordagem Item-Item</vt:lpstr>
      <vt:lpstr>Comparação User-User vs. Item-Item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171</cp:revision>
  <dcterms:created xsi:type="dcterms:W3CDTF">2025-06-11T21:44:24Z</dcterms:created>
  <dcterms:modified xsi:type="dcterms:W3CDTF">2026-01-30T13:14:40Z</dcterms:modified>
</cp:coreProperties>
</file>