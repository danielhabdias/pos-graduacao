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19"/>
  </p:notesMasterIdLst>
  <p:sldIdLst>
    <p:sldId id="1173" r:id="rId5"/>
    <p:sldId id="297" r:id="rId6"/>
    <p:sldId id="406" r:id="rId7"/>
    <p:sldId id="1188" r:id="rId8"/>
    <p:sldId id="1186" r:id="rId9"/>
    <p:sldId id="1189" r:id="rId10"/>
    <p:sldId id="1190" r:id="rId11"/>
    <p:sldId id="1185" r:id="rId12"/>
    <p:sldId id="407" r:id="rId13"/>
    <p:sldId id="408" r:id="rId14"/>
    <p:sldId id="1145" r:id="rId15"/>
    <p:sldId id="1191" r:id="rId16"/>
    <p:sldId id="1192" r:id="rId17"/>
    <p:sldId id="264" r:id="rId18"/>
  </p:sldIdLst>
  <p:sldSz cx="12192000" cy="6858000"/>
  <p:notesSz cx="6858000" cy="9144000"/>
  <p:embeddedFontLst>
    <p:embeddedFont>
      <p:font typeface="Cambria Math" panose="02040503050406030204" pitchFamily="18" charset="0"/>
      <p:regular r:id="rId20"/>
    </p:embeddedFont>
    <p:embeddedFont>
      <p:font typeface="Cronos Pro" panose="020C0502030403020304" charset="0"/>
      <p:regular r:id="rId21"/>
      <p:bold r:id="rId22"/>
      <p:italic r:id="rId23"/>
    </p:embeddedFont>
    <p:embeddedFont>
      <p:font typeface="Montserrat" panose="00000500000000000000" pitchFamily="2" charset="0"/>
      <p:regular r:id="rId24"/>
      <p:bold r:id="rId25"/>
      <p:italic r:id="rId26"/>
      <p:boldItalic r:id="rId27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A3C7"/>
    <a:srgbClr val="EDB9D4"/>
    <a:srgbClr val="E391BC"/>
    <a:srgbClr val="DD79AD"/>
    <a:srgbClr val="379FDE"/>
    <a:srgbClr val="4BA8DE"/>
    <a:srgbClr val="2087C6"/>
    <a:srgbClr val="FFD230"/>
    <a:srgbClr val="E6E6E6"/>
    <a:srgbClr val="43A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93725" autoAdjust="0"/>
  </p:normalViewPr>
  <p:slideViewPr>
    <p:cSldViewPr snapToGrid="0">
      <p:cViewPr varScale="1">
        <p:scale>
          <a:sx n="77" d="100"/>
          <a:sy n="77" d="100"/>
        </p:scale>
        <p:origin x="773" y="67"/>
      </p:cViewPr>
      <p:guideLst>
        <p:guide orient="horz" pos="3725"/>
        <p:guide pos="279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41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7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2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10625-2EA4-4752-A9CB-477B19336E4D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A2FEC-4FEE-4F08-B8C2-0E6F8D9636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02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i="1" dirty="0">
                <a:solidFill>
                  <a:schemeClr val="accent2"/>
                </a:solidFill>
              </a:rPr>
              <a:t>(inversa = transposta)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44417-3C20-4C83-9BA8-890BA50599E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115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821FFB1-18DB-FB74-219D-56CA7FDCB935}"/>
              </a:ext>
            </a:extLst>
          </p:cNvPr>
          <p:cNvSpPr/>
          <p:nvPr userDrawn="1"/>
        </p:nvSpPr>
        <p:spPr>
          <a:xfrm>
            <a:off x="1180009" y="2587161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379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b="1" dirty="0">
              <a:latin typeface="Montserrat" panose="00000500000000000000" pitchFamily="2" charset="0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193AAE1-760D-C764-1D3B-A9D8F56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lvl1pPr algn="ctr">
              <a:defRPr lang="pt-BR" sz="5400" b="1" kern="0">
                <a:solidFill>
                  <a:schemeClr val="bg1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8293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9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0A806E-7010-8E80-2973-36A1D94DDC5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04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ABD95D8-6346-31AF-DBB8-A4F788D6CFF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342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45240" y="4569151"/>
            <a:ext cx="5901518" cy="1362075"/>
          </a:xfrm>
        </p:spPr>
        <p:txBody>
          <a:bodyPr lIns="90000" tIns="46800" anchor="ctr" anchorCtr="0"/>
          <a:lstStyle>
            <a:lvl1pPr algn="ctr">
              <a:defRPr sz="4553" b="1" cap="all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45240" y="3068961"/>
            <a:ext cx="5901519" cy="1500187"/>
          </a:xfrm>
        </p:spPr>
        <p:txBody>
          <a:bodyPr lIns="90000" tIns="46800" anchor="b"/>
          <a:lstStyle>
            <a:lvl1pPr marL="0" indent="0" algn="ctr">
              <a:buNone/>
              <a:defRPr sz="2277">
                <a:solidFill>
                  <a:schemeClr val="tx1">
                    <a:tint val="75000"/>
                  </a:schemeClr>
                </a:solidFill>
              </a:defRPr>
            </a:lvl1pPr>
            <a:lvl2pPr marL="520431" indent="0">
              <a:buNone/>
              <a:defRPr sz="2049">
                <a:solidFill>
                  <a:schemeClr val="tx1">
                    <a:tint val="75000"/>
                  </a:schemeClr>
                </a:solidFill>
              </a:defRPr>
            </a:lvl2pPr>
            <a:lvl3pPr marL="1040862" indent="0">
              <a:buNone/>
              <a:defRPr sz="1821">
                <a:solidFill>
                  <a:schemeClr val="tx1">
                    <a:tint val="75000"/>
                  </a:schemeClr>
                </a:solidFill>
              </a:defRPr>
            </a:lvl3pPr>
            <a:lvl4pPr marL="1561292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4pPr>
            <a:lvl5pPr marL="2081723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5pPr>
            <a:lvl6pPr marL="2602154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6pPr>
            <a:lvl7pPr marL="3122585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7pPr>
            <a:lvl8pPr marL="3643015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8pPr>
            <a:lvl9pPr marL="4163446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2F8BE-93B8-4E97-8EFC-F1EDF9C57694}" type="datetime1">
              <a:rPr lang="pt-BR" smtClean="0"/>
              <a:t>30/01/2026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E2FF6-93F7-41BC-B57B-70780702280D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1014137" y="5319439"/>
            <a:ext cx="1967173" cy="0"/>
          </a:xfrm>
          <a:prstGeom prst="line">
            <a:avLst/>
          </a:prstGeom>
          <a:ln>
            <a:solidFill>
              <a:srgbClr val="4C71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 userDrawn="1"/>
        </p:nvCxnSpPr>
        <p:spPr>
          <a:xfrm>
            <a:off x="9210689" y="5319439"/>
            <a:ext cx="1967173" cy="0"/>
          </a:xfrm>
          <a:prstGeom prst="line">
            <a:avLst/>
          </a:prstGeom>
          <a:ln>
            <a:solidFill>
              <a:srgbClr val="4C71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568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heme" Target="../theme/theme1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g"/><Relationship Id="rId9" Type="http://schemas.openxmlformats.org/officeDocument/2006/relationships/image" Target="../media/image6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jp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7" r:id="rId2"/>
    <p:sldLayoutId id="2147483688" r:id="rId3"/>
    <p:sldLayoutId id="214748369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C8324-C8D5-4CA4-E70B-2380989F6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</p:spPr>
        <p:txBody>
          <a:bodyPr>
            <a:noAutofit/>
          </a:bodyPr>
          <a:lstStyle/>
          <a:p>
            <a:r>
              <a:rPr lang="pt-BR" sz="4400" dirty="0"/>
              <a:t>Recomendação colaborativa baseada em modelo</a:t>
            </a:r>
          </a:p>
        </p:txBody>
      </p:sp>
    </p:spTree>
    <p:extLst>
      <p:ext uri="{BB962C8B-B14F-4D97-AF65-F5344CB8AC3E}">
        <p14:creationId xmlns:p14="http://schemas.microsoft.com/office/powerpoint/2010/main" val="53479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E98853-AAC1-9751-3A54-363B334A25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>
            <a:normAutofit/>
          </a:bodyPr>
          <a:lstStyle/>
          <a:p>
            <a:r>
              <a:rPr lang="pt-BR" dirty="0"/>
              <a:t>Diferenciar a recomendação colaborativa baseada em </a:t>
            </a:r>
            <a:r>
              <a:rPr lang="pt-BR" b="1" dirty="0"/>
              <a:t>modelo da abordagem baseada em memória</a:t>
            </a:r>
          </a:p>
          <a:p>
            <a:r>
              <a:rPr lang="pt-BR" dirty="0"/>
              <a:t>Explicar o conceito de </a:t>
            </a:r>
            <a:r>
              <a:rPr lang="pt-BR" b="1" dirty="0"/>
              <a:t>fatoração de matrizes </a:t>
            </a:r>
            <a:r>
              <a:rPr lang="pt-BR" dirty="0"/>
              <a:t>(</a:t>
            </a:r>
            <a:r>
              <a:rPr lang="pt-BR" i="1" dirty="0"/>
              <a:t>Matrix </a:t>
            </a:r>
            <a:r>
              <a:rPr lang="pt-BR" i="1" dirty="0" err="1"/>
              <a:t>Factorization</a:t>
            </a:r>
            <a:r>
              <a:rPr lang="pt-BR" dirty="0"/>
              <a:t>) e como ela representa usuários e itens em um espaço latente de baixa dimensão</a:t>
            </a:r>
          </a:p>
          <a:p>
            <a:r>
              <a:rPr lang="pt-BR" dirty="0"/>
              <a:t>Descrever o </a:t>
            </a:r>
            <a:r>
              <a:rPr lang="pt-BR" b="1" dirty="0"/>
              <a:t>fluxo de funcionamento do modelo</a:t>
            </a:r>
            <a:r>
              <a:rPr lang="pt-BR" dirty="0"/>
              <a:t>, compreendendo a etapa de treinamento </a:t>
            </a:r>
            <a:r>
              <a:rPr lang="pt-BR" b="1" dirty="0"/>
              <a:t>offline</a:t>
            </a:r>
            <a:r>
              <a:rPr lang="pt-BR" dirty="0"/>
              <a:t> para a predição de valores ausentes na matriz de avaliações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1D2D6F-B163-C583-603D-CA4D4D9A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Objetivos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344913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dirty="0"/>
              <a:t>A recomendação colaborativa </a:t>
            </a:r>
            <a:r>
              <a:rPr lang="pt-BR" b="1" dirty="0">
                <a:solidFill>
                  <a:srgbClr val="0070C0"/>
                </a:solidFill>
              </a:rPr>
              <a:t>baseada em modelo</a:t>
            </a:r>
            <a:r>
              <a:rPr lang="pt-BR" dirty="0">
                <a:solidFill>
                  <a:srgbClr val="0070C0"/>
                </a:solidFill>
              </a:rPr>
              <a:t> </a:t>
            </a:r>
            <a:r>
              <a:rPr lang="pt-BR" dirty="0"/>
              <a:t>utiliza técnicas de </a:t>
            </a:r>
            <a:r>
              <a:rPr lang="pt-BR" b="1" dirty="0"/>
              <a:t>aprendizado de máquina e estatística</a:t>
            </a:r>
            <a:r>
              <a:rPr lang="pt-BR" dirty="0"/>
              <a:t> para </a:t>
            </a:r>
            <a:r>
              <a:rPr lang="pt-BR" b="1" dirty="0"/>
              <a:t>aprender um modelo preditivo</a:t>
            </a:r>
            <a:r>
              <a:rPr lang="pt-BR" dirty="0"/>
              <a:t> a partir do histórico de interações entre usuários e itens</a:t>
            </a:r>
          </a:p>
          <a:p>
            <a:endParaRPr lang="pt-BR" sz="3200" dirty="0"/>
          </a:p>
          <a:p>
            <a:r>
              <a:rPr lang="pt-BR" sz="3200" dirty="0"/>
              <a:t>Diferente da abordagem baseada em memória</a:t>
            </a:r>
          </a:p>
          <a:p>
            <a:pPr lvl="1"/>
            <a:r>
              <a:rPr lang="pt-BR" dirty="0"/>
              <a:t>Os dados não são usados diretamente para recomendar, mas para </a:t>
            </a:r>
            <a:r>
              <a:rPr lang="pt-BR" b="1" dirty="0">
                <a:solidFill>
                  <a:srgbClr val="0070C0"/>
                </a:solidFill>
              </a:rPr>
              <a:t>treinar um modelo </a:t>
            </a:r>
            <a:r>
              <a:rPr lang="pt-BR" dirty="0"/>
              <a:t>que generaliza padrões latentes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3200" dirty="0"/>
              <a:t>Recomendação colaborativa baseada em modelo</a:t>
            </a:r>
            <a:endParaRPr lang="pt-BR" sz="36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6021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FC63DA3B-144E-BEEE-F0DE-076A376C64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014"/>
          <a:stretch/>
        </p:blipFill>
        <p:spPr>
          <a:xfrm>
            <a:off x="710126" y="812686"/>
            <a:ext cx="10771741" cy="5232628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081D041B-4A9F-07BE-B44F-27B92298AD1C}"/>
              </a:ext>
            </a:extLst>
          </p:cNvPr>
          <p:cNvSpPr txBox="1"/>
          <p:nvPr/>
        </p:nvSpPr>
        <p:spPr>
          <a:xfrm>
            <a:off x="3883997" y="6205951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2955920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pt-BR" sz="3200" dirty="0"/>
              <a:t>Baseado em uma etapa off-line para treinar um modelo de predição, cujo objetivo é prever os valores faltantes</a:t>
            </a:r>
          </a:p>
          <a:p>
            <a:pPr lvl="1"/>
            <a:r>
              <a:rPr lang="pt-BR" dirty="0"/>
              <a:t>A partir das matrizes de avalições (usuários x itens) </a:t>
            </a:r>
          </a:p>
          <a:p>
            <a:r>
              <a:rPr lang="pt-BR" sz="3200" dirty="0"/>
              <a:t>Geração do </a:t>
            </a:r>
            <a:r>
              <a:rPr lang="pt-BR" sz="3200" b="1" dirty="0">
                <a:solidFill>
                  <a:srgbClr val="0070C0"/>
                </a:solidFill>
              </a:rPr>
              <a:t>modelo de </a:t>
            </a:r>
            <a:r>
              <a:rPr lang="pt-BR" sz="3200" b="1" i="1" dirty="0">
                <a:solidFill>
                  <a:srgbClr val="0070C0"/>
                </a:solidFill>
              </a:rPr>
              <a:t>machine learning </a:t>
            </a:r>
            <a:r>
              <a:rPr lang="pt-BR" sz="3200" dirty="0"/>
              <a:t>utiliza as avaliações já realizadas pelos usuários</a:t>
            </a:r>
          </a:p>
          <a:p>
            <a:pPr lvl="1"/>
            <a:r>
              <a:rPr lang="pt-BR" sz="2744" dirty="0"/>
              <a:t>O modelo gerado é usado para fazer as </a:t>
            </a:r>
            <a:r>
              <a:rPr lang="pt-BR" sz="2744" b="1" dirty="0">
                <a:solidFill>
                  <a:srgbClr val="0070C0"/>
                </a:solidFill>
              </a:rPr>
              <a:t>predições</a:t>
            </a:r>
            <a:r>
              <a:rPr lang="pt-BR" sz="2744" b="1" dirty="0">
                <a:solidFill>
                  <a:schemeClr val="tx2"/>
                </a:solidFill>
              </a:rPr>
              <a:t> </a:t>
            </a:r>
            <a:r>
              <a:rPr lang="pt-BR" sz="2744" dirty="0"/>
              <a:t>dos valores que não são conhecidos</a:t>
            </a:r>
          </a:p>
          <a:p>
            <a:r>
              <a:rPr lang="pt-BR" sz="3200" dirty="0"/>
              <a:t>Técnicas baseadas em fatoração de matrizes (SVD), modelos probabilísticos e aprendizado profundo (</a:t>
            </a:r>
            <a:r>
              <a:rPr lang="pt-BR" sz="3200" i="1" dirty="0" err="1"/>
              <a:t>deep</a:t>
            </a:r>
            <a:r>
              <a:rPr lang="pt-BR" sz="3200" i="1" dirty="0"/>
              <a:t> learning</a:t>
            </a:r>
            <a:r>
              <a:rPr lang="pt-BR" sz="3200" dirty="0"/>
              <a:t>)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3200" dirty="0"/>
              <a:t>Recomendação colaborativa baseada em modelo</a:t>
            </a:r>
            <a:endParaRPr lang="pt-BR" sz="36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9243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DBEE7418-043F-D901-B8F5-5C2506A225B6}"/>
              </a:ext>
            </a:extLst>
          </p:cNvPr>
          <p:cNvSpPr txBox="1"/>
          <p:nvPr/>
        </p:nvSpPr>
        <p:spPr>
          <a:xfrm>
            <a:off x="3883997" y="6205951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2CF6DCD3-517A-E863-8EA1-5437A127C3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75" r="3297"/>
          <a:stretch/>
        </p:blipFill>
        <p:spPr>
          <a:xfrm>
            <a:off x="1177587" y="348415"/>
            <a:ext cx="9836820" cy="57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963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EC0F4F-1A4A-9B8F-7CBB-6B6F4CEA43A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A </a:t>
            </a:r>
            <a:r>
              <a:rPr lang="pt-BR" b="1" dirty="0">
                <a:solidFill>
                  <a:srgbClr val="0070C0"/>
                </a:solidFill>
              </a:rPr>
              <a:t>fatoração de matrizes </a:t>
            </a:r>
            <a:r>
              <a:rPr lang="pt-BR" b="1" dirty="0"/>
              <a:t>(Matrix </a:t>
            </a:r>
            <a:r>
              <a:rPr lang="pt-BR" b="1" dirty="0" err="1"/>
              <a:t>Factorization</a:t>
            </a:r>
            <a:r>
              <a:rPr lang="pt-BR" b="1" dirty="0"/>
              <a:t> – MF)</a:t>
            </a:r>
            <a:r>
              <a:rPr lang="pt-BR" dirty="0"/>
              <a:t> é uma técnica de </a:t>
            </a:r>
            <a:r>
              <a:rPr lang="pt-BR" b="1" dirty="0"/>
              <a:t>recomendação colaborativa baseada em modelo</a:t>
            </a:r>
            <a:r>
              <a:rPr lang="pt-BR" dirty="0"/>
              <a:t> que representa usuários e itens em um </a:t>
            </a:r>
            <a:r>
              <a:rPr lang="pt-BR" b="1" dirty="0"/>
              <a:t>espaço latente de baixa dimensão</a:t>
            </a:r>
            <a:r>
              <a:rPr lang="pt-BR" dirty="0"/>
              <a:t>, de forma que a interação entre esses vetores explique o comportamento observado</a:t>
            </a:r>
          </a:p>
          <a:p>
            <a:r>
              <a:rPr lang="pt-BR" dirty="0"/>
              <a:t>A ideia central é</a:t>
            </a:r>
          </a:p>
          <a:p>
            <a:pPr lvl="1"/>
            <a:r>
              <a:rPr lang="pt-BR" dirty="0"/>
              <a:t>Preferências dos usuários e características dos itens </a:t>
            </a:r>
            <a:r>
              <a:rPr lang="pt-BR" b="1" dirty="0"/>
              <a:t>podem ser explicadas por poucos fatores</a:t>
            </a:r>
            <a:r>
              <a:rPr lang="pt-BR" dirty="0"/>
              <a:t> latentes não observáveis diretamente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3CC9F17-D6E1-119D-0038-653B6A497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Modelos de fatoração de matrizes</a:t>
            </a:r>
          </a:p>
        </p:txBody>
      </p:sp>
    </p:spTree>
    <p:extLst>
      <p:ext uri="{BB962C8B-B14F-4D97-AF65-F5344CB8AC3E}">
        <p14:creationId xmlns:p14="http://schemas.microsoft.com/office/powerpoint/2010/main" val="753379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DD6D5790-8652-1767-7E23-7EC4985C3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160" y="639000"/>
            <a:ext cx="10221679" cy="558000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EADE6AF8-2D0A-485A-8785-641EDB706550}"/>
              </a:ext>
            </a:extLst>
          </p:cNvPr>
          <p:cNvSpPr txBox="1"/>
          <p:nvPr/>
        </p:nvSpPr>
        <p:spPr>
          <a:xfrm>
            <a:off x="3883997" y="6144991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2631492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196566" cy="4320000"/>
          </a:xfrm>
        </p:spPr>
        <p:txBody>
          <a:bodyPr>
            <a:normAutofit fontScale="92500"/>
          </a:bodyPr>
          <a:lstStyle/>
          <a:p>
            <a:r>
              <a:rPr lang="pt-BR" sz="2800" dirty="0"/>
              <a:t>Os modelos de fatoração de matrizes aplicados a recomendação, foram baseados na técnica de </a:t>
            </a:r>
            <a:r>
              <a:rPr lang="pt-BR" sz="2800" b="1" dirty="0">
                <a:solidFill>
                  <a:srgbClr val="0070C0"/>
                </a:solidFill>
              </a:rPr>
              <a:t>decomposição de matrizes em valores singulares (SVD)</a:t>
            </a:r>
          </a:p>
          <a:p>
            <a:pPr lvl="1"/>
            <a:r>
              <a:rPr lang="pt-BR" sz="2400" dirty="0"/>
              <a:t>Técnica de redução de dimensionalidade da álgebra linear</a:t>
            </a:r>
          </a:p>
          <a:p>
            <a:r>
              <a:rPr lang="pt-BR" sz="2856" dirty="0"/>
              <a:t>Uma matriz M pode ser decomposta em um produto de 3 matrizes</a:t>
            </a:r>
          </a:p>
          <a:p>
            <a:pPr marL="0" indent="0">
              <a:buNone/>
            </a:pPr>
            <a:endParaRPr lang="pt-BR" sz="2800" dirty="0"/>
          </a:p>
          <a:p>
            <a:pPr>
              <a:spcBef>
                <a:spcPts val="2400"/>
              </a:spcBef>
            </a:pPr>
            <a:endParaRPr lang="pt-BR" sz="2800" dirty="0"/>
          </a:p>
          <a:p>
            <a:pPr>
              <a:spcBef>
                <a:spcPts val="2400"/>
              </a:spcBef>
            </a:pPr>
            <a:r>
              <a:rPr lang="pt-BR" sz="2800" dirty="0"/>
              <a:t>É possível obter uma aproximação ótima da matriz M usando outras 3 matrizes,  procurando os </a:t>
            </a:r>
            <a:r>
              <a:rPr lang="pt-BR" sz="2800" i="1" dirty="0"/>
              <a:t>k</a:t>
            </a:r>
            <a:r>
              <a:rPr lang="pt-BR" sz="2800" dirty="0"/>
              <a:t> maiores valores singulares de S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Modelos de fatoração de matrizes</a:t>
            </a:r>
            <a:endParaRPr lang="pt-BR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kt 3"/>
              <p:cNvSpPr txBox="1"/>
              <p:nvPr/>
            </p:nvSpPr>
            <p:spPr bwMode="auto">
              <a:xfrm>
                <a:off x="3224804" y="4001019"/>
                <a:ext cx="3303663" cy="56832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3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pt-BR" sz="3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3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pt-BR" sz="3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pt-BR" sz="3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pt-B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pt-B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5" name="Objek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24804" y="4001019"/>
                <a:ext cx="3303663" cy="5683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ixaDeTexto 5"/>
          <p:cNvSpPr txBox="1"/>
          <p:nvPr/>
        </p:nvSpPr>
        <p:spPr>
          <a:xfrm>
            <a:off x="6753196" y="3962016"/>
            <a:ext cx="4752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chemeClr val="accent2"/>
                </a:solidFill>
              </a:rPr>
              <a:t>U e V são matrizes ortogonais  m</a:t>
            </a:r>
            <a:r>
              <a:rPr lang="pt-BR" dirty="0">
                <a:solidFill>
                  <a:schemeClr val="accent2"/>
                </a:solidFill>
              </a:rPr>
              <a:t> x</a:t>
            </a:r>
            <a:r>
              <a:rPr lang="pt-BR" i="1" dirty="0">
                <a:solidFill>
                  <a:schemeClr val="accent2"/>
                </a:solidFill>
              </a:rPr>
              <a:t> m  e  n</a:t>
            </a:r>
            <a:r>
              <a:rPr lang="pt-BR" dirty="0">
                <a:solidFill>
                  <a:schemeClr val="accent2"/>
                </a:solidFill>
              </a:rPr>
              <a:t> x</a:t>
            </a:r>
            <a:r>
              <a:rPr lang="pt-BR" i="1" dirty="0">
                <a:solidFill>
                  <a:schemeClr val="accent2"/>
                </a:solidFill>
              </a:rPr>
              <a:t> n</a:t>
            </a:r>
          </a:p>
          <a:p>
            <a:r>
              <a:rPr lang="pt-BR" i="1" dirty="0">
                <a:solidFill>
                  <a:schemeClr val="accent2"/>
                </a:solidFill>
              </a:rPr>
              <a:t>S é uma matriz singular diagonal m</a:t>
            </a:r>
            <a:r>
              <a:rPr lang="pt-BR" dirty="0">
                <a:solidFill>
                  <a:schemeClr val="accent2"/>
                </a:solidFill>
              </a:rPr>
              <a:t> x</a:t>
            </a:r>
            <a:r>
              <a:rPr lang="pt-BR" i="1" dirty="0">
                <a:solidFill>
                  <a:schemeClr val="accent2"/>
                </a:solidFill>
              </a:rPr>
              <a:t> n</a:t>
            </a:r>
            <a:endParaRPr lang="pt-BR" i="1" baseline="-25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9170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Modelos de fatoração de matrizes</a:t>
            </a:r>
            <a:endParaRPr lang="pt-BR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7" name="Inhaltsplatzhalter 3"/>
          <p:cNvGraphicFramePr>
            <a:graphicFrameLocks/>
          </p:cNvGraphicFramePr>
          <p:nvPr/>
        </p:nvGraphicFramePr>
        <p:xfrm>
          <a:off x="6326573" y="3383648"/>
          <a:ext cx="4305930" cy="1036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17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7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7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7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7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7655">
                  <a:extLst>
                    <a:ext uri="{9D8B030D-6E8A-4147-A177-3AD203B41FA5}">
                      <a16:colId xmlns:a16="http://schemas.microsoft.com/office/drawing/2014/main" val="837753780"/>
                    </a:ext>
                  </a:extLst>
                </a:gridCol>
              </a:tblGrid>
              <a:tr h="28453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800" dirty="0"/>
                        <a:t>V</a:t>
                      </a:r>
                      <a:r>
                        <a:rPr lang="de-AT" sz="1800" baseline="-25000" dirty="0"/>
                        <a:t>k</a:t>
                      </a:r>
                      <a:r>
                        <a:rPr lang="de-AT" sz="1800" baseline="30000" dirty="0"/>
                        <a:t>T</a:t>
                      </a:r>
                      <a:endParaRPr lang="de-DE" sz="1800" baseline="30000" dirty="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Calibri" pitchFamily="34" charset="0"/>
                          <a:cs typeface="Calibri" pitchFamily="34" charset="0"/>
                        </a:rPr>
                        <a:t>Item1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Calibri" pitchFamily="34" charset="0"/>
                          <a:cs typeface="Calibri" pitchFamily="34" charset="0"/>
                        </a:rPr>
                        <a:t>Item2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Calibri" pitchFamily="34" charset="0"/>
                          <a:cs typeface="Calibri" pitchFamily="34" charset="0"/>
                        </a:rPr>
                        <a:t>Item3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Calibri" pitchFamily="34" charset="0"/>
                          <a:cs typeface="Calibri" pitchFamily="34" charset="0"/>
                        </a:rPr>
                        <a:t>Item4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Calibri" pitchFamily="34" charset="0"/>
                          <a:cs typeface="Calibri" pitchFamily="34" charset="0"/>
                        </a:rPr>
                        <a:t>Item5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961">
                <a:tc>
                  <a:txBody>
                    <a:bodyPr/>
                    <a:lstStyle/>
                    <a:p>
                      <a:pPr algn="ctr"/>
                      <a:r>
                        <a:rPr lang="de-AT" sz="1600" dirty="0"/>
                        <a:t>Dim1</a:t>
                      </a:r>
                      <a:endParaRPr lang="de-DE" sz="1600" b="1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latin typeface="Calibri" pitchFamily="34" charset="0"/>
                          <a:cs typeface="Calibri" pitchFamily="34" charset="0"/>
                        </a:rPr>
                        <a:t>-0.45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latin typeface="Calibri" pitchFamily="34" charset="0"/>
                          <a:cs typeface="Calibri" pitchFamily="34" charset="0"/>
                        </a:rPr>
                        <a:t>-0.40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latin typeface="Calibri" pitchFamily="34" charset="0"/>
                          <a:cs typeface="Calibri" pitchFamily="34" charset="0"/>
                        </a:rPr>
                        <a:t>-0.44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040862" rtl="0" eaLnBrk="1" latinLnBrk="0" hangingPunct="1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</a:rPr>
                        <a:t>-0.46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 i="0" baseline="0" dirty="0">
                          <a:solidFill>
                            <a:srgbClr val="C00000"/>
                          </a:solidFill>
                          <a:latin typeface="Calibri" pitchFamily="34" charset="0"/>
                          <a:cs typeface="Calibri" pitchFamily="34" charset="0"/>
                        </a:rPr>
                        <a:t>-0.48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961">
                <a:tc>
                  <a:txBody>
                    <a:bodyPr/>
                    <a:lstStyle/>
                    <a:p>
                      <a:pPr algn="ctr"/>
                      <a:r>
                        <a:rPr lang="de-AT" sz="1600" dirty="0"/>
                        <a:t>Dim2</a:t>
                      </a:r>
                      <a:endParaRPr lang="de-DE" sz="1600" b="1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latin typeface="Calibri" pitchFamily="34" charset="0"/>
                          <a:cs typeface="Calibri" pitchFamily="34" charset="0"/>
                        </a:rPr>
                        <a:t>-0.34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latin typeface="Calibri" pitchFamily="34" charset="0"/>
                          <a:cs typeface="Calibri" pitchFamily="34" charset="0"/>
                        </a:rPr>
                        <a:t>0.53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latin typeface="Calibri" pitchFamily="34" charset="0"/>
                          <a:cs typeface="Calibri" pitchFamily="34" charset="0"/>
                        </a:rPr>
                        <a:t>0.60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040862" rtl="0" eaLnBrk="1" latinLnBrk="0" hangingPunct="1"/>
                      <a:r>
                        <a:rPr lang="de-DE" sz="1600" kern="120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</a:rPr>
                        <a:t>-0.28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 i="0" kern="1200" baseline="0" dirty="0">
                          <a:solidFill>
                            <a:srgbClr val="C00000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</a:rPr>
                        <a:t>-0.40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elle 10"/>
          <p:cNvGraphicFramePr>
            <a:graphicFrameLocks noGrp="1"/>
          </p:cNvGraphicFramePr>
          <p:nvPr/>
        </p:nvGraphicFramePr>
        <p:xfrm>
          <a:off x="4966030" y="2038574"/>
          <a:ext cx="2412270" cy="1066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4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8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dirty="0"/>
                        <a:t>∑</a:t>
                      </a:r>
                      <a:r>
                        <a:rPr lang="pt-BR" sz="2000" baseline="-25000" dirty="0"/>
                        <a:t>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600" baseline="0" dirty="0"/>
                        <a:t>Dim1</a:t>
                      </a:r>
                      <a:endParaRPr lang="de-DE" sz="1600" baseline="0" dirty="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600" baseline="0" dirty="0"/>
                        <a:t>Dim2</a:t>
                      </a:r>
                      <a:endParaRPr lang="de-DE" sz="1600" baseline="0" dirty="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177">
                <a:tc>
                  <a:txBody>
                    <a:bodyPr/>
                    <a:lstStyle/>
                    <a:p>
                      <a:pPr algn="ctr"/>
                      <a:r>
                        <a:rPr lang="de-AT" sz="1600" dirty="0"/>
                        <a:t>Dim1</a:t>
                      </a:r>
                      <a:endParaRPr lang="de-DE" sz="1600" b="1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600" b="1" dirty="0">
                          <a:solidFill>
                            <a:srgbClr val="C00000"/>
                          </a:solidFill>
                        </a:rPr>
                        <a:t>16.50</a:t>
                      </a:r>
                      <a:endParaRPr lang="de-DE" sz="1600" b="1" dirty="0">
                        <a:solidFill>
                          <a:srgbClr val="C00000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de-DE" sz="1600" b="1" dirty="0">
                        <a:solidFill>
                          <a:srgbClr val="C00000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177">
                <a:tc>
                  <a:txBody>
                    <a:bodyPr/>
                    <a:lstStyle/>
                    <a:p>
                      <a:pPr algn="ctr"/>
                      <a:r>
                        <a:rPr lang="de-AT" sz="1600" dirty="0"/>
                        <a:t>Dim2</a:t>
                      </a:r>
                      <a:endParaRPr lang="de-DE" sz="1600" b="1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de-DE" sz="1600" b="1" dirty="0">
                        <a:solidFill>
                          <a:srgbClr val="C00000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 dirty="0">
                          <a:solidFill>
                            <a:srgbClr val="C00000"/>
                          </a:solidFill>
                        </a:rPr>
                        <a:t>4.94</a:t>
                      </a:r>
                      <a:endParaRPr lang="de-DE" sz="1600" b="1" dirty="0">
                        <a:solidFill>
                          <a:srgbClr val="C00000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6" name="Agrupar 25"/>
          <p:cNvGrpSpPr/>
          <p:nvPr/>
        </p:nvGrpSpPr>
        <p:grpSpPr>
          <a:xfrm>
            <a:off x="7868748" y="2038574"/>
            <a:ext cx="3636976" cy="862788"/>
            <a:chOff x="7968212" y="538038"/>
            <a:chExt cx="3636976" cy="862788"/>
          </a:xfrm>
        </p:grpSpPr>
        <p:graphicFrame>
          <p:nvGraphicFramePr>
            <p:cNvPr id="10" name="Objekt 11"/>
            <p:cNvGraphicFramePr>
              <a:graphicFrameLocks noChangeAspect="1"/>
            </p:cNvGraphicFramePr>
            <p:nvPr/>
          </p:nvGraphicFramePr>
          <p:xfrm>
            <a:off x="8868884" y="578208"/>
            <a:ext cx="2736304" cy="6494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Formel" r:id="rId2" imgW="1574117" imgH="317362" progId="Equation.3">
                    <p:embed/>
                  </p:oleObj>
                </mc:Choice>
                <mc:Fallback>
                  <p:oleObj name="Formel" r:id="rId2" imgW="1574117" imgH="317362" progId="Equation.3">
                    <p:embed/>
                    <p:pic>
                      <p:nvPicPr>
                        <p:cNvPr id="10" name="Objek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68884" y="578208"/>
                          <a:ext cx="2736304" cy="64944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Inhaltsplatzhalter 2"/>
            <p:cNvSpPr txBox="1">
              <a:spLocks/>
            </p:cNvSpPr>
            <p:nvPr/>
          </p:nvSpPr>
          <p:spPr bwMode="auto">
            <a:xfrm>
              <a:off x="7968212" y="538038"/>
              <a:ext cx="936100" cy="8627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R="0" lvl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tabLst/>
                <a:defRPr/>
              </a:pPr>
              <a:r>
                <a:rPr lang="en-US" sz="2400" b="1" kern="0" dirty="0">
                  <a:latin typeface="Calibri" pitchFamily="34" charset="0"/>
                  <a:cs typeface="Calibri" pitchFamily="34" charset="0"/>
                </a:rPr>
                <a:t>SVD</a:t>
              </a:r>
              <a:br>
                <a:rPr lang="en-US" sz="2400" b="1" kern="0" dirty="0">
                  <a:latin typeface="Calibri" pitchFamily="34" charset="0"/>
                  <a:cs typeface="Calibri" pitchFamily="34" charset="0"/>
                </a:rPr>
              </a:br>
              <a:r>
                <a:rPr lang="en-US" sz="2000" b="1" kern="0" dirty="0">
                  <a:solidFill>
                    <a:srgbClr val="C00000"/>
                  </a:solidFill>
                  <a:latin typeface="Calibri" pitchFamily="34" charset="0"/>
                  <a:cs typeface="Calibri" pitchFamily="34" charset="0"/>
                </a:rPr>
                <a:t>(k=2)</a:t>
              </a:r>
              <a:endPara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endParaRPr>
            </a:p>
          </p:txBody>
        </p:sp>
      </p:grpSp>
      <p:sp>
        <p:nvSpPr>
          <p:cNvPr id="20" name="Inhaltsplatzhalter 2"/>
          <p:cNvSpPr txBox="1">
            <a:spLocks/>
          </p:cNvSpPr>
          <p:nvPr/>
        </p:nvSpPr>
        <p:spPr bwMode="auto">
          <a:xfrm>
            <a:off x="4358753" y="4797152"/>
            <a:ext cx="7336008" cy="136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eaLnBrk="1" hangingPunct="1">
              <a:spcBef>
                <a:spcPct val="20000"/>
              </a:spcBef>
            </a:pPr>
            <a:r>
              <a:rPr lang="de-AT" sz="2000" kern="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Predição</a:t>
            </a:r>
            <a:r>
              <a:rPr lang="de-AT" sz="2000" b="1" kern="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de-AT" sz="2000" kern="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= ( ((-0.54*16.50)*-0.48) + ((-0.09*4.94)*-0.40))</a:t>
            </a:r>
            <a:br>
              <a:rPr lang="de-AT" sz="2000" kern="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</a:br>
            <a:r>
              <a:rPr lang="de-AT" sz="2000" kern="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                = (-8.91 * -0.48) + (-0.44 * -0.40)</a:t>
            </a:r>
            <a:br>
              <a:rPr lang="de-AT" sz="2000" kern="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</a:br>
            <a:r>
              <a:rPr lang="de-AT" sz="2000" kern="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                = 4.27 + 0.17</a:t>
            </a:r>
            <a:br>
              <a:rPr lang="de-AT" sz="2000" kern="0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</a:br>
            <a:r>
              <a:rPr lang="de-AT" sz="2000" kern="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                = </a:t>
            </a:r>
            <a:r>
              <a:rPr lang="de-AT" sz="2000" b="1" kern="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4.44</a:t>
            </a:r>
            <a:r>
              <a:rPr lang="de-AT" sz="2000" kern="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</a:t>
            </a:r>
          </a:p>
        </p:txBody>
      </p:sp>
      <p:graphicFrame>
        <p:nvGraphicFramePr>
          <p:cNvPr id="25" name="Inhaltsplatzhalter 3"/>
          <p:cNvGraphicFramePr>
            <a:graphicFrameLocks/>
          </p:cNvGraphicFramePr>
          <p:nvPr/>
        </p:nvGraphicFramePr>
        <p:xfrm>
          <a:off x="1439417" y="4355876"/>
          <a:ext cx="2327898" cy="201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64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3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2380">
                <a:tc>
                  <a:txBody>
                    <a:bodyPr/>
                    <a:lstStyle/>
                    <a:p>
                      <a:pPr algn="ctr"/>
                      <a:r>
                        <a:rPr lang="de-AT" sz="1600" dirty="0"/>
                        <a:t>U</a:t>
                      </a:r>
                      <a:r>
                        <a:rPr lang="de-AT" sz="1600" baseline="-25000" dirty="0"/>
                        <a:t>k</a:t>
                      </a:r>
                      <a:endParaRPr lang="de-DE" sz="1600" baseline="-25000" dirty="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600" baseline="0" dirty="0"/>
                        <a:t>Dim1</a:t>
                      </a:r>
                      <a:endParaRPr lang="de-DE" sz="1600" baseline="0" dirty="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6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Dim2</a:t>
                      </a:r>
                      <a:endParaRPr lang="de-DE" sz="1600" b="1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707">
                <a:tc>
                  <a:txBody>
                    <a:bodyPr/>
                    <a:lstStyle/>
                    <a:p>
                      <a:pPr algn="ctr"/>
                      <a:r>
                        <a:rPr lang="de-AT" sz="1600" b="0" dirty="0">
                          <a:solidFill>
                            <a:schemeClr val="tx1"/>
                          </a:solidFill>
                        </a:rPr>
                        <a:t>Alice</a:t>
                      </a:r>
                      <a:endParaRPr lang="de-DE" sz="1600" b="0" dirty="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 dirty="0">
                          <a:solidFill>
                            <a:srgbClr val="C00000"/>
                          </a:solidFill>
                          <a:latin typeface="Calibri" pitchFamily="34" charset="0"/>
                          <a:cs typeface="Calibri" pitchFamily="34" charset="0"/>
                        </a:rPr>
                        <a:t>-0.54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 dirty="0">
                          <a:solidFill>
                            <a:srgbClr val="C00000"/>
                          </a:solidFill>
                          <a:latin typeface="Calibri" pitchFamily="34" charset="0"/>
                          <a:cs typeface="Calibri" pitchFamily="34" charset="0"/>
                        </a:rPr>
                        <a:t>-0.09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376">
                <a:tc>
                  <a:txBody>
                    <a:bodyPr/>
                    <a:lstStyle/>
                    <a:p>
                      <a:pPr algn="ctr"/>
                      <a:r>
                        <a:rPr lang="de-AT" sz="1600" dirty="0"/>
                        <a:t>User1</a:t>
                      </a:r>
                      <a:endParaRPr lang="de-DE" sz="1600" b="1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latin typeface="Calibri" pitchFamily="34" charset="0"/>
                          <a:cs typeface="Calibri" pitchFamily="34" charset="0"/>
                        </a:rPr>
                        <a:t>-0.33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latin typeface="Calibri" pitchFamily="34" charset="0"/>
                          <a:cs typeface="Calibri" pitchFamily="34" charset="0"/>
                        </a:rPr>
                        <a:t>-0.27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376">
                <a:tc>
                  <a:txBody>
                    <a:bodyPr/>
                    <a:lstStyle/>
                    <a:p>
                      <a:pPr algn="ctr"/>
                      <a:r>
                        <a:rPr lang="de-AT" sz="1600" dirty="0"/>
                        <a:t>User2</a:t>
                      </a:r>
                      <a:endParaRPr lang="de-DE" sz="1600" b="1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latin typeface="Calibri" pitchFamily="34" charset="0"/>
                          <a:cs typeface="Calibri" pitchFamily="34" charset="0"/>
                        </a:rPr>
                        <a:t>-0.52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latin typeface="Calibri" pitchFamily="34" charset="0"/>
                          <a:cs typeface="Calibri" pitchFamily="34" charset="0"/>
                        </a:rPr>
                        <a:t>-0.04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376">
                <a:tc>
                  <a:txBody>
                    <a:bodyPr/>
                    <a:lstStyle/>
                    <a:p>
                      <a:pPr algn="ctr"/>
                      <a:r>
                        <a:rPr lang="de-AT" sz="1600" dirty="0"/>
                        <a:t>User3</a:t>
                      </a:r>
                      <a:endParaRPr lang="de-DE" sz="1600" b="1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latin typeface="Calibri" pitchFamily="34" charset="0"/>
                          <a:cs typeface="Calibri" pitchFamily="34" charset="0"/>
                        </a:rPr>
                        <a:t>-0.44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latin typeface="Calibri" pitchFamily="34" charset="0"/>
                          <a:cs typeface="Calibri" pitchFamily="34" charset="0"/>
                        </a:rPr>
                        <a:t>-0.37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376">
                <a:tc>
                  <a:txBody>
                    <a:bodyPr/>
                    <a:lstStyle/>
                    <a:p>
                      <a:pPr algn="ctr"/>
                      <a:r>
                        <a:rPr lang="de-DE" sz="1600" b="0" dirty="0">
                          <a:latin typeface="Calibri" pitchFamily="34" charset="0"/>
                          <a:cs typeface="Calibri" pitchFamily="34" charset="0"/>
                        </a:rPr>
                        <a:t>User4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0" dirty="0">
                          <a:latin typeface="Calibri" pitchFamily="34" charset="0"/>
                          <a:cs typeface="Calibri" pitchFamily="34" charset="0"/>
                        </a:rPr>
                        <a:t>-0.37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0" dirty="0">
                          <a:latin typeface="Calibri" pitchFamily="34" charset="0"/>
                          <a:cs typeface="Calibri" pitchFamily="34" charset="0"/>
                        </a:rPr>
                        <a:t>0.88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3212937"/>
                  </a:ext>
                </a:extLst>
              </a:tr>
            </a:tbl>
          </a:graphicData>
        </a:graphic>
      </p:graphicFrame>
      <p:graphicFrame>
        <p:nvGraphicFramePr>
          <p:cNvPr id="13" name="Tabelle 5"/>
          <p:cNvGraphicFramePr>
            <a:graphicFrameLocks noGrp="1"/>
          </p:cNvGraphicFramePr>
          <p:nvPr/>
        </p:nvGraphicFramePr>
        <p:xfrm>
          <a:off x="731150" y="1988840"/>
          <a:ext cx="3744432" cy="1859280"/>
        </p:xfrm>
        <a:graphic>
          <a:graphicData uri="http://schemas.openxmlformats.org/drawingml/2006/table">
            <a:tbl>
              <a:tblPr firstRow="1" bandRow="1"/>
              <a:tblGrid>
                <a:gridCol w="624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4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4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40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1154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1400" baseline="0" dirty="0">
                        <a:latin typeface="Calibri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Item1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Item2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Item3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Item4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Item5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299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="1" baseline="0" dirty="0">
                          <a:latin typeface="Calibri" pitchFamily="34" charset="0"/>
                        </a:rPr>
                        <a:t>Alice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="1" baseline="0" dirty="0">
                          <a:solidFill>
                            <a:srgbClr val="C00000"/>
                          </a:solidFill>
                          <a:latin typeface="Calibri" pitchFamily="34" charset="0"/>
                        </a:rPr>
                        <a:t>4.44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154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="1" baseline="0" dirty="0">
                          <a:latin typeface="Calibri" pitchFamily="34" charset="0"/>
                        </a:rPr>
                        <a:t>User1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154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="1" baseline="0" dirty="0">
                          <a:latin typeface="Calibri" pitchFamily="34" charset="0"/>
                        </a:rPr>
                        <a:t>User2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154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="1" baseline="0" dirty="0">
                          <a:latin typeface="Calibri" pitchFamily="34" charset="0"/>
                        </a:rPr>
                        <a:t>User3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154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="1" baseline="0" dirty="0">
                          <a:latin typeface="Calibri" pitchFamily="34" charset="0"/>
                        </a:rPr>
                        <a:t>User4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6395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B81B28-8D73-4ED6-ACF6-9231BA137B4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dirty="0"/>
              <a:t>Como a </a:t>
            </a:r>
            <a:r>
              <a:rPr lang="pt-BR" b="1" dirty="0">
                <a:solidFill>
                  <a:srgbClr val="0070C0"/>
                </a:solidFill>
              </a:rPr>
              <a:t>matriz de usuários x itens é esparsa</a:t>
            </a:r>
            <a:r>
              <a:rPr lang="pt-BR" dirty="0"/>
              <a:t>, isto é, não está totalmente preenchida, o modelo de fatoração de matrizes (MF) baseado em </a:t>
            </a:r>
            <a:r>
              <a:rPr lang="pt-BR" i="1" dirty="0"/>
              <a:t>machine learning</a:t>
            </a:r>
            <a:r>
              <a:rPr lang="pt-BR" dirty="0"/>
              <a:t> não usa o SVD clássico e sim aprende fatores latentes por otimização, minimizando o erro das entradas conhecidas</a:t>
            </a:r>
          </a:p>
          <a:p>
            <a:pPr lvl="1"/>
            <a:r>
              <a:rPr lang="pt-BR" dirty="0"/>
              <a:t>Considera-se a matriz esparsa</a:t>
            </a:r>
          </a:p>
          <a:p>
            <a:pPr lvl="1"/>
            <a:r>
              <a:rPr lang="pt-BR" dirty="0"/>
              <a:t>Extrai-se os fatores ocultos que explicam os </a:t>
            </a:r>
            <a:r>
              <a:rPr lang="pt-BR" i="1" dirty="0"/>
              <a:t>ratings</a:t>
            </a:r>
            <a:r>
              <a:rPr lang="pt-BR" dirty="0"/>
              <a:t> conhecidos</a:t>
            </a:r>
          </a:p>
          <a:p>
            <a:pPr lvl="1"/>
            <a:r>
              <a:rPr lang="pt-BR" dirty="0"/>
              <a:t>Reconstrói-se os valores faltantes para as recomendações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Modelos de fatoração de matrizes</a:t>
            </a:r>
            <a:endParaRPr lang="pt-BR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9114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B81B28-8D73-4ED6-ACF6-9231BA137B4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dirty="0"/>
              <a:t>Considere um sistema de filmes</a:t>
            </a:r>
          </a:p>
          <a:p>
            <a:pPr lvl="1"/>
            <a:r>
              <a:rPr lang="pt-BR" dirty="0"/>
              <a:t>Usuários não escolhem filmes aleatoriamente</a:t>
            </a:r>
          </a:p>
          <a:p>
            <a:pPr marL="1200150" lvl="2" indent="-285750"/>
            <a:r>
              <a:rPr lang="pt-BR" dirty="0" err="1"/>
              <a:t>Ex</a:t>
            </a:r>
            <a:r>
              <a:rPr lang="pt-BR" dirty="0"/>
              <a:t>: gosto por ação, preferência por romance, tolerância a filmes longos</a:t>
            </a:r>
          </a:p>
          <a:p>
            <a:pPr marL="742950" lvl="1" indent="-285750"/>
            <a:r>
              <a:rPr lang="pt-BR" dirty="0"/>
              <a:t>Estes fatores não estão explicitamente nos dados</a:t>
            </a:r>
          </a:p>
          <a:p>
            <a:pPr lvl="1"/>
            <a:r>
              <a:rPr lang="pt-BR" dirty="0"/>
              <a:t>São inferidos a partir dos padrões de avaliação</a:t>
            </a:r>
          </a:p>
          <a:p>
            <a:r>
              <a:rPr lang="pt-BR" dirty="0"/>
              <a:t>O modelo de fatoração de matrizes (MF) aprende esses fatores automaticamente para gerar novas predições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Modelos de fatoração de matrizes</a:t>
            </a:r>
            <a:endParaRPr lang="pt-BR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943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Comparação</a:t>
            </a:r>
            <a:endParaRPr lang="pt-BR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93DDBCB9-006B-5E51-BC6C-9D6CCD176BBB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1171189902"/>
              </p:ext>
            </p:extLst>
          </p:nvPr>
        </p:nvGraphicFramePr>
        <p:xfrm>
          <a:off x="876000" y="1855788"/>
          <a:ext cx="10440000" cy="3383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480000">
                  <a:extLst>
                    <a:ext uri="{9D8B030D-6E8A-4147-A177-3AD203B41FA5}">
                      <a16:colId xmlns:a16="http://schemas.microsoft.com/office/drawing/2014/main" val="2274504976"/>
                    </a:ext>
                  </a:extLst>
                </a:gridCol>
                <a:gridCol w="3480000">
                  <a:extLst>
                    <a:ext uri="{9D8B030D-6E8A-4147-A177-3AD203B41FA5}">
                      <a16:colId xmlns:a16="http://schemas.microsoft.com/office/drawing/2014/main" val="1070051232"/>
                    </a:ext>
                  </a:extLst>
                </a:gridCol>
                <a:gridCol w="3480000">
                  <a:extLst>
                    <a:ext uri="{9D8B030D-6E8A-4147-A177-3AD203B41FA5}">
                      <a16:colId xmlns:a16="http://schemas.microsoft.com/office/drawing/2014/main" val="2564880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3200"/>
                        <a:t>Critério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3200" dirty="0"/>
                        <a:t>Memória (vizinhança)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3200" dirty="0"/>
                        <a:t>Modelos (fatoração de matrizes)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784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200"/>
                        <a:t>Generalização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3200"/>
                        <a:t>Baixa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3200"/>
                        <a:t>Alta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737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200"/>
                        <a:t>Escalabilidade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3200"/>
                        <a:t>Média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3200"/>
                        <a:t>Alta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5901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200"/>
                        <a:t>Esparsidade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3200"/>
                        <a:t>Sensível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3200"/>
                        <a:t>Robusta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6059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3200"/>
                        <a:t>Explicabilidade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3200"/>
                        <a:t>Alta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3200" dirty="0"/>
                        <a:t>Baixa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0062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9360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7598</TotalTime>
  <Words>730</Words>
  <Application>Microsoft Office PowerPoint</Application>
  <PresentationFormat>Widescreen</PresentationFormat>
  <Paragraphs>146</Paragraphs>
  <Slides>14</Slides>
  <Notes>1</Notes>
  <HiddenSlides>0</HiddenSlides>
  <MMClips>0</MMClips>
  <ScaleCrop>false</ScaleCrop>
  <HeadingPairs>
    <vt:vector size="8" baseType="variant">
      <vt:variant>
        <vt:lpstr>Fontes usadas</vt:lpstr>
      </vt:variant>
      <vt:variant>
        <vt:i4>7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6" baseType="lpstr">
      <vt:lpstr>Wingdings</vt:lpstr>
      <vt:lpstr>Cambria Math</vt:lpstr>
      <vt:lpstr>Arial</vt:lpstr>
      <vt:lpstr>Calibri</vt:lpstr>
      <vt:lpstr>Montserrat</vt:lpstr>
      <vt:lpstr>Aptos</vt:lpstr>
      <vt:lpstr>Cronos Pro</vt:lpstr>
      <vt:lpstr>10_Personalizar design</vt:lpstr>
      <vt:lpstr>5_Personalizar design</vt:lpstr>
      <vt:lpstr>6_Personalizar design</vt:lpstr>
      <vt:lpstr>7_Personalizar design</vt:lpstr>
      <vt:lpstr>Formel</vt:lpstr>
      <vt:lpstr>Recomendação colaborativa baseada em modelo</vt:lpstr>
      <vt:lpstr>Objetivos de Aprendizagem</vt:lpstr>
      <vt:lpstr>Recomendação colaborativa baseada em modelo</vt:lpstr>
      <vt:lpstr>Apresentação do PowerPoint</vt:lpstr>
      <vt:lpstr>Recomendação colaborativa baseada em modelo</vt:lpstr>
      <vt:lpstr>Apresentação do PowerPoint</vt:lpstr>
      <vt:lpstr>Modelos de fatoração de matrizes</vt:lpstr>
      <vt:lpstr>Apresentação do PowerPoint</vt:lpstr>
      <vt:lpstr>Modelos de fatoração de matrizes</vt:lpstr>
      <vt:lpstr>Modelos de fatoração de matrizes</vt:lpstr>
      <vt:lpstr>Modelos de fatoração de matrizes</vt:lpstr>
      <vt:lpstr>Modelos de fatoração de matrizes</vt:lpstr>
      <vt:lpstr>Comparação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Humberto Mossri de Almeida</cp:lastModifiedBy>
  <cp:revision>169</cp:revision>
  <dcterms:created xsi:type="dcterms:W3CDTF">2025-06-11T21:44:24Z</dcterms:created>
  <dcterms:modified xsi:type="dcterms:W3CDTF">2026-01-30T13:17:37Z</dcterms:modified>
</cp:coreProperties>
</file>