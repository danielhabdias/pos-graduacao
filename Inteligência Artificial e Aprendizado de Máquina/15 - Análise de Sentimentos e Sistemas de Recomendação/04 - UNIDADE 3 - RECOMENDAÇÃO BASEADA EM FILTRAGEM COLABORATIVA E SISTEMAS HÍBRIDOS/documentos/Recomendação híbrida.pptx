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7"/>
  </p:notesMasterIdLst>
  <p:sldIdLst>
    <p:sldId id="1173" r:id="rId5"/>
    <p:sldId id="297" r:id="rId6"/>
    <p:sldId id="413" r:id="rId7"/>
    <p:sldId id="345" r:id="rId8"/>
    <p:sldId id="1185" r:id="rId9"/>
    <p:sldId id="414" r:id="rId10"/>
    <p:sldId id="415" r:id="rId11"/>
    <p:sldId id="1184" r:id="rId12"/>
    <p:sldId id="416" r:id="rId13"/>
    <p:sldId id="1191" r:id="rId14"/>
    <p:sldId id="1186" r:id="rId15"/>
    <p:sldId id="1192" r:id="rId16"/>
    <p:sldId id="421" r:id="rId17"/>
    <p:sldId id="1193" r:id="rId18"/>
    <p:sldId id="418" r:id="rId19"/>
    <p:sldId id="1189" r:id="rId20"/>
    <p:sldId id="1188" r:id="rId21"/>
    <p:sldId id="1195" r:id="rId22"/>
    <p:sldId id="1190" r:id="rId23"/>
    <p:sldId id="1194" r:id="rId24"/>
    <p:sldId id="419" r:id="rId25"/>
    <p:sldId id="264" r:id="rId26"/>
  </p:sldIdLst>
  <p:sldSz cx="12192000" cy="6858000"/>
  <p:notesSz cx="6858000" cy="9144000"/>
  <p:embeddedFontLst>
    <p:embeddedFont>
      <p:font typeface="Cronos Pro" panose="020C0502030403020304" charset="0"/>
      <p:regular r:id="rId28"/>
      <p:bold r:id="rId29"/>
      <p: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3" d="100"/>
          <a:sy n="63" d="100"/>
        </p:scale>
        <p:origin x="696" y="4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47A923-9B29-42A2-9C59-30740CA73796}" type="doc">
      <dgm:prSet loTypeId="urn:microsoft.com/office/officeart/2005/8/layout/orgChart1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C991413F-2ACD-4F3C-A43F-EC1928D2B0F9}">
      <dgm:prSet phldrT="[Texto]" custT="1"/>
      <dgm:spPr/>
      <dgm:t>
        <a:bodyPr/>
        <a:lstStyle/>
        <a:p>
          <a:r>
            <a:rPr lang="pt-BR" sz="2400" dirty="0"/>
            <a:t>Recomendação híbrida</a:t>
          </a:r>
        </a:p>
      </dgm:t>
    </dgm:pt>
    <dgm:pt modelId="{41290681-832E-4BC4-9F86-AC9BE54E3B3D}" type="parTrans" cxnId="{2E753C30-C3F9-4D50-82D3-EF52B5F0A442}">
      <dgm:prSet/>
      <dgm:spPr/>
      <dgm:t>
        <a:bodyPr/>
        <a:lstStyle/>
        <a:p>
          <a:endParaRPr lang="pt-BR" sz="1400"/>
        </a:p>
      </dgm:t>
    </dgm:pt>
    <dgm:pt modelId="{AED22625-0480-4C1A-A727-693783512CCF}" type="sibTrans" cxnId="{2E753C30-C3F9-4D50-82D3-EF52B5F0A442}">
      <dgm:prSet/>
      <dgm:spPr/>
      <dgm:t>
        <a:bodyPr/>
        <a:lstStyle/>
        <a:p>
          <a:endParaRPr lang="pt-BR" sz="1400"/>
        </a:p>
      </dgm:t>
    </dgm:pt>
    <dgm:pt modelId="{8F0250A9-8F97-4BCC-BAB9-46704587A666}">
      <dgm:prSet phldrT="[Texto]" custT="1"/>
      <dgm:spPr/>
      <dgm:t>
        <a:bodyPr/>
        <a:lstStyle/>
        <a:p>
          <a:r>
            <a:rPr lang="pt-BR" sz="2400" dirty="0"/>
            <a:t>Monolíticas</a:t>
          </a:r>
        </a:p>
      </dgm:t>
    </dgm:pt>
    <dgm:pt modelId="{1684F357-70D9-4ACA-8980-BF93DB4754C3}" type="parTrans" cxnId="{A5E83D0C-A739-492C-97AD-4CABBEB47B61}">
      <dgm:prSet/>
      <dgm:spPr/>
      <dgm:t>
        <a:bodyPr/>
        <a:lstStyle/>
        <a:p>
          <a:endParaRPr lang="pt-BR" sz="1400"/>
        </a:p>
      </dgm:t>
    </dgm:pt>
    <dgm:pt modelId="{CD3016DC-3541-4365-A783-FF85307DC97E}" type="sibTrans" cxnId="{A5E83D0C-A739-492C-97AD-4CABBEB47B61}">
      <dgm:prSet/>
      <dgm:spPr/>
      <dgm:t>
        <a:bodyPr/>
        <a:lstStyle/>
        <a:p>
          <a:endParaRPr lang="pt-BR" sz="1400"/>
        </a:p>
      </dgm:t>
    </dgm:pt>
    <dgm:pt modelId="{D1B99916-5EED-4501-B9B2-759BB5AD91A8}">
      <dgm:prSet phldrT="[Texto]" custT="1"/>
      <dgm:spPr/>
      <dgm:t>
        <a:bodyPr/>
        <a:lstStyle/>
        <a:p>
          <a:r>
            <a:rPr lang="pt-BR" sz="2400" dirty="0"/>
            <a:t>“</a:t>
          </a:r>
          <a:r>
            <a:rPr lang="pt-BR" sz="2400" i="1" dirty="0"/>
            <a:t>Ensembles</a:t>
          </a:r>
          <a:r>
            <a:rPr lang="pt-BR" sz="2400" dirty="0"/>
            <a:t>”</a:t>
          </a:r>
        </a:p>
      </dgm:t>
    </dgm:pt>
    <dgm:pt modelId="{0BF514D6-8F3A-46D0-8BEF-ABBD0E3BA96A}" type="parTrans" cxnId="{489CD04B-D60E-47F0-A8FD-84DB860359CA}">
      <dgm:prSet/>
      <dgm:spPr/>
      <dgm:t>
        <a:bodyPr/>
        <a:lstStyle/>
        <a:p>
          <a:endParaRPr lang="pt-BR" sz="1400"/>
        </a:p>
      </dgm:t>
    </dgm:pt>
    <dgm:pt modelId="{61FEF7B0-B34F-4AEB-9334-E3887F3F54C2}" type="sibTrans" cxnId="{489CD04B-D60E-47F0-A8FD-84DB860359CA}">
      <dgm:prSet/>
      <dgm:spPr/>
      <dgm:t>
        <a:bodyPr/>
        <a:lstStyle/>
        <a:p>
          <a:endParaRPr lang="pt-BR" sz="1400"/>
        </a:p>
      </dgm:t>
    </dgm:pt>
    <dgm:pt modelId="{9931E422-9705-476D-B7EC-A237F25E1DF4}">
      <dgm:prSet phldrT="[Texto]" custT="1"/>
      <dgm:spPr/>
      <dgm:t>
        <a:bodyPr/>
        <a:lstStyle/>
        <a:p>
          <a:r>
            <a:rPr lang="pt-BR" sz="2400"/>
            <a:t>“</a:t>
          </a:r>
          <a:r>
            <a:rPr lang="pt-BR" sz="2400" i="1"/>
            <a:t>Mixeds</a:t>
          </a:r>
          <a:r>
            <a:rPr lang="pt-BR" sz="2400"/>
            <a:t>”</a:t>
          </a:r>
          <a:endParaRPr lang="pt-BR" sz="2400" dirty="0"/>
        </a:p>
      </dgm:t>
    </dgm:pt>
    <dgm:pt modelId="{51168CDC-DE9F-44F8-AC56-D37CBA07E9EF}" type="parTrans" cxnId="{6C5CFA5A-FDE8-4D1D-A32E-5A819B70CC22}">
      <dgm:prSet/>
      <dgm:spPr/>
      <dgm:t>
        <a:bodyPr/>
        <a:lstStyle/>
        <a:p>
          <a:endParaRPr lang="pt-BR" sz="1400"/>
        </a:p>
      </dgm:t>
    </dgm:pt>
    <dgm:pt modelId="{5F825809-A74B-4F3A-B72C-05768697027F}" type="sibTrans" cxnId="{6C5CFA5A-FDE8-4D1D-A32E-5A819B70CC22}">
      <dgm:prSet/>
      <dgm:spPr/>
      <dgm:t>
        <a:bodyPr/>
        <a:lstStyle/>
        <a:p>
          <a:endParaRPr lang="pt-BR" sz="1400"/>
        </a:p>
      </dgm:t>
    </dgm:pt>
    <dgm:pt modelId="{C86B5548-8825-4B3F-B004-D7624181C12D}" type="pres">
      <dgm:prSet presAssocID="{0E47A923-9B29-42A2-9C59-30740CA737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04618CE-8735-4C7C-806B-CEFEE46D8D84}" type="pres">
      <dgm:prSet presAssocID="{C991413F-2ACD-4F3C-A43F-EC1928D2B0F9}" presName="hierRoot1" presStyleCnt="0">
        <dgm:presLayoutVars>
          <dgm:hierBranch val="init"/>
        </dgm:presLayoutVars>
      </dgm:prSet>
      <dgm:spPr/>
    </dgm:pt>
    <dgm:pt modelId="{7F2A7629-6175-416C-BD88-96154C0FFAB9}" type="pres">
      <dgm:prSet presAssocID="{C991413F-2ACD-4F3C-A43F-EC1928D2B0F9}" presName="rootComposite1" presStyleCnt="0"/>
      <dgm:spPr/>
    </dgm:pt>
    <dgm:pt modelId="{6CE8222A-CFA3-4161-893B-4CDB86354F6B}" type="pres">
      <dgm:prSet presAssocID="{C991413F-2ACD-4F3C-A43F-EC1928D2B0F9}" presName="rootText1" presStyleLbl="node0" presStyleIdx="0" presStyleCnt="1">
        <dgm:presLayoutVars>
          <dgm:chPref val="3"/>
        </dgm:presLayoutVars>
      </dgm:prSet>
      <dgm:spPr/>
    </dgm:pt>
    <dgm:pt modelId="{15284741-A942-48D7-ACFC-0E11FD51F0F0}" type="pres">
      <dgm:prSet presAssocID="{C991413F-2ACD-4F3C-A43F-EC1928D2B0F9}" presName="rootConnector1" presStyleLbl="node1" presStyleIdx="0" presStyleCnt="0"/>
      <dgm:spPr/>
    </dgm:pt>
    <dgm:pt modelId="{95DD2410-C4CF-4408-BDCB-484803D706F1}" type="pres">
      <dgm:prSet presAssocID="{C991413F-2ACD-4F3C-A43F-EC1928D2B0F9}" presName="hierChild2" presStyleCnt="0"/>
      <dgm:spPr/>
    </dgm:pt>
    <dgm:pt modelId="{6E00C4EE-C154-4B57-98B3-2DB2570FA6E7}" type="pres">
      <dgm:prSet presAssocID="{1684F357-70D9-4ACA-8980-BF93DB4754C3}" presName="Name37" presStyleLbl="parChTrans1D2" presStyleIdx="0" presStyleCnt="3"/>
      <dgm:spPr/>
    </dgm:pt>
    <dgm:pt modelId="{69DC7D2E-86D6-4082-848C-2E9E5DBBBD24}" type="pres">
      <dgm:prSet presAssocID="{8F0250A9-8F97-4BCC-BAB9-46704587A666}" presName="hierRoot2" presStyleCnt="0">
        <dgm:presLayoutVars>
          <dgm:hierBranch val="init"/>
        </dgm:presLayoutVars>
      </dgm:prSet>
      <dgm:spPr/>
    </dgm:pt>
    <dgm:pt modelId="{F3A0B865-566D-430F-BF39-836D80602055}" type="pres">
      <dgm:prSet presAssocID="{8F0250A9-8F97-4BCC-BAB9-46704587A666}" presName="rootComposite" presStyleCnt="0"/>
      <dgm:spPr/>
    </dgm:pt>
    <dgm:pt modelId="{A2319339-CC77-496B-927F-0FB82FA92664}" type="pres">
      <dgm:prSet presAssocID="{8F0250A9-8F97-4BCC-BAB9-46704587A666}" presName="rootText" presStyleLbl="node2" presStyleIdx="0" presStyleCnt="3">
        <dgm:presLayoutVars>
          <dgm:chPref val="3"/>
        </dgm:presLayoutVars>
      </dgm:prSet>
      <dgm:spPr/>
    </dgm:pt>
    <dgm:pt modelId="{E4ADD143-5D64-423B-BDC8-48117E1D219C}" type="pres">
      <dgm:prSet presAssocID="{8F0250A9-8F97-4BCC-BAB9-46704587A666}" presName="rootConnector" presStyleLbl="node2" presStyleIdx="0" presStyleCnt="3"/>
      <dgm:spPr/>
    </dgm:pt>
    <dgm:pt modelId="{FF1ABD11-241B-40C0-A0DB-85D9932E1212}" type="pres">
      <dgm:prSet presAssocID="{8F0250A9-8F97-4BCC-BAB9-46704587A666}" presName="hierChild4" presStyleCnt="0"/>
      <dgm:spPr/>
    </dgm:pt>
    <dgm:pt modelId="{C6B1991B-2E8A-47C6-B2A4-56A0D3677B61}" type="pres">
      <dgm:prSet presAssocID="{8F0250A9-8F97-4BCC-BAB9-46704587A666}" presName="hierChild5" presStyleCnt="0"/>
      <dgm:spPr/>
    </dgm:pt>
    <dgm:pt modelId="{74C2A373-563C-4969-BE3E-3E4D5A5925BC}" type="pres">
      <dgm:prSet presAssocID="{51168CDC-DE9F-44F8-AC56-D37CBA07E9EF}" presName="Name37" presStyleLbl="parChTrans1D2" presStyleIdx="1" presStyleCnt="3"/>
      <dgm:spPr/>
    </dgm:pt>
    <dgm:pt modelId="{5F10432C-0D79-4455-A759-6D49EE4D37E4}" type="pres">
      <dgm:prSet presAssocID="{9931E422-9705-476D-B7EC-A237F25E1DF4}" presName="hierRoot2" presStyleCnt="0">
        <dgm:presLayoutVars>
          <dgm:hierBranch val="init"/>
        </dgm:presLayoutVars>
      </dgm:prSet>
      <dgm:spPr/>
    </dgm:pt>
    <dgm:pt modelId="{7FAD8830-BF5F-4AEF-908F-7CA024E0198A}" type="pres">
      <dgm:prSet presAssocID="{9931E422-9705-476D-B7EC-A237F25E1DF4}" presName="rootComposite" presStyleCnt="0"/>
      <dgm:spPr/>
    </dgm:pt>
    <dgm:pt modelId="{76086C69-EDE5-47B7-B193-72021EA69421}" type="pres">
      <dgm:prSet presAssocID="{9931E422-9705-476D-B7EC-A237F25E1DF4}" presName="rootText" presStyleLbl="node2" presStyleIdx="1" presStyleCnt="3">
        <dgm:presLayoutVars>
          <dgm:chPref val="3"/>
        </dgm:presLayoutVars>
      </dgm:prSet>
      <dgm:spPr/>
    </dgm:pt>
    <dgm:pt modelId="{DA43CE16-1019-4929-BF9E-5C1E82566D49}" type="pres">
      <dgm:prSet presAssocID="{9931E422-9705-476D-B7EC-A237F25E1DF4}" presName="rootConnector" presStyleLbl="node2" presStyleIdx="1" presStyleCnt="3"/>
      <dgm:spPr/>
    </dgm:pt>
    <dgm:pt modelId="{B87B01D7-8F18-4D1D-AE53-35726BEAC241}" type="pres">
      <dgm:prSet presAssocID="{9931E422-9705-476D-B7EC-A237F25E1DF4}" presName="hierChild4" presStyleCnt="0"/>
      <dgm:spPr/>
    </dgm:pt>
    <dgm:pt modelId="{E62B1C99-973C-4CC8-A537-9C835642BF86}" type="pres">
      <dgm:prSet presAssocID="{9931E422-9705-476D-B7EC-A237F25E1DF4}" presName="hierChild5" presStyleCnt="0"/>
      <dgm:spPr/>
    </dgm:pt>
    <dgm:pt modelId="{C4AB1093-DF25-4580-A2C5-3D3C5A60C86C}" type="pres">
      <dgm:prSet presAssocID="{0BF514D6-8F3A-46D0-8BEF-ABBD0E3BA96A}" presName="Name37" presStyleLbl="parChTrans1D2" presStyleIdx="2" presStyleCnt="3"/>
      <dgm:spPr/>
    </dgm:pt>
    <dgm:pt modelId="{2D9D57B4-4A00-472F-AD2A-3BF0C0AE1A27}" type="pres">
      <dgm:prSet presAssocID="{D1B99916-5EED-4501-B9B2-759BB5AD91A8}" presName="hierRoot2" presStyleCnt="0">
        <dgm:presLayoutVars>
          <dgm:hierBranch val="init"/>
        </dgm:presLayoutVars>
      </dgm:prSet>
      <dgm:spPr/>
    </dgm:pt>
    <dgm:pt modelId="{DFF051BD-7D04-46A4-8D33-4D507D600EFA}" type="pres">
      <dgm:prSet presAssocID="{D1B99916-5EED-4501-B9B2-759BB5AD91A8}" presName="rootComposite" presStyleCnt="0"/>
      <dgm:spPr/>
    </dgm:pt>
    <dgm:pt modelId="{7B199291-9D38-4117-BBAD-8F06BE1D3CE4}" type="pres">
      <dgm:prSet presAssocID="{D1B99916-5EED-4501-B9B2-759BB5AD91A8}" presName="rootText" presStyleLbl="node2" presStyleIdx="2" presStyleCnt="3">
        <dgm:presLayoutVars>
          <dgm:chPref val="3"/>
        </dgm:presLayoutVars>
      </dgm:prSet>
      <dgm:spPr/>
    </dgm:pt>
    <dgm:pt modelId="{34D44077-A9F3-4C4A-9ACF-0E46F6E1CB24}" type="pres">
      <dgm:prSet presAssocID="{D1B99916-5EED-4501-B9B2-759BB5AD91A8}" presName="rootConnector" presStyleLbl="node2" presStyleIdx="2" presStyleCnt="3"/>
      <dgm:spPr/>
    </dgm:pt>
    <dgm:pt modelId="{2082A78D-F54B-42E1-9B59-AAF75855B454}" type="pres">
      <dgm:prSet presAssocID="{D1B99916-5EED-4501-B9B2-759BB5AD91A8}" presName="hierChild4" presStyleCnt="0"/>
      <dgm:spPr/>
    </dgm:pt>
    <dgm:pt modelId="{8D91A65D-4109-4CBD-89B8-F70ED1ED3F69}" type="pres">
      <dgm:prSet presAssocID="{D1B99916-5EED-4501-B9B2-759BB5AD91A8}" presName="hierChild5" presStyleCnt="0"/>
      <dgm:spPr/>
    </dgm:pt>
    <dgm:pt modelId="{F87B3765-9582-44A6-B2AD-62B3413314C6}" type="pres">
      <dgm:prSet presAssocID="{C991413F-2ACD-4F3C-A43F-EC1928D2B0F9}" presName="hierChild3" presStyleCnt="0"/>
      <dgm:spPr/>
    </dgm:pt>
  </dgm:ptLst>
  <dgm:cxnLst>
    <dgm:cxn modelId="{D1425700-08A2-415C-B05D-F0304A45D25D}" type="presOf" srcId="{8F0250A9-8F97-4BCC-BAB9-46704587A666}" destId="{E4ADD143-5D64-423B-BDC8-48117E1D219C}" srcOrd="1" destOrd="0" presId="urn:microsoft.com/office/officeart/2005/8/layout/orgChart1"/>
    <dgm:cxn modelId="{A5E83D0C-A739-492C-97AD-4CABBEB47B61}" srcId="{C991413F-2ACD-4F3C-A43F-EC1928D2B0F9}" destId="{8F0250A9-8F97-4BCC-BAB9-46704587A666}" srcOrd="0" destOrd="0" parTransId="{1684F357-70D9-4ACA-8980-BF93DB4754C3}" sibTransId="{CD3016DC-3541-4365-A783-FF85307DC97E}"/>
    <dgm:cxn modelId="{F299BA23-A255-4A63-A337-633CE20E3DD5}" type="presOf" srcId="{C991413F-2ACD-4F3C-A43F-EC1928D2B0F9}" destId="{6CE8222A-CFA3-4161-893B-4CDB86354F6B}" srcOrd="0" destOrd="0" presId="urn:microsoft.com/office/officeart/2005/8/layout/orgChart1"/>
    <dgm:cxn modelId="{7414552D-4E86-4244-9D84-F21D1277B653}" type="presOf" srcId="{0BF514D6-8F3A-46D0-8BEF-ABBD0E3BA96A}" destId="{C4AB1093-DF25-4580-A2C5-3D3C5A60C86C}" srcOrd="0" destOrd="0" presId="urn:microsoft.com/office/officeart/2005/8/layout/orgChart1"/>
    <dgm:cxn modelId="{2E753C30-C3F9-4D50-82D3-EF52B5F0A442}" srcId="{0E47A923-9B29-42A2-9C59-30740CA73796}" destId="{C991413F-2ACD-4F3C-A43F-EC1928D2B0F9}" srcOrd="0" destOrd="0" parTransId="{41290681-832E-4BC4-9F86-AC9BE54E3B3D}" sibTransId="{AED22625-0480-4C1A-A727-693783512CCF}"/>
    <dgm:cxn modelId="{6A8E433A-02C5-4C3D-9C63-DE8C2C38C0FD}" type="presOf" srcId="{C991413F-2ACD-4F3C-A43F-EC1928D2B0F9}" destId="{15284741-A942-48D7-ACFC-0E11FD51F0F0}" srcOrd="1" destOrd="0" presId="urn:microsoft.com/office/officeart/2005/8/layout/orgChart1"/>
    <dgm:cxn modelId="{489CD04B-D60E-47F0-A8FD-84DB860359CA}" srcId="{C991413F-2ACD-4F3C-A43F-EC1928D2B0F9}" destId="{D1B99916-5EED-4501-B9B2-759BB5AD91A8}" srcOrd="2" destOrd="0" parTransId="{0BF514D6-8F3A-46D0-8BEF-ABBD0E3BA96A}" sibTransId="{61FEF7B0-B34F-4AEB-9334-E3887F3F54C2}"/>
    <dgm:cxn modelId="{59517277-14DC-4C5A-9792-A380063E422B}" type="presOf" srcId="{0E47A923-9B29-42A2-9C59-30740CA73796}" destId="{C86B5548-8825-4B3F-B004-D7624181C12D}" srcOrd="0" destOrd="0" presId="urn:microsoft.com/office/officeart/2005/8/layout/orgChart1"/>
    <dgm:cxn modelId="{6C5CFA5A-FDE8-4D1D-A32E-5A819B70CC22}" srcId="{C991413F-2ACD-4F3C-A43F-EC1928D2B0F9}" destId="{9931E422-9705-476D-B7EC-A237F25E1DF4}" srcOrd="1" destOrd="0" parTransId="{51168CDC-DE9F-44F8-AC56-D37CBA07E9EF}" sibTransId="{5F825809-A74B-4F3A-B72C-05768697027F}"/>
    <dgm:cxn modelId="{997E138E-CAC0-4532-8B0E-F35CFF6B991E}" type="presOf" srcId="{9931E422-9705-476D-B7EC-A237F25E1DF4}" destId="{76086C69-EDE5-47B7-B193-72021EA69421}" srcOrd="0" destOrd="0" presId="urn:microsoft.com/office/officeart/2005/8/layout/orgChart1"/>
    <dgm:cxn modelId="{6B5E2390-F83D-4991-A428-B4A0C52AA73C}" type="presOf" srcId="{D1B99916-5EED-4501-B9B2-759BB5AD91A8}" destId="{34D44077-A9F3-4C4A-9ACF-0E46F6E1CB24}" srcOrd="1" destOrd="0" presId="urn:microsoft.com/office/officeart/2005/8/layout/orgChart1"/>
    <dgm:cxn modelId="{2E1AF89E-51A2-43E5-BEF9-6CACDE07BDC2}" type="presOf" srcId="{8F0250A9-8F97-4BCC-BAB9-46704587A666}" destId="{A2319339-CC77-496B-927F-0FB82FA92664}" srcOrd="0" destOrd="0" presId="urn:microsoft.com/office/officeart/2005/8/layout/orgChart1"/>
    <dgm:cxn modelId="{2ECB67CB-D623-44CC-8CAB-34E29D47DFEA}" type="presOf" srcId="{1684F357-70D9-4ACA-8980-BF93DB4754C3}" destId="{6E00C4EE-C154-4B57-98B3-2DB2570FA6E7}" srcOrd="0" destOrd="0" presId="urn:microsoft.com/office/officeart/2005/8/layout/orgChart1"/>
    <dgm:cxn modelId="{CA532DD8-3033-49B6-A05E-BB3A76AFF93E}" type="presOf" srcId="{9931E422-9705-476D-B7EC-A237F25E1DF4}" destId="{DA43CE16-1019-4929-BF9E-5C1E82566D49}" srcOrd="1" destOrd="0" presId="urn:microsoft.com/office/officeart/2005/8/layout/orgChart1"/>
    <dgm:cxn modelId="{3F5D47DD-FC03-4E48-A84D-DE093717899C}" type="presOf" srcId="{51168CDC-DE9F-44F8-AC56-D37CBA07E9EF}" destId="{74C2A373-563C-4969-BE3E-3E4D5A5925BC}" srcOrd="0" destOrd="0" presId="urn:microsoft.com/office/officeart/2005/8/layout/orgChart1"/>
    <dgm:cxn modelId="{C8DD0AF7-9467-4533-A5F0-6546FC5C6AFF}" type="presOf" srcId="{D1B99916-5EED-4501-B9B2-759BB5AD91A8}" destId="{7B199291-9D38-4117-BBAD-8F06BE1D3CE4}" srcOrd="0" destOrd="0" presId="urn:microsoft.com/office/officeart/2005/8/layout/orgChart1"/>
    <dgm:cxn modelId="{9927AF80-B90F-4FD2-BE04-AE238E1DB213}" type="presParOf" srcId="{C86B5548-8825-4B3F-B004-D7624181C12D}" destId="{004618CE-8735-4C7C-806B-CEFEE46D8D84}" srcOrd="0" destOrd="0" presId="urn:microsoft.com/office/officeart/2005/8/layout/orgChart1"/>
    <dgm:cxn modelId="{F7898488-BB65-4C99-90FE-4D8A5E456365}" type="presParOf" srcId="{004618CE-8735-4C7C-806B-CEFEE46D8D84}" destId="{7F2A7629-6175-416C-BD88-96154C0FFAB9}" srcOrd="0" destOrd="0" presId="urn:microsoft.com/office/officeart/2005/8/layout/orgChart1"/>
    <dgm:cxn modelId="{DAEF5B75-8B68-4E75-B708-31FA3D3797F7}" type="presParOf" srcId="{7F2A7629-6175-416C-BD88-96154C0FFAB9}" destId="{6CE8222A-CFA3-4161-893B-4CDB86354F6B}" srcOrd="0" destOrd="0" presId="urn:microsoft.com/office/officeart/2005/8/layout/orgChart1"/>
    <dgm:cxn modelId="{FB257991-A857-40FC-A5A6-CEC433F3195A}" type="presParOf" srcId="{7F2A7629-6175-416C-BD88-96154C0FFAB9}" destId="{15284741-A942-48D7-ACFC-0E11FD51F0F0}" srcOrd="1" destOrd="0" presId="urn:microsoft.com/office/officeart/2005/8/layout/orgChart1"/>
    <dgm:cxn modelId="{88727F74-BE5C-4E58-8C91-F3806DFF4A0F}" type="presParOf" srcId="{004618CE-8735-4C7C-806B-CEFEE46D8D84}" destId="{95DD2410-C4CF-4408-BDCB-484803D706F1}" srcOrd="1" destOrd="0" presId="urn:microsoft.com/office/officeart/2005/8/layout/orgChart1"/>
    <dgm:cxn modelId="{119F55D1-CA82-431A-836F-57703B20F98C}" type="presParOf" srcId="{95DD2410-C4CF-4408-BDCB-484803D706F1}" destId="{6E00C4EE-C154-4B57-98B3-2DB2570FA6E7}" srcOrd="0" destOrd="0" presId="urn:microsoft.com/office/officeart/2005/8/layout/orgChart1"/>
    <dgm:cxn modelId="{D7A26078-0418-4072-8BDE-2DD5B3D1FA35}" type="presParOf" srcId="{95DD2410-C4CF-4408-BDCB-484803D706F1}" destId="{69DC7D2E-86D6-4082-848C-2E9E5DBBBD24}" srcOrd="1" destOrd="0" presId="urn:microsoft.com/office/officeart/2005/8/layout/orgChart1"/>
    <dgm:cxn modelId="{D5B71A0A-9ACA-41AD-9D92-56E5F23D3B8B}" type="presParOf" srcId="{69DC7D2E-86D6-4082-848C-2E9E5DBBBD24}" destId="{F3A0B865-566D-430F-BF39-836D80602055}" srcOrd="0" destOrd="0" presId="urn:microsoft.com/office/officeart/2005/8/layout/orgChart1"/>
    <dgm:cxn modelId="{BA4D9869-548B-48E0-84CA-6C3BD7C94503}" type="presParOf" srcId="{F3A0B865-566D-430F-BF39-836D80602055}" destId="{A2319339-CC77-496B-927F-0FB82FA92664}" srcOrd="0" destOrd="0" presId="urn:microsoft.com/office/officeart/2005/8/layout/orgChart1"/>
    <dgm:cxn modelId="{EF3EB76C-6F42-44CD-BD57-D26E3FA45C23}" type="presParOf" srcId="{F3A0B865-566D-430F-BF39-836D80602055}" destId="{E4ADD143-5D64-423B-BDC8-48117E1D219C}" srcOrd="1" destOrd="0" presId="urn:microsoft.com/office/officeart/2005/8/layout/orgChart1"/>
    <dgm:cxn modelId="{4CA9928A-2CD6-469F-8A94-BF44A6E7FB36}" type="presParOf" srcId="{69DC7D2E-86D6-4082-848C-2E9E5DBBBD24}" destId="{FF1ABD11-241B-40C0-A0DB-85D9932E1212}" srcOrd="1" destOrd="0" presId="urn:microsoft.com/office/officeart/2005/8/layout/orgChart1"/>
    <dgm:cxn modelId="{84D8E543-D95F-4614-8A42-8F95EE1102D1}" type="presParOf" srcId="{69DC7D2E-86D6-4082-848C-2E9E5DBBBD24}" destId="{C6B1991B-2E8A-47C6-B2A4-56A0D3677B61}" srcOrd="2" destOrd="0" presId="urn:microsoft.com/office/officeart/2005/8/layout/orgChart1"/>
    <dgm:cxn modelId="{ADF5BBA6-466B-4086-9A23-E9626831CBB9}" type="presParOf" srcId="{95DD2410-C4CF-4408-BDCB-484803D706F1}" destId="{74C2A373-563C-4969-BE3E-3E4D5A5925BC}" srcOrd="2" destOrd="0" presId="urn:microsoft.com/office/officeart/2005/8/layout/orgChart1"/>
    <dgm:cxn modelId="{BB744AEC-14ED-47FC-B62A-FE3D13D2CED9}" type="presParOf" srcId="{95DD2410-C4CF-4408-BDCB-484803D706F1}" destId="{5F10432C-0D79-4455-A759-6D49EE4D37E4}" srcOrd="3" destOrd="0" presId="urn:microsoft.com/office/officeart/2005/8/layout/orgChart1"/>
    <dgm:cxn modelId="{AB52C94F-BBB0-4FCF-89F5-C1EE8F9D8CD3}" type="presParOf" srcId="{5F10432C-0D79-4455-A759-6D49EE4D37E4}" destId="{7FAD8830-BF5F-4AEF-908F-7CA024E0198A}" srcOrd="0" destOrd="0" presId="urn:microsoft.com/office/officeart/2005/8/layout/orgChart1"/>
    <dgm:cxn modelId="{47EA1346-A933-4D4C-8457-49CBC1E91625}" type="presParOf" srcId="{7FAD8830-BF5F-4AEF-908F-7CA024E0198A}" destId="{76086C69-EDE5-47B7-B193-72021EA69421}" srcOrd="0" destOrd="0" presId="urn:microsoft.com/office/officeart/2005/8/layout/orgChart1"/>
    <dgm:cxn modelId="{5B0CBCAA-6DE8-4396-AA72-42211ABE811E}" type="presParOf" srcId="{7FAD8830-BF5F-4AEF-908F-7CA024E0198A}" destId="{DA43CE16-1019-4929-BF9E-5C1E82566D49}" srcOrd="1" destOrd="0" presId="urn:microsoft.com/office/officeart/2005/8/layout/orgChart1"/>
    <dgm:cxn modelId="{EE908B89-AFFF-4CA7-939B-770AB00AC6FE}" type="presParOf" srcId="{5F10432C-0D79-4455-A759-6D49EE4D37E4}" destId="{B87B01D7-8F18-4D1D-AE53-35726BEAC241}" srcOrd="1" destOrd="0" presId="urn:microsoft.com/office/officeart/2005/8/layout/orgChart1"/>
    <dgm:cxn modelId="{30F2BE9E-27B8-4DDB-B124-41749185B379}" type="presParOf" srcId="{5F10432C-0D79-4455-A759-6D49EE4D37E4}" destId="{E62B1C99-973C-4CC8-A537-9C835642BF86}" srcOrd="2" destOrd="0" presId="urn:microsoft.com/office/officeart/2005/8/layout/orgChart1"/>
    <dgm:cxn modelId="{1A673E0B-BDD3-412B-89D6-5829E3CECD00}" type="presParOf" srcId="{95DD2410-C4CF-4408-BDCB-484803D706F1}" destId="{C4AB1093-DF25-4580-A2C5-3D3C5A60C86C}" srcOrd="4" destOrd="0" presId="urn:microsoft.com/office/officeart/2005/8/layout/orgChart1"/>
    <dgm:cxn modelId="{C25F7A34-8287-4271-BA77-FA3C9E23CA62}" type="presParOf" srcId="{95DD2410-C4CF-4408-BDCB-484803D706F1}" destId="{2D9D57B4-4A00-472F-AD2A-3BF0C0AE1A27}" srcOrd="5" destOrd="0" presId="urn:microsoft.com/office/officeart/2005/8/layout/orgChart1"/>
    <dgm:cxn modelId="{65EE9A87-1428-48AA-9928-ADC484206438}" type="presParOf" srcId="{2D9D57B4-4A00-472F-AD2A-3BF0C0AE1A27}" destId="{DFF051BD-7D04-46A4-8D33-4D507D600EFA}" srcOrd="0" destOrd="0" presId="urn:microsoft.com/office/officeart/2005/8/layout/orgChart1"/>
    <dgm:cxn modelId="{187D6F7F-F872-4C41-A91D-2AA382E98E5D}" type="presParOf" srcId="{DFF051BD-7D04-46A4-8D33-4D507D600EFA}" destId="{7B199291-9D38-4117-BBAD-8F06BE1D3CE4}" srcOrd="0" destOrd="0" presId="urn:microsoft.com/office/officeart/2005/8/layout/orgChart1"/>
    <dgm:cxn modelId="{13C5C4FB-F9BA-43C0-B108-E82E17497ADC}" type="presParOf" srcId="{DFF051BD-7D04-46A4-8D33-4D507D600EFA}" destId="{34D44077-A9F3-4C4A-9ACF-0E46F6E1CB24}" srcOrd="1" destOrd="0" presId="urn:microsoft.com/office/officeart/2005/8/layout/orgChart1"/>
    <dgm:cxn modelId="{4AB34546-A9F4-4178-9276-91AF8AA1A289}" type="presParOf" srcId="{2D9D57B4-4A00-472F-AD2A-3BF0C0AE1A27}" destId="{2082A78D-F54B-42E1-9B59-AAF75855B454}" srcOrd="1" destOrd="0" presId="urn:microsoft.com/office/officeart/2005/8/layout/orgChart1"/>
    <dgm:cxn modelId="{CA1D4EE3-8DE2-4CC2-8842-D464CE2399E5}" type="presParOf" srcId="{2D9D57B4-4A00-472F-AD2A-3BF0C0AE1A27}" destId="{8D91A65D-4109-4CBD-89B8-F70ED1ED3F69}" srcOrd="2" destOrd="0" presId="urn:microsoft.com/office/officeart/2005/8/layout/orgChart1"/>
    <dgm:cxn modelId="{1CCA07D8-1F7E-4452-ABA4-08692191DBB6}" type="presParOf" srcId="{004618CE-8735-4C7C-806B-CEFEE46D8D84}" destId="{F87B3765-9582-44A6-B2AD-62B3413314C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B1093-DF25-4580-A2C5-3D3C5A60C86C}">
      <dsp:nvSpPr>
        <dsp:cNvPr id="0" name=""/>
        <dsp:cNvSpPr/>
      </dsp:nvSpPr>
      <dsp:spPr>
        <a:xfrm>
          <a:off x="4064000" y="1465196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2A373-563C-4969-BE3E-3E4D5A5925BC}">
      <dsp:nvSpPr>
        <dsp:cNvPr id="0" name=""/>
        <dsp:cNvSpPr/>
      </dsp:nvSpPr>
      <dsp:spPr>
        <a:xfrm>
          <a:off x="4018280" y="1465196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00C4EE-C154-4B57-98B3-2DB2570FA6E7}">
      <dsp:nvSpPr>
        <dsp:cNvPr id="0" name=""/>
        <dsp:cNvSpPr/>
      </dsp:nvSpPr>
      <dsp:spPr>
        <a:xfrm>
          <a:off x="1188690" y="1465196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E8222A-CFA3-4161-893B-4CDB86354F6B}">
      <dsp:nvSpPr>
        <dsp:cNvPr id="0" name=""/>
        <dsp:cNvSpPr/>
      </dsp:nvSpPr>
      <dsp:spPr>
        <a:xfrm>
          <a:off x="2875855" y="277051"/>
          <a:ext cx="2376289" cy="118814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Recomendação híbrida</a:t>
          </a:r>
        </a:p>
      </dsp:txBody>
      <dsp:txXfrm>
        <a:off x="2875855" y="277051"/>
        <a:ext cx="2376289" cy="1188144"/>
      </dsp:txXfrm>
    </dsp:sp>
    <dsp:sp modelId="{A2319339-CC77-496B-927F-0FB82FA92664}">
      <dsp:nvSpPr>
        <dsp:cNvPr id="0" name=""/>
        <dsp:cNvSpPr/>
      </dsp:nvSpPr>
      <dsp:spPr>
        <a:xfrm>
          <a:off x="545" y="1964216"/>
          <a:ext cx="2376289" cy="11881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Monolíticas</a:t>
          </a:r>
        </a:p>
      </dsp:txBody>
      <dsp:txXfrm>
        <a:off x="545" y="1964216"/>
        <a:ext cx="2376289" cy="1188144"/>
      </dsp:txXfrm>
    </dsp:sp>
    <dsp:sp modelId="{76086C69-EDE5-47B7-B193-72021EA69421}">
      <dsp:nvSpPr>
        <dsp:cNvPr id="0" name=""/>
        <dsp:cNvSpPr/>
      </dsp:nvSpPr>
      <dsp:spPr>
        <a:xfrm>
          <a:off x="2875855" y="1964216"/>
          <a:ext cx="2376289" cy="11881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“</a:t>
          </a:r>
          <a:r>
            <a:rPr lang="pt-BR" sz="2400" i="1" kern="1200"/>
            <a:t>Mixeds</a:t>
          </a:r>
          <a:r>
            <a:rPr lang="pt-BR" sz="2400" kern="1200"/>
            <a:t>”</a:t>
          </a:r>
          <a:endParaRPr lang="pt-BR" sz="2400" kern="1200" dirty="0"/>
        </a:p>
      </dsp:txBody>
      <dsp:txXfrm>
        <a:off x="2875855" y="1964216"/>
        <a:ext cx="2376289" cy="1188144"/>
      </dsp:txXfrm>
    </dsp:sp>
    <dsp:sp modelId="{7B199291-9D38-4117-BBAD-8F06BE1D3CE4}">
      <dsp:nvSpPr>
        <dsp:cNvPr id="0" name=""/>
        <dsp:cNvSpPr/>
      </dsp:nvSpPr>
      <dsp:spPr>
        <a:xfrm>
          <a:off x="5751165" y="1964216"/>
          <a:ext cx="2376289" cy="118814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“</a:t>
          </a:r>
          <a:r>
            <a:rPr lang="pt-BR" sz="2400" i="1" kern="1200" dirty="0"/>
            <a:t>Ensembles</a:t>
          </a:r>
          <a:r>
            <a:rPr lang="pt-BR" sz="2400" kern="1200" dirty="0"/>
            <a:t>”</a:t>
          </a:r>
        </a:p>
      </dsp:txBody>
      <dsp:txXfrm>
        <a:off x="5751165" y="1964216"/>
        <a:ext cx="2376289" cy="1188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069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96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914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644417-3C20-4C83-9BA8-890BA50599E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60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627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dirty="0"/>
              <a:t>Recomendação híbrida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Definir o conceito de recomendação híbrida e identificar suas principais motivações</a:t>
            </a:r>
          </a:p>
          <a:p>
            <a:r>
              <a:rPr lang="pt-BR" dirty="0"/>
              <a:t>Explicar as diferentes formas de integração de fontes de dados, combinando metadados de conteúdo e dados de comportamento (colaborativos)</a:t>
            </a:r>
          </a:p>
          <a:p>
            <a:r>
              <a:rPr lang="pt-BR" dirty="0"/>
              <a:t>Diferenciar as abordagens de ensemble das abordagens baseadas em meta-modelos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/>
              <a:t>Recomendação híbrida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Seta Circular 18"/>
          <p:cNvSpPr/>
          <p:nvPr/>
        </p:nvSpPr>
        <p:spPr>
          <a:xfrm flipV="1">
            <a:off x="479376" y="3726292"/>
            <a:ext cx="4896544" cy="2622389"/>
          </a:xfrm>
          <a:prstGeom prst="circularArrow">
            <a:avLst>
              <a:gd name="adj1" fmla="val 5360"/>
              <a:gd name="adj2" fmla="val 569585"/>
              <a:gd name="adj3" fmla="val 21124466"/>
              <a:gd name="adj4" fmla="val 15173578"/>
              <a:gd name="adj5" fmla="val 7210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20" name="Picture 4" descr="3 formas de gerenciar seus usuários.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2" y="261582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568426" y="3527426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Comunidade</a:t>
            </a: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484583" y="6029976"/>
            <a:ext cx="109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Restrições de</a:t>
            </a:r>
          </a:p>
          <a:p>
            <a:pPr algn="ctr"/>
            <a:r>
              <a:rPr lang="pt-BR" sz="1200" dirty="0"/>
              <a:t>Conhecimento</a:t>
            </a:r>
          </a:p>
        </p:txBody>
      </p:sp>
      <p:sp>
        <p:nvSpPr>
          <p:cNvPr id="27" name="Seta para a Direita 26"/>
          <p:cNvSpPr/>
          <p:nvPr/>
        </p:nvSpPr>
        <p:spPr>
          <a:xfrm rot="580491">
            <a:off x="1706341" y="3399732"/>
            <a:ext cx="322014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 para a Direita 27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390" name="Picture 6" descr="Conhecimento - ícones de educação gráti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188" y="516400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aixaDeTexto 29"/>
          <p:cNvSpPr txBox="1"/>
          <p:nvPr/>
        </p:nvSpPr>
        <p:spPr>
          <a:xfrm>
            <a:off x="5087888" y="1735700"/>
            <a:ext cx="61147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Recomendações definidas por uma combinações de abordagens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A1813C-FF0B-CEE8-8AD9-D72518884DAB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423682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Explora a </a:t>
            </a:r>
            <a:r>
              <a:rPr lang="pt-BR" b="1" dirty="0">
                <a:solidFill>
                  <a:srgbClr val="0070C0"/>
                </a:solidFill>
              </a:rPr>
              <a:t>combinação de diferentes fontes de informação </a:t>
            </a:r>
            <a:r>
              <a:rPr lang="pt-BR" dirty="0"/>
              <a:t>e diferentes abordagens para produzir as recomendações</a:t>
            </a:r>
          </a:p>
          <a:p>
            <a:r>
              <a:rPr lang="pt-BR" dirty="0"/>
              <a:t>Pode usar recomendações baseadas em conteúdo, em conhecimento ou colaborativas separadamente para produzir os resultados</a:t>
            </a:r>
          </a:p>
          <a:p>
            <a:r>
              <a:rPr lang="pt-BR" dirty="0"/>
              <a:t>Ou adaptar os algoritmos colaborativos introduzindo </a:t>
            </a:r>
            <a:r>
              <a:rPr lang="pt-BR" i="1" dirty="0"/>
              <a:t>features</a:t>
            </a:r>
            <a:r>
              <a:rPr lang="pt-BR" dirty="0"/>
              <a:t> baseadas em conteúdo ou vice-versa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</a:t>
            </a:r>
          </a:p>
        </p:txBody>
      </p:sp>
    </p:spTree>
    <p:extLst>
      <p:ext uri="{BB962C8B-B14F-4D97-AF65-F5344CB8AC3E}">
        <p14:creationId xmlns:p14="http://schemas.microsoft.com/office/powerpoint/2010/main" val="385918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557204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Por que usar Sistemas de Recomendação Híbridos?</a:t>
            </a:r>
          </a:p>
          <a:p>
            <a:pPr lvl="1"/>
            <a:r>
              <a:rPr lang="pt-BR" dirty="0"/>
              <a:t>Objetivo geral</a:t>
            </a:r>
          </a:p>
          <a:p>
            <a:pPr lvl="2"/>
            <a:r>
              <a:rPr lang="pt-BR" dirty="0"/>
              <a:t>Aproveitar os pontos fortes de cada técnica individual para superar suas fraquezas inerentes</a:t>
            </a:r>
          </a:p>
          <a:p>
            <a:pPr lvl="1"/>
            <a:r>
              <a:rPr lang="pt-BR" dirty="0"/>
              <a:t>Superação de limitações</a:t>
            </a:r>
          </a:p>
          <a:p>
            <a:pPr lvl="2"/>
            <a:r>
              <a:rPr lang="pt-BR" dirty="0"/>
              <a:t>Ajudam a lidar com problemas como o </a:t>
            </a:r>
            <a:r>
              <a:rPr lang="pt-BR" i="1" dirty="0"/>
              <a:t>cold start </a:t>
            </a:r>
            <a:r>
              <a:rPr lang="pt-BR" dirty="0"/>
              <a:t>(novos usuários ou itens)</a:t>
            </a:r>
          </a:p>
          <a:p>
            <a:pPr lvl="1"/>
            <a:r>
              <a:rPr lang="pt-BR" dirty="0"/>
              <a:t>Melhoria de desempenho</a:t>
            </a:r>
          </a:p>
          <a:p>
            <a:pPr lvl="2"/>
            <a:r>
              <a:rPr lang="pt-BR" dirty="0"/>
              <a:t>Geralmente resultam em maior precisão nas predições</a:t>
            </a:r>
          </a:p>
          <a:p>
            <a:pPr lvl="1"/>
            <a:r>
              <a:rPr lang="pt-BR" dirty="0"/>
              <a:t>Aumento da qualidade</a:t>
            </a:r>
          </a:p>
          <a:p>
            <a:pPr lvl="2"/>
            <a:r>
              <a:rPr lang="pt-BR" dirty="0"/>
              <a:t>Proporcionam maior diversidade e robustez nas recomendações finais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</a:t>
            </a:r>
          </a:p>
        </p:txBody>
      </p:sp>
    </p:spTree>
    <p:extLst>
      <p:ext uri="{BB962C8B-B14F-4D97-AF65-F5344CB8AC3E}">
        <p14:creationId xmlns:p14="http://schemas.microsoft.com/office/powerpoint/2010/main" val="22972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</a:t>
            </a:r>
          </a:p>
        </p:txBody>
      </p:sp>
      <p:sp>
        <p:nvSpPr>
          <p:cNvPr id="3" name="Retângulo Arredondado 2"/>
          <p:cNvSpPr/>
          <p:nvPr/>
        </p:nvSpPr>
        <p:spPr>
          <a:xfrm>
            <a:off x="1919536" y="1772816"/>
            <a:ext cx="2016224" cy="9361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err="1"/>
              <a:t>Metadados</a:t>
            </a:r>
            <a:r>
              <a:rPr lang="pt-BR" sz="2000" dirty="0"/>
              <a:t> de conteúdo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1919536" y="2892132"/>
            <a:ext cx="2016224" cy="9361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Conhecimento e/ou restrições</a:t>
            </a:r>
          </a:p>
        </p:txBody>
      </p:sp>
      <p:sp>
        <p:nvSpPr>
          <p:cNvPr id="8" name="Retângulo Arredondado 7"/>
          <p:cNvSpPr/>
          <p:nvPr/>
        </p:nvSpPr>
        <p:spPr>
          <a:xfrm>
            <a:off x="1919536" y="5130764"/>
            <a:ext cx="2016224" cy="9361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Dados de comportamento</a:t>
            </a:r>
          </a:p>
        </p:txBody>
      </p:sp>
      <p:sp>
        <p:nvSpPr>
          <p:cNvPr id="9" name="Losango 8"/>
          <p:cNvSpPr/>
          <p:nvPr/>
        </p:nvSpPr>
        <p:spPr>
          <a:xfrm>
            <a:off x="5229327" y="2137460"/>
            <a:ext cx="3321944" cy="1764196"/>
          </a:xfrm>
          <a:prstGeom prst="diamon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2400" i="1" dirty="0" err="1"/>
              <a:t>Content</a:t>
            </a:r>
            <a:br>
              <a:rPr lang="pt-BR" sz="2400" i="1" dirty="0"/>
            </a:br>
            <a:r>
              <a:rPr lang="pt-BR" sz="2400" i="1" dirty="0"/>
              <a:t>-</a:t>
            </a:r>
            <a:r>
              <a:rPr lang="pt-BR" sz="2400" i="1" dirty="0" err="1"/>
              <a:t>based</a:t>
            </a:r>
            <a:endParaRPr lang="pt-BR" sz="2400" i="1" dirty="0"/>
          </a:p>
        </p:txBody>
      </p:sp>
      <p:sp>
        <p:nvSpPr>
          <p:cNvPr id="10" name="Losango 9"/>
          <p:cNvSpPr/>
          <p:nvPr/>
        </p:nvSpPr>
        <p:spPr>
          <a:xfrm>
            <a:off x="6875012" y="3014954"/>
            <a:ext cx="3321944" cy="1764196"/>
          </a:xfrm>
          <a:prstGeom prst="diamond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2400" i="1" dirty="0" err="1"/>
              <a:t>Knowledge</a:t>
            </a:r>
            <a:br>
              <a:rPr lang="pt-BR" sz="2400" i="1" dirty="0"/>
            </a:br>
            <a:r>
              <a:rPr lang="pt-BR" sz="2400" i="1" dirty="0"/>
              <a:t>-</a:t>
            </a:r>
            <a:r>
              <a:rPr lang="pt-BR" sz="2400" i="1" dirty="0" err="1"/>
              <a:t>based</a:t>
            </a:r>
            <a:endParaRPr lang="pt-BR" sz="2400" i="1" dirty="0"/>
          </a:p>
        </p:txBody>
      </p:sp>
      <p:sp>
        <p:nvSpPr>
          <p:cNvPr id="11" name="Losango 10"/>
          <p:cNvSpPr/>
          <p:nvPr/>
        </p:nvSpPr>
        <p:spPr>
          <a:xfrm>
            <a:off x="5214040" y="3897052"/>
            <a:ext cx="3321944" cy="176419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2400" i="1" dirty="0" err="1"/>
              <a:t>Collaborative-based</a:t>
            </a:r>
            <a:endParaRPr lang="pt-BR" sz="2400" i="1" dirty="0"/>
          </a:p>
        </p:txBody>
      </p:sp>
      <p:cxnSp>
        <p:nvCxnSpPr>
          <p:cNvPr id="13" name="Conector de Seta Reta 12"/>
          <p:cNvCxnSpPr>
            <a:stCxn id="3" idx="3"/>
          </p:cNvCxnSpPr>
          <p:nvPr/>
        </p:nvCxnSpPr>
        <p:spPr>
          <a:xfrm>
            <a:off x="3935760" y="2240868"/>
            <a:ext cx="1656184" cy="461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cxnSpLocks/>
            <a:stCxn id="7" idx="3"/>
            <a:endCxn id="11" idx="0"/>
          </p:cNvCxnSpPr>
          <p:nvPr/>
        </p:nvCxnSpPr>
        <p:spPr>
          <a:xfrm>
            <a:off x="3935760" y="3360184"/>
            <a:ext cx="2939252" cy="5368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8" idx="3"/>
          </p:cNvCxnSpPr>
          <p:nvPr/>
        </p:nvCxnSpPr>
        <p:spPr>
          <a:xfrm flipV="1">
            <a:off x="3935760" y="5119776"/>
            <a:ext cx="1656184" cy="47904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9960864" y="3681028"/>
            <a:ext cx="743648" cy="432048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1919536" y="4011448"/>
            <a:ext cx="2016224" cy="936104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/>
              <a:t>Dados de </a:t>
            </a:r>
            <a:br>
              <a:rPr lang="pt-BR" sz="2000" dirty="0"/>
            </a:br>
            <a:r>
              <a:rPr lang="pt-BR" sz="2000" dirty="0"/>
              <a:t>contexto</a:t>
            </a:r>
          </a:p>
        </p:txBody>
      </p:sp>
      <p:cxnSp>
        <p:nvCxnSpPr>
          <p:cNvPr id="25" name="Conector de Seta Reta 24"/>
          <p:cNvCxnSpPr>
            <a:stCxn id="22" idx="3"/>
          </p:cNvCxnSpPr>
          <p:nvPr/>
        </p:nvCxnSpPr>
        <p:spPr>
          <a:xfrm flipV="1">
            <a:off x="3935760" y="3451790"/>
            <a:ext cx="1872208" cy="1027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22" idx="3"/>
          </p:cNvCxnSpPr>
          <p:nvPr/>
        </p:nvCxnSpPr>
        <p:spPr>
          <a:xfrm>
            <a:off x="3935760" y="4479500"/>
            <a:ext cx="1368152" cy="15321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16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Abordagens dos sistemas de recomendação híbrida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</a:t>
            </a:r>
          </a:p>
        </p:txBody>
      </p:sp>
      <p:graphicFrame>
        <p:nvGraphicFramePr>
          <p:cNvPr id="6" name="Diagrama 5"/>
          <p:cNvGraphicFramePr/>
          <p:nvPr>
            <p:extLst>
              <p:ext uri="{D42A27DB-BD31-4B8C-83A1-F6EECF244321}">
                <p14:modId xmlns:p14="http://schemas.microsoft.com/office/powerpoint/2010/main" val="1866542796"/>
              </p:ext>
            </p:extLst>
          </p:nvPr>
        </p:nvGraphicFramePr>
        <p:xfrm>
          <a:off x="2031999" y="2807899"/>
          <a:ext cx="8128000" cy="3429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816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3F559FE6-A69F-095F-67AB-1A7E018D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57" y="558040"/>
            <a:ext cx="10359887" cy="565544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CD0969-23D0-3BC7-044E-6D0D94813A9D}"/>
              </a:ext>
            </a:extLst>
          </p:cNvPr>
          <p:cNvSpPr txBox="1"/>
          <p:nvPr/>
        </p:nvSpPr>
        <p:spPr>
          <a:xfrm>
            <a:off x="3883999" y="6213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84770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295774"/>
          </a:xfrm>
        </p:spPr>
        <p:txBody>
          <a:bodyPr>
            <a:normAutofit/>
          </a:bodyPr>
          <a:lstStyle/>
          <a:p>
            <a:r>
              <a:rPr lang="pt-BR" dirty="0"/>
              <a:t>Diferentes técnicas de recomendação são integradas dentro de uma única arquitetura de um modelo mais complexo</a:t>
            </a:r>
          </a:p>
          <a:p>
            <a:pPr lvl="1"/>
            <a:r>
              <a:rPr lang="pt-BR" dirty="0"/>
              <a:t>A saída de uma etapa de um </a:t>
            </a:r>
            <a:r>
              <a:rPr lang="pt-BR" dirty="0" err="1"/>
              <a:t>recomendador</a:t>
            </a:r>
            <a:r>
              <a:rPr lang="pt-BR" dirty="0"/>
              <a:t> serve diretamente como entrada para uma etapa interna de outro</a:t>
            </a:r>
          </a:p>
          <a:p>
            <a:r>
              <a:rPr lang="pt-BR" dirty="0"/>
              <a:t>Os componentes não são independentes; eles trabalham juntos como um único sistema</a:t>
            </a:r>
          </a:p>
          <a:p>
            <a:r>
              <a:rPr lang="pt-BR" dirty="0"/>
              <a:t>Geralmente, o processamento ocorre de forma síncrona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675" y="678629"/>
            <a:ext cx="11296650" cy="701731"/>
          </a:xfrm>
        </p:spPr>
        <p:txBody>
          <a:bodyPr/>
          <a:lstStyle/>
          <a:p>
            <a:r>
              <a:rPr lang="pt-BR" sz="4400" dirty="0"/>
              <a:t>Recomendação híbrida monolítica</a:t>
            </a:r>
          </a:p>
        </p:txBody>
      </p:sp>
    </p:spTree>
    <p:extLst>
      <p:ext uri="{BB962C8B-B14F-4D97-AF65-F5344CB8AC3E}">
        <p14:creationId xmlns:p14="http://schemas.microsoft.com/office/powerpoint/2010/main" val="330000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20970FA-8C39-61ED-2796-660E35D47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56" y="639000"/>
            <a:ext cx="10221687" cy="558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58AD4B63-0075-94D7-1D53-CF980D9B9A15}"/>
              </a:ext>
            </a:extLst>
          </p:cNvPr>
          <p:cNvSpPr txBox="1"/>
          <p:nvPr/>
        </p:nvSpPr>
        <p:spPr>
          <a:xfrm>
            <a:off x="3883999" y="6213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279206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65186D0-0C79-5467-B32D-34D9E92A82D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410" t="6684" r="16960" b="21431"/>
          <a:stretch/>
        </p:blipFill>
        <p:spPr>
          <a:xfrm>
            <a:off x="2993868" y="2613486"/>
            <a:ext cx="6204261" cy="3600000"/>
          </a:xfrm>
          <a:prstGeom prst="rect">
            <a:avLst/>
          </a:prstGeom>
        </p:spPr>
      </p:pic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Primeiro, </a:t>
            </a:r>
            <a:r>
              <a:rPr lang="pt-BR" sz="3600" b="1" dirty="0"/>
              <a:t>conteúdo </a:t>
            </a:r>
            <a:r>
              <a:rPr lang="pt-BR" sz="3600" dirty="0"/>
              <a:t>e depois </a:t>
            </a:r>
            <a:r>
              <a:rPr lang="pt-BR" sz="3600" b="1" dirty="0"/>
              <a:t>filtragem</a:t>
            </a:r>
            <a:r>
              <a:rPr lang="pt-BR" sz="3600" dirty="0"/>
              <a:t> </a:t>
            </a:r>
            <a:r>
              <a:rPr lang="pt-BR" sz="3600" b="1" dirty="0"/>
              <a:t>colaborativa</a:t>
            </a:r>
            <a:endParaRPr lang="pt-BR" sz="360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 monolítica</a:t>
            </a:r>
            <a:endParaRPr lang="pt-BR" sz="3200" dirty="0"/>
          </a:p>
        </p:txBody>
      </p:sp>
      <p:sp>
        <p:nvSpPr>
          <p:cNvPr id="8" name="Texto Explicativo em Elipse 6">
            <a:extLst>
              <a:ext uri="{FF2B5EF4-FFF2-40B4-BE49-F238E27FC236}">
                <a16:creationId xmlns:a16="http://schemas.microsoft.com/office/drawing/2014/main" id="{4081CF48-EFFB-43E4-9C01-A1D109EBD276}"/>
              </a:ext>
            </a:extLst>
          </p:cNvPr>
          <p:cNvSpPr/>
          <p:nvPr/>
        </p:nvSpPr>
        <p:spPr>
          <a:xfrm>
            <a:off x="8887602" y="2779775"/>
            <a:ext cx="3041839" cy="1767841"/>
          </a:xfrm>
          <a:prstGeom prst="wedgeEllipseCallout">
            <a:avLst>
              <a:gd name="adj1" fmla="val -83241"/>
              <a:gd name="adj2" fmla="val 6380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Estimar a avaliação dos itens usando a </a:t>
            </a:r>
            <a:r>
              <a:rPr lang="pt-BR" b="1" dirty="0"/>
              <a:t>recomendação colaborativa</a:t>
            </a:r>
            <a:endParaRPr lang="pt-BR" dirty="0"/>
          </a:p>
        </p:txBody>
      </p:sp>
      <p:sp>
        <p:nvSpPr>
          <p:cNvPr id="9" name="Texto Explicativo em Elipse 6">
            <a:extLst>
              <a:ext uri="{FF2B5EF4-FFF2-40B4-BE49-F238E27FC236}">
                <a16:creationId xmlns:a16="http://schemas.microsoft.com/office/drawing/2014/main" id="{1ED6A996-9014-43AF-98A3-91787435143A}"/>
              </a:ext>
            </a:extLst>
          </p:cNvPr>
          <p:cNvSpPr/>
          <p:nvPr/>
        </p:nvSpPr>
        <p:spPr>
          <a:xfrm>
            <a:off x="237160" y="2959460"/>
            <a:ext cx="2687551" cy="2112655"/>
          </a:xfrm>
          <a:prstGeom prst="wedgeEllipseCallout">
            <a:avLst>
              <a:gd name="adj1" fmla="val 106507"/>
              <a:gd name="adj2" fmla="val -156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Usar um </a:t>
            </a:r>
            <a:r>
              <a:rPr lang="pt-BR" b="1" dirty="0"/>
              <a:t>modelo baseado em conteúdo </a:t>
            </a:r>
            <a:r>
              <a:rPr lang="pt-BR" dirty="0"/>
              <a:t>para encontrar os </a:t>
            </a:r>
            <a:br>
              <a:rPr lang="pt-BR" dirty="0"/>
            </a:br>
            <a:r>
              <a:rPr lang="pt-BR" dirty="0"/>
              <a:t>top-N itens mais similares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F17920-3D99-428C-3113-19E5372FF08A}"/>
              </a:ext>
            </a:extLst>
          </p:cNvPr>
          <p:cNvSpPr txBox="1"/>
          <p:nvPr/>
        </p:nvSpPr>
        <p:spPr>
          <a:xfrm>
            <a:off x="3883999" y="6213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96132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65186D0-0C79-5467-B32D-34D9E92A82D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410" t="6684" r="16960" b="21431"/>
          <a:stretch/>
        </p:blipFill>
        <p:spPr>
          <a:xfrm>
            <a:off x="2993868" y="2613486"/>
            <a:ext cx="6204261" cy="3600000"/>
          </a:xfrm>
          <a:prstGeom prst="rect">
            <a:avLst/>
          </a:prstGeom>
        </p:spPr>
      </p:pic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Primeiro, </a:t>
            </a:r>
            <a:r>
              <a:rPr lang="pt-BR" sz="3600" b="1" dirty="0"/>
              <a:t>filtragem</a:t>
            </a:r>
            <a:r>
              <a:rPr lang="pt-BR" sz="3600" dirty="0"/>
              <a:t> </a:t>
            </a:r>
            <a:r>
              <a:rPr lang="pt-BR" sz="3600" b="1" dirty="0"/>
              <a:t>colaborativa </a:t>
            </a:r>
            <a:r>
              <a:rPr lang="pt-BR" sz="3600" dirty="0"/>
              <a:t>e depois </a:t>
            </a:r>
            <a:r>
              <a:rPr lang="pt-BR" sz="3600" b="1" dirty="0"/>
              <a:t>conteúdo</a:t>
            </a:r>
            <a:endParaRPr lang="pt-BR" sz="3600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 monolítica</a:t>
            </a:r>
            <a:endParaRPr lang="pt-BR" sz="3200" dirty="0"/>
          </a:p>
        </p:txBody>
      </p:sp>
      <p:sp>
        <p:nvSpPr>
          <p:cNvPr id="8" name="Texto Explicativo em Elipse 6">
            <a:extLst>
              <a:ext uri="{FF2B5EF4-FFF2-40B4-BE49-F238E27FC236}">
                <a16:creationId xmlns:a16="http://schemas.microsoft.com/office/drawing/2014/main" id="{4081CF48-EFFB-43E4-9C01-A1D109EBD276}"/>
              </a:ext>
            </a:extLst>
          </p:cNvPr>
          <p:cNvSpPr/>
          <p:nvPr/>
        </p:nvSpPr>
        <p:spPr>
          <a:xfrm>
            <a:off x="8887602" y="3044257"/>
            <a:ext cx="3041839" cy="1943059"/>
          </a:xfrm>
          <a:prstGeom prst="wedgeEllipseCallout">
            <a:avLst>
              <a:gd name="adj1" fmla="val -84443"/>
              <a:gd name="adj2" fmla="val 4035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Estimar a avaliação dos itens usando a </a:t>
            </a:r>
            <a:r>
              <a:rPr lang="pt-BR" b="1" dirty="0"/>
              <a:t>recomendação baseada em conteúdo</a:t>
            </a:r>
            <a:endParaRPr lang="pt-BR" dirty="0"/>
          </a:p>
        </p:txBody>
      </p:sp>
      <p:sp>
        <p:nvSpPr>
          <p:cNvPr id="9" name="Texto Explicativo em Elipse 6">
            <a:extLst>
              <a:ext uri="{FF2B5EF4-FFF2-40B4-BE49-F238E27FC236}">
                <a16:creationId xmlns:a16="http://schemas.microsoft.com/office/drawing/2014/main" id="{1ED6A996-9014-43AF-98A3-91787435143A}"/>
              </a:ext>
            </a:extLst>
          </p:cNvPr>
          <p:cNvSpPr/>
          <p:nvPr/>
        </p:nvSpPr>
        <p:spPr>
          <a:xfrm>
            <a:off x="237160" y="2959460"/>
            <a:ext cx="2687551" cy="2112655"/>
          </a:xfrm>
          <a:prstGeom prst="wedgeEllipseCallout">
            <a:avLst>
              <a:gd name="adj1" fmla="val 106507"/>
              <a:gd name="adj2" fmla="val -1567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Usar um </a:t>
            </a:r>
            <a:r>
              <a:rPr lang="pt-BR" b="1" dirty="0"/>
              <a:t>filtragem colaborativa </a:t>
            </a:r>
            <a:r>
              <a:rPr lang="pt-BR" dirty="0"/>
              <a:t>para encontrar os </a:t>
            </a:r>
            <a:br>
              <a:rPr lang="pt-BR" dirty="0"/>
            </a:br>
            <a:r>
              <a:rPr lang="pt-BR" dirty="0"/>
              <a:t>top-N itens mais similares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F17920-3D99-428C-3113-19E5372FF08A}"/>
              </a:ext>
            </a:extLst>
          </p:cNvPr>
          <p:cNvSpPr txBox="1"/>
          <p:nvPr/>
        </p:nvSpPr>
        <p:spPr>
          <a:xfrm>
            <a:off x="3883999" y="6213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707374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Mesclando as listas de recomendação de diversos sistemas</a:t>
            </a:r>
          </a:p>
          <a:p>
            <a:r>
              <a:rPr lang="pt-BR" dirty="0"/>
              <a:t>Múltiplos </a:t>
            </a:r>
            <a:r>
              <a:rPr lang="pt-BR" dirty="0" err="1"/>
              <a:t>recomendadores</a:t>
            </a:r>
            <a:r>
              <a:rPr lang="pt-BR" dirty="0"/>
              <a:t> operam de forma independente, gerando suas próprias listas de sugestões</a:t>
            </a:r>
          </a:p>
          <a:p>
            <a:r>
              <a:rPr lang="pt-BR" dirty="0"/>
              <a:t>A combinação ocorre apenas na etapa final de apresentação ao usuário</a:t>
            </a:r>
          </a:p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Modelo A gera a lista A; Modelo B gera a lista B</a:t>
            </a:r>
          </a:p>
          <a:p>
            <a:pPr lvl="1"/>
            <a:r>
              <a:rPr lang="pt-BR" dirty="0"/>
              <a:t>As listas são mescladas e reordenadas em uma única final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híbrida “</a:t>
            </a:r>
            <a:r>
              <a:rPr lang="pt-BR" sz="4400" i="1" dirty="0" err="1"/>
              <a:t>mixed</a:t>
            </a:r>
            <a:r>
              <a:rPr lang="pt-BR" sz="4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888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3FFAD71-2B14-7C27-BE24-B0D58661C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60" y="639000"/>
            <a:ext cx="10221679" cy="558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10477EB-3CC6-6CA9-471A-0A2F90794479}"/>
              </a:ext>
            </a:extLst>
          </p:cNvPr>
          <p:cNvSpPr txBox="1"/>
          <p:nvPr/>
        </p:nvSpPr>
        <p:spPr>
          <a:xfrm>
            <a:off x="3883999" y="6213486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028175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581588"/>
          </a:xfrm>
        </p:spPr>
        <p:txBody>
          <a:bodyPr>
            <a:normAutofit/>
          </a:bodyPr>
          <a:lstStyle/>
          <a:p>
            <a:r>
              <a:rPr lang="pt-BR" dirty="0"/>
              <a:t>A abordagem </a:t>
            </a:r>
            <a:r>
              <a:rPr lang="pt-BR" i="1" dirty="0"/>
              <a:t>ensemble</a:t>
            </a:r>
            <a:r>
              <a:rPr lang="pt-BR" dirty="0"/>
              <a:t> (conjunto) combina as previsões de múltiplos modelos para obter uma recomendação final superior e mais robusta do que qualquer modelo individualmente</a:t>
            </a:r>
          </a:p>
          <a:p>
            <a:r>
              <a:rPr lang="pt-BR" dirty="0"/>
              <a:t>Existem duas estratégias principais para a combinação:</a:t>
            </a:r>
          </a:p>
          <a:p>
            <a:pPr lvl="1"/>
            <a:r>
              <a:rPr lang="pt-BR" b="1" dirty="0"/>
              <a:t>Abordagem Meta-Nível (</a:t>
            </a:r>
            <a:r>
              <a:rPr lang="pt-BR" b="1" i="1" dirty="0"/>
              <a:t>Meta-</a:t>
            </a:r>
            <a:r>
              <a:rPr lang="pt-BR" b="1" i="1" dirty="0" err="1"/>
              <a:t>Level</a:t>
            </a:r>
            <a:r>
              <a:rPr lang="pt-BR" b="1" dirty="0"/>
              <a:t>)</a:t>
            </a:r>
          </a:p>
          <a:p>
            <a:pPr lvl="2"/>
            <a:r>
              <a:rPr lang="pt-BR" dirty="0"/>
              <a:t>Usa um "meta-modelo", para aprender a melhor forma de combinar as saídas</a:t>
            </a:r>
          </a:p>
          <a:p>
            <a:pPr lvl="1"/>
            <a:r>
              <a:rPr lang="pt-BR" b="1" dirty="0"/>
              <a:t>Abordagem Ponderada (</a:t>
            </a:r>
            <a:r>
              <a:rPr lang="pt-BR" b="1" i="1" dirty="0" err="1"/>
              <a:t>Weighted</a:t>
            </a:r>
            <a:r>
              <a:rPr lang="pt-BR" b="1" dirty="0"/>
              <a:t>)</a:t>
            </a:r>
          </a:p>
          <a:p>
            <a:pPr lvl="2"/>
            <a:r>
              <a:rPr lang="pt-BR" dirty="0"/>
              <a:t>Pesos específicos são atribuídos às previsões de cada modelo base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675" y="678629"/>
            <a:ext cx="11296650" cy="701731"/>
          </a:xfrm>
        </p:spPr>
        <p:txBody>
          <a:bodyPr/>
          <a:lstStyle/>
          <a:p>
            <a:r>
              <a:rPr lang="pt-BR" sz="4400" dirty="0"/>
              <a:t>Recomendação híbrida “</a:t>
            </a:r>
            <a:r>
              <a:rPr lang="pt-BR" sz="4400" i="1" dirty="0"/>
              <a:t>ensemble</a:t>
            </a:r>
            <a:r>
              <a:rPr lang="pt-BR" sz="4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656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E71872E-E0D0-C0B1-136B-64ADCA3EE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75" t="7582" r="15875"/>
          <a:stretch/>
        </p:blipFill>
        <p:spPr>
          <a:xfrm>
            <a:off x="2036064" y="330314"/>
            <a:ext cx="8119872" cy="60023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C999384-F4D3-C00C-8CC3-B53EFB9FC701}"/>
              </a:ext>
            </a:extLst>
          </p:cNvPr>
          <p:cNvSpPr txBox="1"/>
          <p:nvPr/>
        </p:nvSpPr>
        <p:spPr>
          <a:xfrm>
            <a:off x="3883999" y="628663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34786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Utiliza um modelo superior, o “</a:t>
            </a:r>
            <a:r>
              <a:rPr lang="pt-BR" b="1" dirty="0">
                <a:solidFill>
                  <a:srgbClr val="0070C0"/>
                </a:solidFill>
              </a:rPr>
              <a:t>meta-modelo</a:t>
            </a:r>
            <a:r>
              <a:rPr lang="pt-BR" dirty="0"/>
              <a:t>”, para aprender a melhor forma de combinar as saídas dos modelos base</a:t>
            </a:r>
          </a:p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Os modelos base geram suas previsões</a:t>
            </a:r>
          </a:p>
          <a:p>
            <a:pPr lvl="1"/>
            <a:r>
              <a:rPr lang="pt-BR" dirty="0"/>
              <a:t>Em vez de usar uma fórmula fixa (como na ponderada), as previsões servem como dados de entrada para o meta-modelo</a:t>
            </a:r>
          </a:p>
          <a:p>
            <a:pPr lvl="1"/>
            <a:r>
              <a:rPr lang="pt-BR" dirty="0"/>
              <a:t>O meta-modelo processa as entradas e toma a decisão final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675" y="706329"/>
            <a:ext cx="11296650" cy="646331"/>
          </a:xfrm>
        </p:spPr>
        <p:txBody>
          <a:bodyPr/>
          <a:lstStyle/>
          <a:p>
            <a:r>
              <a:rPr lang="pt-BR" noProof="0" dirty="0"/>
              <a:t>Abordagem </a:t>
            </a:r>
            <a:r>
              <a:rPr lang="pt-BR" i="1" noProof="0" dirty="0"/>
              <a:t>ensemble</a:t>
            </a:r>
            <a:r>
              <a:rPr lang="pt-BR" noProof="0" dirty="0"/>
              <a:t> “meta-modelo”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7345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F6C6CC4-89DA-F914-47F5-9839BBBF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60" y="639000"/>
            <a:ext cx="10221679" cy="558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2C0914B-879B-9DB2-A17F-73A9466989E6}"/>
              </a:ext>
            </a:extLst>
          </p:cNvPr>
          <p:cNvSpPr txBox="1"/>
          <p:nvPr/>
        </p:nvSpPr>
        <p:spPr>
          <a:xfrm>
            <a:off x="3883999" y="628663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020223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Combina as previsões (scores ou notas) de múltiplos modelos base para obter um desempenho superior e mais robusto do que qualquer modelo individual</a:t>
            </a:r>
          </a:p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Cada modelo base gera um score para um item</a:t>
            </a:r>
          </a:p>
          <a:p>
            <a:pPr lvl="1"/>
            <a:r>
              <a:rPr lang="pt-BR" dirty="0"/>
              <a:t>São aplicados depois pesos específicos para cada score</a:t>
            </a:r>
          </a:p>
          <a:p>
            <a:pPr lvl="2"/>
            <a:r>
              <a:rPr lang="pt-BR" dirty="0"/>
              <a:t>Pesos podem ser definidos manualmente ou aprendidos</a:t>
            </a:r>
          </a:p>
          <a:p>
            <a:pPr lvl="1"/>
            <a:r>
              <a:rPr lang="pt-BR" dirty="0"/>
              <a:t>No cálculo do score final, é feita uma soma ponderada dos scores individuais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675" y="706329"/>
            <a:ext cx="11296650" cy="646331"/>
          </a:xfrm>
        </p:spPr>
        <p:txBody>
          <a:bodyPr/>
          <a:lstStyle/>
          <a:p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Abordagem </a:t>
            </a:r>
            <a:r>
              <a:rPr lang="pt-BR" i="1" noProof="0" dirty="0"/>
              <a:t>ensemble</a:t>
            </a:r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 “</a:t>
            </a:r>
            <a:r>
              <a:rPr kumimoji="0" lang="pt-BR" b="1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ponderada</a:t>
            </a:r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307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8048FDA-A54B-4430-5D69-688BBDBF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60" y="639000"/>
            <a:ext cx="10221679" cy="5580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C0E053B-ED0E-0051-0232-84826276E136}"/>
              </a:ext>
            </a:extLst>
          </p:cNvPr>
          <p:cNvSpPr txBox="1"/>
          <p:nvPr/>
        </p:nvSpPr>
        <p:spPr>
          <a:xfrm>
            <a:off x="3883999" y="628663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20257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Abordagem </a:t>
            </a:r>
            <a:r>
              <a:rPr lang="pt-BR" i="1" noProof="0" dirty="0"/>
              <a:t>ensemble</a:t>
            </a:r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 “</a:t>
            </a:r>
            <a:r>
              <a:rPr kumimoji="0" lang="pt-BR" b="1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ponderada</a:t>
            </a:r>
            <a:r>
              <a:rPr kumimoji="0" lang="pt-BR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”</a:t>
            </a:r>
            <a:endParaRPr lang="pt-BR" sz="3600" dirty="0"/>
          </a:p>
        </p:txBody>
      </p:sp>
      <p:graphicFrame>
        <p:nvGraphicFramePr>
          <p:cNvPr id="8" name="Tabel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711580"/>
              </p:ext>
            </p:extLst>
          </p:nvPr>
        </p:nvGraphicFramePr>
        <p:xfrm>
          <a:off x="5909778" y="3494670"/>
          <a:ext cx="3087918" cy="225552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031">
                <a:tc gridSpan="3">
                  <a:txBody>
                    <a:bodyPr/>
                    <a:lstStyle/>
                    <a:p>
                      <a:r>
                        <a:rPr lang="de-DE" sz="1600" dirty="0"/>
                        <a:t>Recomendações</a:t>
                      </a:r>
                      <a:r>
                        <a:rPr lang="de-DE" sz="1600" baseline="0" dirty="0"/>
                        <a:t> ensemble     </a:t>
                      </a:r>
                      <a:br>
                        <a:rPr lang="de-DE" sz="1600" baseline="0" dirty="0"/>
                      </a:br>
                      <a:r>
                        <a:rPr lang="de-DE" sz="1600" baseline="0" dirty="0"/>
                        <a:t>                                            (0.5 : 0.5)</a:t>
                      </a:r>
                      <a:endParaRPr lang="de-DE" sz="16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0.35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0.00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el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01944"/>
              </p:ext>
            </p:extLst>
          </p:nvPr>
        </p:nvGraphicFramePr>
        <p:xfrm>
          <a:off x="1450848" y="2109653"/>
          <a:ext cx="2640760" cy="20116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167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33">
                <a:tc gridSpan="3">
                  <a:txBody>
                    <a:bodyPr/>
                    <a:lstStyle/>
                    <a:p>
                      <a:r>
                        <a:rPr lang="de-DE" sz="1600" dirty="0"/>
                        <a:t>Recomendações 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Item3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Item4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Item5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el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1854"/>
              </p:ext>
            </p:extLst>
          </p:nvPr>
        </p:nvGraphicFramePr>
        <p:xfrm>
          <a:off x="1449552" y="4376731"/>
          <a:ext cx="2640760" cy="20116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20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6031">
                <a:tc gridSpan="3">
                  <a:txBody>
                    <a:bodyPr/>
                    <a:lstStyle/>
                    <a:p>
                      <a:r>
                        <a:rPr lang="de-DE" sz="1600" dirty="0"/>
                        <a:t>Recomendações 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Item3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0.4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Item4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r>
                        <a:rPr lang="de-DE" sz="1600" b="1" dirty="0"/>
                        <a:t>Item5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DE" sz="16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val 16"/>
          <p:cNvSpPr>
            <a:spLocks noChangeArrowheads="1"/>
          </p:cNvSpPr>
          <p:nvPr/>
        </p:nvSpPr>
        <p:spPr bwMode="auto">
          <a:xfrm>
            <a:off x="2710480" y="2470376"/>
            <a:ext cx="647700" cy="288000"/>
          </a:xfrm>
          <a:prstGeom prst="ellipse">
            <a:avLst/>
          </a:prstGeom>
          <a:noFill/>
          <a:ln w="2857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2707913" y="4720653"/>
            <a:ext cx="647700" cy="288000"/>
          </a:xfrm>
          <a:prstGeom prst="ellipse">
            <a:avLst/>
          </a:prstGeom>
          <a:noFill/>
          <a:ln w="2857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8" name="Conector de Seta Reta 17"/>
          <p:cNvCxnSpPr>
            <a:cxnSpLocks/>
            <a:endCxn id="19" idx="1"/>
          </p:cNvCxnSpPr>
          <p:nvPr/>
        </p:nvCxnSpPr>
        <p:spPr>
          <a:xfrm>
            <a:off x="3431332" y="2591242"/>
            <a:ext cx="3947666" cy="1541118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7272802" y="4084771"/>
            <a:ext cx="725149" cy="324955"/>
          </a:xfrm>
          <a:prstGeom prst="ellipse">
            <a:avLst/>
          </a:prstGeom>
          <a:noFill/>
          <a:ln w="28575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2" name="Conector de Seta Reta 21"/>
          <p:cNvCxnSpPr>
            <a:cxnSpLocks/>
            <a:stCxn id="16" idx="6"/>
          </p:cNvCxnSpPr>
          <p:nvPr/>
        </p:nvCxnSpPr>
        <p:spPr>
          <a:xfrm flipV="1">
            <a:off x="3355613" y="4255008"/>
            <a:ext cx="3947666" cy="60964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/>
          <p:cNvSpPr txBox="1"/>
          <p:nvPr/>
        </p:nvSpPr>
        <p:spPr>
          <a:xfrm>
            <a:off x="7146341" y="2686882"/>
            <a:ext cx="4514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i="1" dirty="0" err="1"/>
              <a:t>Score</a:t>
            </a:r>
            <a:r>
              <a:rPr lang="pt-BR" sz="2800" i="1" baseline="-25000" dirty="0" err="1"/>
              <a:t>híbrido</a:t>
            </a:r>
            <a:r>
              <a:rPr lang="pt-BR" sz="2800" dirty="0"/>
              <a:t> = </a:t>
            </a:r>
            <a:r>
              <a:rPr lang="pt-BR" sz="2800" i="1" dirty="0"/>
              <a:t>S</a:t>
            </a:r>
            <a:r>
              <a:rPr lang="pt-BR" sz="2800" i="1" baseline="-25000" dirty="0"/>
              <a:t>r1</a:t>
            </a:r>
            <a:r>
              <a:rPr lang="pt-BR" sz="2800" dirty="0"/>
              <a:t>* </a:t>
            </a:r>
            <a:r>
              <a:rPr lang="pt-BR" sz="2800" dirty="0">
                <a:solidFill>
                  <a:srgbClr val="C00000"/>
                </a:solidFill>
              </a:rPr>
              <a:t>0.5</a:t>
            </a:r>
            <a:r>
              <a:rPr lang="pt-BR" sz="2800" dirty="0"/>
              <a:t> + S</a:t>
            </a:r>
            <a:r>
              <a:rPr lang="pt-BR" sz="2800" baseline="-25000" dirty="0"/>
              <a:t>r2</a:t>
            </a:r>
            <a:r>
              <a:rPr lang="pt-BR" sz="2800" dirty="0"/>
              <a:t>* </a:t>
            </a:r>
            <a:r>
              <a:rPr lang="pt-BR" sz="2800" dirty="0">
                <a:solidFill>
                  <a:srgbClr val="C00000"/>
                </a:solidFill>
              </a:rPr>
              <a:t>0.5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476799" y="1684989"/>
            <a:ext cx="326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Os pesos de cada </a:t>
            </a:r>
            <a:r>
              <a:rPr lang="pt-BR" dirty="0" err="1">
                <a:solidFill>
                  <a:srgbClr val="C00000"/>
                </a:solidFill>
              </a:rPr>
              <a:t>recomendador</a:t>
            </a:r>
            <a:r>
              <a:rPr lang="pt-BR" dirty="0">
                <a:solidFill>
                  <a:srgbClr val="C00000"/>
                </a:solidFill>
              </a:rPr>
              <a:t> podem ser alterados</a:t>
            </a:r>
          </a:p>
        </p:txBody>
      </p:sp>
      <p:cxnSp>
        <p:nvCxnSpPr>
          <p:cNvPr id="28" name="Conector de Seta Reta 27"/>
          <p:cNvCxnSpPr>
            <a:cxnSpLocks/>
            <a:stCxn id="26" idx="2"/>
          </p:cNvCxnSpPr>
          <p:nvPr/>
        </p:nvCxnSpPr>
        <p:spPr>
          <a:xfrm flipH="1">
            <a:off x="9875520" y="2331320"/>
            <a:ext cx="235007" cy="4606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cxnSpLocks/>
            <a:stCxn id="26" idx="2"/>
          </p:cNvCxnSpPr>
          <p:nvPr/>
        </p:nvCxnSpPr>
        <p:spPr>
          <a:xfrm>
            <a:off x="10110527" y="2331320"/>
            <a:ext cx="1008577" cy="36238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/>
          <p:cNvSpPr txBox="1"/>
          <p:nvPr/>
        </p:nvSpPr>
        <p:spPr>
          <a:xfrm rot="1198543">
            <a:off x="4631734" y="2791734"/>
            <a:ext cx="101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0.5 * 0.5</a:t>
            </a:r>
          </a:p>
        </p:txBody>
      </p:sp>
      <p:sp>
        <p:nvSpPr>
          <p:cNvPr id="37" name="CaixaDeTexto 36"/>
          <p:cNvSpPr txBox="1"/>
          <p:nvPr/>
        </p:nvSpPr>
        <p:spPr>
          <a:xfrm rot="21036079">
            <a:off x="4543631" y="4086377"/>
            <a:ext cx="101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0.8 * 0.5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E7DB4F4-98C5-5668-F789-4E3979FD786F}"/>
              </a:ext>
            </a:extLst>
          </p:cNvPr>
          <p:cNvSpPr txBox="1"/>
          <p:nvPr/>
        </p:nvSpPr>
        <p:spPr>
          <a:xfrm>
            <a:off x="5329446" y="620429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938289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7905</TotalTime>
  <Words>831</Words>
  <Application>Microsoft Office PowerPoint</Application>
  <PresentationFormat>Widescreen</PresentationFormat>
  <Paragraphs>155</Paragraphs>
  <Slides>22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22</vt:i4>
      </vt:variant>
    </vt:vector>
  </HeadingPairs>
  <TitlesOfParts>
    <vt:vector size="32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Recomendação híbrida</vt:lpstr>
      <vt:lpstr>Objetivos de Aprendizagem</vt:lpstr>
      <vt:lpstr>Recomendação híbrida</vt:lpstr>
      <vt:lpstr>Recomendação híbrida</vt:lpstr>
      <vt:lpstr>Recomendação híbrida</vt:lpstr>
      <vt:lpstr>Recomendação híbrida</vt:lpstr>
      <vt:lpstr>Recomendação híbrida</vt:lpstr>
      <vt:lpstr>Apresentação do PowerPoint</vt:lpstr>
      <vt:lpstr>Recomendação híbrida monolítica</vt:lpstr>
      <vt:lpstr>Apresentação do PowerPoint</vt:lpstr>
      <vt:lpstr>Recomendação híbrida monolítica</vt:lpstr>
      <vt:lpstr>Recomendação híbrida monolítica</vt:lpstr>
      <vt:lpstr>Recomendação híbrida “mixed”</vt:lpstr>
      <vt:lpstr>Apresentação do PowerPoint</vt:lpstr>
      <vt:lpstr>Recomendação híbrida “ensemble”</vt:lpstr>
      <vt:lpstr>Apresentação do PowerPoint</vt:lpstr>
      <vt:lpstr>Abordagem ensemble “meta-modelo”</vt:lpstr>
      <vt:lpstr>Apresentação do PowerPoint</vt:lpstr>
      <vt:lpstr>Abordagem ensemble “ponderada”</vt:lpstr>
      <vt:lpstr>Apresentação do PowerPoint</vt:lpstr>
      <vt:lpstr>Abordagem ensemble “ponderada”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176</cp:revision>
  <dcterms:created xsi:type="dcterms:W3CDTF">2025-06-11T21:44:24Z</dcterms:created>
  <dcterms:modified xsi:type="dcterms:W3CDTF">2026-02-02T14:27:05Z</dcterms:modified>
</cp:coreProperties>
</file>