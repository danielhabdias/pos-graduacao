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slideLayouts/slideLayout8.xml" ContentType="application/vnd.openxmlformats-officedocument.presentationml.slideLayout+xml"/>
  <Override PartName="/ppt/theme/theme3.xml" ContentType="application/vnd.openxmlformats-officedocument.theme+xml"/>
  <Override PartName="/ppt/slideLayouts/slideLayout9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85" r:id="rId1"/>
    <p:sldMasterId id="2147483672" r:id="rId2"/>
    <p:sldMasterId id="2147483675" r:id="rId3"/>
    <p:sldMasterId id="2147483677" r:id="rId4"/>
  </p:sldMasterIdLst>
  <p:notesMasterIdLst>
    <p:notesMasterId r:id="rId22"/>
  </p:notesMasterIdLst>
  <p:sldIdLst>
    <p:sldId id="1173" r:id="rId5"/>
    <p:sldId id="297" r:id="rId6"/>
    <p:sldId id="1185" r:id="rId7"/>
    <p:sldId id="1184" r:id="rId8"/>
    <p:sldId id="416" r:id="rId9"/>
    <p:sldId id="410" r:id="rId10"/>
    <p:sldId id="1186" r:id="rId11"/>
    <p:sldId id="430" r:id="rId12"/>
    <p:sldId id="1187" r:id="rId13"/>
    <p:sldId id="431" r:id="rId14"/>
    <p:sldId id="432" r:id="rId15"/>
    <p:sldId id="433" r:id="rId16"/>
    <p:sldId id="434" r:id="rId17"/>
    <p:sldId id="436" r:id="rId18"/>
    <p:sldId id="437" r:id="rId19"/>
    <p:sldId id="438" r:id="rId20"/>
    <p:sldId id="264" r:id="rId21"/>
  </p:sldIdLst>
  <p:sldSz cx="12192000" cy="6858000"/>
  <p:notesSz cx="6858000" cy="9144000"/>
  <p:embeddedFontLst>
    <p:embeddedFont>
      <p:font typeface="Cambria Math" panose="02040503050406030204" pitchFamily="18" charset="0"/>
      <p:regular r:id="rId23"/>
    </p:embeddedFont>
    <p:embeddedFont>
      <p:font typeface="Cronos Pro" panose="020C0502030403020304" charset="0"/>
      <p:regular r:id="rId24"/>
      <p:bold r:id="rId25"/>
      <p:italic r:id="rId26"/>
    </p:embeddedFont>
    <p:embeddedFont>
      <p:font typeface="Montserrat" panose="00000500000000000000" pitchFamily="2" charset="0"/>
      <p:regular r:id="rId27"/>
      <p:bold r:id="rId28"/>
      <p:italic r:id="rId29"/>
      <p:boldItalic r:id="rId30"/>
    </p:embeddedFont>
  </p:embeddedFont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3725" userDrawn="1">
          <p15:clr>
            <a:srgbClr val="A4A3A4"/>
          </p15:clr>
        </p15:guide>
        <p15:guide id="6" pos="279" userDrawn="1">
          <p15:clr>
            <a:srgbClr val="A4A3A4"/>
          </p15:clr>
        </p15:guide>
        <p15:guide id="7" pos="7401" userDrawn="1">
          <p15:clr>
            <a:srgbClr val="A4A3A4"/>
          </p15:clr>
        </p15:guide>
        <p15:guide id="8" orient="horz" pos="55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3A9E7"/>
    <a:srgbClr val="E7A3C7"/>
    <a:srgbClr val="EDB9D4"/>
    <a:srgbClr val="E391BC"/>
    <a:srgbClr val="DD79AD"/>
    <a:srgbClr val="379FDE"/>
    <a:srgbClr val="4BA8DE"/>
    <a:srgbClr val="2087C6"/>
    <a:srgbClr val="FFD230"/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Estilo Médio 2 - Ênfas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7" autoAdjust="0"/>
    <p:restoredTop sz="93725" autoAdjust="0"/>
  </p:normalViewPr>
  <p:slideViewPr>
    <p:cSldViewPr snapToGrid="0">
      <p:cViewPr varScale="1">
        <p:scale>
          <a:sx n="63" d="100"/>
          <a:sy n="63" d="100"/>
        </p:scale>
        <p:origin x="696" y="48"/>
      </p:cViewPr>
      <p:guideLst>
        <p:guide orient="horz" pos="3725"/>
        <p:guide pos="279"/>
        <p:guide pos="7401"/>
        <p:guide orient="horz" pos="55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4.fntdata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3.fntdata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2.fntdata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510625-2EA4-4752-A9CB-477B19336E4D}" type="datetimeFigureOut">
              <a:rPr lang="pt-BR" smtClean="0"/>
              <a:t>30/01/2026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0A2FEC-4FEE-4F08-B8C2-0E6F8D9636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000231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88882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E821FFB1-18DB-FB74-219D-56CA7FDCB935}"/>
              </a:ext>
            </a:extLst>
          </p:cNvPr>
          <p:cNvSpPr/>
          <p:nvPr userDrawn="1"/>
        </p:nvSpPr>
        <p:spPr>
          <a:xfrm>
            <a:off x="1180009" y="2587161"/>
            <a:ext cx="9831977" cy="1886487"/>
          </a:xfrm>
          <a:prstGeom prst="roundRect">
            <a:avLst>
              <a:gd name="adj" fmla="val 50000"/>
            </a:avLst>
          </a:prstGeom>
          <a:solidFill>
            <a:srgbClr val="379F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5400" b="1" dirty="0">
              <a:latin typeface="Montserrat" panose="00000500000000000000" pitchFamily="2" charset="0"/>
            </a:endParaRPr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3193AAE1-760D-C764-1D3B-A9D8F56312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0626" y="2587161"/>
            <a:ext cx="9139548" cy="1886487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>
            <a:lvl1pPr algn="ctr">
              <a:defRPr lang="pt-BR" sz="5400" b="1" kern="0">
                <a:solidFill>
                  <a:schemeClr val="bg1"/>
                </a:solidFill>
                <a:latin typeface="Montserrat" panose="00000500000000000000" pitchFamily="50" charset="0"/>
                <a:ea typeface="+mn-ea"/>
                <a:cs typeface="Poppins" panose="02000000000000000000" pitchFamily="2" charset="0"/>
              </a:defRPr>
            </a:lvl1pPr>
          </a:lstStyle>
          <a:p>
            <a:pPr marL="0" lvl="0" algn="ctr"/>
            <a:r>
              <a:rPr lang="pt-BR" dirty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6829366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ì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4728CDF-2894-E3A2-D022-6E7CA3A82A0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7688" y="1855788"/>
            <a:ext cx="11071225" cy="4320000"/>
          </a:xfrm>
          <a:prstGeom prst="rect">
            <a:avLst/>
          </a:prstGeom>
        </p:spPr>
        <p:txBody>
          <a:bodyPr/>
          <a:lstStyle>
            <a:lvl1pPr marL="228600" indent="-228600">
              <a:lnSpc>
                <a:spcPct val="100000"/>
              </a:lnSpc>
              <a:buFont typeface="Wingdings" panose="05000000000000000000" pitchFamily="2" charset="2"/>
              <a:buChar char="§"/>
              <a:defRPr sz="3200"/>
            </a:lvl1pPr>
            <a:lvl2pPr>
              <a:lnSpc>
                <a:spcPct val="100000"/>
              </a:lnSpc>
              <a:defRPr sz="2800">
                <a:solidFill>
                  <a:srgbClr val="4BA8DE"/>
                </a:solidFill>
              </a:defRPr>
            </a:lvl2pPr>
            <a:lvl3pPr>
              <a:lnSpc>
                <a:spcPct val="100000"/>
              </a:lnSpc>
              <a:defRPr sz="2400"/>
            </a:lvl3pPr>
            <a:lvl4pPr marL="1600200" indent="-228600">
              <a:lnSpc>
                <a:spcPct val="100000"/>
              </a:lnSpc>
              <a:buFont typeface="Wingdings" panose="05000000000000000000" pitchFamily="2" charset="2"/>
              <a:buChar char="§"/>
              <a:defRPr sz="2000">
                <a:solidFill>
                  <a:srgbClr val="379FDE"/>
                </a:solidFill>
              </a:defRPr>
            </a:lvl4pPr>
            <a:lvl5pPr>
              <a:lnSpc>
                <a:spcPct val="100000"/>
              </a:lnSpc>
              <a:defRPr sz="2000"/>
            </a:lvl5pPr>
          </a:lstStyle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grpSp>
        <p:nvGrpSpPr>
          <p:cNvPr id="7" name="PpFooter">
            <a:extLst>
              <a:ext uri="{FF2B5EF4-FFF2-40B4-BE49-F238E27FC236}">
                <a16:creationId xmlns:a16="http://schemas.microsoft.com/office/drawing/2014/main" id="{592844D0-45B4-4AD8-A0A3-995E7BA459D1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-1" y="6225394"/>
            <a:ext cx="1155258" cy="414893"/>
            <a:chOff x="-1" y="6416675"/>
            <a:chExt cx="1229052" cy="441325"/>
          </a:xfrm>
        </p:grpSpPr>
        <p:sp>
          <p:nvSpPr>
            <p:cNvPr id="8" name="PpFooter">
              <a:extLst>
                <a:ext uri="{FF2B5EF4-FFF2-40B4-BE49-F238E27FC236}">
                  <a16:creationId xmlns:a16="http://schemas.microsoft.com/office/drawing/2014/main" id="{3811FE2C-F4C3-42BF-A394-5DCBACE4206D}"/>
                </a:ext>
              </a:extLst>
            </p:cNvPr>
            <p:cNvSpPr txBox="1"/>
            <p:nvPr/>
          </p:nvSpPr>
          <p:spPr>
            <a:xfrm>
              <a:off x="582705" y="6573838"/>
              <a:ext cx="646346" cy="16369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ID" sz="1000" dirty="0">
                  <a:solidFill>
                    <a:srgbClr val="3CA3E1"/>
                  </a:solidFill>
                  <a:latin typeface="Cronos Pro" panose="020C0502030403020304" pitchFamily="34" charset="0"/>
                </a:rPr>
                <a:t>PUC MINAS</a:t>
              </a:r>
              <a:endParaRPr lang="en-ID" sz="1100" b="1" dirty="0">
                <a:solidFill>
                  <a:srgbClr val="3CA3E1"/>
                </a:solidFill>
                <a:latin typeface="Cronos Pro" panose="020C0502030403020304" pitchFamily="34" charset="0"/>
              </a:endParaRPr>
            </a:p>
          </p:txBody>
        </p:sp>
        <p:sp>
          <p:nvSpPr>
            <p:cNvPr id="10" name="Rectangle 4">
              <a:extLst>
                <a:ext uri="{FF2B5EF4-FFF2-40B4-BE49-F238E27FC236}">
                  <a16:creationId xmlns:a16="http://schemas.microsoft.com/office/drawing/2014/main" id="{3C21BAF9-7ABA-4E7F-A874-CB3124EA7669}"/>
                </a:ext>
              </a:extLst>
            </p:cNvPr>
            <p:cNvSpPr/>
            <p:nvPr/>
          </p:nvSpPr>
          <p:spPr bwMode="auto">
            <a:xfrm>
              <a:off x="-1" y="6416675"/>
              <a:ext cx="471204" cy="441325"/>
            </a:xfrm>
            <a:prstGeom prst="rect">
              <a:avLst/>
            </a:prstGeom>
            <a:solidFill>
              <a:srgbClr val="74CB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ID" sz="1224">
                <a:solidFill>
                  <a:schemeClr val="bg1"/>
                </a:solidFill>
              </a:endParaRPr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5C05B45A-7294-7FD9-1F3B-D5A588EBD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747" y="706864"/>
            <a:ext cx="11296507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lvl1pPr algn="ctr">
              <a:defRPr lang="pt-BR" sz="4000" b="1" kern="0">
                <a:solidFill>
                  <a:srgbClr val="379FDE"/>
                </a:solidFill>
                <a:latin typeface="Montserrat" panose="00000500000000000000" pitchFamily="50" charset="0"/>
                <a:ea typeface="+mn-ea"/>
                <a:cs typeface="Poppins" panose="02000000000000000000" pitchFamily="2" charset="0"/>
              </a:defRPr>
            </a:lvl1pPr>
          </a:lstStyle>
          <a:p>
            <a:pPr marL="0" lvl="0" algn="ctr"/>
            <a:r>
              <a:rPr lang="pt-BR" dirty="0"/>
              <a:t>Clique para editar o título Mestre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09C3D87-8BB0-63D2-53AE-5037D1D98758}"/>
              </a:ext>
            </a:extLst>
          </p:cNvPr>
          <p:cNvSpPr txBox="1"/>
          <p:nvPr userDrawn="1"/>
        </p:nvSpPr>
        <p:spPr>
          <a:xfrm>
            <a:off x="4398" y="6157701"/>
            <a:ext cx="39600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fld id="{3498DD92-5B1E-48F6-B4B8-2397524B08AA}" type="slidenum">
              <a:rPr lang="pt-BR" sz="1400" smtClean="0">
                <a:solidFill>
                  <a:srgbClr val="3CA3E1"/>
                </a:solidFill>
              </a:rPr>
              <a:pPr algn="ctr"/>
              <a:t>‹nº›</a:t>
            </a:fld>
            <a:endParaRPr lang="pt-BR" sz="1400" dirty="0">
              <a:solidFill>
                <a:srgbClr val="3CA3E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7949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PpFooter">
            <a:extLst>
              <a:ext uri="{FF2B5EF4-FFF2-40B4-BE49-F238E27FC236}">
                <a16:creationId xmlns:a16="http://schemas.microsoft.com/office/drawing/2014/main" id="{592844D0-45B4-4AD8-A0A3-995E7BA459D1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-1" y="6225394"/>
            <a:ext cx="1155258" cy="414893"/>
            <a:chOff x="-1" y="6416675"/>
            <a:chExt cx="1229052" cy="441325"/>
          </a:xfrm>
        </p:grpSpPr>
        <p:sp>
          <p:nvSpPr>
            <p:cNvPr id="8" name="PpFooter">
              <a:extLst>
                <a:ext uri="{FF2B5EF4-FFF2-40B4-BE49-F238E27FC236}">
                  <a16:creationId xmlns:a16="http://schemas.microsoft.com/office/drawing/2014/main" id="{3811FE2C-F4C3-42BF-A394-5DCBACE4206D}"/>
                </a:ext>
              </a:extLst>
            </p:cNvPr>
            <p:cNvSpPr txBox="1"/>
            <p:nvPr/>
          </p:nvSpPr>
          <p:spPr>
            <a:xfrm>
              <a:off x="582705" y="6573838"/>
              <a:ext cx="646346" cy="16369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ID" sz="1000" dirty="0">
                  <a:solidFill>
                    <a:srgbClr val="3CA3E1"/>
                  </a:solidFill>
                  <a:latin typeface="Cronos Pro" panose="020C0502030403020304" pitchFamily="34" charset="0"/>
                </a:rPr>
                <a:t>PUC MINAS</a:t>
              </a:r>
              <a:endParaRPr lang="en-ID" sz="1100" b="1" dirty="0">
                <a:solidFill>
                  <a:srgbClr val="3CA3E1"/>
                </a:solidFill>
                <a:latin typeface="Cronos Pro" panose="020C0502030403020304" pitchFamily="34" charset="0"/>
              </a:endParaRPr>
            </a:p>
          </p:txBody>
        </p:sp>
        <p:sp>
          <p:nvSpPr>
            <p:cNvPr id="10" name="Rectangle 4">
              <a:extLst>
                <a:ext uri="{FF2B5EF4-FFF2-40B4-BE49-F238E27FC236}">
                  <a16:creationId xmlns:a16="http://schemas.microsoft.com/office/drawing/2014/main" id="{3C21BAF9-7ABA-4E7F-A874-CB3124EA7669}"/>
                </a:ext>
              </a:extLst>
            </p:cNvPr>
            <p:cNvSpPr/>
            <p:nvPr/>
          </p:nvSpPr>
          <p:spPr bwMode="auto">
            <a:xfrm>
              <a:off x="-1" y="6416675"/>
              <a:ext cx="471204" cy="441325"/>
            </a:xfrm>
            <a:prstGeom prst="rect">
              <a:avLst/>
            </a:prstGeom>
            <a:solidFill>
              <a:srgbClr val="74CB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ID" sz="1224">
                <a:solidFill>
                  <a:schemeClr val="bg1"/>
                </a:solidFill>
              </a:endParaRPr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5C05B45A-7294-7FD9-1F3B-D5A588EBD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747" y="706864"/>
            <a:ext cx="11296507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lvl1pPr algn="ctr">
              <a:defRPr lang="pt-BR" sz="4000" b="1" kern="0">
                <a:solidFill>
                  <a:srgbClr val="379FDE"/>
                </a:solidFill>
                <a:latin typeface="Montserrat" panose="00000500000000000000" pitchFamily="50" charset="0"/>
                <a:ea typeface="+mn-ea"/>
                <a:cs typeface="Poppins" panose="02000000000000000000" pitchFamily="2" charset="0"/>
              </a:defRPr>
            </a:lvl1pPr>
          </a:lstStyle>
          <a:p>
            <a:pPr marL="0" lvl="0" algn="ctr"/>
            <a:r>
              <a:rPr lang="pt-BR" dirty="0"/>
              <a:t>Clique para editar o título Mestre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B0A806E-7010-8E80-2973-36A1D94DDC56}"/>
              </a:ext>
            </a:extLst>
          </p:cNvPr>
          <p:cNvSpPr txBox="1"/>
          <p:nvPr userDrawn="1"/>
        </p:nvSpPr>
        <p:spPr>
          <a:xfrm>
            <a:off x="4398" y="6157701"/>
            <a:ext cx="39600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fld id="{3498DD92-5B1E-48F6-B4B8-2397524B08AA}" type="slidenum">
              <a:rPr lang="pt-BR" sz="1400" smtClean="0">
                <a:solidFill>
                  <a:srgbClr val="3CA3E1"/>
                </a:solidFill>
              </a:rPr>
              <a:pPr algn="ctr"/>
              <a:t>‹nº›</a:t>
            </a:fld>
            <a:endParaRPr lang="pt-BR" sz="1400" dirty="0">
              <a:solidFill>
                <a:srgbClr val="3CA3E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30422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PpFooter">
            <a:extLst>
              <a:ext uri="{FF2B5EF4-FFF2-40B4-BE49-F238E27FC236}">
                <a16:creationId xmlns:a16="http://schemas.microsoft.com/office/drawing/2014/main" id="{592844D0-45B4-4AD8-A0A3-995E7BA459D1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-1" y="6225394"/>
            <a:ext cx="1155258" cy="414893"/>
            <a:chOff x="-1" y="6416675"/>
            <a:chExt cx="1229052" cy="441325"/>
          </a:xfrm>
        </p:grpSpPr>
        <p:sp>
          <p:nvSpPr>
            <p:cNvPr id="8" name="PpFooter">
              <a:extLst>
                <a:ext uri="{FF2B5EF4-FFF2-40B4-BE49-F238E27FC236}">
                  <a16:creationId xmlns:a16="http://schemas.microsoft.com/office/drawing/2014/main" id="{3811FE2C-F4C3-42BF-A394-5DCBACE4206D}"/>
                </a:ext>
              </a:extLst>
            </p:cNvPr>
            <p:cNvSpPr txBox="1"/>
            <p:nvPr/>
          </p:nvSpPr>
          <p:spPr>
            <a:xfrm>
              <a:off x="582705" y="6573838"/>
              <a:ext cx="646346" cy="16369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ID" sz="1000" dirty="0">
                  <a:solidFill>
                    <a:srgbClr val="3CA3E1"/>
                  </a:solidFill>
                  <a:latin typeface="Cronos Pro" panose="020C0502030403020304" pitchFamily="34" charset="0"/>
                </a:rPr>
                <a:t>PUC MINAS</a:t>
              </a:r>
              <a:endParaRPr lang="en-ID" sz="1100" b="1" dirty="0">
                <a:solidFill>
                  <a:srgbClr val="3CA3E1"/>
                </a:solidFill>
                <a:latin typeface="Cronos Pro" panose="020C0502030403020304" pitchFamily="34" charset="0"/>
              </a:endParaRPr>
            </a:p>
          </p:txBody>
        </p:sp>
        <p:sp>
          <p:nvSpPr>
            <p:cNvPr id="10" name="Rectangle 4">
              <a:extLst>
                <a:ext uri="{FF2B5EF4-FFF2-40B4-BE49-F238E27FC236}">
                  <a16:creationId xmlns:a16="http://schemas.microsoft.com/office/drawing/2014/main" id="{3C21BAF9-7ABA-4E7F-A874-CB3124EA7669}"/>
                </a:ext>
              </a:extLst>
            </p:cNvPr>
            <p:cNvSpPr/>
            <p:nvPr/>
          </p:nvSpPr>
          <p:spPr bwMode="auto">
            <a:xfrm>
              <a:off x="-1" y="6416675"/>
              <a:ext cx="471204" cy="441325"/>
            </a:xfrm>
            <a:prstGeom prst="rect">
              <a:avLst/>
            </a:prstGeom>
            <a:solidFill>
              <a:srgbClr val="74CB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ID" sz="1224">
                <a:solidFill>
                  <a:schemeClr val="bg1"/>
                </a:solidFill>
              </a:endParaRPr>
            </a:p>
          </p:txBody>
        </p:sp>
      </p:grpSp>
      <p:sp>
        <p:nvSpPr>
          <p:cNvPr id="2" name="CaixaDeTexto 1">
            <a:extLst>
              <a:ext uri="{FF2B5EF4-FFF2-40B4-BE49-F238E27FC236}">
                <a16:creationId xmlns:a16="http://schemas.microsoft.com/office/drawing/2014/main" id="{0ABD95D8-6346-31AF-DBB8-A4F788D6CFF6}"/>
              </a:ext>
            </a:extLst>
          </p:cNvPr>
          <p:cNvSpPr txBox="1"/>
          <p:nvPr userDrawn="1"/>
        </p:nvSpPr>
        <p:spPr>
          <a:xfrm>
            <a:off x="4398" y="6157701"/>
            <a:ext cx="39600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fld id="{3498DD92-5B1E-48F6-B4B8-2397524B08AA}" type="slidenum">
              <a:rPr lang="pt-BR" sz="1400" smtClean="0">
                <a:solidFill>
                  <a:srgbClr val="3CA3E1"/>
                </a:solidFill>
              </a:rPr>
              <a:pPr algn="ctr"/>
              <a:t>‹nº›</a:t>
            </a:fld>
            <a:endParaRPr lang="pt-BR" sz="1400" dirty="0">
              <a:solidFill>
                <a:srgbClr val="3CA3E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13424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145240" y="4569151"/>
            <a:ext cx="5901518" cy="1362075"/>
          </a:xfrm>
        </p:spPr>
        <p:txBody>
          <a:bodyPr lIns="90000" tIns="46800" anchor="ctr" anchorCtr="0"/>
          <a:lstStyle>
            <a:lvl1pPr algn="ctr">
              <a:defRPr sz="4553" b="1" cap="all"/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3145240" y="3068961"/>
            <a:ext cx="5901519" cy="1500187"/>
          </a:xfrm>
        </p:spPr>
        <p:txBody>
          <a:bodyPr lIns="90000" tIns="46800" anchor="b"/>
          <a:lstStyle>
            <a:lvl1pPr marL="0" indent="0" algn="ctr">
              <a:buNone/>
              <a:defRPr sz="2277">
                <a:solidFill>
                  <a:schemeClr val="tx1">
                    <a:tint val="75000"/>
                  </a:schemeClr>
                </a:solidFill>
              </a:defRPr>
            </a:lvl1pPr>
            <a:lvl2pPr marL="520431" indent="0">
              <a:buNone/>
              <a:defRPr sz="2049">
                <a:solidFill>
                  <a:schemeClr val="tx1">
                    <a:tint val="75000"/>
                  </a:schemeClr>
                </a:solidFill>
              </a:defRPr>
            </a:lvl2pPr>
            <a:lvl3pPr marL="1040862" indent="0">
              <a:buNone/>
              <a:defRPr sz="1821">
                <a:solidFill>
                  <a:schemeClr val="tx1">
                    <a:tint val="75000"/>
                  </a:schemeClr>
                </a:solidFill>
              </a:defRPr>
            </a:lvl3pPr>
            <a:lvl4pPr marL="1561292" indent="0">
              <a:buNone/>
              <a:defRPr sz="1594">
                <a:solidFill>
                  <a:schemeClr val="tx1">
                    <a:tint val="75000"/>
                  </a:schemeClr>
                </a:solidFill>
              </a:defRPr>
            </a:lvl4pPr>
            <a:lvl5pPr marL="2081723" indent="0">
              <a:buNone/>
              <a:defRPr sz="1594">
                <a:solidFill>
                  <a:schemeClr val="tx1">
                    <a:tint val="75000"/>
                  </a:schemeClr>
                </a:solidFill>
              </a:defRPr>
            </a:lvl5pPr>
            <a:lvl6pPr marL="2602154" indent="0">
              <a:buNone/>
              <a:defRPr sz="1594">
                <a:solidFill>
                  <a:schemeClr val="tx1">
                    <a:tint val="75000"/>
                  </a:schemeClr>
                </a:solidFill>
              </a:defRPr>
            </a:lvl6pPr>
            <a:lvl7pPr marL="3122585" indent="0">
              <a:buNone/>
              <a:defRPr sz="1594">
                <a:solidFill>
                  <a:schemeClr val="tx1">
                    <a:tint val="75000"/>
                  </a:schemeClr>
                </a:solidFill>
              </a:defRPr>
            </a:lvl7pPr>
            <a:lvl8pPr marL="3643015" indent="0">
              <a:buNone/>
              <a:defRPr sz="1594">
                <a:solidFill>
                  <a:schemeClr val="tx1">
                    <a:tint val="75000"/>
                  </a:schemeClr>
                </a:solidFill>
              </a:defRPr>
            </a:lvl8pPr>
            <a:lvl9pPr marL="4163446" indent="0">
              <a:buNone/>
              <a:defRPr sz="159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dirty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2F8BE-93B8-4E97-8EFC-F1EDF9C57694}" type="datetime1">
              <a:rPr lang="pt-BR" smtClean="0"/>
              <a:t>30/01/2026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E2FF6-93F7-41BC-B57B-70780702280D}" type="slidenum">
              <a:rPr lang="pt-BR" smtClean="0"/>
              <a:t>‹nº›</a:t>
            </a:fld>
            <a:endParaRPr lang="pt-BR"/>
          </a:p>
        </p:txBody>
      </p:sp>
      <p:cxnSp>
        <p:nvCxnSpPr>
          <p:cNvPr id="8" name="Conector reto 7"/>
          <p:cNvCxnSpPr/>
          <p:nvPr userDrawn="1"/>
        </p:nvCxnSpPr>
        <p:spPr>
          <a:xfrm>
            <a:off x="1014137" y="5319439"/>
            <a:ext cx="1967173" cy="0"/>
          </a:xfrm>
          <a:prstGeom prst="line">
            <a:avLst/>
          </a:prstGeom>
          <a:ln>
            <a:solidFill>
              <a:srgbClr val="4C71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/>
          <p:cNvCxnSpPr/>
          <p:nvPr userDrawn="1"/>
        </p:nvCxnSpPr>
        <p:spPr>
          <a:xfrm>
            <a:off x="9210689" y="5319439"/>
            <a:ext cx="1967173" cy="0"/>
          </a:xfrm>
          <a:prstGeom prst="line">
            <a:avLst/>
          </a:prstGeom>
          <a:ln>
            <a:solidFill>
              <a:srgbClr val="4C71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65687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 lIns="108000" tIns="72000" rIns="108000"/>
          <a:lstStyle>
            <a:lvl1pPr>
              <a:lnSpc>
                <a:spcPct val="100000"/>
              </a:lnSpc>
              <a:spcBef>
                <a:spcPts val="683"/>
              </a:spcBef>
              <a:defRPr sz="3643"/>
            </a:lvl1pPr>
            <a:lvl2pPr>
              <a:lnSpc>
                <a:spcPct val="100000"/>
              </a:lnSpc>
              <a:spcBef>
                <a:spcPts val="683"/>
              </a:spcBef>
              <a:defRPr/>
            </a:lvl2pPr>
            <a:lvl3pPr>
              <a:lnSpc>
                <a:spcPct val="100000"/>
              </a:lnSpc>
              <a:spcBef>
                <a:spcPts val="683"/>
              </a:spcBef>
              <a:defRPr/>
            </a:lvl3pPr>
            <a:lvl4pPr>
              <a:lnSpc>
                <a:spcPct val="100000"/>
              </a:lnSpc>
              <a:spcBef>
                <a:spcPts val="683"/>
              </a:spcBef>
              <a:defRPr/>
            </a:lvl4pPr>
            <a:lvl5pPr>
              <a:lnSpc>
                <a:spcPct val="100000"/>
              </a:lnSpc>
              <a:spcBef>
                <a:spcPts val="683"/>
              </a:spcBef>
              <a:defRPr/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7D031-D630-4BC6-BC2B-337A831CD87A}" type="datetime1">
              <a:rPr lang="pt-BR" smtClean="0"/>
              <a:t>30/01/2026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554966" y="6506771"/>
            <a:ext cx="2270936" cy="365125"/>
          </a:xfrm>
        </p:spPr>
        <p:txBody>
          <a:bodyPr/>
          <a:lstStyle/>
          <a:p>
            <a:fld id="{E21E2FF6-93F7-41BC-B57B-70780702280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485913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19732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56713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theme" Target="../theme/theme1.xml"/><Relationship Id="rId7" Type="http://schemas.openxmlformats.org/officeDocument/2006/relationships/image" Target="../media/image4.sv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jpg"/><Relationship Id="rId9" Type="http://schemas.openxmlformats.org/officeDocument/2006/relationships/image" Target="../media/image6.sv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7" Type="http://schemas.openxmlformats.org/officeDocument/2006/relationships/image" Target="../media/image7.jpg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7.xml"/><Relationship Id="rId4" Type="http://schemas.openxmlformats.org/officeDocument/2006/relationships/slideLayout" Target="../slideLayouts/slideLayout6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8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jpg"/><Relationship Id="rId7" Type="http://schemas.openxmlformats.org/officeDocument/2006/relationships/image" Target="../media/image12.sv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413BE60C-4F50-4749-84D4-A250A2FEDB7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88389" cy="6858000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A37BE1F7-6D6E-4A43-9207-6B3CE92E50C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740" t="3691" r="2018" b="59006"/>
          <a:stretch/>
        </p:blipFill>
        <p:spPr>
          <a:xfrm>
            <a:off x="8531051" y="-163761"/>
            <a:ext cx="3476731" cy="3139731"/>
          </a:xfrm>
          <a:prstGeom prst="rect">
            <a:avLst/>
          </a:prstGeom>
        </p:spPr>
      </p:pic>
      <p:sp>
        <p:nvSpPr>
          <p:cNvPr id="12" name="Retângulo 11">
            <a:extLst>
              <a:ext uri="{FF2B5EF4-FFF2-40B4-BE49-F238E27FC236}">
                <a16:creationId xmlns:a16="http://schemas.microsoft.com/office/drawing/2014/main" id="{FFADEAFF-EEAF-4BD1-82B8-65D4D688687D}"/>
              </a:ext>
            </a:extLst>
          </p:cNvPr>
          <p:cNvSpPr/>
          <p:nvPr userDrawn="1"/>
        </p:nvSpPr>
        <p:spPr>
          <a:xfrm>
            <a:off x="12192000" y="0"/>
            <a:ext cx="1213449" cy="2812211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" name="Gráfico 9">
            <a:extLst>
              <a:ext uri="{FF2B5EF4-FFF2-40B4-BE49-F238E27FC236}">
                <a16:creationId xmlns:a16="http://schemas.microsoft.com/office/drawing/2014/main" id="{D4670863-8AB6-459A-B0E6-3162D6964899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92630" y="5438751"/>
            <a:ext cx="739013" cy="434512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435FC32D-1CE4-41CE-A75C-6BFBE2888ED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b="8323"/>
          <a:stretch/>
        </p:blipFill>
        <p:spPr>
          <a:xfrm>
            <a:off x="10370858" y="563666"/>
            <a:ext cx="859397" cy="1219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9229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9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m 13">
            <a:extLst>
              <a:ext uri="{FF2B5EF4-FFF2-40B4-BE49-F238E27FC236}">
                <a16:creationId xmlns:a16="http://schemas.microsoft.com/office/drawing/2014/main" id="{4453D851-AA9E-4435-A07A-01756CD65E63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0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7909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87" r:id="rId2"/>
    <p:sldLayoutId id="2147483688" r:id="rId3"/>
    <p:sldLayoutId id="2147483691" r:id="rId4"/>
    <p:sldLayoutId id="2147483692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27855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FDBB3C98-8E1A-47A9-A8B4-CE33C88BB9D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0032"/>
          </a:xfrm>
          <a:prstGeom prst="rect">
            <a:avLst/>
          </a:prstGeom>
        </p:spPr>
      </p:pic>
      <p:pic>
        <p:nvPicPr>
          <p:cNvPr id="5" name="Gráfico 4">
            <a:extLst>
              <a:ext uri="{FF2B5EF4-FFF2-40B4-BE49-F238E27FC236}">
                <a16:creationId xmlns:a16="http://schemas.microsoft.com/office/drawing/2014/main" id="{01A37BB3-0E46-4CA1-8E41-A278A1637A5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7232"/>
          <a:stretch/>
        </p:blipFill>
        <p:spPr>
          <a:xfrm>
            <a:off x="5072287" y="1512942"/>
            <a:ext cx="2047426" cy="2932619"/>
          </a:xfrm>
          <a:prstGeom prst="rect">
            <a:avLst/>
          </a:prstGeom>
        </p:spPr>
      </p:pic>
      <p:pic>
        <p:nvPicPr>
          <p:cNvPr id="7" name="Gráfico 6">
            <a:extLst>
              <a:ext uri="{FF2B5EF4-FFF2-40B4-BE49-F238E27FC236}">
                <a16:creationId xmlns:a16="http://schemas.microsoft.com/office/drawing/2014/main" id="{1100C50E-1DA0-41B4-9816-4E77DE3A3A3F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736692" y="592026"/>
            <a:ext cx="834735" cy="490794"/>
          </a:xfrm>
          <a:prstGeom prst="rect">
            <a:avLst/>
          </a:prstGeom>
        </p:spPr>
      </p:pic>
      <p:pic>
        <p:nvPicPr>
          <p:cNvPr id="8" name="Gráfico 7">
            <a:extLst>
              <a:ext uri="{FF2B5EF4-FFF2-40B4-BE49-F238E27FC236}">
                <a16:creationId xmlns:a16="http://schemas.microsoft.com/office/drawing/2014/main" id="{F180DFD4-6B82-47B3-BA00-6ABD21011987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6729" y="5760979"/>
            <a:ext cx="834735" cy="490794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51843510-8E25-4E72-A3BF-02F9BD0BE3AF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5367" y="5139077"/>
            <a:ext cx="8461265" cy="612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2298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DC8324-C8D5-4CA4-E70B-2380989F6B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0626" y="2587161"/>
            <a:ext cx="9139548" cy="1886487"/>
          </a:xfrm>
        </p:spPr>
        <p:txBody>
          <a:bodyPr>
            <a:noAutofit/>
          </a:bodyPr>
          <a:lstStyle/>
          <a:p>
            <a:r>
              <a:rPr lang="pt-BR" sz="4400" dirty="0"/>
              <a:t>Avaliação da recomendação</a:t>
            </a:r>
            <a:br>
              <a:rPr lang="pt-BR" sz="4400" dirty="0"/>
            </a:br>
            <a:r>
              <a:rPr lang="pt-BR" sz="4400" dirty="0"/>
              <a:t>colaborativa</a:t>
            </a:r>
          </a:p>
        </p:txBody>
      </p:sp>
    </p:spTree>
    <p:extLst>
      <p:ext uri="{BB962C8B-B14F-4D97-AF65-F5344CB8AC3E}">
        <p14:creationId xmlns:p14="http://schemas.microsoft.com/office/powerpoint/2010/main" val="5347959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8E98853-AAC1-9751-3A54-363B334A25C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7688" y="1855788"/>
            <a:ext cx="11071225" cy="4320000"/>
          </a:xfrm>
        </p:spPr>
        <p:txBody>
          <a:bodyPr>
            <a:normAutofit/>
          </a:bodyPr>
          <a:lstStyle/>
          <a:p>
            <a:r>
              <a:rPr lang="pt-BR" dirty="0"/>
              <a:t>Diferenciar as métricas de avaliação para </a:t>
            </a:r>
            <a:r>
              <a:rPr lang="pt-BR" b="1" dirty="0"/>
              <a:t>modelos baseados em </a:t>
            </a:r>
            <a:r>
              <a:rPr lang="pt-BR" b="1" i="1" dirty="0"/>
              <a:t>rating</a:t>
            </a:r>
            <a:r>
              <a:rPr lang="pt-BR" b="1" dirty="0"/>
              <a:t> </a:t>
            </a:r>
            <a:r>
              <a:rPr lang="pt-BR" dirty="0"/>
              <a:t>(estimativa de nota) e </a:t>
            </a:r>
            <a:r>
              <a:rPr lang="pt-BR" b="1" dirty="0"/>
              <a:t>modelos baseados em </a:t>
            </a:r>
            <a:r>
              <a:rPr lang="pt-BR" b="1" i="1" dirty="0"/>
              <a:t>ranking</a:t>
            </a:r>
            <a:r>
              <a:rPr lang="pt-BR" b="1" dirty="0"/>
              <a:t> </a:t>
            </a:r>
            <a:r>
              <a:rPr lang="pt-BR" dirty="0"/>
              <a:t>(ordem de relevância)</a:t>
            </a:r>
          </a:p>
          <a:p>
            <a:r>
              <a:rPr lang="pt-BR" dirty="0"/>
              <a:t>Calcular o </a:t>
            </a:r>
            <a:r>
              <a:rPr lang="pt-BR" b="1" dirty="0"/>
              <a:t>erro da predição </a:t>
            </a:r>
            <a:r>
              <a:rPr lang="pt-BR" dirty="0"/>
              <a:t>de sistemas de recomendação utilizando as métricas MAE (Erro Absoluto Médio) e RMSE (Raiz do Erro Quadrático Médio)</a:t>
            </a:r>
          </a:p>
          <a:p>
            <a:r>
              <a:rPr lang="pt-BR" dirty="0"/>
              <a:t>Aplicar os conceitos de </a:t>
            </a:r>
            <a:r>
              <a:rPr lang="pt-BR" b="1" dirty="0"/>
              <a:t>precisão </a:t>
            </a:r>
            <a:r>
              <a:rPr lang="pt-BR" dirty="0"/>
              <a:t>e</a:t>
            </a:r>
            <a:r>
              <a:rPr lang="pt-BR" b="1" dirty="0"/>
              <a:t> </a:t>
            </a:r>
            <a:r>
              <a:rPr lang="pt-BR" b="1" dirty="0" err="1"/>
              <a:t>revocação</a:t>
            </a:r>
            <a:r>
              <a:rPr lang="pt-BR" b="1" dirty="0"/>
              <a:t> </a:t>
            </a:r>
            <a:r>
              <a:rPr lang="pt-BR" dirty="0"/>
              <a:t>para medir a eficácia das recomendações feitas para um usuário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D1D2D6F-B163-C583-603D-CA4D4D9A3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747" y="706864"/>
            <a:ext cx="11296507" cy="646331"/>
          </a:xfrm>
        </p:spPr>
        <p:txBody>
          <a:bodyPr/>
          <a:lstStyle/>
          <a:p>
            <a:r>
              <a:rPr lang="pt-BR" dirty="0"/>
              <a:t>Objetivos de Aprendizagem</a:t>
            </a:r>
          </a:p>
        </p:txBody>
      </p:sp>
    </p:spTree>
    <p:extLst>
      <p:ext uri="{BB962C8B-B14F-4D97-AF65-F5344CB8AC3E}">
        <p14:creationId xmlns:p14="http://schemas.microsoft.com/office/powerpoint/2010/main" val="34491309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DFD737E6-FA01-D2DE-A756-0D7145649FFB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pt-BR" dirty="0"/>
              <a:t>Modelos de recomendação colaborativa procuram estimar a relevância das sugestões para um usuário</a:t>
            </a:r>
          </a:p>
          <a:p>
            <a:r>
              <a:rPr lang="pt-BR" dirty="0"/>
              <a:t>Existem dois tipos de modelos</a:t>
            </a:r>
          </a:p>
          <a:p>
            <a:pPr lvl="1"/>
            <a:r>
              <a:rPr lang="pt-BR" b="1" dirty="0"/>
              <a:t>Baseados em rating</a:t>
            </a:r>
            <a:r>
              <a:rPr lang="pt-BR" dirty="0"/>
              <a:t>, que estimam a avaliação de um usuário para um item</a:t>
            </a:r>
          </a:p>
          <a:p>
            <a:pPr lvl="1"/>
            <a:r>
              <a:rPr lang="pt-BR" b="1" dirty="0"/>
              <a:t>Baseados em ranking</a:t>
            </a:r>
            <a:r>
              <a:rPr lang="pt-BR" dirty="0"/>
              <a:t>, que estimam a ordem de relevância das sugestões</a:t>
            </a:r>
          </a:p>
          <a:p>
            <a:r>
              <a:rPr lang="pt-BR" dirty="0"/>
              <a:t>Como saber se a predição de um modelo foi boa?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7118371B-57CC-2BFC-60FD-CE988ECC5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Avaliação das predições</a:t>
            </a:r>
          </a:p>
        </p:txBody>
      </p:sp>
    </p:spTree>
    <p:extLst>
      <p:ext uri="{BB962C8B-B14F-4D97-AF65-F5344CB8AC3E}">
        <p14:creationId xmlns:p14="http://schemas.microsoft.com/office/powerpoint/2010/main" val="37371976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>
            <a:extLst>
              <a:ext uri="{FF2B5EF4-FFF2-40B4-BE49-F238E27FC236}">
                <a16:creationId xmlns:a16="http://schemas.microsoft.com/office/drawing/2014/main" id="{368F1E07-8450-C501-6038-E0945BAE6A72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40747" y="573024"/>
            <a:ext cx="10510506" cy="5737669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0FE46A0E-4FDD-771F-8E44-2708BE59BE2A}"/>
              </a:ext>
            </a:extLst>
          </p:cNvPr>
          <p:cNvSpPr txBox="1"/>
          <p:nvPr/>
        </p:nvSpPr>
        <p:spPr>
          <a:xfrm>
            <a:off x="3883998" y="6275389"/>
            <a:ext cx="44240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solidFill>
                  <a:schemeClr val="bg1">
                    <a:lumMod val="50000"/>
                  </a:schemeClr>
                </a:solidFill>
              </a:rPr>
              <a:t>Fonte: Imagem gerada por IA (Google Gemini, 2025)</a:t>
            </a:r>
          </a:p>
        </p:txBody>
      </p:sp>
    </p:spTree>
    <p:extLst>
      <p:ext uri="{BB962C8B-B14F-4D97-AF65-F5344CB8AC3E}">
        <p14:creationId xmlns:p14="http://schemas.microsoft.com/office/powerpoint/2010/main" val="14539902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sz="quarter" idx="11"/>
          </p:nvPr>
        </p:nvSpPr>
        <p:spPr>
          <a:xfrm>
            <a:off x="547688" y="1855788"/>
            <a:ext cx="11071225" cy="4320000"/>
          </a:xfrm>
        </p:spPr>
        <p:txBody>
          <a:bodyPr/>
          <a:lstStyle/>
          <a:p>
            <a:r>
              <a:rPr lang="pt-BR" dirty="0"/>
              <a:t>Para avaliação dos modelos de recomendação baseados em ratings, geralmente compara-se a predição do modelo com o valor real esperado (avaliação conhecida)</a:t>
            </a:r>
          </a:p>
          <a:p>
            <a:r>
              <a:rPr lang="pt-BR" dirty="0"/>
              <a:t>Nesta comparação, avalia-se alguma métrica baseada no erro da predição</a:t>
            </a:r>
          </a:p>
          <a:p>
            <a:pPr lvl="1"/>
            <a:r>
              <a:rPr lang="pt-BR" dirty="0"/>
              <a:t>Diferença entre o valor da avaliação predita com a avaliação esperada</a:t>
            </a:r>
          </a:p>
          <a:p>
            <a:pPr lvl="1"/>
            <a:r>
              <a:rPr lang="pt-BR" dirty="0"/>
              <a:t>Exemplo:</a:t>
            </a:r>
          </a:p>
          <a:p>
            <a:pPr lvl="2"/>
            <a:r>
              <a:rPr lang="pt-BR" dirty="0"/>
              <a:t>o modelo estimou avaliação 4.0 e a avaliação real esperada deveria ser 4.2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47747" y="706864"/>
            <a:ext cx="11296507" cy="646331"/>
          </a:xfrm>
        </p:spPr>
        <p:txBody>
          <a:bodyPr/>
          <a:lstStyle/>
          <a:p>
            <a:r>
              <a:rPr lang="pt-BR" noProof="0" dirty="0"/>
              <a:t>Avaliação baseada em ratings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757225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sz="quarter" idx="11"/>
          </p:nvPr>
        </p:nvSpPr>
        <p:spPr>
          <a:xfrm>
            <a:off x="547688" y="1855788"/>
            <a:ext cx="11071225" cy="4320000"/>
          </a:xfrm>
        </p:spPr>
        <p:txBody>
          <a:bodyPr/>
          <a:lstStyle/>
          <a:p>
            <a:r>
              <a:rPr lang="pt-BR" dirty="0"/>
              <a:t>Erro absoluto médio (MAE)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r>
              <a:rPr lang="pt-BR" dirty="0"/>
              <a:t>Raiz do erro quadrático médio (RMSE)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47747" y="706864"/>
            <a:ext cx="11296507" cy="646331"/>
          </a:xfrm>
        </p:spPr>
        <p:txBody>
          <a:bodyPr>
            <a:normAutofit/>
          </a:bodyPr>
          <a:lstStyle/>
          <a:p>
            <a:pPr algn="l"/>
            <a:r>
              <a:rPr lang="pt-BR" noProof="0" dirty="0"/>
              <a:t>Avaliação baseada em ratings</a:t>
            </a:r>
            <a:endParaRPr lang="pt-BR" dirty="0"/>
          </a:p>
        </p:txBody>
      </p:sp>
      <p:graphicFrame>
        <p:nvGraphicFramePr>
          <p:cNvPr id="34" name="Tabel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6458689"/>
              </p:ext>
            </p:extLst>
          </p:nvPr>
        </p:nvGraphicFramePr>
        <p:xfrm>
          <a:off x="5961888" y="1561975"/>
          <a:ext cx="4206240" cy="2167680"/>
        </p:xfrm>
        <a:graphic>
          <a:graphicData uri="http://schemas.openxmlformats.org/drawingml/2006/table">
            <a:tbl>
              <a:tblPr firstRow="1" bandRow="1"/>
              <a:tblGrid>
                <a:gridCol w="701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1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1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1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01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01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08400"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endParaRPr lang="en-US" sz="1400" baseline="0" dirty="0">
                        <a:latin typeface="Calibri" pitchFamily="34" charset="0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400" baseline="0" dirty="0">
                          <a:latin typeface="Calibri" pitchFamily="34" charset="0"/>
                        </a:rPr>
                        <a:t>Item1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400" baseline="0" dirty="0">
                          <a:latin typeface="Calibri" pitchFamily="34" charset="0"/>
                        </a:rPr>
                        <a:t>Item2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400" baseline="0" dirty="0">
                          <a:latin typeface="Calibri" pitchFamily="34" charset="0"/>
                        </a:rPr>
                        <a:t>Item3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400" baseline="0" dirty="0">
                          <a:latin typeface="Calibri" pitchFamily="34" charset="0"/>
                        </a:rPr>
                        <a:t>Item4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400" baseline="0" dirty="0">
                          <a:latin typeface="Calibri" pitchFamily="34" charset="0"/>
                        </a:rPr>
                        <a:t>Item5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177"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400" b="1" baseline="0" dirty="0">
                          <a:latin typeface="Calibri" pitchFamily="34" charset="0"/>
                        </a:rPr>
                        <a:t>Alice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800" baseline="0" dirty="0">
                          <a:latin typeface="Calibri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800" baseline="0" dirty="0">
                          <a:latin typeface="Calibri" pitchFamily="34" charset="0"/>
                        </a:rPr>
                        <a:t>3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800" baseline="0" dirty="0">
                          <a:latin typeface="Calibri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800" b="1" baseline="0" dirty="0">
                          <a:solidFill>
                            <a:srgbClr val="C00000"/>
                          </a:solidFill>
                          <a:latin typeface="Calibri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Calibri" pitchFamily="34" charset="0"/>
                        </a:rPr>
                        <a:t>?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8400"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400" b="1" baseline="0" dirty="0">
                          <a:latin typeface="Calibri" pitchFamily="34" charset="0"/>
                        </a:rPr>
                        <a:t>User1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800" baseline="0" dirty="0">
                          <a:latin typeface="Calibri" pitchFamily="34" charset="0"/>
                        </a:rPr>
                        <a:t>3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800" baseline="0" dirty="0">
                          <a:latin typeface="Calibri" pitchFamily="34" charset="0"/>
                        </a:rPr>
                        <a:t>1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800" baseline="0" dirty="0">
                          <a:latin typeface="Calibri" pitchFamily="34" charset="0"/>
                        </a:rPr>
                        <a:t>2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800" baseline="0" dirty="0">
                          <a:latin typeface="Calibri" pitchFamily="34" charset="0"/>
                        </a:rPr>
                        <a:t>3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800" b="1" baseline="0" dirty="0">
                          <a:solidFill>
                            <a:srgbClr val="C00000"/>
                          </a:solidFill>
                          <a:latin typeface="Calibri" pitchFamily="34" charset="0"/>
                        </a:rPr>
                        <a:t>3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8400"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400" b="1" baseline="0" dirty="0">
                          <a:latin typeface="Calibri" pitchFamily="34" charset="0"/>
                        </a:rPr>
                        <a:t>User2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800" baseline="0" dirty="0">
                          <a:latin typeface="Calibri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800" baseline="0" dirty="0">
                          <a:latin typeface="Calibri" pitchFamily="34" charset="0"/>
                        </a:rPr>
                        <a:t>3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800" baseline="0" dirty="0">
                          <a:latin typeface="Calibri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800" baseline="0" dirty="0">
                          <a:latin typeface="Calibri" pitchFamily="34" charset="0"/>
                        </a:rPr>
                        <a:t>3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800" b="0" baseline="0" dirty="0">
                          <a:solidFill>
                            <a:schemeClr val="tx1"/>
                          </a:solidFill>
                          <a:latin typeface="Calibri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8400"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400" b="1" baseline="0" dirty="0">
                          <a:latin typeface="Calibri" pitchFamily="34" charset="0"/>
                        </a:rPr>
                        <a:t>User3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800" baseline="0" dirty="0">
                          <a:latin typeface="Calibri" pitchFamily="34" charset="0"/>
                        </a:rPr>
                        <a:t>3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800" baseline="0" dirty="0">
                          <a:latin typeface="Calibri" pitchFamily="34" charset="0"/>
                        </a:rPr>
                        <a:t>3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800" baseline="0" dirty="0">
                          <a:latin typeface="Calibri" pitchFamily="34" charset="0"/>
                        </a:rPr>
                        <a:t>1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800" baseline="0" dirty="0">
                          <a:latin typeface="Calibri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800" baseline="0" dirty="0">
                          <a:latin typeface="Calibri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8400"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400" b="1" baseline="0" dirty="0">
                          <a:latin typeface="Calibri" pitchFamily="34" charset="0"/>
                        </a:rPr>
                        <a:t>User4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800" baseline="0" dirty="0">
                          <a:latin typeface="Calibri" pitchFamily="34" charset="0"/>
                        </a:rPr>
                        <a:t>1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800" baseline="0" dirty="0">
                          <a:latin typeface="Calibri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800" baseline="0" dirty="0">
                          <a:latin typeface="Calibri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800" baseline="0" dirty="0">
                          <a:latin typeface="Calibri" pitchFamily="34" charset="0"/>
                        </a:rPr>
                        <a:t>2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800" baseline="0" dirty="0">
                          <a:latin typeface="Calibri" pitchFamily="34" charset="0"/>
                        </a:rPr>
                        <a:t>1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5" name="Texto Explicativo em Elipse 34"/>
          <p:cNvSpPr/>
          <p:nvPr/>
        </p:nvSpPr>
        <p:spPr>
          <a:xfrm>
            <a:off x="9840416" y="305135"/>
            <a:ext cx="2169056" cy="1152128"/>
          </a:xfrm>
          <a:prstGeom prst="wedgeEllipseCallout">
            <a:avLst>
              <a:gd name="adj1" fmla="val -77285"/>
              <a:gd name="adj2" fmla="val 95409"/>
            </a:avLst>
          </a:prstGeom>
          <a:solidFill>
            <a:schemeClr val="bg2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Avaliação real seria </a:t>
            </a:r>
            <a:r>
              <a:rPr lang="pt-BR" b="1" i="1" dirty="0">
                <a:solidFill>
                  <a:srgbClr val="C00000"/>
                </a:solidFill>
              </a:rPr>
              <a:t>4</a:t>
            </a:r>
            <a:r>
              <a:rPr lang="pt-BR" dirty="0"/>
              <a:t> e a predita </a:t>
            </a:r>
            <a:r>
              <a:rPr lang="pt-BR" b="1" i="1" dirty="0"/>
              <a:t>3</a:t>
            </a:r>
          </a:p>
        </p:txBody>
      </p:sp>
      <p:pic>
        <p:nvPicPr>
          <p:cNvPr id="11" name="Picture 1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383008" y="2696728"/>
            <a:ext cx="3237664" cy="1204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389128" y="4957594"/>
            <a:ext cx="3272919" cy="13851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CaixaDeTexto 12"/>
          <p:cNvSpPr txBox="1"/>
          <p:nvPr/>
        </p:nvSpPr>
        <p:spPr>
          <a:xfrm>
            <a:off x="7315552" y="4151594"/>
            <a:ext cx="469392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i="1" dirty="0">
                <a:solidFill>
                  <a:schemeClr val="accent1">
                    <a:lumMod val="50000"/>
                  </a:schemeClr>
                </a:solidFill>
              </a:rPr>
              <a:t>MAE</a:t>
            </a:r>
            <a:r>
              <a:rPr lang="pt-BR" sz="2400" dirty="0">
                <a:solidFill>
                  <a:schemeClr val="accent1">
                    <a:lumMod val="50000"/>
                  </a:schemeClr>
                </a:solidFill>
              </a:rPr>
              <a:t> = ( | 3 - 4 | + | 5 - 3 | ) / 2</a:t>
            </a:r>
          </a:p>
          <a:p>
            <a:r>
              <a:rPr lang="pt-BR" sz="2400" dirty="0">
                <a:solidFill>
                  <a:schemeClr val="accent1">
                    <a:lumMod val="50000"/>
                  </a:schemeClr>
                </a:solidFill>
              </a:rPr>
              <a:t>          = (1 + 2) / 2 = 1.5</a:t>
            </a:r>
          </a:p>
          <a:p>
            <a:endParaRPr lang="pt-BR" sz="2400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pt-BR" sz="2400" b="1" i="1" dirty="0">
                <a:solidFill>
                  <a:schemeClr val="accent1">
                    <a:lumMod val="50000"/>
                  </a:schemeClr>
                </a:solidFill>
              </a:rPr>
              <a:t>RMSE</a:t>
            </a:r>
            <a:r>
              <a:rPr lang="pt-BR" sz="2400" dirty="0">
                <a:solidFill>
                  <a:schemeClr val="accent1">
                    <a:lumMod val="50000"/>
                  </a:schemeClr>
                </a:solidFill>
              </a:rPr>
              <a:t> = </a:t>
            </a:r>
            <a:r>
              <a:rPr lang="pt-BR" sz="2400" i="1" dirty="0" err="1">
                <a:solidFill>
                  <a:schemeClr val="accent1">
                    <a:lumMod val="50000"/>
                  </a:schemeClr>
                </a:solidFill>
              </a:rPr>
              <a:t>sqrt</a:t>
            </a:r>
            <a:r>
              <a:rPr lang="pt-BR" sz="2400" dirty="0">
                <a:solidFill>
                  <a:schemeClr val="accent1">
                    <a:lumMod val="50000"/>
                  </a:schemeClr>
                </a:solidFill>
              </a:rPr>
              <a:t>( ( (3 - 4)</a:t>
            </a:r>
            <a:r>
              <a:rPr lang="pt-BR" sz="2400" baseline="30000" dirty="0">
                <a:solidFill>
                  <a:schemeClr val="accent1">
                    <a:lumMod val="50000"/>
                  </a:schemeClr>
                </a:solidFill>
              </a:rPr>
              <a:t>2</a:t>
            </a:r>
            <a:r>
              <a:rPr lang="pt-BR" sz="2400" dirty="0">
                <a:solidFill>
                  <a:schemeClr val="accent1">
                    <a:lumMod val="50000"/>
                  </a:schemeClr>
                </a:solidFill>
              </a:rPr>
              <a:t> + (5 - 3)</a:t>
            </a:r>
            <a:r>
              <a:rPr lang="pt-BR" sz="2400" baseline="30000" dirty="0">
                <a:solidFill>
                  <a:schemeClr val="accent1">
                    <a:lumMod val="50000"/>
                  </a:schemeClr>
                </a:solidFill>
              </a:rPr>
              <a:t>2</a:t>
            </a:r>
            <a:r>
              <a:rPr lang="pt-BR" sz="2400" dirty="0">
                <a:solidFill>
                  <a:schemeClr val="accent1">
                    <a:lumMod val="50000"/>
                  </a:schemeClr>
                </a:solidFill>
              </a:rPr>
              <a:t> ) / 2 )</a:t>
            </a:r>
          </a:p>
          <a:p>
            <a:r>
              <a:rPr lang="pt-BR" sz="2400" dirty="0">
                <a:solidFill>
                  <a:schemeClr val="accent1">
                    <a:lumMod val="50000"/>
                  </a:schemeClr>
                </a:solidFill>
              </a:rPr>
              <a:t>            = </a:t>
            </a:r>
            <a:r>
              <a:rPr lang="pt-BR" sz="2400" i="1" dirty="0" err="1">
                <a:solidFill>
                  <a:schemeClr val="accent1">
                    <a:lumMod val="50000"/>
                  </a:schemeClr>
                </a:solidFill>
              </a:rPr>
              <a:t>sqrt</a:t>
            </a:r>
            <a:r>
              <a:rPr lang="pt-BR" sz="2400" dirty="0">
                <a:solidFill>
                  <a:schemeClr val="accent1">
                    <a:lumMod val="50000"/>
                  </a:schemeClr>
                </a:solidFill>
              </a:rPr>
              <a:t>( (1 + 4) / 2 ) ) </a:t>
            </a:r>
          </a:p>
          <a:p>
            <a:r>
              <a:rPr lang="pt-BR" sz="2400" dirty="0">
                <a:solidFill>
                  <a:schemeClr val="accent1">
                    <a:lumMod val="50000"/>
                  </a:schemeClr>
                </a:solidFill>
              </a:rPr>
              <a:t>            = </a:t>
            </a:r>
            <a:r>
              <a:rPr lang="pt-BR" sz="2400" i="1" dirty="0" err="1">
                <a:solidFill>
                  <a:schemeClr val="accent1">
                    <a:lumMod val="50000"/>
                  </a:schemeClr>
                </a:solidFill>
              </a:rPr>
              <a:t>sqrt</a:t>
            </a:r>
            <a:r>
              <a:rPr lang="pt-BR" sz="2400" dirty="0">
                <a:solidFill>
                  <a:schemeClr val="accent1">
                    <a:lumMod val="50000"/>
                  </a:schemeClr>
                </a:solidFill>
              </a:rPr>
              <a:t>( 2.5 ) = 1.58</a:t>
            </a:r>
          </a:p>
        </p:txBody>
      </p:sp>
      <p:sp>
        <p:nvSpPr>
          <p:cNvPr id="14" name="Texto Explicativo em Elipse 13"/>
          <p:cNvSpPr/>
          <p:nvPr/>
        </p:nvSpPr>
        <p:spPr>
          <a:xfrm>
            <a:off x="10022944" y="2747847"/>
            <a:ext cx="2169056" cy="1152128"/>
          </a:xfrm>
          <a:prstGeom prst="wedgeEllipseCallout">
            <a:avLst>
              <a:gd name="adj1" fmla="val -49605"/>
              <a:gd name="adj2" fmla="val -69889"/>
            </a:avLst>
          </a:prstGeom>
          <a:solidFill>
            <a:schemeClr val="bg2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Avaliação real seria </a:t>
            </a:r>
            <a:r>
              <a:rPr lang="pt-BR" b="1" i="1" dirty="0">
                <a:solidFill>
                  <a:srgbClr val="C00000"/>
                </a:solidFill>
              </a:rPr>
              <a:t>3</a:t>
            </a:r>
            <a:r>
              <a:rPr lang="pt-BR" dirty="0"/>
              <a:t> e a predita</a:t>
            </a:r>
            <a:r>
              <a:rPr lang="pt-BR" b="1" i="1" dirty="0"/>
              <a:t> 5</a:t>
            </a:r>
          </a:p>
        </p:txBody>
      </p:sp>
    </p:spTree>
    <p:extLst>
      <p:ext uri="{BB962C8B-B14F-4D97-AF65-F5344CB8AC3E}">
        <p14:creationId xmlns:p14="http://schemas.microsoft.com/office/powerpoint/2010/main" val="16467170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m 9">
            <a:extLst>
              <a:ext uri="{FF2B5EF4-FFF2-40B4-BE49-F238E27FC236}">
                <a16:creationId xmlns:a16="http://schemas.microsoft.com/office/drawing/2014/main" id="{0A8EF77D-90C2-3F1B-03BB-240AFC1BB227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24213" y="441960"/>
            <a:ext cx="10943574" cy="5974080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0FC5DC95-13E7-9689-EDFB-93812879CDDB}"/>
              </a:ext>
            </a:extLst>
          </p:cNvPr>
          <p:cNvSpPr txBox="1"/>
          <p:nvPr/>
        </p:nvSpPr>
        <p:spPr>
          <a:xfrm>
            <a:off x="3883998" y="6275389"/>
            <a:ext cx="44240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solidFill>
                  <a:schemeClr val="bg1">
                    <a:lumMod val="50000"/>
                  </a:schemeClr>
                </a:solidFill>
              </a:rPr>
              <a:t>Fonte: Imagem gerada por IA (Google Gemini, 2025)</a:t>
            </a:r>
          </a:p>
        </p:txBody>
      </p:sp>
    </p:spTree>
    <p:extLst>
      <p:ext uri="{BB962C8B-B14F-4D97-AF65-F5344CB8AC3E}">
        <p14:creationId xmlns:p14="http://schemas.microsoft.com/office/powerpoint/2010/main" val="24270035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Conteúdo 5"/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pt-BR" dirty="0"/>
              <a:t>Avaliar a qualidade de um </a:t>
            </a:r>
            <a:r>
              <a:rPr lang="pt-BR" i="1" dirty="0"/>
              <a:t>ranking</a:t>
            </a:r>
            <a:r>
              <a:rPr lang="pt-BR" dirty="0"/>
              <a:t> consiste em associar uma métrica quantitativa a uma lista ordenada de sugestões</a:t>
            </a:r>
          </a:p>
          <a:p>
            <a:pPr lvl="1"/>
            <a:r>
              <a:rPr lang="pt-BR" dirty="0"/>
              <a:t>A métrica deve ser diretamente associada a relevância dos resultados para o usuário</a:t>
            </a:r>
          </a:p>
          <a:p>
            <a:r>
              <a:rPr lang="pt-BR" dirty="0"/>
              <a:t>Para avaliar a qualidade das recomendações deve ser medido o quão bem o </a:t>
            </a:r>
            <a:r>
              <a:rPr lang="pt-BR" i="1" dirty="0"/>
              <a:t>ranking</a:t>
            </a:r>
            <a:r>
              <a:rPr lang="pt-BR" dirty="0"/>
              <a:t> atende à necessidade de informação dos usuários, de acordo com a </a:t>
            </a:r>
            <a:r>
              <a:rPr lang="pt-BR" b="1" dirty="0"/>
              <a:t>relevância</a:t>
            </a:r>
            <a:r>
              <a:rPr lang="pt-BR" dirty="0"/>
              <a:t> estimada</a:t>
            </a:r>
          </a:p>
        </p:txBody>
      </p:sp>
      <p:sp>
        <p:nvSpPr>
          <p:cNvPr id="5" name="Título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Avaliação baseada em </a:t>
            </a:r>
            <a:r>
              <a:rPr lang="pt-BR" i="1" dirty="0"/>
              <a:t>ranking</a:t>
            </a: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D346D466-ACB1-D84A-5554-04DFE599931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799708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D346D466-ACB1-D84A-5554-04DFE599931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98675728-5C1E-F54B-85C2-2FB8B0D8AACD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39742" y="450437"/>
            <a:ext cx="10912515" cy="5957125"/>
          </a:xfrm>
          <a:prstGeom prst="rect">
            <a:avLst/>
          </a:prstGeom>
        </p:spPr>
      </p:pic>
      <p:sp>
        <p:nvSpPr>
          <p:cNvPr id="12" name="CaixaDeTexto 11">
            <a:extLst>
              <a:ext uri="{FF2B5EF4-FFF2-40B4-BE49-F238E27FC236}">
                <a16:creationId xmlns:a16="http://schemas.microsoft.com/office/drawing/2014/main" id="{83CC97A6-9B36-736F-CE8E-5C9C83DB7BFA}"/>
              </a:ext>
            </a:extLst>
          </p:cNvPr>
          <p:cNvSpPr txBox="1"/>
          <p:nvPr/>
        </p:nvSpPr>
        <p:spPr>
          <a:xfrm>
            <a:off x="3883998" y="6275389"/>
            <a:ext cx="44240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solidFill>
                  <a:schemeClr val="bg1">
                    <a:lumMod val="50000"/>
                  </a:schemeClr>
                </a:solidFill>
              </a:rPr>
              <a:t>Fonte: Imagem gerada por IA (Google Gemini, 2025)</a:t>
            </a:r>
          </a:p>
        </p:txBody>
      </p:sp>
    </p:spTree>
    <p:extLst>
      <p:ext uri="{BB962C8B-B14F-4D97-AF65-F5344CB8AC3E}">
        <p14:creationId xmlns:p14="http://schemas.microsoft.com/office/powerpoint/2010/main" val="9686425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pt-BR" dirty="0"/>
              <a:t>Precisão e </a:t>
            </a:r>
            <a:r>
              <a:rPr lang="pt-BR" dirty="0" err="1"/>
              <a:t>Revocação</a:t>
            </a:r>
            <a:endParaRPr lang="pt-BR" dirty="0"/>
          </a:p>
        </p:txBody>
      </p:sp>
      <p:pic>
        <p:nvPicPr>
          <p:cNvPr id="10" name="Imagem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6624" y="2818287"/>
            <a:ext cx="5238750" cy="2400300"/>
          </a:xfrm>
          <a:prstGeom prst="rect">
            <a:avLst/>
          </a:prstGeom>
        </p:spPr>
      </p:pic>
      <p:sp>
        <p:nvSpPr>
          <p:cNvPr id="12" name="Texto Explicativo em Elipse 11"/>
          <p:cNvSpPr/>
          <p:nvPr/>
        </p:nvSpPr>
        <p:spPr>
          <a:xfrm>
            <a:off x="8040216" y="573024"/>
            <a:ext cx="2761896" cy="1703848"/>
          </a:xfrm>
          <a:prstGeom prst="wedgeEllipseCallout">
            <a:avLst>
              <a:gd name="adj1" fmla="val -125786"/>
              <a:gd name="adj2" fmla="val 15104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 dirty="0"/>
              <a:t>Itens relevantes retornados </a:t>
            </a:r>
          </a:p>
          <a:p>
            <a:pPr algn="ctr"/>
            <a:r>
              <a:rPr lang="pt-BR" sz="2400" dirty="0"/>
              <a:t>R </a:t>
            </a:r>
            <a:r>
              <a:rPr lang="ka-GE" sz="2400" dirty="0"/>
              <a:t>Ⴖ</a:t>
            </a:r>
            <a:r>
              <a:rPr lang="pt-BR" sz="2400" dirty="0"/>
              <a:t> A</a:t>
            </a:r>
            <a:endParaRPr lang="pt-BR" sz="2400" baseline="-25000" dirty="0"/>
          </a:p>
        </p:txBody>
      </p:sp>
      <p:sp>
        <p:nvSpPr>
          <p:cNvPr id="13" name="Texto Explicativo em Elipse 12"/>
          <p:cNvSpPr/>
          <p:nvPr/>
        </p:nvSpPr>
        <p:spPr>
          <a:xfrm>
            <a:off x="9408368" y="4437112"/>
            <a:ext cx="2353480" cy="1476008"/>
          </a:xfrm>
          <a:prstGeom prst="wedgeEllipseCallout">
            <a:avLst>
              <a:gd name="adj1" fmla="val -111902"/>
              <a:gd name="adj2" fmla="val -4670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 dirty="0"/>
              <a:t>Itens retornados (A)</a:t>
            </a:r>
            <a:endParaRPr lang="pt-BR" sz="2400" baseline="-25000" dirty="0"/>
          </a:p>
        </p:txBody>
      </p:sp>
      <p:sp>
        <p:nvSpPr>
          <p:cNvPr id="14" name="Texto Explicativo em Elipse 13"/>
          <p:cNvSpPr/>
          <p:nvPr/>
        </p:nvSpPr>
        <p:spPr>
          <a:xfrm>
            <a:off x="646176" y="4869160"/>
            <a:ext cx="2353480" cy="1210086"/>
          </a:xfrm>
          <a:prstGeom prst="wedgeEllipseCallout">
            <a:avLst>
              <a:gd name="adj1" fmla="val 111259"/>
              <a:gd name="adj2" fmla="val -7831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 dirty="0"/>
              <a:t>Itens relevantes (R)</a:t>
            </a:r>
            <a:endParaRPr lang="pt-BR" sz="2400" baseline="-2500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C8BE853-FD7E-72E0-3366-A04E9959B0FB}"/>
              </a:ext>
            </a:extLst>
          </p:cNvPr>
          <p:cNvSpPr txBox="1"/>
          <p:nvPr/>
        </p:nvSpPr>
        <p:spPr>
          <a:xfrm>
            <a:off x="3633216" y="2462784"/>
            <a:ext cx="3866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b="1" dirty="0"/>
              <a:t>R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35994C39-699A-6293-7EA4-68BAD52F352B}"/>
              </a:ext>
            </a:extLst>
          </p:cNvPr>
          <p:cNvSpPr txBox="1"/>
          <p:nvPr/>
        </p:nvSpPr>
        <p:spPr>
          <a:xfrm>
            <a:off x="8481905" y="2724394"/>
            <a:ext cx="4026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b="1" dirty="0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6231053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ço Reservado para Conteúdo 7"/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pt-BR" sz="2800" b="1" dirty="0">
                <a:solidFill>
                  <a:srgbClr val="0070C0"/>
                </a:solidFill>
              </a:rPr>
              <a:t>Precisão</a:t>
            </a:r>
            <a:r>
              <a:rPr lang="pt-BR" sz="2800" dirty="0"/>
              <a:t> é a fração dos documentos retornados que são relevantes</a:t>
            </a:r>
          </a:p>
          <a:p>
            <a:endParaRPr lang="pt-BR" sz="2800" dirty="0"/>
          </a:p>
          <a:p>
            <a:endParaRPr lang="pt-BR" sz="2800" dirty="0"/>
          </a:p>
          <a:p>
            <a:r>
              <a:rPr lang="pt-BR" sz="2800" b="1" dirty="0" err="1">
                <a:solidFill>
                  <a:srgbClr val="0070C0"/>
                </a:solidFill>
              </a:rPr>
              <a:t>Revocação</a:t>
            </a:r>
            <a:r>
              <a:rPr lang="pt-BR" sz="2800" dirty="0"/>
              <a:t> é a fração dos documentos relevantes que foram retornados</a:t>
            </a:r>
          </a:p>
        </p:txBody>
      </p:sp>
      <p:sp>
        <p:nvSpPr>
          <p:cNvPr id="5" name="Título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Precisão e </a:t>
            </a:r>
            <a:r>
              <a:rPr lang="pt-BR" dirty="0" err="1"/>
              <a:t>Revocação</a:t>
            </a:r>
            <a:endParaRPr lang="pt-BR" dirty="0"/>
          </a:p>
        </p:txBody>
      </p:sp>
      <p:grpSp>
        <p:nvGrpSpPr>
          <p:cNvPr id="2" name="Agrupar 1"/>
          <p:cNvGrpSpPr/>
          <p:nvPr/>
        </p:nvGrpSpPr>
        <p:grpSpPr>
          <a:xfrm>
            <a:off x="6815333" y="4345684"/>
            <a:ext cx="4074746" cy="1805452"/>
            <a:chOff x="3476625" y="2818287"/>
            <a:chExt cx="5238750" cy="2400300"/>
          </a:xfrm>
        </p:grpSpPr>
        <p:pic>
          <p:nvPicPr>
            <p:cNvPr id="10" name="Imagem 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476625" y="2818287"/>
              <a:ext cx="5238750" cy="2400300"/>
            </a:xfrm>
            <a:prstGeom prst="rect">
              <a:avLst/>
            </a:prstGeom>
          </p:spPr>
        </p:pic>
        <p:sp>
          <p:nvSpPr>
            <p:cNvPr id="16" name="CaixaDeTexto 15"/>
            <p:cNvSpPr txBox="1"/>
            <p:nvPr/>
          </p:nvSpPr>
          <p:spPr>
            <a:xfrm>
              <a:off x="4079776" y="3729226"/>
              <a:ext cx="1343701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2000" b="1" dirty="0"/>
                <a:t>Relevantes</a:t>
              </a:r>
            </a:p>
            <a:p>
              <a:pPr algn="ctr"/>
              <a:r>
                <a:rPr lang="pt-BR" sz="2000" b="1" dirty="0"/>
                <a:t>(R)</a:t>
              </a:r>
            </a:p>
          </p:txBody>
        </p:sp>
        <p:sp>
          <p:nvSpPr>
            <p:cNvPr id="17" name="CaixaDeTexto 16"/>
            <p:cNvSpPr txBox="1"/>
            <p:nvPr/>
          </p:nvSpPr>
          <p:spPr>
            <a:xfrm>
              <a:off x="6782450" y="3729226"/>
              <a:ext cx="1410964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2000" b="1" dirty="0"/>
                <a:t>Retornados</a:t>
              </a:r>
            </a:p>
            <a:p>
              <a:pPr algn="ctr"/>
              <a:r>
                <a:rPr lang="pt-BR" sz="2000" b="1" dirty="0"/>
                <a:t>(A)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/>
              <p:cNvSpPr txBox="1"/>
              <p:nvPr/>
            </p:nvSpPr>
            <p:spPr>
              <a:xfrm>
                <a:off x="2179319" y="4727125"/>
                <a:ext cx="3578993" cy="8908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𝑅𝑒𝑣𝑜𝑐𝑎</m:t>
                      </m:r>
                      <m:r>
                        <a:rPr lang="pt-BR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çã</m:t>
                      </m:r>
                      <m:r>
                        <a:rPr lang="pt-BR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𝑜</m:t>
                      </m:r>
                      <m:r>
                        <a:rPr lang="pt-BR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| </m:t>
                          </m:r>
                          <m:r>
                            <a:rPr lang="pt-BR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pt-BR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∩</m:t>
                          </m:r>
                          <m:r>
                            <a:rPr lang="pt-BR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  <m:r>
                            <a:rPr lang="pt-BR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|</m:t>
                          </m:r>
                        </m:num>
                        <m:den>
                          <m:r>
                            <a:rPr lang="pt-BR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| </m:t>
                          </m:r>
                          <m:r>
                            <a:rPr lang="pt-BR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pt-BR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|</m:t>
                          </m:r>
                        </m:den>
                      </m:f>
                    </m:oMath>
                  </m:oMathPara>
                </a14:m>
                <a:endParaRPr lang="pt-BR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6" name="CaixaDeTexto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9319" y="4727125"/>
                <a:ext cx="3578993" cy="89082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aixaDeTexto 17"/>
              <p:cNvSpPr txBox="1"/>
              <p:nvPr/>
            </p:nvSpPr>
            <p:spPr>
              <a:xfrm>
                <a:off x="2179319" y="2526751"/>
                <a:ext cx="3277629" cy="8908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𝑃𝑟𝑒𝑐𝑖𝑠</m:t>
                      </m:r>
                      <m:r>
                        <a:rPr lang="pt-BR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ã</m:t>
                      </m:r>
                      <m:r>
                        <a:rPr lang="pt-BR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𝑜</m:t>
                      </m:r>
                      <m:r>
                        <a:rPr lang="pt-BR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| </m:t>
                          </m:r>
                          <m:r>
                            <a:rPr lang="pt-BR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pt-BR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∩</m:t>
                          </m:r>
                          <m:r>
                            <a:rPr lang="pt-BR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  <m:r>
                            <a:rPr lang="pt-BR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|</m:t>
                          </m:r>
                        </m:num>
                        <m:den>
                          <m:r>
                            <a:rPr lang="pt-BR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| </m:t>
                          </m:r>
                          <m:r>
                            <a:rPr lang="pt-BR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pt-BR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|</m:t>
                          </m:r>
                        </m:den>
                      </m:f>
                    </m:oMath>
                  </m:oMathPara>
                </a14:m>
                <a:endParaRPr lang="pt-BR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8" name="CaixaDeTexto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9319" y="2526751"/>
                <a:ext cx="3277629" cy="89082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382684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Conteúdo 8"/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pt-BR" dirty="0"/>
              <a:t>Seja </a:t>
            </a:r>
            <a:r>
              <a:rPr lang="pt-BR" i="1" dirty="0"/>
              <a:t>A</a:t>
            </a:r>
            <a:r>
              <a:rPr lang="pt-BR" i="1" baseline="-25000" dirty="0"/>
              <a:t>u1</a:t>
            </a:r>
            <a:r>
              <a:rPr lang="pt-BR" dirty="0"/>
              <a:t> o conjunto de itens recomendados para um usuário </a:t>
            </a:r>
            <a:r>
              <a:rPr lang="pt-BR" i="1" dirty="0"/>
              <a:t>u1</a:t>
            </a:r>
          </a:p>
          <a:p>
            <a:endParaRPr lang="pt-BR" i="1" dirty="0"/>
          </a:p>
          <a:p>
            <a:endParaRPr lang="pt-BR" i="1" dirty="0"/>
          </a:p>
          <a:p>
            <a:endParaRPr lang="pt-BR" i="1" dirty="0"/>
          </a:p>
          <a:p>
            <a:endParaRPr lang="pt-BR" dirty="0"/>
          </a:p>
          <a:p>
            <a:r>
              <a:rPr lang="pt-BR" dirty="0"/>
              <a:t>E </a:t>
            </a:r>
            <a:r>
              <a:rPr lang="pt-BR" i="1" dirty="0"/>
              <a:t>R</a:t>
            </a:r>
            <a:r>
              <a:rPr lang="pt-BR" i="1" baseline="-25000" dirty="0"/>
              <a:t>u1</a:t>
            </a:r>
            <a:r>
              <a:rPr lang="pt-BR" dirty="0"/>
              <a:t> o conjunto de documentos relevantes para </a:t>
            </a:r>
            <a:r>
              <a:rPr lang="pt-BR" i="1" dirty="0"/>
              <a:t>u1</a:t>
            </a:r>
          </a:p>
        </p:txBody>
      </p:sp>
      <p:sp>
        <p:nvSpPr>
          <p:cNvPr id="5" name="Título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Precisão e </a:t>
            </a:r>
            <a:r>
              <a:rPr lang="pt-BR" dirty="0" err="1"/>
              <a:t>Revocação</a:t>
            </a:r>
            <a:endParaRPr lang="pt-B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aixaDeTexto 11"/>
              <p:cNvSpPr txBox="1"/>
              <p:nvPr/>
            </p:nvSpPr>
            <p:spPr>
              <a:xfrm>
                <a:off x="3204214" y="2693146"/>
                <a:ext cx="5783571" cy="19899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pt-BR" sz="2800" b="0" i="1" baseline="-250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pt-BR" sz="2800" i="1" baseline="-250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1=</m:t>
                      </m:r>
                      <m:m>
                        <m:mPr>
                          <m:mcs>
                            <m:mc>
                              <m:mcPr>
                                <m:count m:val="3"/>
                                <m:mcJc m:val="center"/>
                              </m:mcPr>
                            </m:mc>
                          </m:mcs>
                          <m:ctrlPr>
                            <a:rPr lang="pt-BR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eqArr>
                              <m:eqArrPr>
                                <m:ctrlPr>
                                  <a:rPr lang="pt-BR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r>
                                  <m:rPr>
                                    <m:brk m:alnAt="7"/>
                                  </m:rPr>
                                  <a:rPr lang="pt-BR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pt-BR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1. </m:t>
                                </m:r>
                                <m:r>
                                  <a:rPr lang="pt-BR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pt-BR" sz="2800" i="1" baseline="-250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123</m:t>
                                </m:r>
                                <m:r>
                                  <a:rPr lang="pt-BR" sz="280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e>
                              <m:e>
                                <m:r>
                                  <m:rPr>
                                    <m:brk m:alnAt="7"/>
                                  </m:rPr>
                                  <a:rPr lang="pt-BR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pt-BR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2. </m:t>
                                </m:r>
                                <m:r>
                                  <a:rPr lang="pt-BR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pt-BR" sz="2800" i="1" baseline="-250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84       </m:t>
                                </m:r>
                              </m:e>
                              <m:e>
                                <m:r>
                                  <m:rPr>
                                    <m:brk m:alnAt="7"/>
                                  </m:rPr>
                                  <a:rPr lang="pt-BR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pt-BR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3. </m:t>
                                </m:r>
                                <m:r>
                                  <a:rPr lang="pt-BR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pt-BR" sz="2800" i="1" baseline="-250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56  </m:t>
                                </m:r>
                                <m:r>
                                  <a:rPr lang="pt-BR" sz="280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e>
                              <m:e>
                                <m:r>
                                  <m:rPr>
                                    <m:brk m:alnAt="7"/>
                                  </m:rPr>
                                  <a:rPr lang="pt-BR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pt-BR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4. </m:t>
                                </m:r>
                                <m:r>
                                  <a:rPr lang="pt-BR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pt-BR" sz="2800" i="1" baseline="-250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6         </m:t>
                                </m:r>
                              </m:e>
                              <m:e>
                                <m:r>
                                  <m:rPr>
                                    <m:brk m:alnAt="7"/>
                                  </m:rPr>
                                  <a:rPr lang="pt-BR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pt-BR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5. </m:t>
                                </m:r>
                                <m:r>
                                  <a:rPr lang="pt-BR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pt-BR" sz="2800" i="1" baseline="-250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8         </m:t>
                                </m:r>
                              </m:e>
                            </m:eqArr>
                          </m:e>
                          <m:e>
                            <m:eqArr>
                              <m:eqArrPr>
                                <m:ctrlPr>
                                  <a:rPr lang="pt-BR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r>
                                  <m:rPr>
                                    <m:brk m:alnAt="7"/>
                                  </m:rPr>
                                  <a:rPr lang="pt-BR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pt-BR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6. </m:t>
                                </m:r>
                                <m:r>
                                  <a:rPr lang="pt-BR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pt-BR" sz="2800" i="1" baseline="-250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9    </m:t>
                                </m:r>
                                <m:r>
                                  <a:rPr lang="pt-BR" sz="280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e>
                              <m:e>
                                <m:r>
                                  <m:rPr>
                                    <m:brk m:alnAt="7"/>
                                  </m:rPr>
                                  <a:rPr lang="pt-BR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pt-BR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7. </m:t>
                                </m:r>
                                <m:r>
                                  <a:rPr lang="pt-BR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pt-BR" sz="2800" i="1" baseline="-250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511   </m:t>
                                </m:r>
                              </m:e>
                              <m:e>
                                <m:r>
                                  <m:rPr>
                                    <m:brk m:alnAt="7"/>
                                  </m:rPr>
                                  <a:rPr lang="pt-BR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pt-BR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8. </m:t>
                                </m:r>
                                <m:r>
                                  <a:rPr lang="pt-BR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pt-BR" sz="2800" i="1" baseline="-250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129   </m:t>
                                </m:r>
                              </m:e>
                              <m:e>
                                <m:r>
                                  <m:rPr>
                                    <m:brk m:alnAt="7"/>
                                  </m:rPr>
                                  <a:rPr lang="pt-BR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pt-BR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9. </m:t>
                                </m:r>
                                <m:r>
                                  <a:rPr lang="pt-BR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pt-BR" sz="2800" i="1" baseline="-250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187   </m:t>
                                </m:r>
                              </m:e>
                              <m:e>
                                <m:r>
                                  <a:rPr lang="pt-BR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10. </m:t>
                                </m:r>
                                <m:r>
                                  <a:rPr lang="pt-BR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pt-BR" sz="2800" i="1" baseline="-250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25  </m:t>
                                </m:r>
                                <m:r>
                                  <a:rPr lang="pt-BR" sz="280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e>
                            </m:eqArr>
                          </m:e>
                          <m:e>
                            <m:eqArr>
                              <m:eqArrPr>
                                <m:ctrlPr>
                                  <a:rPr lang="pt-BR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r>
                                  <a:rPr lang="pt-BR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11. </m:t>
                                </m:r>
                                <m:r>
                                  <a:rPr lang="pt-BR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pt-BR" sz="2800" i="1" baseline="-250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38      </m:t>
                                </m:r>
                              </m:e>
                              <m:e>
                                <m:r>
                                  <a:rPr lang="pt-BR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12. </m:t>
                                </m:r>
                                <m:r>
                                  <a:rPr lang="pt-BR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pt-BR" sz="2800" i="1" baseline="-250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48      </m:t>
                                </m:r>
                              </m:e>
                              <m:e>
                                <m:r>
                                  <a:rPr lang="pt-BR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13. </m:t>
                                </m:r>
                                <m:r>
                                  <a:rPr lang="pt-BR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pt-BR" sz="2800" i="1" baseline="-250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250    </m:t>
                                </m:r>
                              </m:e>
                              <m:e>
                                <m:r>
                                  <a:rPr lang="pt-BR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14. </m:t>
                                </m:r>
                                <m:r>
                                  <a:rPr lang="pt-BR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pt-BR" sz="2800" i="1" baseline="-250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113    </m:t>
                                </m:r>
                              </m:e>
                              <m:e>
                                <m:r>
                                  <a:rPr lang="pt-BR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15. </m:t>
                                </m:r>
                                <m:r>
                                  <a:rPr lang="pt-BR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pt-BR" sz="2800" i="1" baseline="-250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3    </m:t>
                                </m:r>
                                <m:r>
                                  <a:rPr lang="pt-BR" sz="280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e>
                            </m:eqArr>
                          </m:e>
                        </m:mr>
                      </m:m>
                    </m:oMath>
                  </m:oMathPara>
                </a14:m>
                <a:endParaRPr lang="pt-BR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2" name="CaixaDeTexto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4214" y="2693146"/>
                <a:ext cx="5783571" cy="1989904"/>
              </a:xfrm>
              <a:prstGeom prst="rect">
                <a:avLst/>
              </a:prstGeom>
              <a:blipFill>
                <a:blip r:embed="rId2"/>
                <a:stretch>
                  <a:fillRect b="-368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aixaDeTexto 18"/>
              <p:cNvSpPr txBox="1"/>
              <p:nvPr/>
            </p:nvSpPr>
            <p:spPr>
              <a:xfrm>
                <a:off x="2591547" y="5783350"/>
                <a:ext cx="7008906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pt-BR" sz="2800" b="0" i="1" baseline="-250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pt-BR" sz="2800" i="1" baseline="-250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pt-BR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={</m:t>
                      </m:r>
                      <m:r>
                        <a:rPr lang="pt-BR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pt-BR" sz="2800" i="1" baseline="-250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pt-BR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pt-BR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pt-BR" sz="2800" i="1" baseline="-250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pt-BR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pt-BR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pt-BR" sz="2800" i="1" baseline="-250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pt-BR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pt-BR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pt-BR" sz="2800" i="1" baseline="-250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25</m:t>
                      </m:r>
                      <m:r>
                        <a:rPr lang="pt-BR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pt-BR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pt-BR" sz="2800" i="1" baseline="-250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39</m:t>
                      </m:r>
                      <m:r>
                        <a:rPr lang="pt-BR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pt-BR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pt-BR" sz="2800" i="1" baseline="-250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44</m:t>
                      </m:r>
                      <m:r>
                        <a:rPr lang="pt-BR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pt-BR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pt-BR" sz="2800" i="1" baseline="-250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56</m:t>
                      </m:r>
                      <m:r>
                        <a:rPr lang="pt-BR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pt-BR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pt-BR" sz="2800" i="1" baseline="-250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71</m:t>
                      </m:r>
                      <m:r>
                        <a:rPr lang="pt-BR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pt-BR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pt-BR" sz="2800" i="1" baseline="-250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89</m:t>
                      </m:r>
                      <m:r>
                        <a:rPr lang="pt-BR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pt-BR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pt-BR" sz="2800" i="1" baseline="-250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123</m:t>
                      </m:r>
                      <m:r>
                        <a:rPr lang="pt-BR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pt-BR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9" name="CaixaDeTexto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1547" y="5783350"/>
                <a:ext cx="7008906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CaixaDeTexto 12"/>
          <p:cNvSpPr txBox="1"/>
          <p:nvPr/>
        </p:nvSpPr>
        <p:spPr>
          <a:xfrm>
            <a:off x="9338648" y="3307902"/>
            <a:ext cx="143904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>
                <a:solidFill>
                  <a:srgbClr val="C00000"/>
                </a:solidFill>
              </a:rPr>
              <a:t>* Itens</a:t>
            </a:r>
            <a:br>
              <a:rPr lang="pt-BR" sz="2000" dirty="0">
                <a:solidFill>
                  <a:srgbClr val="C00000"/>
                </a:solidFill>
              </a:rPr>
            </a:br>
            <a:r>
              <a:rPr lang="pt-BR" sz="2000" dirty="0">
                <a:solidFill>
                  <a:srgbClr val="C00000"/>
                </a:solidFill>
              </a:rPr>
              <a:t>   relevantes</a:t>
            </a:r>
          </a:p>
        </p:txBody>
      </p:sp>
    </p:spTree>
    <p:extLst>
      <p:ext uri="{BB962C8B-B14F-4D97-AF65-F5344CB8AC3E}">
        <p14:creationId xmlns:p14="http://schemas.microsoft.com/office/powerpoint/2010/main" val="7225026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Conteúdo 8"/>
          <p:cNvSpPr>
            <a:spLocks noGrp="1"/>
          </p:cNvSpPr>
          <p:nvPr>
            <p:ph idx="1"/>
          </p:nvPr>
        </p:nvSpPr>
        <p:spPr>
          <a:xfrm>
            <a:off x="686274" y="2438401"/>
            <a:ext cx="10819450" cy="4068370"/>
          </a:xfrm>
        </p:spPr>
        <p:txBody>
          <a:bodyPr>
            <a:normAutofit/>
          </a:bodyPr>
          <a:lstStyle/>
          <a:p>
            <a:r>
              <a:rPr lang="pt-BR" dirty="0"/>
              <a:t>O item </a:t>
            </a:r>
            <a:r>
              <a:rPr lang="pt-BR" i="1" dirty="0"/>
              <a:t>d</a:t>
            </a:r>
            <a:r>
              <a:rPr lang="pt-BR" i="1" baseline="-25000" dirty="0"/>
              <a:t>123</a:t>
            </a:r>
            <a:r>
              <a:rPr lang="pt-BR" dirty="0"/>
              <a:t> na posição 1 é relevante</a:t>
            </a:r>
          </a:p>
          <a:p>
            <a:pPr lvl="1"/>
            <a:r>
              <a:rPr lang="pt-BR" sz="2800" dirty="0">
                <a:solidFill>
                  <a:srgbClr val="43A9E7"/>
                </a:solidFill>
              </a:rPr>
              <a:t>Corresponde a 10% de todos os itens relevantes</a:t>
            </a:r>
          </a:p>
          <a:p>
            <a:pPr lvl="1"/>
            <a:r>
              <a:rPr lang="pt-BR" sz="2800" dirty="0">
                <a:solidFill>
                  <a:srgbClr val="43A9E7"/>
                </a:solidFill>
              </a:rPr>
              <a:t>Considerando 10% de </a:t>
            </a:r>
            <a:r>
              <a:rPr lang="pt-BR" sz="2800" dirty="0" err="1">
                <a:solidFill>
                  <a:srgbClr val="43A9E7"/>
                </a:solidFill>
              </a:rPr>
              <a:t>revocação</a:t>
            </a:r>
            <a:r>
              <a:rPr lang="pt-BR" sz="2800" dirty="0">
                <a:solidFill>
                  <a:srgbClr val="43A9E7"/>
                </a:solidFill>
              </a:rPr>
              <a:t>, temos precisão de 100%</a:t>
            </a:r>
          </a:p>
          <a:p>
            <a:r>
              <a:rPr lang="pt-BR" dirty="0"/>
              <a:t>O item </a:t>
            </a:r>
            <a:r>
              <a:rPr lang="pt-BR" i="1" dirty="0"/>
              <a:t>d</a:t>
            </a:r>
            <a:r>
              <a:rPr lang="pt-BR" i="1" baseline="-25000" dirty="0"/>
              <a:t>56</a:t>
            </a:r>
            <a:r>
              <a:rPr lang="pt-BR" dirty="0"/>
              <a:t> na posição 3 é o próximo relevante</a:t>
            </a:r>
          </a:p>
          <a:p>
            <a:pPr lvl="1"/>
            <a:r>
              <a:rPr lang="pt-BR" sz="2800" dirty="0">
                <a:solidFill>
                  <a:srgbClr val="43A9E7"/>
                </a:solidFill>
              </a:rPr>
              <a:t>Neste ponto, 2 de 3 itens retornados são relevantes e 2 de 10 itens relevantes foram retornados</a:t>
            </a:r>
          </a:p>
          <a:p>
            <a:pPr lvl="1"/>
            <a:r>
              <a:rPr lang="pt-BR" sz="2800" dirty="0">
                <a:solidFill>
                  <a:srgbClr val="43A9E7"/>
                </a:solidFill>
              </a:rPr>
              <a:t>Portanto, com 20% de </a:t>
            </a:r>
            <a:r>
              <a:rPr lang="pt-BR" sz="2800" dirty="0" err="1">
                <a:solidFill>
                  <a:srgbClr val="43A9E7"/>
                </a:solidFill>
              </a:rPr>
              <a:t>revocação</a:t>
            </a:r>
            <a:r>
              <a:rPr lang="pt-BR" sz="2800" dirty="0">
                <a:solidFill>
                  <a:srgbClr val="43A9E7"/>
                </a:solidFill>
              </a:rPr>
              <a:t>, temos precisão de 66.6%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0EEDF1AB-8E5A-4C7F-933A-AE96EE55D98E}"/>
                  </a:ext>
                </a:extLst>
              </p:cNvPr>
              <p:cNvSpPr txBox="1"/>
              <p:nvPr/>
            </p:nvSpPr>
            <p:spPr>
              <a:xfrm>
                <a:off x="276109" y="1019360"/>
                <a:ext cx="609724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pt-BR" sz="2400" b="0" i="1" baseline="-250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pt-BR" sz="2400" i="1" baseline="-250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pt-BR" sz="24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={</m:t>
                      </m:r>
                      <m:r>
                        <a:rPr lang="pt-BR" sz="24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pt-BR" sz="2400" i="1" baseline="-250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pt-BR" sz="24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pt-BR" sz="24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pt-BR" sz="2400" i="1" baseline="-250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pt-BR" sz="24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pt-BR" sz="24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pt-BR" sz="2400" i="1" baseline="-250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pt-BR" sz="24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pt-BR" sz="24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pt-BR" sz="2400" i="1" baseline="-250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25</m:t>
                      </m:r>
                      <m:r>
                        <a:rPr lang="pt-BR" sz="24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pt-BR" sz="24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pt-BR" sz="2400" i="1" baseline="-250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39</m:t>
                      </m:r>
                      <m:r>
                        <a:rPr lang="pt-BR" sz="24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pt-BR" sz="24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pt-BR" sz="2400" i="1" baseline="-250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44</m:t>
                      </m:r>
                      <m:r>
                        <a:rPr lang="pt-BR" sz="24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pt-BR" sz="24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pt-BR" sz="2400" i="1" baseline="-250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56</m:t>
                      </m:r>
                      <m:r>
                        <a:rPr lang="pt-BR" sz="24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pt-BR" sz="24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pt-BR" sz="2400" i="1" baseline="-250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71</m:t>
                      </m:r>
                      <m:r>
                        <a:rPr lang="pt-BR" sz="24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pt-BR" sz="24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pt-BR" sz="2400" i="1" baseline="-250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89</m:t>
                      </m:r>
                      <m:r>
                        <a:rPr lang="pt-BR" sz="24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pt-BR" sz="24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pt-BR" sz="2400" i="1" baseline="-250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123</m:t>
                      </m:r>
                      <m:r>
                        <a:rPr lang="pt-BR" sz="24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pt-BR" sz="24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0EEDF1AB-8E5A-4C7F-933A-AE96EE55D9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109" y="1019360"/>
                <a:ext cx="6097246" cy="369332"/>
              </a:xfrm>
              <a:prstGeom prst="rect">
                <a:avLst/>
              </a:prstGeom>
              <a:blipFill>
                <a:blip r:embed="rId2"/>
                <a:stretch>
                  <a:fillRect r="-400" b="-3442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CaixaDeTexto 1">
                <a:extLst>
                  <a:ext uri="{FF2B5EF4-FFF2-40B4-BE49-F238E27FC236}">
                    <a16:creationId xmlns:a16="http://schemas.microsoft.com/office/drawing/2014/main" id="{50F44E3A-E0C6-D79E-AF0B-1550316D8E96}"/>
                  </a:ext>
                </a:extLst>
              </p:cNvPr>
              <p:cNvSpPr txBox="1"/>
              <p:nvPr/>
            </p:nvSpPr>
            <p:spPr>
              <a:xfrm>
                <a:off x="6970626" y="351229"/>
                <a:ext cx="4945265" cy="17055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pt-BR" sz="2400" b="0" i="1" baseline="-250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pt-BR" sz="2400" i="1" baseline="-250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1=</m:t>
                      </m:r>
                      <m:m>
                        <m:mPr>
                          <m:mcs>
                            <m:mc>
                              <m:mcPr>
                                <m:count m:val="3"/>
                                <m:mcJc m:val="center"/>
                              </m:mcPr>
                            </m:mc>
                          </m:mcs>
                          <m:ctrlPr>
                            <a:rPr lang="pt-BR" sz="2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eqArr>
                              <m:eqArrPr>
                                <m:ctrlPr>
                                  <a:rPr lang="pt-BR" sz="24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r>
                                  <m:rPr>
                                    <m:brk m:alnAt="7"/>
                                  </m:rPr>
                                  <a:rPr lang="pt-BR" sz="24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pt-BR" sz="24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1. </m:t>
                                </m:r>
                                <m:r>
                                  <a:rPr lang="pt-BR" sz="24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pt-BR" sz="2400" i="1" baseline="-250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123</m:t>
                                </m:r>
                                <m:r>
                                  <a:rPr lang="pt-BR" sz="240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e>
                              <m:e>
                                <m:r>
                                  <m:rPr>
                                    <m:brk m:alnAt="7"/>
                                  </m:rPr>
                                  <a:rPr lang="pt-BR" sz="24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pt-BR" sz="24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2. </m:t>
                                </m:r>
                                <m:r>
                                  <a:rPr lang="pt-BR" sz="24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pt-BR" sz="2400" i="1" baseline="-250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84       </m:t>
                                </m:r>
                              </m:e>
                              <m:e>
                                <m:r>
                                  <m:rPr>
                                    <m:brk m:alnAt="7"/>
                                  </m:rPr>
                                  <a:rPr lang="pt-BR" sz="24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pt-BR" sz="24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3. </m:t>
                                </m:r>
                                <m:r>
                                  <a:rPr lang="pt-BR" sz="24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pt-BR" sz="2400" i="1" baseline="-250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56  </m:t>
                                </m:r>
                                <m:r>
                                  <a:rPr lang="pt-BR" sz="240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e>
                              <m:e>
                                <m:r>
                                  <m:rPr>
                                    <m:brk m:alnAt="7"/>
                                  </m:rPr>
                                  <a:rPr lang="pt-BR" sz="24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pt-BR" sz="24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4. </m:t>
                                </m:r>
                                <m:r>
                                  <a:rPr lang="pt-BR" sz="24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pt-BR" sz="2400" i="1" baseline="-250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6         </m:t>
                                </m:r>
                              </m:e>
                              <m:e>
                                <m:r>
                                  <m:rPr>
                                    <m:brk m:alnAt="7"/>
                                  </m:rPr>
                                  <a:rPr lang="pt-BR" sz="24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pt-BR" sz="24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5. </m:t>
                                </m:r>
                                <m:r>
                                  <a:rPr lang="pt-BR" sz="24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pt-BR" sz="2400" i="1" baseline="-250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8         </m:t>
                                </m:r>
                              </m:e>
                            </m:eqArr>
                          </m:e>
                          <m:e>
                            <m:eqArr>
                              <m:eqArrPr>
                                <m:ctrlPr>
                                  <a:rPr lang="pt-BR" sz="24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r>
                                  <m:rPr>
                                    <m:brk m:alnAt="7"/>
                                  </m:rPr>
                                  <a:rPr lang="pt-BR" sz="24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pt-BR" sz="24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6. </m:t>
                                </m:r>
                                <m:r>
                                  <a:rPr lang="pt-BR" sz="24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pt-BR" sz="2400" i="1" baseline="-250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9    </m:t>
                                </m:r>
                                <m:r>
                                  <a:rPr lang="pt-BR" sz="240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e>
                              <m:e>
                                <m:r>
                                  <m:rPr>
                                    <m:brk m:alnAt="7"/>
                                  </m:rPr>
                                  <a:rPr lang="pt-BR" sz="24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pt-BR" sz="24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7. </m:t>
                                </m:r>
                                <m:r>
                                  <a:rPr lang="pt-BR" sz="24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pt-BR" sz="2400" i="1" baseline="-250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511   </m:t>
                                </m:r>
                              </m:e>
                              <m:e>
                                <m:r>
                                  <m:rPr>
                                    <m:brk m:alnAt="7"/>
                                  </m:rPr>
                                  <a:rPr lang="pt-BR" sz="24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pt-BR" sz="24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8. </m:t>
                                </m:r>
                                <m:r>
                                  <a:rPr lang="pt-BR" sz="24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pt-BR" sz="2400" i="1" baseline="-250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129   </m:t>
                                </m:r>
                              </m:e>
                              <m:e>
                                <m:r>
                                  <m:rPr>
                                    <m:brk m:alnAt="7"/>
                                  </m:rPr>
                                  <a:rPr lang="pt-BR" sz="24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pt-BR" sz="24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9. </m:t>
                                </m:r>
                                <m:r>
                                  <a:rPr lang="pt-BR" sz="24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pt-BR" sz="2400" i="1" baseline="-250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187   </m:t>
                                </m:r>
                              </m:e>
                              <m:e>
                                <m:r>
                                  <a:rPr lang="pt-BR" sz="24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10. </m:t>
                                </m:r>
                                <m:r>
                                  <a:rPr lang="pt-BR" sz="24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pt-BR" sz="2400" i="1" baseline="-250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25  </m:t>
                                </m:r>
                                <m:r>
                                  <a:rPr lang="pt-BR" sz="240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e>
                            </m:eqArr>
                          </m:e>
                          <m:e>
                            <m:eqArr>
                              <m:eqArrPr>
                                <m:ctrlPr>
                                  <a:rPr lang="pt-BR" sz="24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r>
                                  <a:rPr lang="pt-BR" sz="24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11. </m:t>
                                </m:r>
                                <m:r>
                                  <a:rPr lang="pt-BR" sz="24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pt-BR" sz="2400" i="1" baseline="-250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38      </m:t>
                                </m:r>
                              </m:e>
                              <m:e>
                                <m:r>
                                  <a:rPr lang="pt-BR" sz="24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12. </m:t>
                                </m:r>
                                <m:r>
                                  <a:rPr lang="pt-BR" sz="24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pt-BR" sz="2400" i="1" baseline="-250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48      </m:t>
                                </m:r>
                              </m:e>
                              <m:e>
                                <m:r>
                                  <a:rPr lang="pt-BR" sz="24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13. </m:t>
                                </m:r>
                                <m:r>
                                  <a:rPr lang="pt-BR" sz="24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pt-BR" sz="2400" i="1" baseline="-250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250    </m:t>
                                </m:r>
                              </m:e>
                              <m:e>
                                <m:r>
                                  <a:rPr lang="pt-BR" sz="24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14. </m:t>
                                </m:r>
                                <m:r>
                                  <a:rPr lang="pt-BR" sz="24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pt-BR" sz="2400" i="1" baseline="-250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113    </m:t>
                                </m:r>
                              </m:e>
                              <m:e>
                                <m:r>
                                  <a:rPr lang="pt-BR" sz="24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15. </m:t>
                                </m:r>
                                <m:r>
                                  <a:rPr lang="pt-BR" sz="24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pt-BR" sz="2400" i="1" baseline="-250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3    </m:t>
                                </m:r>
                                <m:r>
                                  <a:rPr lang="pt-BR" sz="240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e>
                            </m:eqArr>
                          </m:e>
                        </m:mr>
                      </m:m>
                    </m:oMath>
                  </m:oMathPara>
                </a14:m>
                <a:endParaRPr lang="pt-BR" sz="24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" name="CaixaDeTexto 1">
                <a:extLst>
                  <a:ext uri="{FF2B5EF4-FFF2-40B4-BE49-F238E27FC236}">
                    <a16:creationId xmlns:a16="http://schemas.microsoft.com/office/drawing/2014/main" id="{50F44E3A-E0C6-D79E-AF0B-1550316D8E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0626" y="351229"/>
                <a:ext cx="4945265" cy="1705595"/>
              </a:xfrm>
              <a:prstGeom prst="rect">
                <a:avLst/>
              </a:prstGeom>
              <a:blipFill>
                <a:blip r:embed="rId3"/>
                <a:stretch>
                  <a:fillRect b="-322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479902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Conteúdo 8"/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pt-BR" sz="3600" dirty="0"/>
              <a:t>É possível calcular a precisão quando </a:t>
            </a:r>
            <a:r>
              <a:rPr lang="pt-BR" sz="3600" i="1" dirty="0"/>
              <a:t>k</a:t>
            </a:r>
            <a:r>
              <a:rPr lang="pt-BR" sz="3600" dirty="0"/>
              <a:t> itens forem retornados, sendo </a:t>
            </a:r>
            <a:r>
              <a:rPr lang="pt-BR" sz="3600" b="1" dirty="0">
                <a:solidFill>
                  <a:srgbClr val="0070C0"/>
                </a:solidFill>
              </a:rPr>
              <a:t>P@5</a:t>
            </a:r>
            <a:r>
              <a:rPr lang="pt-BR" sz="3600" dirty="0"/>
              <a:t> a precisão quando 5 itens tenham sido retornados e </a:t>
            </a:r>
            <a:r>
              <a:rPr lang="pt-BR" sz="3600" b="1" dirty="0">
                <a:solidFill>
                  <a:srgbClr val="0070C0"/>
                </a:solidFill>
              </a:rPr>
              <a:t>P@10</a:t>
            </a:r>
            <a:r>
              <a:rPr lang="pt-BR" sz="3600" dirty="0"/>
              <a:t> a precisão quando 10 itens tenham sido retornados</a:t>
            </a:r>
            <a:endParaRPr lang="pt-BR" sz="3600" b="1" dirty="0">
              <a:solidFill>
                <a:srgbClr val="0070C0"/>
              </a:solidFill>
            </a:endParaRPr>
          </a:p>
        </p:txBody>
      </p:sp>
      <p:sp>
        <p:nvSpPr>
          <p:cNvPr id="5" name="Título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Precisão em </a:t>
            </a:r>
            <a:r>
              <a:rPr lang="pt-BR" i="1" dirty="0"/>
              <a:t>k</a:t>
            </a:r>
            <a:r>
              <a:rPr lang="pt-BR" dirty="0"/>
              <a:t> (P@5, P@10...)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ixaDeTexto 7"/>
              <p:cNvSpPr txBox="1"/>
              <p:nvPr/>
            </p:nvSpPr>
            <p:spPr>
              <a:xfrm>
                <a:off x="1271464" y="4437112"/>
                <a:ext cx="3824188" cy="8094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pt-BR" sz="28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@</m:t>
                      </m:r>
                      <m:r>
                        <a:rPr lang="pt-BR" sz="28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=0.4 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𝑜𝑢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 40%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8" name="CaixaDeTexto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1464" y="4437112"/>
                <a:ext cx="3824188" cy="80945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aixaDeTexto 9"/>
              <p:cNvSpPr txBox="1"/>
              <p:nvPr/>
            </p:nvSpPr>
            <p:spPr>
              <a:xfrm>
                <a:off x="2571596" y="5418987"/>
                <a:ext cx="4237763" cy="8079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pt-BR" sz="28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@</m:t>
                      </m:r>
                      <m:r>
                        <a:rPr lang="pt-BR" sz="28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𝟏𝟎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=0.4 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𝑜𝑢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 40%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10" name="CaixaDeTexto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1596" y="5418987"/>
                <a:ext cx="4237763" cy="80791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aixaDeTexto 11"/>
              <p:cNvSpPr txBox="1"/>
              <p:nvPr/>
            </p:nvSpPr>
            <p:spPr>
              <a:xfrm>
                <a:off x="7003056" y="4015788"/>
                <a:ext cx="4074257" cy="19899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pt-BR" sz="2800" b="0" i="1" baseline="-250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pt-BR" sz="2800" i="1" baseline="-250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1=</m:t>
                      </m:r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pt-BR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eqArr>
                              <m:eqArrPr>
                                <m:ctrlPr>
                                  <a:rPr lang="pt-BR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r>
                                  <m:rPr>
                                    <m:brk m:alnAt="7"/>
                                  </m:rPr>
                                  <a:rPr lang="pt-BR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pt-BR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1. </m:t>
                                </m:r>
                                <m:r>
                                  <a:rPr lang="pt-BR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pt-BR" sz="2800" i="1" baseline="-250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123</m:t>
                                </m:r>
                                <m:r>
                                  <a:rPr lang="pt-BR" sz="28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e>
                              <m:e>
                                <m:r>
                                  <m:rPr>
                                    <m:brk m:alnAt="7"/>
                                  </m:rPr>
                                  <a:rPr lang="pt-BR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pt-BR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2. </m:t>
                                </m:r>
                                <m:r>
                                  <a:rPr lang="pt-BR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pt-BR" sz="2800" i="1" baseline="-250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84       </m:t>
                                </m:r>
                              </m:e>
                              <m:e>
                                <m:r>
                                  <m:rPr>
                                    <m:brk m:alnAt="7"/>
                                  </m:rPr>
                                  <a:rPr lang="pt-BR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pt-BR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3. </m:t>
                                </m:r>
                                <m:r>
                                  <a:rPr lang="pt-BR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pt-BR" sz="2800" i="1" baseline="-250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56  </m:t>
                                </m:r>
                                <m:r>
                                  <a:rPr lang="pt-BR" sz="28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e>
                              <m:e>
                                <m:r>
                                  <m:rPr>
                                    <m:brk m:alnAt="7"/>
                                  </m:rPr>
                                  <a:rPr lang="pt-BR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pt-BR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4. </m:t>
                                </m:r>
                                <m:r>
                                  <a:rPr lang="pt-BR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pt-BR" sz="2800" i="1" baseline="-250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6         </m:t>
                                </m:r>
                              </m:e>
                              <m:e>
                                <m:r>
                                  <m:rPr>
                                    <m:brk m:alnAt="7"/>
                                  </m:rPr>
                                  <a:rPr lang="pt-BR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pt-BR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5. </m:t>
                                </m:r>
                                <m:r>
                                  <a:rPr lang="pt-BR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pt-BR" sz="2800" i="1" baseline="-250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8         </m:t>
                                </m:r>
                              </m:e>
                            </m:eqArr>
                          </m:e>
                          <m:e>
                            <m:eqArr>
                              <m:eqArrPr>
                                <m:ctrlPr>
                                  <a:rPr lang="pt-BR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r>
                                  <m:rPr>
                                    <m:brk m:alnAt="7"/>
                                  </m:rPr>
                                  <a:rPr lang="pt-BR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pt-BR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6. </m:t>
                                </m:r>
                                <m:r>
                                  <a:rPr lang="pt-BR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pt-BR" sz="2800" i="1" baseline="-250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9    </m:t>
                                </m:r>
                                <m:r>
                                  <a:rPr lang="pt-BR" sz="28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e>
                              <m:e>
                                <m:r>
                                  <m:rPr>
                                    <m:brk m:alnAt="7"/>
                                  </m:rPr>
                                  <a:rPr lang="pt-BR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pt-BR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7. </m:t>
                                </m:r>
                                <m:r>
                                  <a:rPr lang="pt-BR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pt-BR" sz="2800" i="1" baseline="-250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511   </m:t>
                                </m:r>
                              </m:e>
                              <m:e>
                                <m:r>
                                  <m:rPr>
                                    <m:brk m:alnAt="7"/>
                                  </m:rPr>
                                  <a:rPr lang="pt-BR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pt-BR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8. </m:t>
                                </m:r>
                                <m:r>
                                  <a:rPr lang="pt-BR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pt-BR" sz="2800" i="1" baseline="-250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129   </m:t>
                                </m:r>
                              </m:e>
                              <m:e>
                                <m:r>
                                  <m:rPr>
                                    <m:brk m:alnAt="7"/>
                                  </m:rPr>
                                  <a:rPr lang="pt-BR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pt-BR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9. </m:t>
                                </m:r>
                                <m:r>
                                  <a:rPr lang="pt-BR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pt-BR" sz="2800" i="1" baseline="-250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187   </m:t>
                                </m:r>
                              </m:e>
                              <m:e>
                                <m:r>
                                  <a:rPr lang="pt-BR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10. </m:t>
                                </m:r>
                                <m:r>
                                  <a:rPr lang="pt-BR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pt-BR" sz="2800" i="1" baseline="-250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25  </m:t>
                                </m:r>
                                <m:r>
                                  <a:rPr lang="pt-BR" sz="28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e>
                            </m:eqArr>
                          </m:e>
                        </m:mr>
                      </m:m>
                    </m:oMath>
                  </m:oMathPara>
                </a14:m>
                <a:endParaRPr lang="pt-BR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2" name="CaixaDeTexto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3056" y="4015788"/>
                <a:ext cx="4074257" cy="1989904"/>
              </a:xfrm>
              <a:prstGeom prst="rect">
                <a:avLst/>
              </a:prstGeom>
              <a:blipFill>
                <a:blip r:embed="rId4"/>
                <a:stretch>
                  <a:fillRect b="-368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851420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Conteúdo 8"/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pt-BR" sz="3600" dirty="0"/>
              <a:t>A precisão média ou </a:t>
            </a:r>
            <a:r>
              <a:rPr lang="pt-BR" sz="3600" b="1" i="1" dirty="0" err="1">
                <a:solidFill>
                  <a:srgbClr val="0070C0"/>
                </a:solidFill>
              </a:rPr>
              <a:t>average</a:t>
            </a:r>
            <a:r>
              <a:rPr lang="pt-BR" sz="3600" b="1" i="1" dirty="0">
                <a:solidFill>
                  <a:srgbClr val="0070C0"/>
                </a:solidFill>
              </a:rPr>
              <a:t> </a:t>
            </a:r>
            <a:r>
              <a:rPr lang="pt-BR" sz="3600" b="1" i="1" dirty="0" err="1">
                <a:solidFill>
                  <a:srgbClr val="0070C0"/>
                </a:solidFill>
              </a:rPr>
              <a:t>precision</a:t>
            </a:r>
            <a:r>
              <a:rPr lang="pt-BR" sz="3600" b="1" dirty="0"/>
              <a:t> </a:t>
            </a:r>
            <a:r>
              <a:rPr lang="pt-BR" sz="3600" dirty="0"/>
              <a:t>é a média das precisões </a:t>
            </a:r>
            <a:r>
              <a:rPr lang="pt-BR" sz="3600" dirty="0" err="1">
                <a:solidFill>
                  <a:srgbClr val="0070C0"/>
                </a:solidFill>
              </a:rPr>
              <a:t>p@k</a:t>
            </a:r>
            <a:r>
              <a:rPr lang="pt-BR" sz="3600" dirty="0"/>
              <a:t> obtidas quando cada item relevante for retornado</a:t>
            </a:r>
          </a:p>
          <a:p>
            <a:pPr lvl="1"/>
            <a:endParaRPr lang="pt-BR" sz="3144" b="1" dirty="0">
              <a:solidFill>
                <a:srgbClr val="0070C0"/>
              </a:solidFill>
            </a:endParaRPr>
          </a:p>
        </p:txBody>
      </p:sp>
      <p:sp>
        <p:nvSpPr>
          <p:cNvPr id="5" name="Título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i="1" dirty="0" err="1"/>
              <a:t>Average</a:t>
            </a:r>
            <a:r>
              <a:rPr lang="pt-BR" i="1" dirty="0"/>
              <a:t> </a:t>
            </a:r>
            <a:r>
              <a:rPr lang="pt-BR" i="1" dirty="0" err="1"/>
              <a:t>Precision</a:t>
            </a:r>
            <a:r>
              <a:rPr lang="pt-BR" i="1" dirty="0"/>
              <a:t> </a:t>
            </a:r>
            <a:r>
              <a:rPr lang="pt-BR" dirty="0"/>
              <a:t>(AP)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aixaDeTexto 10"/>
              <p:cNvSpPr txBox="1"/>
              <p:nvPr/>
            </p:nvSpPr>
            <p:spPr>
              <a:xfrm>
                <a:off x="7738964" y="3978574"/>
                <a:ext cx="4064639" cy="19899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pt-BR" sz="2800" i="1" baseline="-250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pt-BR" sz="2800" i="1" baseline="-250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1=</m:t>
                      </m:r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pt-BR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eqArr>
                              <m:eqArrPr>
                                <m:ctrlPr>
                                  <a:rPr lang="pt-BR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r>
                                  <m:rPr>
                                    <m:brk m:alnAt="7"/>
                                  </m:rPr>
                                  <a:rPr lang="pt-BR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pt-BR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1. </m:t>
                                </m:r>
                                <m:r>
                                  <a:rPr lang="pt-BR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pt-BR" sz="2800" i="1" baseline="-250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123</m:t>
                                </m:r>
                                <m:r>
                                  <a:rPr lang="pt-BR" sz="28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e>
                              <m:e>
                                <m:r>
                                  <m:rPr>
                                    <m:brk m:alnAt="7"/>
                                  </m:rPr>
                                  <a:rPr lang="pt-BR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pt-BR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2. </m:t>
                                </m:r>
                                <m:r>
                                  <a:rPr lang="pt-BR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pt-BR" sz="2800" i="1" baseline="-250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84       </m:t>
                                </m:r>
                              </m:e>
                              <m:e>
                                <m:r>
                                  <m:rPr>
                                    <m:brk m:alnAt="7"/>
                                  </m:rPr>
                                  <a:rPr lang="pt-BR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pt-BR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3. </m:t>
                                </m:r>
                                <m:r>
                                  <a:rPr lang="pt-BR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pt-BR" sz="2800" i="1" baseline="-250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56  </m:t>
                                </m:r>
                                <m:r>
                                  <a:rPr lang="pt-BR" sz="28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e>
                              <m:e>
                                <m:r>
                                  <m:rPr>
                                    <m:brk m:alnAt="7"/>
                                  </m:rPr>
                                  <a:rPr lang="pt-BR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pt-BR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4. </m:t>
                                </m:r>
                                <m:r>
                                  <a:rPr lang="pt-BR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pt-BR" sz="2800" i="1" baseline="-250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6         </m:t>
                                </m:r>
                              </m:e>
                              <m:e>
                                <m:r>
                                  <m:rPr>
                                    <m:brk m:alnAt="7"/>
                                  </m:rPr>
                                  <a:rPr lang="pt-BR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pt-BR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5. </m:t>
                                </m:r>
                                <m:r>
                                  <a:rPr lang="pt-BR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pt-BR" sz="2800" i="1" baseline="-250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8         </m:t>
                                </m:r>
                              </m:e>
                            </m:eqArr>
                          </m:e>
                          <m:e>
                            <m:eqArr>
                              <m:eqArrPr>
                                <m:ctrlPr>
                                  <a:rPr lang="pt-BR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r>
                                  <m:rPr>
                                    <m:brk m:alnAt="7"/>
                                  </m:rPr>
                                  <a:rPr lang="pt-BR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pt-BR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6. </m:t>
                                </m:r>
                                <m:r>
                                  <a:rPr lang="pt-BR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pt-BR" sz="2800" i="1" baseline="-250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9    </m:t>
                                </m:r>
                                <m:r>
                                  <a:rPr lang="pt-BR" sz="28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e>
                              <m:e>
                                <m:r>
                                  <m:rPr>
                                    <m:brk m:alnAt="7"/>
                                  </m:rPr>
                                  <a:rPr lang="pt-BR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pt-BR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7. </m:t>
                                </m:r>
                                <m:r>
                                  <a:rPr lang="pt-BR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pt-BR" sz="2800" i="1" baseline="-250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511   </m:t>
                                </m:r>
                              </m:e>
                              <m:e>
                                <m:r>
                                  <m:rPr>
                                    <m:brk m:alnAt="7"/>
                                  </m:rPr>
                                  <a:rPr lang="pt-BR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pt-BR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8. </m:t>
                                </m:r>
                                <m:r>
                                  <a:rPr lang="pt-BR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pt-BR" sz="2800" i="1" baseline="-250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129   </m:t>
                                </m:r>
                              </m:e>
                              <m:e>
                                <m:r>
                                  <m:rPr>
                                    <m:brk m:alnAt="7"/>
                                  </m:rPr>
                                  <a:rPr lang="pt-BR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pt-BR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9. </m:t>
                                </m:r>
                                <m:r>
                                  <a:rPr lang="pt-BR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pt-BR" sz="2800" i="1" baseline="-250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187   </m:t>
                                </m:r>
                              </m:e>
                              <m:e>
                                <m:r>
                                  <a:rPr lang="pt-BR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10. </m:t>
                                </m:r>
                                <m:r>
                                  <a:rPr lang="pt-BR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pt-BR" sz="2800" i="1" baseline="-250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25  </m:t>
                                </m:r>
                                <m:r>
                                  <a:rPr lang="pt-BR" sz="28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e>
                            </m:eqArr>
                          </m:e>
                        </m:mr>
                      </m:m>
                    </m:oMath>
                  </m:oMathPara>
                </a14:m>
                <a:endParaRPr lang="pt-BR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1" name="CaixaDeTexto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8964" y="3978574"/>
                <a:ext cx="4064639" cy="1989904"/>
              </a:xfrm>
              <a:prstGeom prst="rect">
                <a:avLst/>
              </a:prstGeom>
              <a:blipFill>
                <a:blip r:embed="rId2"/>
                <a:stretch>
                  <a:fillRect b="-337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/>
          <p:cNvSpPr txBox="1"/>
          <p:nvPr/>
        </p:nvSpPr>
        <p:spPr>
          <a:xfrm>
            <a:off x="917069" y="3950169"/>
            <a:ext cx="1867819" cy="20467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pt-BR" sz="2800" b="1" dirty="0">
                <a:solidFill>
                  <a:srgbClr val="0070C0"/>
                </a:solidFill>
              </a:rPr>
              <a:t>P@1 = 1</a:t>
            </a:r>
          </a:p>
          <a:p>
            <a:pPr>
              <a:spcAft>
                <a:spcPts val="600"/>
              </a:spcAft>
            </a:pPr>
            <a:r>
              <a:rPr lang="pt-BR" sz="2800" b="1" dirty="0">
                <a:solidFill>
                  <a:srgbClr val="0070C0"/>
                </a:solidFill>
              </a:rPr>
              <a:t>P@3 = 0.67</a:t>
            </a:r>
          </a:p>
          <a:p>
            <a:pPr>
              <a:spcAft>
                <a:spcPts val="600"/>
              </a:spcAft>
            </a:pPr>
            <a:r>
              <a:rPr lang="pt-BR" sz="2800" b="1" dirty="0">
                <a:solidFill>
                  <a:srgbClr val="0070C0"/>
                </a:solidFill>
              </a:rPr>
              <a:t>P@6 = 0.5</a:t>
            </a:r>
          </a:p>
          <a:p>
            <a:pPr>
              <a:spcAft>
                <a:spcPts val="600"/>
              </a:spcAft>
            </a:pPr>
            <a:r>
              <a:rPr lang="pt-BR" sz="2800" b="1" dirty="0">
                <a:solidFill>
                  <a:srgbClr val="0070C0"/>
                </a:solidFill>
              </a:rPr>
              <a:t>P@10 = 0.4</a:t>
            </a:r>
            <a:endParaRPr lang="pt-BR" sz="28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ixaDeTexto 6"/>
              <p:cNvSpPr txBox="1"/>
              <p:nvPr/>
            </p:nvSpPr>
            <p:spPr>
              <a:xfrm>
                <a:off x="3154269" y="3942667"/>
                <a:ext cx="4424224" cy="206171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𝑨𝑷</m:t>
                      </m:r>
                      <m:r>
                        <a:rPr lang="pt-BR" sz="28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pt-BR" sz="28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pt-BR" sz="28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pt-BR" sz="28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pt-BR" sz="28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pt-BR" sz="28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𝟔𝟕</m:t>
                          </m:r>
                          <m:r>
                            <a:rPr lang="pt-BR" sz="28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pt-BR" sz="28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pt-BR" sz="28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pt-BR" sz="28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  <m:r>
                            <a:rPr lang="pt-BR" sz="28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pt-BR" sz="28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pt-BR" sz="28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pt-BR" sz="28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num>
                        <m:den>
                          <m:r>
                            <a:rPr lang="pt-BR" sz="28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</m:oMath>
                  </m:oMathPara>
                </a14:m>
                <a:endParaRPr lang="pt-BR" sz="2800" b="1" i="1" dirty="0">
                  <a:solidFill>
                    <a:srgbClr val="0070C0"/>
                  </a:solidFill>
                  <a:latin typeface="Cambria Math" panose="02040503050406030204" pitchFamily="18" charset="0"/>
                </a:endParaRPr>
              </a:p>
              <a:p>
                <a:r>
                  <a:rPr lang="pt-BR" sz="2800" b="1" i="1" dirty="0">
                    <a:solidFill>
                      <a:srgbClr val="0070C0"/>
                    </a:solidFill>
                    <a:latin typeface="Cambria Math" panose="02040503050406030204" pitchFamily="18" charset="0"/>
                  </a:rPr>
                  <a:t>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𝑨𝑷</m:t>
                      </m:r>
                      <m:r>
                        <a:rPr lang="pt-BR" sz="28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pt-BR" sz="28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pt-BR" sz="28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pt-BR" sz="28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𝟓𝟕</m:t>
                          </m:r>
                        </m:num>
                        <m:den>
                          <m:r>
                            <a:rPr lang="pt-BR" sz="28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r>
                        <a:rPr lang="pt-BR" sz="28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8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pt-BR" sz="28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pt-BR" sz="28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𝟔𝟒𝟐</m:t>
                      </m:r>
                    </m:oMath>
                  </m:oMathPara>
                </a14:m>
                <a:endParaRPr lang="pt-BR" sz="2800" b="1" dirty="0">
                  <a:solidFill>
                    <a:srgbClr val="0070C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" name="CaixaDeTexto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4269" y="3942667"/>
                <a:ext cx="4424224" cy="206171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033515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Conteúdo 8"/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pt-BR" sz="3600" dirty="0"/>
              <a:t>É a </a:t>
            </a:r>
            <a:r>
              <a:rPr lang="pt-BR" sz="3600" b="1" dirty="0">
                <a:solidFill>
                  <a:srgbClr val="0070C0"/>
                </a:solidFill>
              </a:rPr>
              <a:t>média das precisões médias</a:t>
            </a:r>
            <a:r>
              <a:rPr lang="pt-BR" sz="3600" dirty="0"/>
              <a:t> (</a:t>
            </a:r>
            <a:r>
              <a:rPr lang="pt-BR" sz="3600" i="1" dirty="0" err="1"/>
              <a:t>average</a:t>
            </a:r>
            <a:r>
              <a:rPr lang="pt-BR" sz="3600" i="1" dirty="0"/>
              <a:t> </a:t>
            </a:r>
            <a:r>
              <a:rPr lang="pt-BR" sz="3600" i="1" dirty="0" err="1"/>
              <a:t>precision</a:t>
            </a:r>
            <a:r>
              <a:rPr lang="pt-BR" sz="3600" dirty="0"/>
              <a:t>) de todas as recomendações sugeridas para a avaliação de diversos usuários</a:t>
            </a:r>
          </a:p>
          <a:p>
            <a:pPr lvl="1"/>
            <a:r>
              <a:rPr lang="pt-BR" sz="3144" dirty="0"/>
              <a:t>Suponha a precisão média (AP) de 5 usuários</a:t>
            </a:r>
          </a:p>
        </p:txBody>
      </p:sp>
      <p:sp>
        <p:nvSpPr>
          <p:cNvPr id="5" name="Título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i="1" dirty="0" err="1"/>
              <a:t>Mean</a:t>
            </a:r>
            <a:r>
              <a:rPr lang="pt-BR" i="1" dirty="0"/>
              <a:t> </a:t>
            </a:r>
            <a:r>
              <a:rPr lang="pt-BR" i="1" dirty="0" err="1"/>
              <a:t>Average</a:t>
            </a:r>
            <a:r>
              <a:rPr lang="pt-BR" i="1" dirty="0"/>
              <a:t> </a:t>
            </a:r>
            <a:r>
              <a:rPr lang="pt-BR" i="1" dirty="0" err="1"/>
              <a:t>Precision</a:t>
            </a:r>
            <a:r>
              <a:rPr lang="pt-BR" i="1" dirty="0"/>
              <a:t> </a:t>
            </a:r>
            <a:r>
              <a:rPr lang="pt-BR" dirty="0"/>
              <a:t>(MAP)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ixaDeTexto 7"/>
              <p:cNvSpPr txBox="1"/>
              <p:nvPr/>
            </p:nvSpPr>
            <p:spPr>
              <a:xfrm>
                <a:off x="1672331" y="4448586"/>
                <a:ext cx="8847337" cy="20585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𝑴𝑨𝑷</m:t>
                      </m:r>
                      <m:r>
                        <a:rPr lang="pt-BR" sz="28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pt-BR" sz="28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pt-BR" sz="28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pt-BR" sz="28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𝟔𝟒𝟐</m:t>
                          </m:r>
                          <m:r>
                            <a:rPr lang="pt-BR" sz="28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 + </m:t>
                          </m:r>
                          <m:r>
                            <a:rPr lang="pt-BR" sz="28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pt-BR" sz="28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pt-BR" sz="28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𝟑𝟔𝟎</m:t>
                          </m:r>
                          <m:r>
                            <a:rPr lang="pt-BR" sz="28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 + </m:t>
                          </m:r>
                          <m:r>
                            <a:rPr lang="pt-BR" sz="28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pt-BR" sz="28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pt-BR" sz="28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𝟗𝟏𝟕</m:t>
                          </m:r>
                          <m:r>
                            <a:rPr lang="pt-BR" sz="28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 + </m:t>
                          </m:r>
                          <m:r>
                            <a:rPr lang="pt-BR" sz="28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pt-BR" sz="28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pt-BR" sz="28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𝟖𝟓𝟕</m:t>
                          </m:r>
                          <m:r>
                            <a:rPr lang="pt-BR" sz="28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 + </m:t>
                          </m:r>
                          <m:r>
                            <a:rPr lang="pt-BR" sz="28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pt-BR" sz="28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pt-BR" sz="28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𝟓𝟎𝟕</m:t>
                          </m:r>
                        </m:num>
                        <m:den>
                          <m:r>
                            <a:rPr lang="pt-BR" sz="28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den>
                      </m:f>
                    </m:oMath>
                  </m:oMathPara>
                </a14:m>
                <a:endParaRPr lang="pt-BR" sz="2800" b="1" i="1" dirty="0">
                  <a:solidFill>
                    <a:srgbClr val="0070C0"/>
                  </a:solidFill>
                  <a:latin typeface="Cambria Math" panose="02040503050406030204" pitchFamily="18" charset="0"/>
                </a:endParaRPr>
              </a:p>
              <a:p>
                <a:r>
                  <a:rPr lang="pt-BR" sz="2800" b="1" i="1" dirty="0">
                    <a:solidFill>
                      <a:srgbClr val="0070C0"/>
                    </a:solidFill>
                    <a:latin typeface="Cambria Math" panose="02040503050406030204" pitchFamily="18" charset="0"/>
                  </a:rPr>
                  <a:t>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𝑴</m:t>
                      </m:r>
                      <m:r>
                        <a:rPr lang="pt-BR" sz="28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𝑨𝑷</m:t>
                      </m:r>
                      <m:r>
                        <a:rPr lang="pt-BR" sz="28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pt-BR" sz="28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pt-BR" sz="28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pt-BR" sz="28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𝟐𝟖𝟑</m:t>
                          </m:r>
                        </m:num>
                        <m:den>
                          <m:r>
                            <a:rPr lang="pt-BR" sz="28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den>
                      </m:f>
                      <m:r>
                        <a:rPr lang="pt-BR" sz="28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8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pt-BR" sz="28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pt-BR" sz="28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𝟔𝟓𝟔</m:t>
                      </m:r>
                    </m:oMath>
                  </m:oMathPara>
                </a14:m>
                <a:endParaRPr lang="pt-BR" sz="2800" b="1" dirty="0">
                  <a:solidFill>
                    <a:srgbClr val="0070C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CaixaDeTexto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2331" y="4448586"/>
                <a:ext cx="8847337" cy="205857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727765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7810865"/>
      </p:ext>
    </p:extLst>
  </p:cSld>
  <p:clrMapOvr>
    <a:masterClrMapping/>
  </p:clrMapOvr>
</p:sld>
</file>

<file path=ppt/theme/theme1.xml><?xml version="1.0" encoding="utf-8"?>
<a:theme xmlns:a="http://schemas.openxmlformats.org/drawingml/2006/main" name="10_Personalizar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Personalizar design">
  <a:themeElements>
    <a:clrScheme name="Azul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6_Personalizar design">
  <a:themeElements>
    <a:clrScheme name="Azul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7_Personalizar design">
  <a:themeElements>
    <a:clrScheme name="Azul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7675</TotalTime>
  <Words>849</Words>
  <Application>Microsoft Office PowerPoint</Application>
  <PresentationFormat>Widescreen</PresentationFormat>
  <Paragraphs>130</Paragraphs>
  <Slides>17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4</vt:i4>
      </vt:variant>
      <vt:variant>
        <vt:lpstr>Títulos de slides</vt:lpstr>
      </vt:variant>
      <vt:variant>
        <vt:i4>17</vt:i4>
      </vt:variant>
    </vt:vector>
  </HeadingPairs>
  <TitlesOfParts>
    <vt:vector size="28" baseType="lpstr">
      <vt:lpstr>Wingdings</vt:lpstr>
      <vt:lpstr>Cambria Math</vt:lpstr>
      <vt:lpstr>Arial</vt:lpstr>
      <vt:lpstr>Montserrat</vt:lpstr>
      <vt:lpstr>Calibri</vt:lpstr>
      <vt:lpstr>Cronos Pro</vt:lpstr>
      <vt:lpstr>Aptos</vt:lpstr>
      <vt:lpstr>10_Personalizar design</vt:lpstr>
      <vt:lpstr>5_Personalizar design</vt:lpstr>
      <vt:lpstr>6_Personalizar design</vt:lpstr>
      <vt:lpstr>7_Personalizar design</vt:lpstr>
      <vt:lpstr>Avaliação da recomendação colaborativa</vt:lpstr>
      <vt:lpstr>Objetivos de Aprendizagem</vt:lpstr>
      <vt:lpstr>Avaliação das predições</vt:lpstr>
      <vt:lpstr>Apresentação do PowerPoint</vt:lpstr>
      <vt:lpstr>Avaliação baseada em ratings</vt:lpstr>
      <vt:lpstr>Avaliação baseada em ratings</vt:lpstr>
      <vt:lpstr>Apresentação do PowerPoint</vt:lpstr>
      <vt:lpstr>Avaliação baseada em ranking</vt:lpstr>
      <vt:lpstr>Apresentação do PowerPoint</vt:lpstr>
      <vt:lpstr>Precisão e Revocação</vt:lpstr>
      <vt:lpstr>Precisão e Revocação</vt:lpstr>
      <vt:lpstr>Precisão e Revocação</vt:lpstr>
      <vt:lpstr>Apresentação do PowerPoint</vt:lpstr>
      <vt:lpstr>Precisão em k (P@5, P@10...)</vt:lpstr>
      <vt:lpstr>Average Precision (AP)</vt:lpstr>
      <vt:lpstr>Mean Average Precision (MAP)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Fernando José Ferreira</dc:creator>
  <cp:lastModifiedBy>Humberto Mossri de Almeida</cp:lastModifiedBy>
  <cp:revision>169</cp:revision>
  <dcterms:created xsi:type="dcterms:W3CDTF">2025-06-11T21:44:24Z</dcterms:created>
  <dcterms:modified xsi:type="dcterms:W3CDTF">2026-01-30T15:40:10Z</dcterms:modified>
</cp:coreProperties>
</file>