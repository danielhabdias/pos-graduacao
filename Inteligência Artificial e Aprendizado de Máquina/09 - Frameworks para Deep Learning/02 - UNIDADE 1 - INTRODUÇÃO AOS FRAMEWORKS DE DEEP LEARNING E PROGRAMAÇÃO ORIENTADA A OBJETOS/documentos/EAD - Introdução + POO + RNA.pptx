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  <p:sldMasterId id="2147483652" r:id="rId5"/>
    <p:sldMasterId id="2147483656" r:id="rId6"/>
    <p:sldMasterId id="2147483658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</p:sldIdLst>
  <p:sldSz cy="6858000" cx="12192000"/>
  <p:notesSz cx="6858000" cy="9144000"/>
  <p:embeddedFontLst>
    <p:embeddedFont>
      <p:font typeface="Nunito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0" roundtripDataSignature="AMtx7miS63Do4KAJhRR7NAsCzo+t3kI+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70" Type="http://customschemas.google.com/relationships/presentationmetadata" Target="metadata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20" Type="http://schemas.openxmlformats.org/officeDocument/2006/relationships/slide" Target="slides/slide12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22" Type="http://schemas.openxmlformats.org/officeDocument/2006/relationships/slide" Target="slides/slide14.xml"/><Relationship Id="rId66" Type="http://schemas.openxmlformats.org/officeDocument/2006/relationships/font" Target="fonts/Nunito-regular.fntdata"/><Relationship Id="rId21" Type="http://schemas.openxmlformats.org/officeDocument/2006/relationships/slide" Target="slides/slide13.xml"/><Relationship Id="rId65" Type="http://schemas.openxmlformats.org/officeDocument/2006/relationships/slide" Target="slides/slide57.xml"/><Relationship Id="rId24" Type="http://schemas.openxmlformats.org/officeDocument/2006/relationships/slide" Target="slides/slide16.xml"/><Relationship Id="rId68" Type="http://schemas.openxmlformats.org/officeDocument/2006/relationships/font" Target="fonts/Nunito-italic.fntdata"/><Relationship Id="rId23" Type="http://schemas.openxmlformats.org/officeDocument/2006/relationships/slide" Target="slides/slide15.xml"/><Relationship Id="rId67" Type="http://schemas.openxmlformats.org/officeDocument/2006/relationships/font" Target="fonts/Nunito-bold.fntdata"/><Relationship Id="rId60" Type="http://schemas.openxmlformats.org/officeDocument/2006/relationships/slide" Target="slides/slide52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Nunito-boldItalic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slide" Target="slides/slide49.xml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59" Type="http://schemas.openxmlformats.org/officeDocument/2006/relationships/slide" Target="slides/slide51.xml"/><Relationship Id="rId14" Type="http://schemas.openxmlformats.org/officeDocument/2006/relationships/slide" Target="slides/slide6.xml"/><Relationship Id="rId58" Type="http://schemas.openxmlformats.org/officeDocument/2006/relationships/slide" Target="slides/slide5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8b3caa06f_0_5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18b3caa06f_0_5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8b3caa06f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18b3caa06f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8b3caa06f_0_5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18b3caa06f_0_5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8b3caa06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18b3caa06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8b3caa06f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18b3caa06f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8b3caa06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18b3caa06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8b3caa06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18b3caa06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8b3caa06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18b3caa06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18b3caa06f_0_5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18b3caa06f_0_5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8b3caa06f_0_5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18b3caa06f_0_5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8b3caa06f_0_5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18b3caa06f_0_5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8b3caa06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18b3caa06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8b3caa06f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18b3caa06f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8b3caa06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18b3caa06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18b3caa06f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18b3caa06f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8b3caa06f_0_5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18b3caa06f_0_5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18b3caa06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18b3caa06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18b3caa06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18b3caa06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18b3caa06f_0_5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18b3caa06f_0_5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8b3caa06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18b3caa06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18b3caa06f_0_4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18b3caa06f_0_4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8b3caa06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18b3caa06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18b3caa06f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18b3caa06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18b3caa06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18b3caa06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18b3caa06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18b3caa06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18b3caa06f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18b3caa06f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18b3caa06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18b3caa06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18b3caa06f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18b3caa06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8b3caa06f_0_5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18b3caa06f_0_5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18b3caa06f_0_5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18b3caa06f_0_5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18b3caa06f_0_4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18b3caa06f_0_4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18b3caa06f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18b3caa06f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18b3caa06f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18b3caa06f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18b3caa06f_0_4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18b3caa06f_0_4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18b3caa06f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18b3caa06f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18b3caa06f_0_4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18b3caa06f_0_4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18b3caa06f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18b3caa06f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18b3caa06f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18b3caa06f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18b3caa06f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18b3caa06f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18b3caa06f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18b3caa06f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18b3caa06f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18b3caa06f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18b3caa06f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18b3caa06f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18b3caa06f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18b3caa06f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18b3caa06f_0_5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18b3caa06f_0_5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18b3caa06f_0_4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18b3caa06f_0_4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18b3caa06f_0_3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18b3caa06f_0_3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18b3caa06f_0_4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18b3caa06f_0_4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8b3caa06f_0_4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18b3caa06f_0_4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18b3caa06f_0_4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18b3caa06f_0_4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18b3caa06f_0_4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18b3caa06f_0_4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18b3caa06f_0_4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18b3caa06f_0_4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18b3caa06f_0_4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18b3caa06f_0_4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18b3caa06f_0_4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18b3caa06f_0_4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18b3caa06f_0_4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18b3caa06f_0_4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18b3caa06f_0_4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18b3caa06f_0_4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">
  <p:cSld name="Layout Personalizado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>
  <p:cSld name="Texto e Título Vertical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>
  <p:cSld name="Texto e Título Vertical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18b3caa06f_0_27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Char char="●"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Char char="○"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Char char="■"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Char char="●"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Char char="○"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Char char="■"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Char char="●"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Char char="○"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Char char="■"/>
              <a:defRPr sz="6900"/>
            </a:lvl9pPr>
          </a:lstStyle>
          <a:p/>
        </p:txBody>
      </p:sp>
      <p:sp>
        <p:nvSpPr>
          <p:cNvPr id="28" name="Google Shape;28;g318b3caa06f_0_27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9" name="Google Shape;29;g318b3caa06f_0_2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18b3caa06f_0_27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32" name="Google Shape;32;g318b3caa06f_0_27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33" name="Google Shape;33;g318b3caa06f_0_27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>
  <p:cSld name="Texto e Título Vertical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18b3caa06f_0_33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44" name="Google Shape;44;g318b3caa06f_0_33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45" name="Google Shape;45;g318b3caa06f_0_33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18b3caa06f_0_339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" name="Google Shape;48;g318b3caa06f_0_3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18b3caa06f_0_34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1" name="Google Shape;51;g318b3caa06f_0_34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" name="Google Shape;52;g318b3caa06f_0_34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18b3caa06f_0_34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5" name="Google Shape;55;g318b3caa06f_0_346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6" name="Google Shape;56;g318b3caa06f_0_346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7" name="Google Shape;57;g318b3caa06f_0_3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8b3caa06f_0_35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0" name="Google Shape;60;g318b3caa06f_0_35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8b3caa06f_0_354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3" name="Google Shape;63;g318b3caa06f_0_354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4" name="Google Shape;64;g318b3caa06f_0_35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8b3caa06f_0_35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67" name="Google Shape;67;g318b3caa06f_0_3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8b3caa06f_0_361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18b3caa06f_0_361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71" name="Google Shape;71;g318b3caa06f_0_361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2" name="Google Shape;72;g318b3caa06f_0_361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73" name="Google Shape;73;g318b3caa06f_0_36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8b3caa06f_0_367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76" name="Google Shape;76;g318b3caa06f_0_36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18b3caa06f_0_370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79" name="Google Shape;79;g318b3caa06f_0_370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0" name="Google Shape;80;g318b3caa06f_0_37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8b3caa06f_0_37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2.jp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5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2" Type="http://schemas.openxmlformats.org/officeDocument/2006/relationships/theme" Target="../theme/theme6.xml"/><Relationship Id="rId9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0"/>
          <p:cNvPicPr preferRelativeResize="0"/>
          <p:nvPr/>
        </p:nvPicPr>
        <p:blipFill rotWithShape="1">
          <a:blip r:embed="rId2">
            <a:alphaModFix/>
          </a:blip>
          <a:srcRect b="0" l="48224" r="0" t="0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0"/>
          <p:cNvPicPr preferRelativeResize="0"/>
          <p:nvPr/>
        </p:nvPicPr>
        <p:blipFill rotWithShape="1">
          <a:blip r:embed="rId3">
            <a:alphaModFix/>
          </a:blip>
          <a:srcRect b="0" l="0" r="84922" t="6466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0"/>
          <p:cNvPicPr preferRelativeResize="0"/>
          <p:nvPr/>
        </p:nvPicPr>
        <p:blipFill rotWithShape="1">
          <a:blip r:embed="rId4">
            <a:alphaModFix/>
          </a:blip>
          <a:srcRect b="14790" l="0" r="-7020" t="0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0"/>
          <p:cNvSpPr/>
          <p:nvPr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B9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016"/>
            <a:ext cx="12192000" cy="686003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2"/>
          <p:cNvSpPr/>
          <p:nvPr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cap="flat" cmpd="sng" w="19050">
            <a:solidFill>
              <a:srgbClr val="CE7FC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12"/>
          <p:cNvPicPr preferRelativeResize="0"/>
          <p:nvPr/>
        </p:nvPicPr>
        <p:blipFill rotWithShape="1">
          <a:blip r:embed="rId2">
            <a:alphaModFix/>
          </a:blip>
          <a:srcRect b="14654" l="0" r="-1979" t="0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4"/>
          <p:cNvPicPr preferRelativeResize="0"/>
          <p:nvPr/>
        </p:nvPicPr>
        <p:blipFill rotWithShape="1">
          <a:blip r:embed="rId1">
            <a:alphaModFix/>
          </a:blip>
          <a:srcRect b="85244" l="0" r="0" t="0"/>
          <a:stretch/>
        </p:blipFill>
        <p:spPr>
          <a:xfrm>
            <a:off x="0" y="1"/>
            <a:ext cx="12192001" cy="1014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4"/>
          <p:cNvPicPr preferRelativeResize="0"/>
          <p:nvPr/>
        </p:nvPicPr>
        <p:blipFill rotWithShape="1">
          <a:blip r:embed="rId2">
            <a:alphaModFix/>
          </a:blip>
          <a:srcRect b="-5288" l="0" r="32048" t="-1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4"/>
          <p:cNvSpPr/>
          <p:nvPr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 cap="flat" cmpd="sng" w="12700">
            <a:solidFill>
              <a:srgbClr val="01BD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3"/>
    <p:sldLayoutId id="2147483654" r:id="rId4"/>
    <p:sldLayoutId id="214748365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B9E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0011"/>
            <a:ext cx="12192000" cy="6878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4"/>
          <p:cNvPicPr preferRelativeResize="0"/>
          <p:nvPr/>
        </p:nvPicPr>
        <p:blipFill rotWithShape="1">
          <a:blip r:embed="rId2">
            <a:alphaModFix/>
          </a:blip>
          <a:srcRect b="41409" l="39300" r="39575" t="26070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3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18b3caa06f_0_33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g318b3caa06f_0_33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" name="Google Shape;41;g318b3caa06f_0_3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21.png"/><Relationship Id="rId7" Type="http://schemas.openxmlformats.org/officeDocument/2006/relationships/image" Target="../media/image7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Trebuchet MS"/>
                <a:ea typeface="Trebuchet MS"/>
                <a:cs typeface="Trebuchet MS"/>
                <a:sym typeface="Trebuchet MS"/>
              </a:rPr>
              <a:t>Frameworks de Deep Learning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-2" y="3907113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01BDC4"/>
                </a:solidFill>
                <a:latin typeface="Trebuchet MS"/>
                <a:ea typeface="Trebuchet MS"/>
                <a:cs typeface="Trebuchet MS"/>
                <a:sym typeface="Trebuchet MS"/>
              </a:rPr>
              <a:t>Renan Santos Mendes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8b3caa06f_0_517"/>
          <p:cNvSpPr txBox="1"/>
          <p:nvPr/>
        </p:nvSpPr>
        <p:spPr>
          <a:xfrm>
            <a:off x="-1" y="2977119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18b3caa06f_0_3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397986">
            <a:off x="312028" y="5109796"/>
            <a:ext cx="8177100" cy="1914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18b3caa06f_0_3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77573">
            <a:off x="8175095" y="2775999"/>
            <a:ext cx="3987780" cy="3468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18b3caa06f_0_3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1212584">
            <a:off x="-54458" y="233422"/>
            <a:ext cx="6728082" cy="1320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18b3caa06f_0_3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862414">
            <a:off x="5005501" y="718584"/>
            <a:ext cx="7260470" cy="1156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18b3caa06f_0_3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899181">
            <a:off x="1178900" y="2390935"/>
            <a:ext cx="4398865" cy="207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18b3caa06f_0_3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908129">
            <a:off x="3971290" y="1797478"/>
            <a:ext cx="4554244" cy="1337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318b3caa06f_0_3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368667">
            <a:off x="4639088" y="3494512"/>
            <a:ext cx="4934031" cy="1305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8b3caa06f_0_513"/>
          <p:cNvSpPr txBox="1"/>
          <p:nvPr/>
        </p:nvSpPr>
        <p:spPr>
          <a:xfrm>
            <a:off x="-1" y="2519919"/>
            <a:ext cx="12192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Introdução ao uso </a:t>
            </a:r>
            <a:b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de Frameworks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8b3caa06f_0_18"/>
          <p:cNvSpPr txBox="1"/>
          <p:nvPr>
            <p:ph idx="1" type="body"/>
          </p:nvPr>
        </p:nvSpPr>
        <p:spPr>
          <a:xfrm>
            <a:off x="1128800" y="1510400"/>
            <a:ext cx="9374100" cy="42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82600" lvl="0" marL="6096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Frameworks de deep learning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são bibliotecas de software para criação, treinamento e implantação de modelos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de redes neurais profundas em tarefas de aprendizado de máquina.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Eles fornecem uma interface para definir, configurar e treinar modelos de deep learning, bem como realizar outras tarefas comuns.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18b3caa06f_0_18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 ao uso de Frameworks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8b3caa06f_0_383"/>
          <p:cNvSpPr txBox="1"/>
          <p:nvPr>
            <p:ph idx="1" type="body"/>
          </p:nvPr>
        </p:nvSpPr>
        <p:spPr>
          <a:xfrm>
            <a:off x="1128800" y="1434200"/>
            <a:ext cx="9374100" cy="42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82600" lvl="0" marL="609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Os frameworks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oferecem implementações eficientes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de algoritmos de backpropagation e outras técnicas de otimização, o que ajuda a acelerar o processo de treinamento.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Alguns exemplos de frameworks de deep learning populares incluem TensorFlow, PyTorch, Keras, Caffe, Theano, MXNet, entre outros.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18b3caa06f_0_383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 ao uso de Frameworks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8b3caa06f_0_23"/>
          <p:cNvSpPr txBox="1"/>
          <p:nvPr>
            <p:ph idx="1" type="body"/>
          </p:nvPr>
        </p:nvSpPr>
        <p:spPr>
          <a:xfrm>
            <a:off x="1128800" y="1205600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82600" lvl="0" marL="6096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Cada framework tem suas próprias características, pontos fortes e fracos, mas todos eles compartilham o objetivo comum de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 tornar mais fácil e acessível a criação de modelos de deep learning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poderosos e eficientes.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Diversas aplicações, como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visão computacional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NLP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speech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, entre outras áreas de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inteligência artificial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Permitem que pesquisadores e engenheiros criem modelos de deep learning mais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rapidamente 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e com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menos esforço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18b3caa06f_0_23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 ao uso de Frameworks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8b3caa06f_0_28"/>
          <p:cNvSpPr txBox="1"/>
          <p:nvPr>
            <p:ph idx="1" type="body"/>
          </p:nvPr>
        </p:nvSpPr>
        <p:spPr>
          <a:xfrm>
            <a:off x="1433600" y="2348600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0005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pt-BR"/>
              <a:t>Dados do Google Trends</a:t>
            </a:r>
            <a:endParaRPr/>
          </a:p>
        </p:txBody>
      </p:sp>
      <p:pic>
        <p:nvPicPr>
          <p:cNvPr id="133" name="Google Shape;133;g318b3caa06f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6500" y="1358028"/>
            <a:ext cx="9373999" cy="400137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18b3caa06f_0_28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 ao uso de Frameworks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8b3caa06f_0_34"/>
          <p:cNvSpPr txBox="1"/>
          <p:nvPr>
            <p:ph idx="1" type="body"/>
          </p:nvPr>
        </p:nvSpPr>
        <p:spPr>
          <a:xfrm>
            <a:off x="1433600" y="2348600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0005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pt-BR"/>
              <a:t>Dados do Google Trends</a:t>
            </a:r>
            <a:endParaRPr/>
          </a:p>
        </p:txBody>
      </p:sp>
      <p:pic>
        <p:nvPicPr>
          <p:cNvPr id="140" name="Google Shape;140;g318b3caa06f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933" y="2009100"/>
            <a:ext cx="11089103" cy="257974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18b3caa06f_0_34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 ao uso de Frameworks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18b3caa06f_0_539"/>
          <p:cNvSpPr txBox="1"/>
          <p:nvPr/>
        </p:nvSpPr>
        <p:spPr>
          <a:xfrm>
            <a:off x="-1" y="2917803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Introdução a POO</a:t>
            </a:r>
            <a:endParaRPr/>
          </a:p>
        </p:txBody>
      </p:sp>
      <p:sp>
        <p:nvSpPr>
          <p:cNvPr id="151" name="Google Shape;151;g318b3caa06f_0_539"/>
          <p:cNvSpPr txBox="1"/>
          <p:nvPr/>
        </p:nvSpPr>
        <p:spPr>
          <a:xfrm>
            <a:off x="-2" y="3907113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01BDC4"/>
                </a:solidFill>
                <a:latin typeface="Trebuchet MS"/>
                <a:ea typeface="Trebuchet MS"/>
                <a:cs typeface="Trebuchet MS"/>
                <a:sym typeface="Trebuchet MS"/>
              </a:rPr>
              <a:t>Renan Santos Mendes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8b3caa06f_0_509"/>
          <p:cNvSpPr txBox="1"/>
          <p:nvPr/>
        </p:nvSpPr>
        <p:spPr>
          <a:xfrm>
            <a:off x="-1" y="2519919"/>
            <a:ext cx="12192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Programação Orientada</a:t>
            </a:r>
            <a:b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a Objetos (POO)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8b3caa06f_0_44"/>
          <p:cNvSpPr txBox="1"/>
          <p:nvPr>
            <p:ph idx="1" type="body"/>
          </p:nvPr>
        </p:nvSpPr>
        <p:spPr>
          <a:xfrm>
            <a:off x="747800" y="1662800"/>
            <a:ext cx="105921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82600" lvl="0" marL="6096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Programação Orientada a Objetos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é um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paradigma de programação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baseado no conceito de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objetos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, que representam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entidades do mundo real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Os objetos possuem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propriedades 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(atributos) e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comportamentos 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(métodos) específicos.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O programa é organizado em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classes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, que são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modelos para a criação de objetos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, e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objetos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, que são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instâncias de uma classe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18b3caa06f_0_44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8b3caa06f_0_388"/>
          <p:cNvSpPr txBox="1"/>
          <p:nvPr>
            <p:ph idx="1" type="body"/>
          </p:nvPr>
        </p:nvSpPr>
        <p:spPr>
          <a:xfrm>
            <a:off x="747800" y="1510400"/>
            <a:ext cx="10592100" cy="4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Os objetos interagem entre si por meio de mensagens, que são enviadas de um objeto para outro.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Cada objeto possui seu próprio estado e comportamento, e pode se comunicar com outros objetos para realizar ações mais complexas.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18b3caa06f_0_388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8b3caa06f_0_49"/>
          <p:cNvSpPr txBox="1"/>
          <p:nvPr>
            <p:ph idx="1" type="body"/>
          </p:nvPr>
        </p:nvSpPr>
        <p:spPr>
          <a:xfrm>
            <a:off x="747800" y="1739000"/>
            <a:ext cx="105414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82600" lvl="0" marL="6096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A POO aumenta a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eficiência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modularidade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flexibilidade 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reutilização de código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em programas mais complexos.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Conceitos como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herança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encapsulamento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polimorfismo 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abstração 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permitem criar hierarquias de classes, esconder informações internas de uma classe, criar objetos com comportamentos diferentes a partir de uma mesma classe e simplificar o código ao definir interfaces mais abstratas.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18b3caa06f_0_49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8b3caa06f_0_393"/>
          <p:cNvSpPr txBox="1"/>
          <p:nvPr>
            <p:ph idx="1" type="body"/>
          </p:nvPr>
        </p:nvSpPr>
        <p:spPr>
          <a:xfrm>
            <a:off x="747800" y="1510400"/>
            <a:ext cx="10541400" cy="4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A POO é utilizada em diversas linguagens de programação, como Python, Java, C++, Ruby, entre outras.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É especialmente útil em projetos de grande escala, onde a organização e reutilização do código são essenciais.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18b3caa06f_0_393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18b3caa06f_0_505"/>
          <p:cNvSpPr txBox="1"/>
          <p:nvPr/>
        </p:nvSpPr>
        <p:spPr>
          <a:xfrm>
            <a:off x="-1" y="2977119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Conceitos Fundamentais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8b3caa06f_0_58"/>
          <p:cNvSpPr txBox="1"/>
          <p:nvPr>
            <p:ph idx="1" type="body"/>
          </p:nvPr>
        </p:nvSpPr>
        <p:spPr>
          <a:xfrm>
            <a:off x="824000" y="1434200"/>
            <a:ext cx="105789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82600" lvl="0" marL="6096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Classes e objetos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classes 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são estruturas que definem as características e comportamentos dos objetos. Os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objetos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, por sua vez, são instâncias de uma classe, ou seja, são criados a partir de uma classe.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Atributos e métodos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atributos 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são as </a:t>
            </a:r>
            <a:r>
              <a:rPr lang="pt-BR" sz="2800" u="sng">
                <a:latin typeface="Calibri"/>
                <a:ea typeface="Calibri"/>
                <a:cs typeface="Calibri"/>
                <a:sym typeface="Calibri"/>
              </a:rPr>
              <a:t>características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dos objetos, como nome, idade, cor, entre outros. Já os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métodos 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são as </a:t>
            </a:r>
            <a:r>
              <a:rPr lang="pt-BR" sz="2800" u="sng">
                <a:latin typeface="Calibri"/>
                <a:ea typeface="Calibri"/>
                <a:cs typeface="Calibri"/>
                <a:sym typeface="Calibri"/>
              </a:rPr>
              <a:t>ações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que os objetos podem realizar, como andar, falar, calcular, entre outros.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609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18b3caa06f_0_58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18b3caa06f_0_63"/>
          <p:cNvSpPr txBox="1"/>
          <p:nvPr>
            <p:ph idx="1" type="body"/>
          </p:nvPr>
        </p:nvSpPr>
        <p:spPr>
          <a:xfrm>
            <a:off x="824000" y="1319025"/>
            <a:ext cx="10439700" cy="3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82600" lvl="0" marL="6096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Herança: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é o processo de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criar uma nova classe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 partir de uma classe existente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, mantendo suas características e comportamentos. A nova classe </a:t>
            </a:r>
            <a:r>
              <a:rPr lang="pt-BR" sz="2800" u="sng">
                <a:latin typeface="Calibri"/>
                <a:ea typeface="Calibri"/>
                <a:cs typeface="Calibri"/>
                <a:sym typeface="Calibri"/>
              </a:rPr>
              <a:t>pode adicionar novos atributos e métodos ou sobrescrever os existentes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Encapsulamento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 é o princípio de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esconder a implementação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de um objeto de outros objetos. É possível tornar certos atributos e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métodos privados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, para que só possam ser </a:t>
            </a:r>
            <a:r>
              <a:rPr lang="pt-BR" sz="2800" u="sng">
                <a:latin typeface="Calibri"/>
                <a:ea typeface="Calibri"/>
                <a:cs typeface="Calibri"/>
                <a:sym typeface="Calibri"/>
              </a:rPr>
              <a:t>acessados e modificados pela própria classe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609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2800"/>
          </a:p>
        </p:txBody>
      </p:sp>
      <p:sp>
        <p:nvSpPr>
          <p:cNvPr id="197" name="Google Shape;197;g318b3caa06f_0_63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18b3caa06f_0_501"/>
          <p:cNvSpPr txBox="1"/>
          <p:nvPr/>
        </p:nvSpPr>
        <p:spPr>
          <a:xfrm>
            <a:off x="-1" y="2977119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Classes X Objetos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g318b3caa06f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867" y="1688624"/>
            <a:ext cx="3836733" cy="3075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18b3caa06f_0_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9500" y="1814835"/>
            <a:ext cx="3836734" cy="280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18b3caa06f_0_72"/>
          <p:cNvSpPr/>
          <p:nvPr/>
        </p:nvSpPr>
        <p:spPr>
          <a:xfrm>
            <a:off x="5087300" y="2745633"/>
            <a:ext cx="1397100" cy="44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6A5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18b3caa06f_0_72"/>
          <p:cNvSpPr txBox="1"/>
          <p:nvPr/>
        </p:nvSpPr>
        <p:spPr>
          <a:xfrm>
            <a:off x="2444033" y="1153067"/>
            <a:ext cx="1170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Classe</a:t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1" name="Google Shape;211;g318b3caa06f_0_72"/>
          <p:cNvSpPr txBox="1"/>
          <p:nvPr/>
        </p:nvSpPr>
        <p:spPr>
          <a:xfrm>
            <a:off x="8027600" y="1153067"/>
            <a:ext cx="1039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Objeto</a:t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2" name="Google Shape;212;g318b3caa06f_0_72"/>
          <p:cNvSpPr txBox="1"/>
          <p:nvPr/>
        </p:nvSpPr>
        <p:spPr>
          <a:xfrm>
            <a:off x="5087300" y="2014933"/>
            <a:ext cx="139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Criação de </a:t>
            </a:r>
            <a:br>
              <a:rPr b="0" i="0" lang="pt-BR" sz="13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0" i="0" lang="pt-BR" sz="13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Uma Instância</a:t>
            </a:r>
            <a:endParaRPr b="0" i="0" sz="13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g318b3caa06f_0_72"/>
          <p:cNvSpPr txBox="1"/>
          <p:nvPr/>
        </p:nvSpPr>
        <p:spPr>
          <a:xfrm>
            <a:off x="1958833" y="4743984"/>
            <a:ext cx="2140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Planta → Projeto</a:t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4" name="Google Shape;214;g318b3caa06f_0_72"/>
          <p:cNvSpPr txBox="1"/>
          <p:nvPr/>
        </p:nvSpPr>
        <p:spPr>
          <a:xfrm>
            <a:off x="7476800" y="4751500"/>
            <a:ext cx="2140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Casa → Instância</a:t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5" name="Google Shape;215;g318b3caa06f_0_72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18b3caa06f_0_497"/>
          <p:cNvSpPr txBox="1"/>
          <p:nvPr/>
        </p:nvSpPr>
        <p:spPr>
          <a:xfrm>
            <a:off x="-1" y="2977119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Como é feito em Python?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g318b3caa06f_0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851" y="2093000"/>
            <a:ext cx="88011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18b3caa06f_0_88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 - Implementação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g318b3caa06f_0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851" y="2093000"/>
            <a:ext cx="88011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18b3caa06f_0_93"/>
          <p:cNvSpPr/>
          <p:nvPr/>
        </p:nvSpPr>
        <p:spPr>
          <a:xfrm>
            <a:off x="2024867" y="2034733"/>
            <a:ext cx="2802900" cy="457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g318b3caa06f_0_93"/>
          <p:cNvCxnSpPr>
            <a:stCxn id="234" idx="1"/>
            <a:endCxn id="232" idx="3"/>
          </p:cNvCxnSpPr>
          <p:nvPr/>
        </p:nvCxnSpPr>
        <p:spPr>
          <a:xfrm flipH="1">
            <a:off x="4827833" y="1497933"/>
            <a:ext cx="1063800" cy="765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4" name="Google Shape;234;g318b3caa06f_0_93"/>
          <p:cNvSpPr txBox="1"/>
          <p:nvPr/>
        </p:nvSpPr>
        <p:spPr>
          <a:xfrm>
            <a:off x="5891633" y="1228533"/>
            <a:ext cx="2235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Criação da Classe</a:t>
            </a:r>
            <a:endParaRPr b="1" i="0" sz="1900" u="none" cap="none" strike="noStrike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5" name="Google Shape;235;g318b3caa06f_0_93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 - Implementação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318b3caa06f_0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851" y="2093000"/>
            <a:ext cx="88011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18b3caa06f_0_101"/>
          <p:cNvSpPr/>
          <p:nvPr/>
        </p:nvSpPr>
        <p:spPr>
          <a:xfrm>
            <a:off x="2487100" y="2453900"/>
            <a:ext cx="5823300" cy="1332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g318b3caa06f_0_101"/>
          <p:cNvCxnSpPr>
            <a:stCxn id="243" idx="1"/>
            <a:endCxn id="241" idx="3"/>
          </p:cNvCxnSpPr>
          <p:nvPr/>
        </p:nvCxnSpPr>
        <p:spPr>
          <a:xfrm flipH="1">
            <a:off x="8310433" y="1687700"/>
            <a:ext cx="1293600" cy="143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" name="Google Shape;243;g318b3caa06f_0_101"/>
          <p:cNvSpPr txBox="1"/>
          <p:nvPr/>
        </p:nvSpPr>
        <p:spPr>
          <a:xfrm>
            <a:off x="9604033" y="1272200"/>
            <a:ext cx="1508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Criação do </a:t>
            </a:r>
            <a:b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Construtor</a:t>
            </a:r>
            <a:endParaRPr b="1" i="0" sz="1900" u="none" cap="none" strike="noStrike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4" name="Google Shape;244;g318b3caa06f_0_101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 - Implementação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g318b3caa06f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851" y="2093000"/>
            <a:ext cx="88011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18b3caa06f_0_109"/>
          <p:cNvSpPr/>
          <p:nvPr/>
        </p:nvSpPr>
        <p:spPr>
          <a:xfrm>
            <a:off x="4365267" y="2453900"/>
            <a:ext cx="612900" cy="317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g318b3caa06f_0_109"/>
          <p:cNvCxnSpPr>
            <a:stCxn id="252" idx="1"/>
            <a:endCxn id="250" idx="3"/>
          </p:cNvCxnSpPr>
          <p:nvPr/>
        </p:nvCxnSpPr>
        <p:spPr>
          <a:xfrm flipH="1">
            <a:off x="4978033" y="1687700"/>
            <a:ext cx="1831200" cy="925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2" name="Google Shape;252;g318b3caa06f_0_109"/>
          <p:cNvSpPr txBox="1"/>
          <p:nvPr/>
        </p:nvSpPr>
        <p:spPr>
          <a:xfrm>
            <a:off x="6809233" y="1272200"/>
            <a:ext cx="1831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Uso da Palavra “self”</a:t>
            </a:r>
            <a:endParaRPr b="1" i="0" sz="1900" u="none" cap="none" strike="noStrike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3" name="Google Shape;253;g318b3caa06f_0_109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 - Implementação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g318b3caa06f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851" y="2093000"/>
            <a:ext cx="88011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18b3caa06f_0_117"/>
          <p:cNvSpPr/>
          <p:nvPr/>
        </p:nvSpPr>
        <p:spPr>
          <a:xfrm>
            <a:off x="3075367" y="2782367"/>
            <a:ext cx="2880900" cy="1004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g318b3caa06f_0_117"/>
          <p:cNvCxnSpPr>
            <a:stCxn id="261" idx="1"/>
            <a:endCxn id="259" idx="3"/>
          </p:cNvCxnSpPr>
          <p:nvPr/>
        </p:nvCxnSpPr>
        <p:spPr>
          <a:xfrm flipH="1">
            <a:off x="5956300" y="1612467"/>
            <a:ext cx="1616100" cy="167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1" name="Google Shape;261;g318b3caa06f_0_117"/>
          <p:cNvSpPr txBox="1"/>
          <p:nvPr/>
        </p:nvSpPr>
        <p:spPr>
          <a:xfrm>
            <a:off x="7572400" y="1196967"/>
            <a:ext cx="1616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Criação dos </a:t>
            </a:r>
            <a:b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Atributos</a:t>
            </a:r>
            <a:endParaRPr b="1" i="0" sz="1900" u="none" cap="none" strike="noStrike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2" name="Google Shape;262;g318b3caa06f_0_117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 - Implementação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g318b3caa06f_0_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851" y="2093000"/>
            <a:ext cx="88011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18b3caa06f_0_125"/>
          <p:cNvSpPr/>
          <p:nvPr/>
        </p:nvSpPr>
        <p:spPr>
          <a:xfrm>
            <a:off x="2419667" y="4093767"/>
            <a:ext cx="8249700" cy="713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g318b3caa06f_0_125"/>
          <p:cNvCxnSpPr>
            <a:stCxn id="270" idx="3"/>
            <a:endCxn id="268" idx="2"/>
          </p:cNvCxnSpPr>
          <p:nvPr/>
        </p:nvCxnSpPr>
        <p:spPr>
          <a:xfrm flipH="1" rot="10800000">
            <a:off x="5149967" y="4807601"/>
            <a:ext cx="1394700" cy="71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" name="Google Shape;270;g318b3caa06f_0_125"/>
          <p:cNvSpPr txBox="1"/>
          <p:nvPr/>
        </p:nvSpPr>
        <p:spPr>
          <a:xfrm>
            <a:off x="3533567" y="5107901"/>
            <a:ext cx="1616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Criação dos </a:t>
            </a:r>
            <a:b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Métodos</a:t>
            </a:r>
            <a:endParaRPr b="1" i="0" sz="1900" u="none" cap="none" strike="noStrike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1" name="Google Shape;271;g318b3caa06f_0_125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 - Implementação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318b3caa06f_0_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851" y="2093000"/>
            <a:ext cx="88011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18b3caa06f_0_133"/>
          <p:cNvSpPr/>
          <p:nvPr/>
        </p:nvSpPr>
        <p:spPr>
          <a:xfrm>
            <a:off x="4268500" y="4491500"/>
            <a:ext cx="1616400" cy="315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g318b3caa06f_0_133"/>
          <p:cNvCxnSpPr>
            <a:stCxn id="279" idx="1"/>
            <a:endCxn id="277" idx="2"/>
          </p:cNvCxnSpPr>
          <p:nvPr/>
        </p:nvCxnSpPr>
        <p:spPr>
          <a:xfrm rot="10800000">
            <a:off x="5076600" y="4807400"/>
            <a:ext cx="1019400" cy="444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9" name="Google Shape;279;g318b3caa06f_0_133"/>
          <p:cNvSpPr txBox="1"/>
          <p:nvPr/>
        </p:nvSpPr>
        <p:spPr>
          <a:xfrm>
            <a:off x="6096000" y="4836800"/>
            <a:ext cx="2622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Uso dos Atributos dentro dos métodos</a:t>
            </a:r>
            <a:endParaRPr b="1" i="0" sz="1900" u="none" cap="none" strike="noStrike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0" name="Google Shape;280;g318b3caa06f_0_133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 - Implementação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18b3caa06f_0_530"/>
          <p:cNvSpPr txBox="1"/>
          <p:nvPr/>
        </p:nvSpPr>
        <p:spPr>
          <a:xfrm>
            <a:off x="-1" y="2917803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Trebuchet MS"/>
                <a:ea typeface="Trebuchet MS"/>
                <a:cs typeface="Trebuchet MS"/>
                <a:sym typeface="Trebuchet MS"/>
              </a:rPr>
              <a:t>Redes Neurais Artificiais</a:t>
            </a:r>
            <a:endParaRPr/>
          </a:p>
        </p:txBody>
      </p:sp>
      <p:sp>
        <p:nvSpPr>
          <p:cNvPr id="290" name="Google Shape;290;g318b3caa06f_0_530"/>
          <p:cNvSpPr txBox="1"/>
          <p:nvPr/>
        </p:nvSpPr>
        <p:spPr>
          <a:xfrm>
            <a:off x="-2" y="3907113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01BDC4"/>
                </a:solidFill>
                <a:latin typeface="Trebuchet MS"/>
                <a:ea typeface="Trebuchet MS"/>
                <a:cs typeface="Trebuchet MS"/>
                <a:sym typeface="Trebuchet MS"/>
              </a:rPr>
              <a:t>Renan Santos Mendes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18b3caa06f_0_493"/>
          <p:cNvSpPr txBox="1"/>
          <p:nvPr/>
        </p:nvSpPr>
        <p:spPr>
          <a:xfrm>
            <a:off x="-1" y="2977119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Neurônio Artificial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g318b3caa06f_0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6100" y="1381150"/>
            <a:ext cx="4829675" cy="406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18b3caa06f_0_150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Neurônio Artificial</a:t>
            </a:r>
            <a:endParaRPr/>
          </a:p>
        </p:txBody>
      </p:sp>
      <p:sp>
        <p:nvSpPr>
          <p:cNvPr id="302" name="Google Shape;302;g318b3caa06f_0_150"/>
          <p:cNvSpPr txBox="1"/>
          <p:nvPr/>
        </p:nvSpPr>
        <p:spPr>
          <a:xfrm>
            <a:off x="645459" y="5444203"/>
            <a:ext cx="1087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Silva, N., et al. (2009). Detecção de intrusões baseada em user profiling e redes neurais. </a:t>
            </a:r>
            <a:endParaRPr i="1" sz="13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Adaptado por Renan Santos Mendes, 2024.</a:t>
            </a:r>
            <a:endParaRPr i="1" sz="13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18b3caa06f_0_155"/>
          <p:cNvSpPr txBox="1"/>
          <p:nvPr>
            <p:ph idx="1" type="body"/>
          </p:nvPr>
        </p:nvSpPr>
        <p:spPr>
          <a:xfrm>
            <a:off x="720400" y="1384225"/>
            <a:ext cx="106965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Elementos básicos do neurônio artificial: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Conjunto de sinapses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em que cada uma é caracterizada por um peso (ou força) entre os neurônios com valores podendo ser positivos ou negativos;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Somador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para agregar os sinais que chegam ao neurônio, ponderados pelos respectivos pesos (combinação linear);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Função de ativação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que limita a amplitude da saída de um neurônio.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18b3caa06f_0_155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Neurônio Artificial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8b3caa06f_0_489"/>
          <p:cNvSpPr txBox="1"/>
          <p:nvPr/>
        </p:nvSpPr>
        <p:spPr>
          <a:xfrm>
            <a:off x="-1" y="2977119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Rede Neural Artificial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g318b3caa06f_0_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1117" y="1882333"/>
            <a:ext cx="5143821" cy="3747134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18b3caa06f_0_164"/>
          <p:cNvSpPr/>
          <p:nvPr/>
        </p:nvSpPr>
        <p:spPr>
          <a:xfrm>
            <a:off x="3246767" y="1992533"/>
            <a:ext cx="992700" cy="710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320;g318b3caa06f_0_164"/>
          <p:cNvCxnSpPr>
            <a:endCxn id="319" idx="1"/>
          </p:cNvCxnSpPr>
          <p:nvPr/>
        </p:nvCxnSpPr>
        <p:spPr>
          <a:xfrm flipH="1" rot="10800000">
            <a:off x="2074667" y="2347883"/>
            <a:ext cx="1172100" cy="48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1" name="Google Shape;321;g318b3caa06f_0_164"/>
          <p:cNvSpPr txBox="1"/>
          <p:nvPr/>
        </p:nvSpPr>
        <p:spPr>
          <a:xfrm>
            <a:off x="-227767" y="2537033"/>
            <a:ext cx="3318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Neurônio</a:t>
            </a:r>
            <a:b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Artificial</a:t>
            </a:r>
            <a:endParaRPr b="1" i="0" sz="1900" u="none" cap="none" strike="noStrike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2" name="Google Shape;322;g318b3caa06f_0_164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Rede Neural Artificial</a:t>
            </a:r>
            <a:endParaRPr/>
          </a:p>
        </p:txBody>
      </p:sp>
      <p:sp>
        <p:nvSpPr>
          <p:cNvPr id="323" name="Google Shape;323;g318b3caa06f_0_164"/>
          <p:cNvSpPr txBox="1"/>
          <p:nvPr/>
        </p:nvSpPr>
        <p:spPr>
          <a:xfrm>
            <a:off x="645459" y="5444203"/>
            <a:ext cx="1087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IVANOV, V. A. et al. A neural-network-based competition between short-lived particle candidates in the CBM experiment at FAIR.</a:t>
            </a:r>
            <a:endParaRPr i="1" sz="13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Journal of Physics: Conference Series, v. 1690, n. 1, p. 012090, 2020. Adaptado por Renan Santos Mendes, 2024.</a:t>
            </a:r>
            <a:endParaRPr i="1" sz="13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18b3caa06f_0_485"/>
          <p:cNvSpPr txBox="1"/>
          <p:nvPr/>
        </p:nvSpPr>
        <p:spPr>
          <a:xfrm>
            <a:off x="-1" y="2977119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Nomenclatura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18b3caa06f_0_176"/>
          <p:cNvSpPr txBox="1"/>
          <p:nvPr>
            <p:ph idx="1" type="body"/>
          </p:nvPr>
        </p:nvSpPr>
        <p:spPr>
          <a:xfrm>
            <a:off x="644200" y="1993825"/>
            <a:ext cx="10670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Camada de entrada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 camada pela qual os dados entram na rede;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Camada oculta: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uma ou mais camadas intermediárias;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Camada de saída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 camada por onde o processamento feito pela rede é obtido;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Conexões: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ligações entre os neurônios (pesos da rede).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34" name="Google Shape;334;g318b3caa06f_0_176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Nomenclatura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g318b3caa06f_0_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1117" y="1882333"/>
            <a:ext cx="5143821" cy="3747134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18b3caa06f_0_181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Nomenclatura</a:t>
            </a:r>
            <a:endParaRPr/>
          </a:p>
        </p:txBody>
      </p:sp>
      <p:sp>
        <p:nvSpPr>
          <p:cNvPr id="341" name="Google Shape;341;g318b3caa06f_0_181"/>
          <p:cNvSpPr txBox="1"/>
          <p:nvPr/>
        </p:nvSpPr>
        <p:spPr>
          <a:xfrm>
            <a:off x="645459" y="5444203"/>
            <a:ext cx="1087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IVANOV, V. A. et al. A neural-network-based competition between short-lived particle candidates in the CBM experiment at FAIR.</a:t>
            </a:r>
            <a:endParaRPr i="1" sz="13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Journal of Physics: Conference Series, v. 1690, n. 1, p. 012090, 2020. Adaptado por Renan Santos Mendes, 2024.</a:t>
            </a:r>
            <a:endParaRPr i="1" sz="13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g318b3caa06f_0_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1117" y="1882333"/>
            <a:ext cx="5143821" cy="37471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7" name="Google Shape;347;g318b3caa06f_0_186"/>
          <p:cNvCxnSpPr/>
          <p:nvPr/>
        </p:nvCxnSpPr>
        <p:spPr>
          <a:xfrm>
            <a:off x="2129167" y="3546867"/>
            <a:ext cx="992700" cy="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g318b3caa06f_0_186"/>
          <p:cNvSpPr txBox="1"/>
          <p:nvPr/>
        </p:nvSpPr>
        <p:spPr>
          <a:xfrm>
            <a:off x="-459500" y="3167267"/>
            <a:ext cx="3318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3300" u="none" cap="none" strike="noStrike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Dados</a:t>
            </a:r>
            <a:endParaRPr b="1" i="0" sz="3300" u="none" cap="none" strike="noStrike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49" name="Google Shape;349;g318b3caa06f_0_186"/>
          <p:cNvCxnSpPr/>
          <p:nvPr/>
        </p:nvCxnSpPr>
        <p:spPr>
          <a:xfrm>
            <a:off x="8936367" y="3546867"/>
            <a:ext cx="992700" cy="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0" name="Google Shape;350;g318b3caa06f_0_186"/>
          <p:cNvSpPr txBox="1"/>
          <p:nvPr/>
        </p:nvSpPr>
        <p:spPr>
          <a:xfrm>
            <a:off x="9145367" y="3167267"/>
            <a:ext cx="3318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3300" u="none" cap="none" strike="noStrike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Saída</a:t>
            </a:r>
            <a:endParaRPr b="1" i="0" sz="3300" u="none" cap="none" strike="noStrike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1" name="Google Shape;351;g318b3caa06f_0_186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Nomenclatura</a:t>
            </a:r>
            <a:endParaRPr/>
          </a:p>
        </p:txBody>
      </p:sp>
      <p:sp>
        <p:nvSpPr>
          <p:cNvPr id="352" name="Google Shape;352;g318b3caa06f_0_186"/>
          <p:cNvSpPr txBox="1"/>
          <p:nvPr/>
        </p:nvSpPr>
        <p:spPr>
          <a:xfrm>
            <a:off x="645459" y="5444203"/>
            <a:ext cx="1087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IVANOV, V. A. et al. A neural-network-based competition between short-lived particle candidates in the CBM experiment at FAIR.</a:t>
            </a:r>
            <a:endParaRPr i="1" sz="13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Journal of Physics: Conference Series, v. 1690, n. 1, p. 012090, 2020. Adaptado por Renan Santos Mendes, 2024.</a:t>
            </a:r>
            <a:endParaRPr i="1" sz="13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g318b3caa06f_0_1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1117" y="1882333"/>
            <a:ext cx="5143821" cy="3747134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18b3caa06f_0_195"/>
          <p:cNvSpPr/>
          <p:nvPr/>
        </p:nvSpPr>
        <p:spPr>
          <a:xfrm>
            <a:off x="3246767" y="1992533"/>
            <a:ext cx="992700" cy="3396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" name="Google Shape;359;g318b3caa06f_0_195"/>
          <p:cNvCxnSpPr>
            <a:endCxn id="358" idx="1"/>
          </p:cNvCxnSpPr>
          <p:nvPr/>
        </p:nvCxnSpPr>
        <p:spPr>
          <a:xfrm>
            <a:off x="2206067" y="2606183"/>
            <a:ext cx="1040700" cy="1084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0" name="Google Shape;360;g318b3caa06f_0_195"/>
          <p:cNvSpPr txBox="1"/>
          <p:nvPr/>
        </p:nvSpPr>
        <p:spPr>
          <a:xfrm>
            <a:off x="-72033" y="1882333"/>
            <a:ext cx="3318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Camada de</a:t>
            </a:r>
            <a:b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Entrada</a:t>
            </a:r>
            <a:endParaRPr b="1" i="0" sz="1900" u="none" cap="none" strike="noStrike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1" name="Google Shape;361;g318b3caa06f_0_195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Nomenclatura</a:t>
            </a:r>
            <a:endParaRPr/>
          </a:p>
        </p:txBody>
      </p:sp>
      <p:sp>
        <p:nvSpPr>
          <p:cNvPr id="362" name="Google Shape;362;g318b3caa06f_0_195"/>
          <p:cNvSpPr txBox="1"/>
          <p:nvPr/>
        </p:nvSpPr>
        <p:spPr>
          <a:xfrm>
            <a:off x="645459" y="5444203"/>
            <a:ext cx="1087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IVANOV, V. A. et al. A neural-network-based competition between short-lived particle candidates in the CBM experiment at FAIR.</a:t>
            </a:r>
            <a:endParaRPr i="1" sz="13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Journal of Physics: Conference Series, v. 1690, n. 1, p. 012090, 2020. Adaptado por Renan Santos Mendes, 2024.</a:t>
            </a:r>
            <a:endParaRPr i="1" sz="13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g318b3caa06f_0_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1117" y="1882333"/>
            <a:ext cx="5143821" cy="374713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18b3caa06f_0_203"/>
          <p:cNvSpPr/>
          <p:nvPr/>
        </p:nvSpPr>
        <p:spPr>
          <a:xfrm>
            <a:off x="4374525" y="1882325"/>
            <a:ext cx="3318900" cy="3561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" name="Google Shape;369;g318b3caa06f_0_203"/>
          <p:cNvCxnSpPr/>
          <p:nvPr/>
        </p:nvCxnSpPr>
        <p:spPr>
          <a:xfrm flipH="1">
            <a:off x="7834975" y="1612000"/>
            <a:ext cx="1252500" cy="316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0" name="Google Shape;370;g318b3caa06f_0_203"/>
          <p:cNvSpPr txBox="1"/>
          <p:nvPr/>
        </p:nvSpPr>
        <p:spPr>
          <a:xfrm>
            <a:off x="8169100" y="1148867"/>
            <a:ext cx="3318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Camadas </a:t>
            </a:r>
            <a:b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Ocultas</a:t>
            </a:r>
            <a:endParaRPr b="1" i="0" sz="1900" u="none" cap="none" strike="noStrike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1" name="Google Shape;371;g318b3caa06f_0_203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Nomenclatura</a:t>
            </a:r>
            <a:endParaRPr/>
          </a:p>
        </p:txBody>
      </p:sp>
      <p:sp>
        <p:nvSpPr>
          <p:cNvPr id="372" name="Google Shape;372;g318b3caa06f_0_203"/>
          <p:cNvSpPr txBox="1"/>
          <p:nvPr/>
        </p:nvSpPr>
        <p:spPr>
          <a:xfrm>
            <a:off x="645459" y="5444203"/>
            <a:ext cx="1087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IVANOV, V. A. et al. A neural-network-based competition between short-lived particle candidates in the CBM experiment at FAIR.</a:t>
            </a:r>
            <a:endParaRPr i="1" sz="13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Journal of Physics: Conference Series, v. 1690, n. 1, p. 012090, 2020. Adaptado por Renan Santos Mendes, 2024.</a:t>
            </a:r>
            <a:endParaRPr i="1" sz="13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g318b3caa06f_0_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1117" y="1882333"/>
            <a:ext cx="5143821" cy="3747134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318b3caa06f_0_211"/>
          <p:cNvSpPr/>
          <p:nvPr/>
        </p:nvSpPr>
        <p:spPr>
          <a:xfrm>
            <a:off x="8027767" y="2567300"/>
            <a:ext cx="887700" cy="2246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g318b3caa06f_0_211"/>
          <p:cNvCxnSpPr>
            <a:endCxn id="378" idx="3"/>
          </p:cNvCxnSpPr>
          <p:nvPr/>
        </p:nvCxnSpPr>
        <p:spPr>
          <a:xfrm flipH="1">
            <a:off x="8915467" y="2526350"/>
            <a:ext cx="854400" cy="1164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0" name="Google Shape;380;g318b3caa06f_0_211"/>
          <p:cNvSpPr txBox="1"/>
          <p:nvPr/>
        </p:nvSpPr>
        <p:spPr>
          <a:xfrm>
            <a:off x="8755633" y="1882333"/>
            <a:ext cx="3318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Camada de</a:t>
            </a:r>
            <a:b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Saída</a:t>
            </a:r>
            <a:endParaRPr b="1" i="0" sz="1900" u="none" cap="none" strike="noStrike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1" name="Google Shape;381;g318b3caa06f_0_211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Nomenclatura</a:t>
            </a:r>
            <a:endParaRPr/>
          </a:p>
        </p:txBody>
      </p:sp>
      <p:sp>
        <p:nvSpPr>
          <p:cNvPr id="382" name="Google Shape;382;g318b3caa06f_0_211"/>
          <p:cNvSpPr txBox="1"/>
          <p:nvPr/>
        </p:nvSpPr>
        <p:spPr>
          <a:xfrm>
            <a:off x="645459" y="5444203"/>
            <a:ext cx="1087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IVANOV, V. A. et al. A neural-network-based competition between short-lived particle candidates in the CBM experiment at FAIR.</a:t>
            </a:r>
            <a:endParaRPr i="1" sz="13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Journal of Physics: Conference Series, v. 1690, n. 1, p. 012090, 2020. Adaptado por Renan Santos Mendes, 2024.</a:t>
            </a:r>
            <a:endParaRPr i="1" sz="13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g318b3caa06f_0_2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1117" y="1882333"/>
            <a:ext cx="5143821" cy="3747134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g318b3caa06f_0_219"/>
          <p:cNvSpPr/>
          <p:nvPr/>
        </p:nvSpPr>
        <p:spPr>
          <a:xfrm>
            <a:off x="7679433" y="2526300"/>
            <a:ext cx="602100" cy="2246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g318b3caa06f_0_219"/>
          <p:cNvCxnSpPr/>
          <p:nvPr/>
        </p:nvCxnSpPr>
        <p:spPr>
          <a:xfrm flipH="1">
            <a:off x="8333600" y="1835767"/>
            <a:ext cx="586800" cy="579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0" name="Google Shape;390;g318b3caa06f_0_219"/>
          <p:cNvSpPr txBox="1"/>
          <p:nvPr/>
        </p:nvSpPr>
        <p:spPr>
          <a:xfrm>
            <a:off x="7902933" y="1518000"/>
            <a:ext cx="3318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Conexões</a:t>
            </a:r>
            <a:endParaRPr b="1" i="0" sz="1900" u="none" cap="none" strike="noStrike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1" name="Google Shape;391;g318b3caa06f_0_219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Nomenclatura</a:t>
            </a:r>
            <a:endParaRPr/>
          </a:p>
        </p:txBody>
      </p:sp>
      <p:sp>
        <p:nvSpPr>
          <p:cNvPr id="392" name="Google Shape;392;g318b3caa06f_0_219"/>
          <p:cNvSpPr txBox="1"/>
          <p:nvPr/>
        </p:nvSpPr>
        <p:spPr>
          <a:xfrm>
            <a:off x="645459" y="5444203"/>
            <a:ext cx="1087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IVANOV, V. A. et al. A neural-network-based competition between short-lived particle candidates in the CBM experiment at FAIR.</a:t>
            </a:r>
            <a:endParaRPr i="1" sz="13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Journal of Physics: Conference Series, v. 1690, n. 1, p. 012090, 2020. Adaptado por Renan Santos Mendes, 2024.</a:t>
            </a:r>
            <a:endParaRPr i="1" sz="13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18b3caa06f_0_439"/>
          <p:cNvSpPr txBox="1"/>
          <p:nvPr/>
        </p:nvSpPr>
        <p:spPr>
          <a:xfrm>
            <a:off x="-1" y="2917803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Trebuchet MS"/>
                <a:ea typeface="Trebuchet MS"/>
                <a:cs typeface="Trebuchet MS"/>
                <a:sym typeface="Trebuchet MS"/>
              </a:rPr>
              <a:t>Construção de Modelos</a:t>
            </a:r>
            <a:endParaRPr/>
          </a:p>
        </p:txBody>
      </p:sp>
      <p:sp>
        <p:nvSpPr>
          <p:cNvPr id="402" name="Google Shape;402;g318b3caa06f_0_439"/>
          <p:cNvSpPr txBox="1"/>
          <p:nvPr/>
        </p:nvSpPr>
        <p:spPr>
          <a:xfrm>
            <a:off x="-2" y="3907113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01BDC4"/>
                </a:solidFill>
                <a:latin typeface="Trebuchet MS"/>
                <a:ea typeface="Trebuchet MS"/>
                <a:cs typeface="Trebuchet MS"/>
                <a:sym typeface="Trebuchet MS"/>
              </a:rPr>
              <a:t>Renan Santos Mendes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18b3caa06f_0_398"/>
          <p:cNvSpPr txBox="1"/>
          <p:nvPr/>
        </p:nvSpPr>
        <p:spPr>
          <a:xfrm>
            <a:off x="-1" y="2596119"/>
            <a:ext cx="12192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Fluxo Geral da Construção de Modelos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18b3caa06f_0_402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Fluxo Geral da Construção de Modelos</a:t>
            </a:r>
            <a:endParaRPr/>
          </a:p>
        </p:txBody>
      </p:sp>
      <p:sp>
        <p:nvSpPr>
          <p:cNvPr id="413" name="Google Shape;413;g318b3caa06f_0_402"/>
          <p:cNvSpPr txBox="1"/>
          <p:nvPr/>
        </p:nvSpPr>
        <p:spPr>
          <a:xfrm>
            <a:off x="512064" y="1685405"/>
            <a:ext cx="11137500" cy="3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77800" rtl="0" algn="l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construção de modelos em frameworks segue etapas comuns. Essas etapas incluem: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 do modelo (arquitetura da rede).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Configuração do otimizador e da função de perda.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Treinamento e avaliação do modelo.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18b3caa06f_0_444"/>
          <p:cNvSpPr txBox="1"/>
          <p:nvPr/>
        </p:nvSpPr>
        <p:spPr>
          <a:xfrm>
            <a:off x="-1" y="2900919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Definição do Modelo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18b3caa06f_0_425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Definição do Modelo</a:t>
            </a:r>
            <a:endParaRPr/>
          </a:p>
        </p:txBody>
      </p:sp>
      <p:sp>
        <p:nvSpPr>
          <p:cNvPr id="424" name="Google Shape;424;g318b3caa06f_0_425"/>
          <p:cNvSpPr txBox="1"/>
          <p:nvPr/>
        </p:nvSpPr>
        <p:spPr>
          <a:xfrm>
            <a:off x="512064" y="1837805"/>
            <a:ext cx="111375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modelo é construído adicionando </a:t>
            </a: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camadas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são os blocos fundamentais das redes neurais.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camada realiza transformações nos dados.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Operações como multiplicações matriciais.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Aplicação de funções de ativação (ReLU, Sigmoid, etc.)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18b3caa06f_0_448"/>
          <p:cNvSpPr txBox="1"/>
          <p:nvPr/>
        </p:nvSpPr>
        <p:spPr>
          <a:xfrm>
            <a:off x="-1" y="2900919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Otimizador e Função de Perda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18b3caa06f_0_410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Otimizador e Função de Perda</a:t>
            </a:r>
            <a:endParaRPr/>
          </a:p>
        </p:txBody>
      </p:sp>
      <p:sp>
        <p:nvSpPr>
          <p:cNvPr id="435" name="Google Shape;435;g318b3caa06f_0_410"/>
          <p:cNvSpPr txBox="1"/>
          <p:nvPr/>
        </p:nvSpPr>
        <p:spPr>
          <a:xfrm>
            <a:off x="512064" y="1456805"/>
            <a:ext cx="11137500" cy="4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Otimizador: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Atualiza os pesos da rede durante o treinamento.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 </a:t>
            </a: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Adam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SGD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Função de Perda: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Mede o erro entre a previsão e o valor esperado.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Cross-Entropy Loss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classificação.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 Squared Error (MSE)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regressão.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18b3caa06f_0_452"/>
          <p:cNvSpPr txBox="1"/>
          <p:nvPr/>
        </p:nvSpPr>
        <p:spPr>
          <a:xfrm>
            <a:off x="-1" y="2900919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Treinamento do Modelo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18b3caa06f_0_415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Treinamento do Modelo</a:t>
            </a:r>
            <a:endParaRPr/>
          </a:p>
        </p:txBody>
      </p:sp>
      <p:sp>
        <p:nvSpPr>
          <p:cNvPr id="446" name="Google Shape;446;g318b3caa06f_0_415"/>
          <p:cNvSpPr txBox="1"/>
          <p:nvPr/>
        </p:nvSpPr>
        <p:spPr>
          <a:xfrm>
            <a:off x="512064" y="1685405"/>
            <a:ext cx="111375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Forward Pass: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dados de entrada são passados pela rede para gerar previsões.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Cálculo da Perda: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erro é calculado usando a função de perda.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Backpropagation: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gradientes são calculados para atualizar os pesos.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Atualização dos Pesos: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otimizador ajusta os pesos para minimizar o erro.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18b3caa06f_0_456"/>
          <p:cNvSpPr txBox="1"/>
          <p:nvPr/>
        </p:nvSpPr>
        <p:spPr>
          <a:xfrm>
            <a:off x="-1" y="2900919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Avaliação e Ajustes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18b3caa06f_0_420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Avaliação e Ajustes</a:t>
            </a:r>
            <a:endParaRPr/>
          </a:p>
        </p:txBody>
      </p:sp>
      <p:sp>
        <p:nvSpPr>
          <p:cNvPr id="457" name="Google Shape;457;g318b3caa06f_0_420"/>
          <p:cNvSpPr txBox="1"/>
          <p:nvPr/>
        </p:nvSpPr>
        <p:spPr>
          <a:xfrm>
            <a:off x="512064" y="1609205"/>
            <a:ext cx="11137500" cy="46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Avaliação: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modelo é avaliado em dados de validação ou teste.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Métricas comuns incluem </a:t>
            </a: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acurácia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precisão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 médio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Ajustes Finais: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Modificar a arquitetura da rede.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Ajustar hiperparâmetros como taxa de aprendizado ou número de camadas.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6 - Final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 - Título e text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1 - Cap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 - Subdivisão do assunto principal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2020-01-14T17:16:45Z</dcterms:created>
  <dc:creator>Fernando José Ferreira</dc:creator>
</cp:coreProperties>
</file>