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0" r:id="rId4"/>
    <p:sldMasterId id="2147483652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M3W4oGxmkeVWjdvoW9A6X5lo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customschemas.google.com/relationships/presentationmetadata" Target="meta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3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4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1a4fed8cc4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1a4fed8cc4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1a4fed8cc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1a4fed8cc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a4fed8cc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1a4fed8cc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a4fed8cc4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1a4fed8cc4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a4fed8cc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31a4fed8cc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a4fed8cc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1a4fed8cc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d62f600e6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2d62f600e6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a4fed8cc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1a4fed8cc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a4fed8cc4_0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1a4fed8cc4_0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a4fed8cc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1a4fed8cc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a4fed8cc4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1a4fed8cc4_0_1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a4fed8cc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1a4fed8cc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a4fed8cc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1a4fed8cc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>
  <p:cSld name="Texto e Título Vertical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>
  <p:cSld name="Texto e Título Vertical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1a4fed8cc4_0_13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Char char="●"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Char char="○"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Char char="■"/>
              <a:defRPr sz="6900"/>
            </a:lvl9pPr>
          </a:lstStyle>
          <a:p/>
        </p:txBody>
      </p:sp>
      <p:sp>
        <p:nvSpPr>
          <p:cNvPr id="28" name="Google Shape;28;g31a4fed8cc4_0_13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9" name="Google Shape;29;g31a4fed8cc4_0_1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1a4fed8cc4_0_13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2" name="Google Shape;32;g31a4fed8cc4_0_13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3" name="Google Shape;33;g31a4fed8cc4_0_1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 sz="1900"/>
            </a:lvl1pPr>
            <a:lvl2pPr lvl="1">
              <a:buNone/>
              <a:defRPr sz="1900"/>
            </a:lvl2pPr>
            <a:lvl3pPr lvl="2">
              <a:buNone/>
              <a:defRPr sz="1900"/>
            </a:lvl3pPr>
            <a:lvl4pPr lvl="3">
              <a:buNone/>
              <a:defRPr sz="1900"/>
            </a:lvl4pPr>
            <a:lvl5pPr lvl="4">
              <a:buNone/>
              <a:defRPr sz="1900"/>
            </a:lvl5pPr>
            <a:lvl6pPr lvl="5">
              <a:buNone/>
              <a:defRPr sz="1900"/>
            </a:lvl6pPr>
            <a:lvl7pPr lvl="6">
              <a:buNone/>
              <a:defRPr sz="1900"/>
            </a:lvl7pPr>
            <a:lvl8pPr lvl="7">
              <a:buNone/>
              <a:defRPr sz="1900"/>
            </a:lvl8pPr>
            <a:lvl9pPr lvl="8">
              <a:buNone/>
              <a:defRPr sz="19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>
  <p:cSld name="Texto e Título Vertical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image" Target="../media/image11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0" l="48224" r="0" t="0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0"/>
          <p:cNvPicPr preferRelativeResize="0"/>
          <p:nvPr/>
        </p:nvPicPr>
        <p:blipFill rotWithShape="1">
          <a:blip r:embed="rId3">
            <a:alphaModFix/>
          </a:blip>
          <a:srcRect b="0" l="0" r="84922" t="6466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0"/>
          <p:cNvPicPr preferRelativeResize="0"/>
          <p:nvPr/>
        </p:nvPicPr>
        <p:blipFill rotWithShape="1">
          <a:blip r:embed="rId4">
            <a:alphaModFix/>
          </a:blip>
          <a:srcRect b="14790" l="0" r="-7020" t="0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0"/>
          <p:cNvSpPr/>
          <p:nvPr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B9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016"/>
            <a:ext cx="12192000" cy="686003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2"/>
          <p:cNvSpPr/>
          <p:nvPr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cap="flat" cmpd="sng" w="19050">
            <a:solidFill>
              <a:srgbClr val="CE7FC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19;p12"/>
          <p:cNvPicPr preferRelativeResize="0"/>
          <p:nvPr/>
        </p:nvPicPr>
        <p:blipFill rotWithShape="1">
          <a:blip r:embed="rId2">
            <a:alphaModFix/>
          </a:blip>
          <a:srcRect b="14654" l="0" r="-1979" t="0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4"/>
          <p:cNvPicPr preferRelativeResize="0"/>
          <p:nvPr/>
        </p:nvPicPr>
        <p:blipFill rotWithShape="1">
          <a:blip r:embed="rId1">
            <a:alphaModFix/>
          </a:blip>
          <a:srcRect b="85244" l="0" r="0" t="0"/>
          <a:stretch/>
        </p:blipFill>
        <p:spPr>
          <a:xfrm>
            <a:off x="0" y="1"/>
            <a:ext cx="12192001" cy="1014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4"/>
          <p:cNvPicPr preferRelativeResize="0"/>
          <p:nvPr/>
        </p:nvPicPr>
        <p:blipFill rotWithShape="1">
          <a:blip r:embed="rId2">
            <a:alphaModFix/>
          </a:blip>
          <a:srcRect b="-5288" l="0" r="32048" t="-1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4"/>
          <p:cNvSpPr/>
          <p:nvPr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 cap="flat" cmpd="sng" w="12700">
            <a:solidFill>
              <a:srgbClr val="01BD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3"/>
    <p:sldLayoutId id="2147483654" r:id="rId4"/>
    <p:sldLayoutId id="214748365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6B9E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0011"/>
            <a:ext cx="12192000" cy="6878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4"/>
          <p:cNvPicPr preferRelativeResize="0"/>
          <p:nvPr/>
        </p:nvPicPr>
        <p:blipFill rotWithShape="1">
          <a:blip r:embed="rId2">
            <a:alphaModFix/>
          </a:blip>
          <a:srcRect b="41409" l="39300" r="39575" t="26070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3"/>
  </p:sldLayoutIdLs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keras.io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mylearningsinaiml.wordpress.com/tensorflow/tensor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Trebuchet MS"/>
                <a:ea typeface="Trebuchet MS"/>
                <a:cs typeface="Trebuchet MS"/>
                <a:sym typeface="Trebuchet MS"/>
              </a:rPr>
              <a:t>Introdução ao Keras</a:t>
            </a:r>
            <a:endParaRPr/>
          </a:p>
        </p:txBody>
      </p:sp>
      <p:sp>
        <p:nvSpPr>
          <p:cNvPr id="43" name="Google Shape;43;p1"/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01BDC4"/>
                </a:solidFill>
                <a:latin typeface="Trebuchet MS"/>
                <a:ea typeface="Trebuchet MS"/>
                <a:cs typeface="Trebuchet MS"/>
                <a:sym typeface="Trebuchet MS"/>
              </a:rPr>
              <a:t>Renan Santos Mendes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1a4fed8cc4_0_142"/>
          <p:cNvSpPr txBox="1"/>
          <p:nvPr/>
        </p:nvSpPr>
        <p:spPr>
          <a:xfrm>
            <a:off x="-1" y="29009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Keras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a4fed8cc4_0_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Características do framework: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Fácil prototipação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e criação de modelos para produção;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Extensa documentação </a:t>
            </a:r>
            <a:r>
              <a:rPr lang="pt-BR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online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com diversos guias e exemplos;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Necessita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pouco código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- alto nível;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Simplifica o treino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do modelo;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Classes podem ser herdadas e o treino customizado + callbacks;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Uso da infra dos recurso do TensorFlow 2, sendo incorporado ao TF;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1a4fed8cc4_0_4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Keras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1a4fed8cc4_0_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Quem usa?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CERN (LHC);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NASA;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Netflix;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Uber.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60" name="Google Shape;60;g31a4fed8cc4_0_9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Keras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a4fed8cc4_0_168"/>
          <p:cNvSpPr txBox="1"/>
          <p:nvPr/>
        </p:nvSpPr>
        <p:spPr>
          <a:xfrm>
            <a:off x="-1" y="2443719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Estrutura de Dados </a:t>
            </a:r>
            <a:b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nos Frameworks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a4fed8cc4_0_1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Um conceito muito importante para todos os frameworks de DL: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Tensor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é uma estrutura de armazenamento de dados multidimensional;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Tensores são usados para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facilitar as operações matemáticas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 (multiplicações matriciais) em uma rede neural;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O formato mais conhecido é uma </a:t>
            </a: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matriz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(tensor com duas dimensões);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Para o Keras, são usados os </a:t>
            </a:r>
            <a:r>
              <a:rPr i="1" lang="pt-BR" sz="2800">
                <a:latin typeface="Calibri"/>
                <a:ea typeface="Calibri"/>
                <a:cs typeface="Calibri"/>
                <a:sym typeface="Calibri"/>
              </a:rPr>
              <a:t>ndarrays 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do Numpy;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Manipulação do dado da mesma forma;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1a4fed8cc4_0_18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Keras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1a4fed8cc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9400" y="1193600"/>
            <a:ext cx="6673200" cy="43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g31a4fed8cc4_0_23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Keras</a:t>
            </a:r>
            <a:endParaRPr/>
          </a:p>
        </p:txBody>
      </p:sp>
      <p:sp>
        <p:nvSpPr>
          <p:cNvPr id="78" name="Google Shape;78;g31a4fed8cc4_0_23"/>
          <p:cNvSpPr txBox="1"/>
          <p:nvPr/>
        </p:nvSpPr>
        <p:spPr>
          <a:xfrm>
            <a:off x="645459" y="5444203"/>
            <a:ext cx="10878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My Learnings in AI and ML. Tensors. </a:t>
            </a:r>
            <a:r>
              <a:rPr i="1" lang="pt-BR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Link</a:t>
            </a: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 Acesso em: 28 set. 2024.</a:t>
            </a:r>
            <a:r>
              <a:rPr i="1" lang="pt-BR" sz="13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Adaptado por Renan Santos Mendes, 2024.</a:t>
            </a:r>
            <a:endParaRPr i="1" sz="13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62f600e66_0_0"/>
          <p:cNvSpPr txBox="1"/>
          <p:nvPr/>
        </p:nvSpPr>
        <p:spPr>
          <a:xfrm>
            <a:off x="-1" y="2824719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Principais Módulos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a4fed8cc4_0_2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Módulos que utilizaremos durante a disciplina: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datasets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fornece alguns conjuntos de dados simples (em Numpy) que podem ser usados ​​para testar um modelo ou criar exemplos;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models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fornece o tipo de modelo que pode ser usado, sequencial, funcional ou implementar do zero;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layers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As camadas são os blocos de construção básicos no Keras;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utils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fornece funções e métodos extras;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1a4fed8cc4_0_28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Keras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a4fed8cc4_0_172"/>
          <p:cNvSpPr txBox="1"/>
          <p:nvPr/>
        </p:nvSpPr>
        <p:spPr>
          <a:xfrm>
            <a:off x="-1" y="2367519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Alguns Componentes</a:t>
            </a:r>
            <a:b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dos Módulos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1a4fed8cc4_0_37"/>
          <p:cNvSpPr txBox="1"/>
          <p:nvPr>
            <p:ph idx="1" type="body"/>
          </p:nvPr>
        </p:nvSpPr>
        <p:spPr>
          <a:xfrm>
            <a:off x="415600" y="1231824"/>
            <a:ext cx="11360700" cy="49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Models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Sequencial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modelo que adiciona camadas sequencialmente;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Funcional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modelo com maior customização;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●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Layers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Dense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camadas totalmente conectadas;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InputLayer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camada de entrada na rede;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Conv2D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camada convolucional em 2D;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Flatten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camada para “achatamento”;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○"/>
            </a:pPr>
            <a:r>
              <a:rPr b="1" lang="pt-BR" sz="2800">
                <a:latin typeface="Calibri"/>
                <a:ea typeface="Calibri"/>
                <a:cs typeface="Calibri"/>
                <a:sym typeface="Calibri"/>
              </a:rPr>
              <a:t>LSTM</a:t>
            </a: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: camada com células LSTM;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2800"/>
          </a:p>
        </p:txBody>
      </p:sp>
      <p:sp>
        <p:nvSpPr>
          <p:cNvPr id="100" name="Google Shape;100;g31a4fed8cc4_0_37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Keras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a4fed8cc4_0_176"/>
          <p:cNvSpPr txBox="1"/>
          <p:nvPr/>
        </p:nvSpPr>
        <p:spPr>
          <a:xfrm>
            <a:off x="-1" y="2443719"/>
            <a:ext cx="121920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Exemplo de um modelo </a:t>
            </a:r>
            <a:b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6000">
                <a:solidFill>
                  <a:srgbClr val="4A6B9E"/>
                </a:solidFill>
                <a:latin typeface="Calibri"/>
                <a:ea typeface="Calibri"/>
                <a:cs typeface="Calibri"/>
                <a:sym typeface="Calibri"/>
              </a:rPr>
              <a:t>com Keras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a4fed8cc4_0_46"/>
          <p:cNvSpPr txBox="1"/>
          <p:nvPr>
            <p:ph idx="1" type="body"/>
          </p:nvPr>
        </p:nvSpPr>
        <p:spPr>
          <a:xfrm>
            <a:off x="925600" y="10786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Um modelo no Keras ficaria da seguinte forma: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g31a4fed8cc4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3048" y="1768200"/>
            <a:ext cx="5825899" cy="357516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1a4fed8cc4_0_46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Keras</a:t>
            </a:r>
            <a:endParaRPr/>
          </a:p>
        </p:txBody>
      </p:sp>
      <p:sp>
        <p:nvSpPr>
          <p:cNvPr id="113" name="Google Shape;113;g31a4fed8cc4_0_46"/>
          <p:cNvSpPr txBox="1"/>
          <p:nvPr/>
        </p:nvSpPr>
        <p:spPr>
          <a:xfrm>
            <a:off x="645459" y="5444203"/>
            <a:ext cx="108786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pt-BR" sz="1100">
                <a:solidFill>
                  <a:srgbClr val="7F7F7F"/>
                </a:solidFill>
              </a:rPr>
              <a:t>MENDES, R. S.;</a:t>
            </a:r>
            <a:r>
              <a:rPr lang="pt-BR" sz="1100">
                <a:solidFill>
                  <a:srgbClr val="7F7F7F"/>
                </a:solidFill>
              </a:rPr>
              <a:t> Exemplo de código em Keras para construção de uma rede neural. 2024.</a:t>
            </a:r>
            <a:endParaRPr b="0" i="1" sz="13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a4fed8cc4_0_52"/>
          <p:cNvSpPr txBox="1"/>
          <p:nvPr>
            <p:ph idx="1" type="body"/>
          </p:nvPr>
        </p:nvSpPr>
        <p:spPr>
          <a:xfrm>
            <a:off x="415600" y="12318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Para criar e treinar um modelo de DL no Keras, é necessário seguir alguns passos básicos: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Importar bibliotecas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Leitura de dados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Processar dados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Criar modelo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Compilar modelo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8260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pt-BR" sz="2800">
                <a:latin typeface="Calibri"/>
                <a:ea typeface="Calibri"/>
                <a:cs typeface="Calibri"/>
                <a:sym typeface="Calibri"/>
              </a:rPr>
              <a:t>Treinar modelo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1a4fed8cc4_0_52"/>
          <p:cNvSpPr txBox="1"/>
          <p:nvPr/>
        </p:nvSpPr>
        <p:spPr>
          <a:xfrm>
            <a:off x="443211" y="145344"/>
            <a:ext cx="10170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 ao Keras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 - Subdivisão do assunto principa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 - Título e tex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3_1 - Cap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6 - Fina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2020-01-14T17:16:45Z</dcterms:created>
  <dc:creator>Fernando José Ferreira</dc:creator>
</cp:coreProperties>
</file>