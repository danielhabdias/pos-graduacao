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  <p:sldMasterId id="2147483650" r:id="rId5"/>
    <p:sldMasterId id="2147483653" r:id="rId6"/>
  </p:sldMasterIdLst>
  <p:notesMasterIdLst>
    <p:notesMasterId r:id="rId7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39" r:id="rId74"/>
    <p:sldId id="340" r:id="rId75"/>
  </p:sldIdLst>
  <p:sldSz cx="12192000" cy="6858000"/>
  <p:notesSz cx="6858000" cy="9144000"/>
  <p:embeddedFontLst>
    <p:embeddedFont>
      <p:font typeface="Calibri" panose="020F0502020204030204" pitchFamily="34" charset="0"/>
      <p:regular r:id="rId77"/>
      <p:bold r:id="rId78"/>
      <p:italic r:id="rId79"/>
      <p:boldItalic r:id="rId80"/>
    </p:embeddedFont>
    <p:embeddedFont>
      <p:font typeface="Consolas" panose="020B0609020204030204" pitchFamily="49" charset="0"/>
      <p:regular r:id="rId81"/>
      <p:bold r:id="rId82"/>
      <p:italic r:id="rId83"/>
      <p:boldItalic r:id="rId84"/>
    </p:embeddedFont>
    <p:embeddedFont>
      <p:font typeface="Cronos Pro" panose="020C0502030403020304" pitchFamily="34" charset="0"/>
      <p:regular r:id="rId85"/>
      <p:bold r:id="rId86"/>
      <p:italic r:id="rId87"/>
    </p:embeddedFont>
    <p:embeddedFont>
      <p:font typeface="Montserrat" panose="00000500000000000000" pitchFamily="50" charset="0"/>
      <p:regular r:id="rId88"/>
      <p:bold r:id="rId89"/>
      <p:italic r:id="rId90"/>
      <p:boldItalic r:id="rId9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725">
          <p15:clr>
            <a:srgbClr val="A4A3A4"/>
          </p15:clr>
        </p15:guide>
        <p15:guide id="2" pos="279">
          <p15:clr>
            <a:srgbClr val="A4A3A4"/>
          </p15:clr>
        </p15:guide>
        <p15:guide id="3" pos="7401">
          <p15:clr>
            <a:srgbClr val="A4A3A4"/>
          </p15:clr>
        </p15:guide>
        <p15:guide id="4" orient="horz" pos="55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2" roundtripDataSignature="AMtx7miYhzRCNSsXGiStgdzXZlTgPLwA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2412" y="108"/>
      </p:cViewPr>
      <p:guideLst>
        <p:guide orient="horz" pos="3725"/>
        <p:guide pos="279"/>
        <p:guide pos="7401"/>
        <p:guide orient="horz" pos="55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84" Type="http://schemas.openxmlformats.org/officeDocument/2006/relationships/font" Target="fonts/font8.fntdata"/><Relationship Id="rId89" Type="http://schemas.openxmlformats.org/officeDocument/2006/relationships/font" Target="fonts/font13.fntdata"/><Relationship Id="rId16" Type="http://schemas.openxmlformats.org/officeDocument/2006/relationships/slide" Target="slides/slide10.xml"/><Relationship Id="rId11" Type="http://schemas.openxmlformats.org/officeDocument/2006/relationships/slide" Target="slides/slide5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74" Type="http://schemas.openxmlformats.org/officeDocument/2006/relationships/slide" Target="slides/slide68.xml"/><Relationship Id="rId79" Type="http://schemas.openxmlformats.org/officeDocument/2006/relationships/font" Target="fonts/font3.fntdata"/><Relationship Id="rId5" Type="http://schemas.openxmlformats.org/officeDocument/2006/relationships/slideMaster" Target="slideMasters/slideMaster2.xml"/><Relationship Id="rId90" Type="http://schemas.openxmlformats.org/officeDocument/2006/relationships/font" Target="fonts/font14.fntdata"/><Relationship Id="rId95" Type="http://schemas.openxmlformats.org/officeDocument/2006/relationships/theme" Target="theme/theme1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80" Type="http://schemas.openxmlformats.org/officeDocument/2006/relationships/font" Target="fonts/font4.fntdata"/><Relationship Id="rId85" Type="http://schemas.openxmlformats.org/officeDocument/2006/relationships/font" Target="fonts/font9.fntdata"/><Relationship Id="rId93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slide" Target="slides/slide64.xml"/><Relationship Id="rId75" Type="http://schemas.openxmlformats.org/officeDocument/2006/relationships/slide" Target="slides/slide69.xml"/><Relationship Id="rId83" Type="http://schemas.openxmlformats.org/officeDocument/2006/relationships/font" Target="fonts/font7.fntdata"/><Relationship Id="rId88" Type="http://schemas.openxmlformats.org/officeDocument/2006/relationships/font" Target="fonts/font12.fntdata"/><Relationship Id="rId91" Type="http://schemas.openxmlformats.org/officeDocument/2006/relationships/font" Target="fonts/font15.fntdata"/><Relationship Id="rId9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slide" Target="slides/slide67.xml"/><Relationship Id="rId78" Type="http://schemas.openxmlformats.org/officeDocument/2006/relationships/font" Target="fonts/font2.fntdata"/><Relationship Id="rId81" Type="http://schemas.openxmlformats.org/officeDocument/2006/relationships/font" Target="fonts/font5.fntdata"/><Relationship Id="rId86" Type="http://schemas.openxmlformats.org/officeDocument/2006/relationships/font" Target="fonts/font10.fntdata"/><Relationship Id="rId9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92" Type="http://customschemas.google.com/relationships/presentationmetadata" Target="metadata"/><Relationship Id="rId2" Type="http://schemas.openxmlformats.org/officeDocument/2006/relationships/customXml" Target="../customXml/item2.xml"/><Relationship Id="rId29" Type="http://schemas.openxmlformats.org/officeDocument/2006/relationships/slide" Target="slides/slide23.xml"/><Relationship Id="rId24" Type="http://schemas.openxmlformats.org/officeDocument/2006/relationships/slide" Target="slides/slide18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66" Type="http://schemas.openxmlformats.org/officeDocument/2006/relationships/slide" Target="slides/slide60.xml"/><Relationship Id="rId87" Type="http://schemas.openxmlformats.org/officeDocument/2006/relationships/font" Target="fonts/font11.fntdata"/><Relationship Id="rId61" Type="http://schemas.openxmlformats.org/officeDocument/2006/relationships/slide" Target="slides/slide55.xml"/><Relationship Id="rId82" Type="http://schemas.openxmlformats.org/officeDocument/2006/relationships/font" Target="fonts/font6.fntdata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56" Type="http://schemas.openxmlformats.org/officeDocument/2006/relationships/slide" Target="slides/slide50.xml"/><Relationship Id="rId77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" name="Google Shape;2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82777d0b8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" name="Google Shape;33;g382777d0b8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7f10a1dfb7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" name="Google Shape;39;g37f10a1dfb7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9d1aa3865d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6" name="Google Shape;46;g39d1aa3865d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9d1aa3865d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3" name="Google Shape;53;g39d1aa3865d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9d1aa3865d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0" name="Google Shape;60;g39d1aa3865d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7f10a1dfb7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7" name="Google Shape;67;g37f10a1dfb7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9d1aa3865d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5" name="Google Shape;75;g39d1aa3865d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d1aa3865d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g39d1aa3865d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d1aa3865d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9" name="Google Shape;89;g39d1aa3865d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d1aa3865d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g39d1aa3865d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d1aa3865d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3" name="Google Shape;103;g39d1aa3865d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d1aa3865d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0" name="Google Shape;110;g39d1aa3865d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7" name="Google Shape;11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7f10a1dfb7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1" name="Google Shape;121;g37f10a1dfb7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b90f914c1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g39b90f914c1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b90f914c1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4" name="Google Shape;134;g39b90f914c1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d1aa3865d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1" name="Google Shape;141;g39d1aa3865d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d1aa3865d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9d1aa3865d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d1aa3865d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6" name="Google Shape;156;g39d1aa3865d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d1aa3865d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3" name="Google Shape;163;g39d1aa3865d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d1aa3865d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0" name="Google Shape;170;g39d1aa3865d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9d1aa3865d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8" name="Google Shape;178;g39d1aa3865d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9d1aa3865d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5" name="Google Shape;185;g39d1aa3865d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7f27467d2a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2" name="Google Shape;192;g37f27467d2a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81fef2ff3b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6" name="Google Shape;196;g381fef2ff3b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9d1aa3865d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2" name="Google Shape;202;g39d1aa3865d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9d1aa3865d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9" name="Google Shape;209;g39d1aa3865d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9d1aa3865d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6" name="Google Shape;216;g39d1aa3865d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9d1aa3865d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3" name="Google Shape;223;g39d1aa3865d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9d1aa3865d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0" name="Google Shape;230;g39d1aa3865d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9d1aa3865d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8" name="Google Shape;238;g39d1aa3865d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9d1aa3865d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6" name="Google Shape;246;g39d1aa3865d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9d1aa3865d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3" name="Google Shape;253;g39d1aa3865d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81fef2ff3b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0" name="Google Shape;260;g381fef2ff3b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81fef2ff3b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4" name="Google Shape;264;g381fef2ff3b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9d1aa3865d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0" name="Google Shape;270;g39d1aa3865d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9d1aa3865d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7" name="Google Shape;277;g39d1aa3865d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9d1aa3865d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4" name="Google Shape;284;g39d1aa3865d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9d1aa3865d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1" name="Google Shape;291;g39d1aa3865d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9d1aa3865d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8" name="Google Shape;298;g39d1aa3865d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9d1aa3865d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5" name="Google Shape;305;g39d1aa3865d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9d1aa3865d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2" name="Google Shape;312;g39d1aa3865d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9d1aa3865d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9" name="Google Shape;319;g39d1aa3865d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9d1aa3865d_0_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26" name="Google Shape;326;g39d1aa3865d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9d1aa3865d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3" name="Google Shape;333;g39d1aa3865d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9b90f914c1_0_2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9b90f914c1_0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9d1aa3865d_0_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8" name="Google Shape;348;g39d1aa3865d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9d1aa3865d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55" name="Google Shape;355;g39d1aa3865d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9d1aa3865d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2" name="Google Shape;362;g39d1aa3865d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9d1aa3865d_0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9" name="Google Shape;369;g39d1aa3865d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9d1aa3865d_0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7" name="Google Shape;377;g39d1aa3865d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81fef2ff3b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5" name="Google Shape;385;g381fef2ff3b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9b90f914c1_0_3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9" name="Google Shape;389;g39b90f914c1_0_3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9b90f914c1_0_3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5" name="Google Shape;395;g39b90f914c1_0_3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9d1aa3865d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02" name="Google Shape;402;g39d1aa3865d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9d1aa3865d_0_2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09" name="Google Shape;409;g39d1aa3865d_0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9b90f914c1_0_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8" name="Google Shape;418;g39b90f914c1_0_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9d1aa3865d_0_3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7" name="Google Shape;427;g39d1aa3865d_0_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9d1aa3865d_0_3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36" name="Google Shape;436;g39d1aa3865d_0_3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9d1aa3865d_0_3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3" name="Google Shape;443;g39d1aa3865d_0_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9d1aa3865d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0" name="Google Shape;450;g39d1aa3865d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9d1aa3865d_0_3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7" name="Google Shape;457;g39d1aa3865d_0_3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9d1aa3865d_0_3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64" name="Google Shape;464;g39d1aa3865d_0_3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9d1aa3865d_0_3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1" name="Google Shape;471;g39d1aa3865d_0_3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9d1aa3865d_0_3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8" name="Google Shape;478;g39d1aa3865d_0_3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9b90f914c1_0_5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5" name="Google Shape;485;g39b90f914c1_0_5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9b90f914c1_0_5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04" name="Google Shape;604;g39b90f914c1_0_5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9b90f914c1_0_5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11" name="Google Shape;611;g39b90f914c1_0_5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>
  <p:cSld name="Texto e Título Vertical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pFooter">
            <a:extLst>
              <a:ext uri="{FF2B5EF4-FFF2-40B4-BE49-F238E27FC236}">
                <a16:creationId xmlns:a16="http://schemas.microsoft.com/office/drawing/2014/main" id="{431EFEF8-C45D-4797-BDE8-ED14E4ACC1A7}"/>
              </a:ext>
            </a:extLst>
          </p:cNvPr>
          <p:cNvSpPr txBox="1"/>
          <p:nvPr userDrawn="1"/>
        </p:nvSpPr>
        <p:spPr bwMode="auto">
          <a:xfrm>
            <a:off x="957294" y="6373144"/>
            <a:ext cx="607538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defTabSz="45712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D" sz="1000" dirty="0">
                <a:solidFill>
                  <a:srgbClr val="3CA3E1"/>
                </a:solidFill>
                <a:latin typeface="Cronos Pro" panose="020C0502030403020304" pitchFamily="34" charset="0"/>
              </a:rPr>
              <a:t>PUC MINAS</a:t>
            </a:r>
            <a:endParaRPr lang="en-ID" sz="1100" b="1" dirty="0">
              <a:solidFill>
                <a:srgbClr val="3CA3E1"/>
              </a:solidFill>
              <a:latin typeface="Cronos Pro" panose="020C05020304030203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corrido">
  <p:cSld name="Título e texto corrido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7faa5e9096_0_81"/>
          <p:cNvSpPr txBox="1">
            <a:spLocks noGrp="1"/>
          </p:cNvSpPr>
          <p:nvPr>
            <p:ph type="ctrTitle"/>
          </p:nvPr>
        </p:nvSpPr>
        <p:spPr>
          <a:xfrm>
            <a:off x="415933" y="135832"/>
            <a:ext cx="11440800" cy="9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67"/>
              <a:buFont typeface="Calibri"/>
              <a:buNone/>
              <a:defRPr sz="4667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>
  <p:cSld name="Texto e Título Vertical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0"/>
            <a:ext cx="121883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10"/>
          <p:cNvPicPr preferRelativeResize="0"/>
          <p:nvPr/>
        </p:nvPicPr>
        <p:blipFill rotWithShape="1">
          <a:blip r:embed="rId4">
            <a:alphaModFix/>
          </a:blip>
          <a:srcRect l="74739" t="3691" r="2017" b="59004"/>
          <a:stretch/>
        </p:blipFill>
        <p:spPr>
          <a:xfrm>
            <a:off x="8531051" y="-163761"/>
            <a:ext cx="3476731" cy="313973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0"/>
          <p:cNvSpPr/>
          <p:nvPr/>
        </p:nvSpPr>
        <p:spPr>
          <a:xfrm>
            <a:off x="12192000" y="0"/>
            <a:ext cx="1213449" cy="281221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9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2630" y="5438751"/>
            <a:ext cx="739013" cy="434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10"/>
          <p:cNvPicPr preferRelativeResize="0"/>
          <p:nvPr/>
        </p:nvPicPr>
        <p:blipFill rotWithShape="1">
          <a:blip r:embed="rId6">
            <a:alphaModFix/>
          </a:blip>
          <a:srcRect b="8321"/>
          <a:stretch/>
        </p:blipFill>
        <p:spPr>
          <a:xfrm>
            <a:off x="10370858" y="563666"/>
            <a:ext cx="859397" cy="121945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6003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60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16"/>
          <p:cNvPicPr preferRelativeResize="0"/>
          <p:nvPr/>
        </p:nvPicPr>
        <p:blipFill rotWithShape="1">
          <a:blip r:embed="rId4">
            <a:alphaModFix/>
          </a:blip>
          <a:srcRect b="7231"/>
          <a:stretch/>
        </p:blipFill>
        <p:spPr>
          <a:xfrm>
            <a:off x="5072287" y="1512942"/>
            <a:ext cx="2047426" cy="2932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36692" y="592026"/>
            <a:ext cx="834735" cy="4907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6729" y="5760979"/>
            <a:ext cx="834735" cy="4907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65367" y="5139077"/>
            <a:ext cx="8461265" cy="61264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"/>
          <p:cNvSpPr/>
          <p:nvPr/>
        </p:nvSpPr>
        <p:spPr>
          <a:xfrm>
            <a:off x="1180011" y="2485756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43A9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 txBox="1"/>
          <p:nvPr/>
        </p:nvSpPr>
        <p:spPr>
          <a:xfrm>
            <a:off x="1160202" y="3009746"/>
            <a:ext cx="9831900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5000" b="1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Redes </a:t>
            </a:r>
            <a:r>
              <a:rPr lang="en-ID" sz="5000" b="1" i="0" u="none" strike="noStrike" cap="none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Neurais</a:t>
            </a:r>
            <a:r>
              <a:rPr lang="en-ID" sz="5000" b="1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ID" sz="5000" b="1" i="0" u="none" strike="noStrike" cap="none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Generativas</a:t>
            </a:r>
            <a:r>
              <a:rPr lang="en-ID" sz="5000" b="1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5000" b="1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82777d0b85_0_0"/>
          <p:cNvSpPr/>
          <p:nvPr/>
        </p:nvSpPr>
        <p:spPr>
          <a:xfrm>
            <a:off x="1180011" y="2485756"/>
            <a:ext cx="9831900" cy="1886400"/>
          </a:xfrm>
          <a:prstGeom prst="roundRect">
            <a:avLst>
              <a:gd name="adj" fmla="val 50000"/>
            </a:avLst>
          </a:prstGeom>
          <a:solidFill>
            <a:srgbClr val="43A9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g382777d0b85_0_0"/>
          <p:cNvSpPr txBox="1"/>
          <p:nvPr/>
        </p:nvSpPr>
        <p:spPr>
          <a:xfrm>
            <a:off x="1225513" y="3009747"/>
            <a:ext cx="9786398" cy="163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50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Variational Autoencoders</a:t>
            </a:r>
            <a:endParaRPr sz="5000" b="1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5000" b="1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7f10a1dfb7_0_17"/>
          <p:cNvSpPr txBox="1"/>
          <p:nvPr/>
        </p:nvSpPr>
        <p:spPr>
          <a:xfrm>
            <a:off x="824724" y="1682325"/>
            <a:ext cx="10105213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Metáfora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guarda-roupa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infinito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vez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posicionar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peça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roupa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representando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dados) em um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ponto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fixo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guarda-roupa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espaço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latente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), agora se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aloca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onde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peça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provável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ser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encontrada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abordagem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flexível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ajuda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evitar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onde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pequenas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mudanças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vetores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causariam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grandes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distorções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dados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gerados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g37f10a1dfb7_0_17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Variational Autoencoders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43;g37f10a1dfb7_0_17">
            <a:extLst>
              <a:ext uri="{FF2B5EF4-FFF2-40B4-BE49-F238E27FC236}">
                <a16:creationId xmlns:a16="http://schemas.microsoft.com/office/drawing/2014/main" id="{D83804FC-7C94-43CD-9616-1EF741F08D7F}"/>
              </a:ext>
            </a:extLst>
          </p:cNvPr>
          <p:cNvSpPr txBox="1"/>
          <p:nvPr/>
        </p:nvSpPr>
        <p:spPr>
          <a:xfrm>
            <a:off x="638987" y="5628738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9d1aa3865d_0_14"/>
          <p:cNvSpPr txBox="1"/>
          <p:nvPr/>
        </p:nvSpPr>
        <p:spPr>
          <a:xfrm>
            <a:off x="824725" y="1682325"/>
            <a:ext cx="82158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manter alguma organização, estabelece-se uma regra: cada região deve estar próxima ao centro do guarda-roupa e com uma variação (desvio).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Isso impõe uma regularização no modelo: ele deve gerar representações que não se afastem muito de uma distribuição padrão (normal)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g39d1aa3865d_0_14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Variational Autoencoders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43;g37f10a1dfb7_0_17">
            <a:extLst>
              <a:ext uri="{FF2B5EF4-FFF2-40B4-BE49-F238E27FC236}">
                <a16:creationId xmlns:a16="http://schemas.microsoft.com/office/drawing/2014/main" id="{92FDF584-ECB5-4D89-A8E4-1B3FC0FCC3D1}"/>
              </a:ext>
            </a:extLst>
          </p:cNvPr>
          <p:cNvSpPr txBox="1"/>
          <p:nvPr/>
        </p:nvSpPr>
        <p:spPr>
          <a:xfrm>
            <a:off x="638987" y="5628738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9d1aa3865d_0_20"/>
          <p:cNvSpPr txBox="1"/>
          <p:nvPr/>
        </p:nvSpPr>
        <p:spPr>
          <a:xfrm>
            <a:off x="824725" y="1682325"/>
            <a:ext cx="926225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dessas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mudanças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 um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capaz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amostras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variadas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de boa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qualidade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resolvendo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anteriores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geravam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itens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incoerentes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artificiais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metáfora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ilustra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componentes-chave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dos VAEs: </a:t>
            </a:r>
            <a:r>
              <a:rPr lang="en-ID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regularização</a:t>
            </a:r>
            <a:r>
              <a:rPr lang="en-ID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 </a:t>
            </a:r>
            <a:r>
              <a:rPr lang="en-ID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espaço</a:t>
            </a:r>
            <a:r>
              <a:rPr lang="en-ID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latente</a:t>
            </a:r>
            <a:r>
              <a:rPr lang="en-ID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ID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geração</a:t>
            </a:r>
            <a:r>
              <a:rPr lang="en-ID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amostras</a:t>
            </a:r>
            <a:r>
              <a:rPr lang="en-ID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mais</a:t>
            </a:r>
            <a:r>
              <a:rPr lang="en-ID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suaves</a:t>
            </a:r>
            <a:r>
              <a:rPr lang="en-ID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ID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consistentes</a:t>
            </a:r>
            <a:r>
              <a:rPr lang="en-ID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g39d1aa3865d_0_20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Variational Autoencoders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43;g37f10a1dfb7_0_17">
            <a:extLst>
              <a:ext uri="{FF2B5EF4-FFF2-40B4-BE49-F238E27FC236}">
                <a16:creationId xmlns:a16="http://schemas.microsoft.com/office/drawing/2014/main" id="{53DC844D-E4F7-4892-97E1-3AD16CEC3EC0}"/>
              </a:ext>
            </a:extLst>
          </p:cNvPr>
          <p:cNvSpPr txBox="1"/>
          <p:nvPr/>
        </p:nvSpPr>
        <p:spPr>
          <a:xfrm>
            <a:off x="638987" y="5628738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d1aa3865d_0_26"/>
          <p:cNvSpPr txBox="1"/>
          <p:nvPr/>
        </p:nvSpPr>
        <p:spPr>
          <a:xfrm>
            <a:off x="824725" y="1682325"/>
            <a:ext cx="100776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transformar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um autoencoder em um autoencoder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variacional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(VAE), é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necessário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modificar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principais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o encoder e 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função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▪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Encoder: em um autoencoder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tradicional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mapeada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diretamente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um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único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ponto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espaço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latente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▪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Veja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seguir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g39d1aa3865d_0_26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Variational Autoencoders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43;g37f10a1dfb7_0_17">
            <a:extLst>
              <a:ext uri="{FF2B5EF4-FFF2-40B4-BE49-F238E27FC236}">
                <a16:creationId xmlns:a16="http://schemas.microsoft.com/office/drawing/2014/main" id="{018146A3-BC5F-467E-B6C3-098E1674036E}"/>
              </a:ext>
            </a:extLst>
          </p:cNvPr>
          <p:cNvSpPr txBox="1"/>
          <p:nvPr/>
        </p:nvSpPr>
        <p:spPr>
          <a:xfrm>
            <a:off x="638987" y="5628738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7f10a1dfb7_0_27"/>
          <p:cNvSpPr txBox="1"/>
          <p:nvPr/>
        </p:nvSpPr>
        <p:spPr>
          <a:xfrm>
            <a:off x="0" y="730180"/>
            <a:ext cx="12192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rgbClr val="379FDE"/>
                </a:solidFill>
                <a:latin typeface="Montserrat"/>
                <a:ea typeface="Montserrat"/>
                <a:cs typeface="Montserrat"/>
                <a:sym typeface="Montserrat"/>
              </a:rPr>
              <a:t>Variational Autoencoders</a:t>
            </a:r>
            <a:endParaRPr sz="4000" b="1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g37f10a1dfb7_0_27"/>
          <p:cNvSpPr txBox="1"/>
          <p:nvPr/>
        </p:nvSpPr>
        <p:spPr>
          <a:xfrm>
            <a:off x="796913" y="1358900"/>
            <a:ext cx="6275400" cy="498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Em um autoencoder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tradicional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cada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imagem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é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mapeada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diretamente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para um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único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ponto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no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espaço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latente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. 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Em um autoencoder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variacional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cada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imagem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é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mapeada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para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distribuição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normal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multivariada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vetores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ao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invés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de um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único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valor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) ao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redor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de um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ponto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no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espaço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latente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, em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vez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apenas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um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ponto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fixo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. 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Isso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permite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que o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modelo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aprenda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não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apenas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representação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precisa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da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imagem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, mas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também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incerteza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associada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essa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representação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g37f10a1dfb7_0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1025" y="1723923"/>
            <a:ext cx="4575176" cy="231047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43;g37f10a1dfb7_0_17">
            <a:extLst>
              <a:ext uri="{FF2B5EF4-FFF2-40B4-BE49-F238E27FC236}">
                <a16:creationId xmlns:a16="http://schemas.microsoft.com/office/drawing/2014/main" id="{B1CDD7CD-F54E-4359-B38A-25EF23074DB4}"/>
              </a:ext>
            </a:extLst>
          </p:cNvPr>
          <p:cNvSpPr txBox="1"/>
          <p:nvPr/>
        </p:nvSpPr>
        <p:spPr>
          <a:xfrm>
            <a:off x="6825475" y="5659553"/>
            <a:ext cx="4923614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d1aa3865d_0_33"/>
          <p:cNvSpPr txBox="1"/>
          <p:nvPr/>
        </p:nvSpPr>
        <p:spPr>
          <a:xfrm>
            <a:off x="824725" y="1525163"/>
            <a:ext cx="10190938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▪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um Variational Autoencoder (VAE), 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ideia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 que, ao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invés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mapear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entrada (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para um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único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ponto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espaço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latente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o encoder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mapeia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entrada para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distribuição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normal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multivariada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▪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Isso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significa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que, </a:t>
            </a:r>
            <a:r>
              <a:rPr lang="en-ID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ao </a:t>
            </a:r>
            <a:r>
              <a:rPr lang="en-ID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gerar</a:t>
            </a:r>
            <a:r>
              <a:rPr lang="en-ID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amostra</a:t>
            </a:r>
            <a:r>
              <a:rPr lang="en-ID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o </a:t>
            </a:r>
            <a:r>
              <a:rPr lang="en-ID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</a:t>
            </a:r>
            <a:r>
              <a:rPr lang="en-ID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pode</a:t>
            </a:r>
            <a:r>
              <a:rPr lang="en-ID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variar</a:t>
            </a:r>
            <a:r>
              <a:rPr lang="en-ID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aleatoriamente</a:t>
            </a:r>
            <a:r>
              <a:rPr lang="en-ID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dentro de </a:t>
            </a:r>
            <a:r>
              <a:rPr lang="en-ID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“</a:t>
            </a:r>
            <a:r>
              <a:rPr lang="en-ID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região</a:t>
            </a:r>
            <a:r>
              <a:rPr lang="en-ID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 do </a:t>
            </a:r>
            <a:r>
              <a:rPr lang="en-ID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espaço</a:t>
            </a:r>
            <a:r>
              <a:rPr lang="en-ID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latente</a:t>
            </a:r>
            <a:r>
              <a:rPr lang="en-ID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ID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permitindo</a:t>
            </a:r>
            <a:r>
              <a:rPr lang="en-ID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maior</a:t>
            </a:r>
            <a:r>
              <a:rPr lang="en-ID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variedade</a:t>
            </a:r>
            <a:r>
              <a:rPr lang="en-ID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nas</a:t>
            </a:r>
            <a:r>
              <a:rPr lang="en-ID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amostras</a:t>
            </a:r>
            <a:r>
              <a:rPr lang="en-ID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geradas</a:t>
            </a:r>
            <a:r>
              <a:rPr lang="en-ID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g39d1aa3865d_0_33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Variational Autoencoders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Google Shape;43;g37f10a1dfb7_0_17">
            <a:extLst>
              <a:ext uri="{FF2B5EF4-FFF2-40B4-BE49-F238E27FC236}">
                <a16:creationId xmlns:a16="http://schemas.microsoft.com/office/drawing/2014/main" id="{ED6A8774-8893-42A3-BC9A-AB6519BD195B}"/>
              </a:ext>
            </a:extLst>
          </p:cNvPr>
          <p:cNvSpPr txBox="1"/>
          <p:nvPr/>
        </p:nvSpPr>
        <p:spPr>
          <a:xfrm>
            <a:off x="596124" y="565955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d1aa3865d_0_39"/>
          <p:cNvSpPr txBox="1"/>
          <p:nvPr/>
        </p:nvSpPr>
        <p:spPr>
          <a:xfrm>
            <a:off x="824725" y="1682325"/>
            <a:ext cx="100776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▪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decodificador de um Variational Autoencoder (VAE) é idêntico ao decodificador de um autoencoder tradicional.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▪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principal diferença entre os dois modelos está no encoder, onde no VAE ele mapeia a entrada para uma distribuição probabilística (normal multivariada) ao invés de um único ponto no espaço latente.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g39d1aa3865d_0_39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Variational Autoencoders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Google Shape;43;g37f10a1dfb7_0_17">
            <a:extLst>
              <a:ext uri="{FF2B5EF4-FFF2-40B4-BE49-F238E27FC236}">
                <a16:creationId xmlns:a16="http://schemas.microsoft.com/office/drawing/2014/main" id="{5AF4633A-1D2F-4299-AD72-41D9924288B0}"/>
              </a:ext>
            </a:extLst>
          </p:cNvPr>
          <p:cNvSpPr txBox="1"/>
          <p:nvPr/>
        </p:nvSpPr>
        <p:spPr>
          <a:xfrm>
            <a:off x="596124" y="565955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d1aa3865d_0_45"/>
          <p:cNvSpPr txBox="1"/>
          <p:nvPr/>
        </p:nvSpPr>
        <p:spPr>
          <a:xfrm>
            <a:off x="824725" y="1682325"/>
            <a:ext cx="100776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▪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decodificador em ambos os casos tem a mesma função: </a:t>
            </a:r>
            <a:r>
              <a:rPr lang="en-ID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transformar a representação latente (seja ela um ponto específico ou uma amostra de uma distribuição) de volta em uma versão reconstruída da entrada. 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▪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 seja, o decodificador tenta gerar a saída (como uma imagem) a partir do espaço latente.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g39d1aa3865d_0_45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Variational Autoencoders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43;g37f10a1dfb7_0_17">
            <a:extLst>
              <a:ext uri="{FF2B5EF4-FFF2-40B4-BE49-F238E27FC236}">
                <a16:creationId xmlns:a16="http://schemas.microsoft.com/office/drawing/2014/main" id="{2F5A38A2-9541-47F3-8195-8F57FC03AD40}"/>
              </a:ext>
            </a:extLst>
          </p:cNvPr>
          <p:cNvSpPr txBox="1"/>
          <p:nvPr/>
        </p:nvSpPr>
        <p:spPr>
          <a:xfrm>
            <a:off x="596124" y="565955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d1aa3865d_0_51"/>
          <p:cNvSpPr txBox="1"/>
          <p:nvPr/>
        </p:nvSpPr>
        <p:spPr>
          <a:xfrm>
            <a:off x="824725" y="1682325"/>
            <a:ext cx="89433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▪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diferença está no que é passado para o decodificador: enquanto no autoencoder tradicional é um ponto fixo, </a:t>
            </a:r>
            <a:r>
              <a:rPr lang="en-ID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VAE é uma amostra tirada da distribuição normal multivariada.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▪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Isso significa que o decodificador precisa ser capaz de lidar com entradas que são amostras de distribuições e gerar saídas que capturem as variações dessas amostras.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g39d1aa3865d_0_51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Variational Autoencoders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43;g37f10a1dfb7_0_17">
            <a:extLst>
              <a:ext uri="{FF2B5EF4-FFF2-40B4-BE49-F238E27FC236}">
                <a16:creationId xmlns:a16="http://schemas.microsoft.com/office/drawing/2014/main" id="{5BC7C2A4-A270-467E-AA86-281F95AB6627}"/>
              </a:ext>
            </a:extLst>
          </p:cNvPr>
          <p:cNvSpPr txBox="1"/>
          <p:nvPr/>
        </p:nvSpPr>
        <p:spPr>
          <a:xfrm>
            <a:off x="596124" y="565955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d1aa3865d_0_63"/>
          <p:cNvSpPr txBox="1"/>
          <p:nvPr/>
        </p:nvSpPr>
        <p:spPr>
          <a:xfrm>
            <a:off x="824725" y="1682325"/>
            <a:ext cx="89433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▪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Anteriormente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vimos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em um autoencoder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tradicional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há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garantia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continuidade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espaço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latente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seja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mesmo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ponto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(-2, 2)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decodifique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formada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sandália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há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exigência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que 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ponto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(-2.1, 2.1)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semelhante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g39d1aa3865d_0_63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Variational Autoencoders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43;g37f10a1dfb7_0_17">
            <a:extLst>
              <a:ext uri="{FF2B5EF4-FFF2-40B4-BE49-F238E27FC236}">
                <a16:creationId xmlns:a16="http://schemas.microsoft.com/office/drawing/2014/main" id="{2C42DF5B-9F6B-4BAC-B74F-3434DBEEFC6B}"/>
              </a:ext>
            </a:extLst>
          </p:cNvPr>
          <p:cNvSpPr txBox="1"/>
          <p:nvPr/>
        </p:nvSpPr>
        <p:spPr>
          <a:xfrm>
            <a:off x="596124" y="565955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d1aa3865d_0_57"/>
          <p:cNvSpPr txBox="1"/>
          <p:nvPr/>
        </p:nvSpPr>
        <p:spPr>
          <a:xfrm>
            <a:off x="824725" y="1682325"/>
            <a:ext cx="89433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▪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entanto, no Variational Autoencoder (VAE), devido ao fato de estarmos amostrando pontos aleatórios a partir de uma região ao redor da média, o modelo precisa garantir que pontos próximos no espaço resultem em imagens muito similares quando decodificados.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39d1aa3865d_0_57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Variational Autoencoders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43;g37f10a1dfb7_0_17">
            <a:extLst>
              <a:ext uri="{FF2B5EF4-FFF2-40B4-BE49-F238E27FC236}">
                <a16:creationId xmlns:a16="http://schemas.microsoft.com/office/drawing/2014/main" id="{E994C21B-F23F-4A88-972E-2C9B91D9BA16}"/>
              </a:ext>
            </a:extLst>
          </p:cNvPr>
          <p:cNvSpPr txBox="1"/>
          <p:nvPr/>
        </p:nvSpPr>
        <p:spPr>
          <a:xfrm>
            <a:off x="596124" y="565955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f10a1dfb7_0_11"/>
          <p:cNvSpPr/>
          <p:nvPr/>
        </p:nvSpPr>
        <p:spPr>
          <a:xfrm>
            <a:off x="1180011" y="2485756"/>
            <a:ext cx="9831900" cy="1886400"/>
          </a:xfrm>
          <a:prstGeom prst="roundRect">
            <a:avLst>
              <a:gd name="adj" fmla="val 50000"/>
            </a:avLst>
          </a:prstGeom>
          <a:solidFill>
            <a:srgbClr val="43A9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7f10a1dfb7_0_11"/>
          <p:cNvSpPr txBox="1"/>
          <p:nvPr/>
        </p:nvSpPr>
        <p:spPr>
          <a:xfrm>
            <a:off x="1065760" y="3024917"/>
            <a:ext cx="98319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7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Criando</a:t>
            </a:r>
            <a:r>
              <a:rPr lang="en-ID" sz="47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um VAE</a:t>
            </a:r>
            <a:endParaRPr sz="47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b90f914c1_0_101"/>
          <p:cNvSpPr txBox="1"/>
          <p:nvPr/>
        </p:nvSpPr>
        <p:spPr>
          <a:xfrm>
            <a:off x="824725" y="1682325"/>
            <a:ext cx="99648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transformar um autoencoder em um Variational Autoencoder (VAE), é necessário criar uma nova camada de amostragem.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Essa camada vai permitir que o modelo amostre pontos do espaço latente a partir da distribuição definida pelos parâmetros 𝑧 mean e 𝑧 log_var ​(log da variância) gerados pelo encoder.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9b90f914c1_0_101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Variational Autoencoders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43;g37f10a1dfb7_0_17">
            <a:extLst>
              <a:ext uri="{FF2B5EF4-FFF2-40B4-BE49-F238E27FC236}">
                <a16:creationId xmlns:a16="http://schemas.microsoft.com/office/drawing/2014/main" id="{AEDDB18C-95D0-4616-AAE7-C283751E34FA}"/>
              </a:ext>
            </a:extLst>
          </p:cNvPr>
          <p:cNvSpPr txBox="1"/>
          <p:nvPr/>
        </p:nvSpPr>
        <p:spPr>
          <a:xfrm>
            <a:off x="596124" y="565955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b90f914c1_0_107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Variational Autoencoders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" name="Google Shape;138;g39b90f914c1_0_107"/>
          <p:cNvSpPr txBox="1"/>
          <p:nvPr/>
        </p:nvSpPr>
        <p:spPr>
          <a:xfrm>
            <a:off x="1089061" y="1485813"/>
            <a:ext cx="7226263" cy="424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No VAE, ao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invés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passar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diretamente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um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ponto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fixo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no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espaço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latente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para o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decodificador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amostramos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valores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distribuição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normal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multivariada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que é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parametrizada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por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esses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dois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componentes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: a </a:t>
            </a:r>
            <a:r>
              <a:rPr lang="en-ID" sz="2400" b="1" dirty="0" err="1">
                <a:latin typeface="Calibri"/>
                <a:ea typeface="Calibri"/>
                <a:cs typeface="Calibri"/>
                <a:sym typeface="Calibri"/>
              </a:rPr>
              <a:t>média</a:t>
            </a:r>
            <a:r>
              <a:rPr lang="en-ID" sz="2400" b="1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e a </a:t>
            </a:r>
            <a:r>
              <a:rPr lang="en-ID" sz="2400" b="1" dirty="0" err="1">
                <a:latin typeface="Calibri"/>
                <a:ea typeface="Calibri"/>
                <a:cs typeface="Calibri"/>
                <a:sym typeface="Calibri"/>
              </a:rPr>
              <a:t>variância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. 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Isso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garante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que a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representação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latente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seja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probabilística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ID" sz="2400" b="1" dirty="0" err="1">
                <a:latin typeface="Calibri"/>
                <a:ea typeface="Calibri"/>
                <a:cs typeface="Calibri"/>
                <a:sym typeface="Calibri"/>
              </a:rPr>
              <a:t>permitindo</a:t>
            </a:r>
            <a:r>
              <a:rPr lang="en-ID" sz="2400" b="1" dirty="0">
                <a:latin typeface="Calibri"/>
                <a:ea typeface="Calibri"/>
                <a:cs typeface="Calibri"/>
                <a:sym typeface="Calibri"/>
              </a:rPr>
              <a:t> ao </a:t>
            </a:r>
            <a:r>
              <a:rPr lang="en-ID" sz="2400" b="1" dirty="0" err="1">
                <a:latin typeface="Calibri"/>
                <a:ea typeface="Calibri"/>
                <a:cs typeface="Calibri"/>
                <a:sym typeface="Calibri"/>
              </a:rPr>
              <a:t>modelo</a:t>
            </a:r>
            <a:r>
              <a:rPr lang="en-ID" sz="2400" b="1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b="1" dirty="0" err="1">
                <a:latin typeface="Calibri"/>
                <a:ea typeface="Calibri"/>
                <a:cs typeface="Calibri"/>
                <a:sym typeface="Calibri"/>
              </a:rPr>
              <a:t>gerar</a:t>
            </a:r>
            <a:r>
              <a:rPr lang="en-ID" sz="2400" b="1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b="1" dirty="0" err="1"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b="1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b="1" dirty="0" err="1">
                <a:latin typeface="Calibri"/>
                <a:ea typeface="Calibri"/>
                <a:cs typeface="Calibri"/>
                <a:sym typeface="Calibri"/>
              </a:rPr>
              <a:t>gama</a:t>
            </a:r>
            <a:r>
              <a:rPr lang="en-ID" sz="2400" b="1" dirty="0"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b="1" dirty="0" err="1">
                <a:latin typeface="Calibri"/>
                <a:ea typeface="Calibri"/>
                <a:cs typeface="Calibri"/>
                <a:sym typeface="Calibri"/>
              </a:rPr>
              <a:t>possíveis</a:t>
            </a:r>
            <a:r>
              <a:rPr lang="en-ID" sz="2400" b="1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b="1" dirty="0" err="1">
                <a:latin typeface="Calibri"/>
                <a:ea typeface="Calibri"/>
                <a:cs typeface="Calibri"/>
                <a:sym typeface="Calibri"/>
              </a:rPr>
              <a:t>saídas</a:t>
            </a:r>
            <a:r>
              <a:rPr lang="en-ID" sz="2400" b="1" dirty="0"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ID" sz="2400" b="1" dirty="0" err="1">
                <a:latin typeface="Calibri"/>
                <a:ea typeface="Calibri"/>
                <a:cs typeface="Calibri"/>
                <a:sym typeface="Calibri"/>
              </a:rPr>
              <a:t>partir</a:t>
            </a:r>
            <a:r>
              <a:rPr lang="en-ID" sz="2400" b="1" dirty="0">
                <a:latin typeface="Calibri"/>
                <a:ea typeface="Calibri"/>
                <a:cs typeface="Calibri"/>
                <a:sym typeface="Calibri"/>
              </a:rPr>
              <a:t> do </a:t>
            </a:r>
            <a:r>
              <a:rPr lang="en-ID" sz="2400" b="1" dirty="0" err="1">
                <a:latin typeface="Calibri"/>
                <a:ea typeface="Calibri"/>
                <a:cs typeface="Calibri"/>
                <a:sym typeface="Calibri"/>
              </a:rPr>
              <a:t>mesmo</a:t>
            </a:r>
            <a:r>
              <a:rPr lang="en-ID" sz="2400" b="1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b="1" dirty="0" err="1">
                <a:latin typeface="Calibri"/>
                <a:ea typeface="Calibri"/>
                <a:cs typeface="Calibri"/>
                <a:sym typeface="Calibri"/>
              </a:rPr>
              <a:t>ponto</a:t>
            </a:r>
            <a:r>
              <a:rPr lang="en-ID" sz="2400" b="1" dirty="0">
                <a:latin typeface="Calibri"/>
                <a:ea typeface="Calibri"/>
                <a:cs typeface="Calibri"/>
                <a:sym typeface="Calibri"/>
              </a:rPr>
              <a:t> de entrada.</a:t>
            </a:r>
            <a:endParaRPr sz="2400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43;g37f10a1dfb7_0_17">
            <a:extLst>
              <a:ext uri="{FF2B5EF4-FFF2-40B4-BE49-F238E27FC236}">
                <a16:creationId xmlns:a16="http://schemas.microsoft.com/office/drawing/2014/main" id="{0BE0EC56-83B8-47C0-923E-C11BEB65C143}"/>
              </a:ext>
            </a:extLst>
          </p:cNvPr>
          <p:cNvSpPr txBox="1"/>
          <p:nvPr/>
        </p:nvSpPr>
        <p:spPr>
          <a:xfrm>
            <a:off x="596124" y="565955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d1aa3865d_0_71"/>
          <p:cNvSpPr txBox="1"/>
          <p:nvPr/>
        </p:nvSpPr>
        <p:spPr>
          <a:xfrm>
            <a:off x="666888" y="736832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Variational Autoencoders</a:t>
            </a:r>
            <a:endParaRPr sz="40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g39d1aa3865d_0_71"/>
          <p:cNvSpPr txBox="1"/>
          <p:nvPr/>
        </p:nvSpPr>
        <p:spPr>
          <a:xfrm>
            <a:off x="713503" y="1671550"/>
            <a:ext cx="4572000" cy="3877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camada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amostragem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é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responsável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por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gerar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pontos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amostra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partir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dessa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distribuição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Assim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, o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modelo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pode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ser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treinado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maneira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eficiente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ajustando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os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parâmetros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da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distribuição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latente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através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da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retropropagação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ID" sz="2400" b="1" dirty="0" err="1">
                <a:latin typeface="Calibri"/>
                <a:ea typeface="Calibri"/>
                <a:cs typeface="Calibri"/>
                <a:sym typeface="Calibri"/>
              </a:rPr>
              <a:t>Os</a:t>
            </a:r>
            <a:r>
              <a:rPr lang="en-ID" sz="2400" b="1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b="1" dirty="0" err="1">
                <a:latin typeface="Calibri"/>
                <a:ea typeface="Calibri"/>
                <a:cs typeface="Calibri"/>
                <a:sym typeface="Calibri"/>
              </a:rPr>
              <a:t>parâmetros</a:t>
            </a:r>
            <a:r>
              <a:rPr lang="en-ID" sz="2400" b="1" dirty="0"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b="1" dirty="0" err="1">
                <a:latin typeface="Calibri"/>
                <a:ea typeface="Calibri"/>
                <a:cs typeface="Calibri"/>
                <a:sym typeface="Calibri"/>
              </a:rPr>
              <a:t>média</a:t>
            </a:r>
            <a:r>
              <a:rPr lang="en-ID" sz="2400" b="1" dirty="0"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ID" sz="2400" b="1" dirty="0" err="1">
                <a:latin typeface="Calibri"/>
                <a:ea typeface="Calibri"/>
                <a:cs typeface="Calibri"/>
                <a:sym typeface="Calibri"/>
              </a:rPr>
              <a:t>variância</a:t>
            </a:r>
            <a:r>
              <a:rPr lang="en-ID" sz="2400" b="1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b="1" dirty="0" err="1">
                <a:latin typeface="Calibri"/>
                <a:ea typeface="Calibri"/>
                <a:cs typeface="Calibri"/>
                <a:sym typeface="Calibri"/>
              </a:rPr>
              <a:t>são</a:t>
            </a:r>
            <a:r>
              <a:rPr lang="en-ID" sz="2400" b="1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b="1" dirty="0" err="1">
                <a:latin typeface="Calibri"/>
                <a:ea typeface="Calibri"/>
                <a:cs typeface="Calibri"/>
                <a:sym typeface="Calibri"/>
              </a:rPr>
              <a:t>aprendidos</a:t>
            </a:r>
            <a:r>
              <a:rPr lang="en-ID" sz="2400" b="1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b="1" dirty="0" err="1">
                <a:latin typeface="Calibri"/>
                <a:ea typeface="Calibri"/>
                <a:cs typeface="Calibri"/>
                <a:sym typeface="Calibri"/>
              </a:rPr>
              <a:t>pelo</a:t>
            </a:r>
            <a:r>
              <a:rPr lang="en-ID" sz="2400" b="1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b="1" dirty="0" err="1">
                <a:latin typeface="Calibri"/>
                <a:ea typeface="Calibri"/>
                <a:cs typeface="Calibri"/>
                <a:sym typeface="Calibri"/>
              </a:rPr>
              <a:t>modelo</a:t>
            </a:r>
            <a:r>
              <a:rPr lang="en-ID" sz="2400" b="1" dirty="0"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39d1aa3865d_0_71"/>
          <p:cNvSpPr txBox="1"/>
          <p:nvPr/>
        </p:nvSpPr>
        <p:spPr>
          <a:xfrm>
            <a:off x="5587078" y="2564418"/>
            <a:ext cx="6432600" cy="20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>
                <a:solidFill>
                  <a:srgbClr val="0000FF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ID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ID" dirty="0">
                <a:solidFill>
                  <a:srgbClr val="257693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Sampling</a:t>
            </a:r>
            <a:r>
              <a:rPr lang="en-ID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ID" dirty="0" err="1">
                <a:solidFill>
                  <a:srgbClr val="257693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layers</a:t>
            </a:r>
            <a:r>
              <a:rPr lang="en-ID" dirty="0" err="1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ID" dirty="0" err="1">
                <a:solidFill>
                  <a:srgbClr val="257693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Layer</a:t>
            </a:r>
            <a:r>
              <a:rPr lang="en-ID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dirty="0">
              <a:solidFill>
                <a:srgbClr val="000000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ID" dirty="0">
                <a:solidFill>
                  <a:srgbClr val="0000FF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-ID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ID" dirty="0">
                <a:solidFill>
                  <a:srgbClr val="6A522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call</a:t>
            </a:r>
            <a:r>
              <a:rPr lang="en-ID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ID" dirty="0">
                <a:solidFill>
                  <a:srgbClr val="00108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ID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ID" dirty="0">
                <a:solidFill>
                  <a:srgbClr val="00108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inputs</a:t>
            </a:r>
            <a:r>
              <a:rPr lang="en-ID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dirty="0">
              <a:solidFill>
                <a:srgbClr val="000000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ID" dirty="0" err="1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z_mean</a:t>
            </a:r>
            <a:r>
              <a:rPr lang="en-ID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ID" dirty="0" err="1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z_log_var</a:t>
            </a:r>
            <a:r>
              <a:rPr lang="en-ID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= inputs</a:t>
            </a:r>
            <a:endParaRPr dirty="0">
              <a:solidFill>
                <a:srgbClr val="000000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       batch = </a:t>
            </a:r>
            <a:r>
              <a:rPr lang="en-ID" dirty="0" err="1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tf.shape</a:t>
            </a:r>
            <a:r>
              <a:rPr lang="en-ID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ID" dirty="0" err="1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z_mean</a:t>
            </a:r>
            <a:r>
              <a:rPr lang="en-ID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)[</a:t>
            </a:r>
            <a:r>
              <a:rPr lang="en-ID" dirty="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ID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dirty="0">
              <a:solidFill>
                <a:srgbClr val="000000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       dim = </a:t>
            </a:r>
            <a:r>
              <a:rPr lang="en-ID" dirty="0" err="1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tf.shape</a:t>
            </a:r>
            <a:r>
              <a:rPr lang="en-ID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ID" dirty="0" err="1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z_mean</a:t>
            </a:r>
            <a:r>
              <a:rPr lang="en-ID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)[</a:t>
            </a:r>
            <a:r>
              <a:rPr lang="en-ID" dirty="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ID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dirty="0">
              <a:solidFill>
                <a:srgbClr val="000000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       epsilon = </a:t>
            </a:r>
            <a:r>
              <a:rPr lang="en-ID" dirty="0" err="1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K.random_normal</a:t>
            </a:r>
            <a:r>
              <a:rPr lang="en-ID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(shape=(batch, dim))</a:t>
            </a:r>
            <a:endParaRPr dirty="0">
              <a:solidFill>
                <a:srgbClr val="000000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ID" dirty="0">
                <a:solidFill>
                  <a:srgbClr val="9723B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ID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ID" dirty="0" err="1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z_mean</a:t>
            </a:r>
            <a:r>
              <a:rPr lang="en-ID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lang="en-ID" dirty="0" err="1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tf.exp</a:t>
            </a:r>
            <a:r>
              <a:rPr lang="en-ID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ID" dirty="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0.5</a:t>
            </a:r>
            <a:r>
              <a:rPr lang="en-ID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* </a:t>
            </a:r>
            <a:r>
              <a:rPr lang="en-ID" dirty="0" err="1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z_log_var</a:t>
            </a:r>
            <a:r>
              <a:rPr lang="en-ID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) * epsilon</a:t>
            </a:r>
            <a:endParaRPr dirty="0">
              <a:solidFill>
                <a:srgbClr val="000000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" name="Google Shape;43;g37f10a1dfb7_0_17">
            <a:extLst>
              <a:ext uri="{FF2B5EF4-FFF2-40B4-BE49-F238E27FC236}">
                <a16:creationId xmlns:a16="http://schemas.microsoft.com/office/drawing/2014/main" id="{95626E35-CA18-4295-A0F1-28DFA2ED1298}"/>
              </a:ext>
            </a:extLst>
          </p:cNvPr>
          <p:cNvSpPr txBox="1"/>
          <p:nvPr/>
        </p:nvSpPr>
        <p:spPr>
          <a:xfrm>
            <a:off x="596124" y="565955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d1aa3865d_0_79"/>
          <p:cNvSpPr txBox="1"/>
          <p:nvPr/>
        </p:nvSpPr>
        <p:spPr>
          <a:xfrm>
            <a:off x="824725" y="1682325"/>
            <a:ext cx="9390838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treinamento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ajustar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parâmetros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 encoder para que 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distribuição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normal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pela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média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variância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seja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apropriada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representar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dados de entrada. 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seja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tenta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aprender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representação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probabilística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dos dados no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espaço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latente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de forma que as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amostras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extraídas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dessa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distribuição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sejam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formadas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decodificadas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pelo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decoder.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39d1aa3865d_0_79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Variational Autoencoders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43;g37f10a1dfb7_0_17">
            <a:extLst>
              <a:ext uri="{FF2B5EF4-FFF2-40B4-BE49-F238E27FC236}">
                <a16:creationId xmlns:a16="http://schemas.microsoft.com/office/drawing/2014/main" id="{81D31A95-2D89-4A92-8E02-1F4E12FC9E26}"/>
              </a:ext>
            </a:extLst>
          </p:cNvPr>
          <p:cNvSpPr txBox="1"/>
          <p:nvPr/>
        </p:nvSpPr>
        <p:spPr>
          <a:xfrm>
            <a:off x="596124" y="565955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d1aa3865d_0_85"/>
          <p:cNvSpPr txBox="1"/>
          <p:nvPr/>
        </p:nvSpPr>
        <p:spPr>
          <a:xfrm>
            <a:off x="824725" y="1682325"/>
            <a:ext cx="100052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Variational Autoencoder (VAE), o encoder é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modificado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relação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ao autoencoder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tradicional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vez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conectar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diretamente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camada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Flatten ao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espaço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latente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2D,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conectada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camadas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𝑧 mean e 𝑧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log_var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parâmetros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fundamentais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distribuição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latente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e, 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deles, 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amostrar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pontos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espaço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latente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9d1aa3865d_0_85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Variational Autoencoders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43;g37f10a1dfb7_0_17">
            <a:extLst>
              <a:ext uri="{FF2B5EF4-FFF2-40B4-BE49-F238E27FC236}">
                <a16:creationId xmlns:a16="http://schemas.microsoft.com/office/drawing/2014/main" id="{A1E6A26A-0F2F-4AE9-BDE1-4BA9D0397721}"/>
              </a:ext>
            </a:extLst>
          </p:cNvPr>
          <p:cNvSpPr txBox="1"/>
          <p:nvPr/>
        </p:nvSpPr>
        <p:spPr>
          <a:xfrm>
            <a:off x="596124" y="565955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d1aa3865d_0_91"/>
          <p:cNvSpPr txBox="1"/>
          <p:nvPr/>
        </p:nvSpPr>
        <p:spPr>
          <a:xfrm>
            <a:off x="824725" y="1682325"/>
            <a:ext cx="83871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Depois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parâmetros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camada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amostragem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anteriormente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é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responsável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por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amostrar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ponto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𝑧 do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espaço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latente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distribuição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normal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ponto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amostrado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será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usado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pelo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decodificador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saída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9d1aa3865d_0_91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Variational Autoencoders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43;g37f10a1dfb7_0_17">
            <a:extLst>
              <a:ext uri="{FF2B5EF4-FFF2-40B4-BE49-F238E27FC236}">
                <a16:creationId xmlns:a16="http://schemas.microsoft.com/office/drawing/2014/main" id="{FC2E96B7-7239-42AD-82AE-378B3F3383E6}"/>
              </a:ext>
            </a:extLst>
          </p:cNvPr>
          <p:cNvSpPr txBox="1"/>
          <p:nvPr/>
        </p:nvSpPr>
        <p:spPr>
          <a:xfrm>
            <a:off x="596124" y="565955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d1aa3865d_0_109"/>
          <p:cNvSpPr txBox="1"/>
          <p:nvPr/>
        </p:nvSpPr>
        <p:spPr>
          <a:xfrm>
            <a:off x="0" y="534235"/>
            <a:ext cx="12192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 dirty="0">
                <a:solidFill>
                  <a:srgbClr val="379FDE"/>
                </a:solidFill>
                <a:latin typeface="Montserrat"/>
                <a:ea typeface="Montserrat"/>
                <a:cs typeface="Montserrat"/>
                <a:sym typeface="Montserrat"/>
              </a:rPr>
              <a:t>Variational Autoencoders</a:t>
            </a:r>
            <a:endParaRPr sz="4000" b="1" dirty="0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g39d1aa3865d_0_109"/>
          <p:cNvSpPr txBox="1"/>
          <p:nvPr/>
        </p:nvSpPr>
        <p:spPr>
          <a:xfrm>
            <a:off x="8005763" y="1376026"/>
            <a:ext cx="3614738" cy="5047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Depois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gerar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parâmetros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b="1" dirty="0" err="1">
                <a:latin typeface="Calibri"/>
                <a:ea typeface="Calibri"/>
                <a:cs typeface="Calibri"/>
                <a:sym typeface="Calibri"/>
              </a:rPr>
              <a:t>z_mean</a:t>
            </a:r>
            <a:r>
              <a:rPr lang="en-ID" sz="2400" b="1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ID" sz="2400" b="1" dirty="0" err="1">
                <a:latin typeface="Calibri"/>
                <a:ea typeface="Calibri"/>
                <a:cs typeface="Calibri"/>
                <a:sym typeface="Calibri"/>
              </a:rPr>
              <a:t>z_log_var</a:t>
            </a:r>
            <a:r>
              <a:rPr lang="en-ID" sz="2400" b="1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, a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camada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amostragem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é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responsável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por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amostrar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um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ponto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𝑧 do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espaço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latente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partir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da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distribuição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normal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Esse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ponto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amostrado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será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usado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pelo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decodificador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para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gerar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saída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como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imagem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).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8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9d1aa3865d_0_109"/>
          <p:cNvSpPr txBox="1"/>
          <p:nvPr/>
        </p:nvSpPr>
        <p:spPr>
          <a:xfrm>
            <a:off x="442913" y="1365862"/>
            <a:ext cx="8277900" cy="4297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 err="1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encoder_input</a:t>
            </a:r>
            <a:r>
              <a:rPr lang="en-ID" sz="1200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ID" sz="1200" dirty="0" err="1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layers.Input</a:t>
            </a:r>
            <a:r>
              <a:rPr lang="en-ID" sz="1200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200" dirty="0">
              <a:solidFill>
                <a:srgbClr val="000000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   shape=(IMAGE_SIZE, IMAGE_SIZE, </a:t>
            </a:r>
            <a:r>
              <a:rPr lang="en-ID" sz="1200" dirty="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ID" sz="1200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), name=</a:t>
            </a:r>
            <a:r>
              <a:rPr lang="en-ID" sz="1200" dirty="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ID" sz="1200" dirty="0" err="1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encoder_input</a:t>
            </a:r>
            <a:r>
              <a:rPr lang="en-ID" sz="1200" dirty="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endParaRPr sz="1200" dirty="0">
              <a:solidFill>
                <a:srgbClr val="A31515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 dirty="0">
              <a:solidFill>
                <a:srgbClr val="000000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x = layers.Conv2D(</a:t>
            </a:r>
            <a:r>
              <a:rPr lang="en-ID" sz="1200" dirty="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32</a:t>
            </a:r>
            <a:r>
              <a:rPr lang="en-ID" sz="1200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, (</a:t>
            </a:r>
            <a:r>
              <a:rPr lang="en-ID" sz="1200" dirty="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ID" sz="1200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ID" sz="1200" dirty="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ID" sz="1200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), strides=</a:t>
            </a:r>
            <a:r>
              <a:rPr lang="en-ID" sz="1200" dirty="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ID" sz="1200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, activation=</a:t>
            </a:r>
            <a:r>
              <a:rPr lang="en-ID" sz="1200" dirty="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ID" sz="1200" dirty="0" err="1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relu</a:t>
            </a:r>
            <a:r>
              <a:rPr lang="en-ID" sz="1200" dirty="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ID" sz="1200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, padding=</a:t>
            </a:r>
            <a:r>
              <a:rPr lang="en-ID" sz="1200" dirty="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"same"</a:t>
            </a:r>
            <a:r>
              <a:rPr lang="en-ID" sz="1200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)(</a:t>
            </a:r>
            <a:endParaRPr sz="1200" dirty="0">
              <a:solidFill>
                <a:srgbClr val="000000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ID" sz="1200" dirty="0" err="1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encoder_input</a:t>
            </a:r>
            <a:endParaRPr sz="1200" dirty="0">
              <a:solidFill>
                <a:srgbClr val="000000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 dirty="0">
              <a:solidFill>
                <a:srgbClr val="000000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x = layers.Conv2D(</a:t>
            </a:r>
            <a:r>
              <a:rPr lang="en-ID" sz="1200" dirty="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64</a:t>
            </a:r>
            <a:r>
              <a:rPr lang="en-ID" sz="1200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, (</a:t>
            </a:r>
            <a:r>
              <a:rPr lang="en-ID" sz="1200" dirty="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ID" sz="1200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ID" sz="1200" dirty="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ID" sz="1200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), strides=</a:t>
            </a:r>
            <a:r>
              <a:rPr lang="en-ID" sz="1200" dirty="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ID" sz="1200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, activation=</a:t>
            </a:r>
            <a:r>
              <a:rPr lang="en-ID" sz="1200" dirty="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ID" sz="1200" dirty="0" err="1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relu</a:t>
            </a:r>
            <a:r>
              <a:rPr lang="en-ID" sz="1200" dirty="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ID" sz="1200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, padding=</a:t>
            </a:r>
            <a:r>
              <a:rPr lang="en-ID" sz="1200" dirty="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"same"</a:t>
            </a:r>
            <a:r>
              <a:rPr lang="en-ID" sz="1200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)(x)</a:t>
            </a:r>
            <a:endParaRPr sz="1200" dirty="0">
              <a:solidFill>
                <a:srgbClr val="000000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x = layers.Conv2D(</a:t>
            </a:r>
            <a:r>
              <a:rPr lang="en-ID" sz="1200" dirty="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128</a:t>
            </a:r>
            <a:r>
              <a:rPr lang="en-ID" sz="1200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, (</a:t>
            </a:r>
            <a:r>
              <a:rPr lang="en-ID" sz="1200" dirty="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ID" sz="1200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ID" sz="1200" dirty="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ID" sz="1200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), strides=</a:t>
            </a:r>
            <a:r>
              <a:rPr lang="en-ID" sz="1200" dirty="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ID" sz="1200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, activation=</a:t>
            </a:r>
            <a:r>
              <a:rPr lang="en-ID" sz="1200" dirty="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ID" sz="1200" dirty="0" err="1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relu</a:t>
            </a:r>
            <a:r>
              <a:rPr lang="en-ID" sz="1200" dirty="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ID" sz="1200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, padding=</a:t>
            </a:r>
            <a:r>
              <a:rPr lang="en-ID" sz="1200" dirty="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"same"</a:t>
            </a:r>
            <a:r>
              <a:rPr lang="en-ID" sz="1200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)(x)</a:t>
            </a:r>
            <a:endParaRPr sz="1200" dirty="0">
              <a:solidFill>
                <a:srgbClr val="000000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 err="1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shape_before_flattening</a:t>
            </a:r>
            <a:r>
              <a:rPr lang="en-ID" sz="1200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ID" sz="1200" dirty="0" err="1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K.int_shape</a:t>
            </a:r>
            <a:r>
              <a:rPr lang="en-ID" sz="1200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(x)[</a:t>
            </a:r>
            <a:r>
              <a:rPr lang="en-ID" sz="1200" dirty="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ID" sz="1200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:]  </a:t>
            </a:r>
            <a:r>
              <a:rPr lang="en-ID" sz="1200" dirty="0">
                <a:solidFill>
                  <a:srgbClr val="008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# the decoder will need this!</a:t>
            </a:r>
            <a:endParaRPr sz="1200" dirty="0">
              <a:solidFill>
                <a:srgbClr val="008000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000000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x = </a:t>
            </a:r>
            <a:r>
              <a:rPr lang="en-ID" sz="1200" dirty="0" err="1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layers.Flatten</a:t>
            </a:r>
            <a:r>
              <a:rPr lang="en-ID" sz="1200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()(x)</a:t>
            </a:r>
            <a:endParaRPr sz="1200" dirty="0">
              <a:solidFill>
                <a:srgbClr val="000000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b="1" dirty="0" err="1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z_mean</a:t>
            </a:r>
            <a:r>
              <a:rPr lang="en-ID" sz="1200" b="1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ID" sz="1200" b="1" dirty="0" err="1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layers.Dense</a:t>
            </a:r>
            <a:r>
              <a:rPr lang="en-ID" sz="1200" b="1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(EMBEDDING_DIM, name=</a:t>
            </a:r>
            <a:r>
              <a:rPr lang="en-ID" sz="1200" b="1" dirty="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ID" sz="1200" b="1" dirty="0" err="1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z_mean</a:t>
            </a:r>
            <a:r>
              <a:rPr lang="en-ID" sz="1200" b="1" dirty="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ID" sz="1200" b="1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)(x)</a:t>
            </a:r>
            <a:endParaRPr sz="1200" b="1" dirty="0">
              <a:solidFill>
                <a:srgbClr val="000000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 err="1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z_log_var</a:t>
            </a:r>
            <a:r>
              <a:rPr lang="en-ID" sz="1200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ID" sz="1200" dirty="0" err="1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layers.Dense</a:t>
            </a:r>
            <a:r>
              <a:rPr lang="en-ID" sz="1200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(EMBEDDING_DIM, name=</a:t>
            </a:r>
            <a:r>
              <a:rPr lang="en-ID" sz="1200" dirty="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ID" sz="1200" dirty="0" err="1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z_log_var</a:t>
            </a:r>
            <a:r>
              <a:rPr lang="en-ID" sz="1200" dirty="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ID" sz="1200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)(x)</a:t>
            </a:r>
            <a:endParaRPr sz="1200" dirty="0">
              <a:solidFill>
                <a:srgbClr val="000000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b="1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z = Sampling()([</a:t>
            </a:r>
            <a:r>
              <a:rPr lang="en-ID" sz="1200" b="1" dirty="0" err="1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z_mean</a:t>
            </a:r>
            <a:r>
              <a:rPr lang="en-ID" sz="1200" b="1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ID" sz="1200" b="1" dirty="0" err="1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z_log_var</a:t>
            </a:r>
            <a:r>
              <a:rPr lang="en-ID" sz="1200" b="1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200" b="1" dirty="0">
              <a:solidFill>
                <a:srgbClr val="000000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000000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b="1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encoder = </a:t>
            </a:r>
            <a:r>
              <a:rPr lang="en-ID" sz="1200" b="1" dirty="0" err="1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models.Model</a:t>
            </a:r>
            <a:r>
              <a:rPr lang="en-ID" sz="1200" b="1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ID" sz="1200" b="1" dirty="0" err="1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encoder_input</a:t>
            </a:r>
            <a:r>
              <a:rPr lang="en-ID" sz="1200" b="1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, [</a:t>
            </a:r>
            <a:r>
              <a:rPr lang="en-ID" sz="1200" b="1" dirty="0" err="1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z_mean</a:t>
            </a:r>
            <a:r>
              <a:rPr lang="en-ID" sz="1200" b="1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ID" sz="1200" b="1" dirty="0" err="1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z_log_var</a:t>
            </a:r>
            <a:r>
              <a:rPr lang="en-ID" sz="1200" b="1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, z], name=</a:t>
            </a:r>
            <a:r>
              <a:rPr lang="en-ID" sz="1200" b="1" dirty="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"encoder"</a:t>
            </a:r>
            <a:r>
              <a:rPr lang="en-ID" sz="1200" b="1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 b="1" dirty="0">
              <a:solidFill>
                <a:srgbClr val="000000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 err="1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encoder.summary</a:t>
            </a:r>
            <a:r>
              <a:rPr lang="en-ID" sz="1200" dirty="0">
                <a:solidFill>
                  <a:srgbClr val="000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200" dirty="0">
              <a:solidFill>
                <a:srgbClr val="000000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" name="Google Shape;43;g37f10a1dfb7_0_17">
            <a:extLst>
              <a:ext uri="{FF2B5EF4-FFF2-40B4-BE49-F238E27FC236}">
                <a16:creationId xmlns:a16="http://schemas.microsoft.com/office/drawing/2014/main" id="{0D47C22B-1D62-409B-943A-A28B3B3D5745}"/>
              </a:ext>
            </a:extLst>
          </p:cNvPr>
          <p:cNvSpPr txBox="1"/>
          <p:nvPr/>
        </p:nvSpPr>
        <p:spPr>
          <a:xfrm>
            <a:off x="2982137" y="567225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9d1aa3865d_0_97"/>
          <p:cNvSpPr txBox="1"/>
          <p:nvPr/>
        </p:nvSpPr>
        <p:spPr>
          <a:xfrm>
            <a:off x="824725" y="1682325"/>
            <a:ext cx="9447988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Função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(VAE) para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Entrada: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função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descreve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que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gostaríamos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fosse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retornado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chamamos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VAE para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entrada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específica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Essencialmente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recebe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entrada (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e, em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resposta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𝑧 mean, 𝑧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log_var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amostra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z do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espaço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latente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usando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camada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amostragem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9d1aa3865d_0_97"/>
          <p:cNvSpPr txBox="1"/>
          <p:nvPr/>
        </p:nvSpPr>
        <p:spPr>
          <a:xfrm>
            <a:off x="862833" y="727501"/>
            <a:ext cx="10619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3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Treinando o Variational Autoencoder (VAE)</a:t>
            </a:r>
            <a:endParaRPr sz="36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43;g37f10a1dfb7_0_17">
            <a:extLst>
              <a:ext uri="{FF2B5EF4-FFF2-40B4-BE49-F238E27FC236}">
                <a16:creationId xmlns:a16="http://schemas.microsoft.com/office/drawing/2014/main" id="{7C340BA0-6CBE-49F6-AD7D-2CC07926C01D}"/>
              </a:ext>
            </a:extLst>
          </p:cNvPr>
          <p:cNvSpPr txBox="1"/>
          <p:nvPr/>
        </p:nvSpPr>
        <p:spPr>
          <a:xfrm>
            <a:off x="596124" y="565955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9d1aa3865d_0_103"/>
          <p:cNvSpPr txBox="1"/>
          <p:nvPr/>
        </p:nvSpPr>
        <p:spPr>
          <a:xfrm>
            <a:off x="824725" y="1682325"/>
            <a:ext cx="1006235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função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reconstrução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diferença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entre a entrada original e 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e 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divergência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KL (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medindo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quanto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distribuição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latente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difere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distribuição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normal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padrão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atualiza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parâmetros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 base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total (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reconstrução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KL).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39d1aa3865d_0_103"/>
          <p:cNvSpPr txBox="1"/>
          <p:nvPr/>
        </p:nvSpPr>
        <p:spPr>
          <a:xfrm>
            <a:off x="862833" y="727501"/>
            <a:ext cx="10619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3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Treinando o Variational Autoencoder (VAE)</a:t>
            </a:r>
            <a:endParaRPr sz="36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43;g37f10a1dfb7_0_17">
            <a:extLst>
              <a:ext uri="{FF2B5EF4-FFF2-40B4-BE49-F238E27FC236}">
                <a16:creationId xmlns:a16="http://schemas.microsoft.com/office/drawing/2014/main" id="{B9483FC9-B1E3-4D81-9AE2-41A436F51735}"/>
              </a:ext>
            </a:extLst>
          </p:cNvPr>
          <p:cNvSpPr txBox="1"/>
          <p:nvPr/>
        </p:nvSpPr>
        <p:spPr>
          <a:xfrm>
            <a:off x="596124" y="565955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81fef2ff3b_0_64"/>
          <p:cNvSpPr/>
          <p:nvPr/>
        </p:nvSpPr>
        <p:spPr>
          <a:xfrm>
            <a:off x="1180011" y="2485756"/>
            <a:ext cx="9831900" cy="1886400"/>
          </a:xfrm>
          <a:prstGeom prst="roundRect">
            <a:avLst>
              <a:gd name="adj" fmla="val 50000"/>
            </a:avLst>
          </a:prstGeom>
          <a:solidFill>
            <a:srgbClr val="43A9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81fef2ff3b_0_64"/>
          <p:cNvSpPr txBox="1"/>
          <p:nvPr/>
        </p:nvSpPr>
        <p:spPr>
          <a:xfrm>
            <a:off x="1180060" y="3001954"/>
            <a:ext cx="9831900" cy="14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7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Gerando</a:t>
            </a:r>
            <a:r>
              <a:rPr lang="en-ID" sz="47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imagens com VAE</a:t>
            </a:r>
            <a:endParaRPr sz="47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4000" b="1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9d1aa3865d_0_117"/>
          <p:cNvSpPr txBox="1"/>
          <p:nvPr/>
        </p:nvSpPr>
        <p:spPr>
          <a:xfrm>
            <a:off x="824725" y="1682325"/>
            <a:ext cx="83871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Depois de treinar o Variational Autoencoder (VAE), há duas tarefas principais que podemos realizar: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(1) Codificar as Imagens do Conjunto de Teste: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podemos usar o encoder para codificar as imagens do conjunto de teste e plotar os valores de z mean no espaço latente.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39d1aa3865d_0_117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Variational Autoencoders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43;g37f10a1dfb7_0_17">
            <a:extLst>
              <a:ext uri="{FF2B5EF4-FFF2-40B4-BE49-F238E27FC236}">
                <a16:creationId xmlns:a16="http://schemas.microsoft.com/office/drawing/2014/main" id="{A92B3BB3-EBC0-46B7-BF25-B58D8B451B4E}"/>
              </a:ext>
            </a:extLst>
          </p:cNvPr>
          <p:cNvSpPr txBox="1"/>
          <p:nvPr/>
        </p:nvSpPr>
        <p:spPr>
          <a:xfrm>
            <a:off x="596124" y="565955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9d1aa3865d_0_123"/>
          <p:cNvSpPr txBox="1"/>
          <p:nvPr/>
        </p:nvSpPr>
        <p:spPr>
          <a:xfrm>
            <a:off x="824725" y="1682325"/>
            <a:ext cx="83871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Isso ajuda a visualizar como o modelo representa as imagens em um espaço de menor dimensionalidade (geralmente 2D ou 3D). Visualizando esses pontos, podemos analisar se o espaço latente tem uma boa organização.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39d1aa3865d_0_123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Variational Autoencoders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43;g37f10a1dfb7_0_17">
            <a:extLst>
              <a:ext uri="{FF2B5EF4-FFF2-40B4-BE49-F238E27FC236}">
                <a16:creationId xmlns:a16="http://schemas.microsoft.com/office/drawing/2014/main" id="{E9D6386C-EE9D-47F4-B08C-E3F70A01B993}"/>
              </a:ext>
            </a:extLst>
          </p:cNvPr>
          <p:cNvSpPr txBox="1"/>
          <p:nvPr/>
        </p:nvSpPr>
        <p:spPr>
          <a:xfrm>
            <a:off x="596124" y="565955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9d1aa3865d_0_129"/>
          <p:cNvSpPr txBox="1"/>
          <p:nvPr/>
        </p:nvSpPr>
        <p:spPr>
          <a:xfrm>
            <a:off x="824725" y="1682325"/>
            <a:ext cx="99492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(2) Amostragem no Espaço Latente: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Além de codificar imagens do conjunto de teste, podemos amostrar pontos de uma distribuição normal padrão para gerar novos pontos no espaço latente.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9d1aa3865d_0_129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Variational Autoencoders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43;g37f10a1dfb7_0_17">
            <a:extLst>
              <a:ext uri="{FF2B5EF4-FFF2-40B4-BE49-F238E27FC236}">
                <a16:creationId xmlns:a16="http://schemas.microsoft.com/office/drawing/2014/main" id="{84D4FA77-791D-46DA-A888-E6646535E0AC}"/>
              </a:ext>
            </a:extLst>
          </p:cNvPr>
          <p:cNvSpPr txBox="1"/>
          <p:nvPr/>
        </p:nvSpPr>
        <p:spPr>
          <a:xfrm>
            <a:off x="596124" y="565955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9d1aa3865d_0_135"/>
          <p:cNvSpPr txBox="1"/>
          <p:nvPr/>
        </p:nvSpPr>
        <p:spPr>
          <a:xfrm>
            <a:off x="824725" y="1682325"/>
            <a:ext cx="95103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Esses pontos amostrados são então passados pelo decodificador para gerar novas imagens. O objetivo é verificar como bem o modelo pode gerar imagens que parecem realistas, mas que não foram diretamente vistas no conjunto de treinamento.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39d1aa3865d_0_135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Variational Autoencoders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43;g37f10a1dfb7_0_17">
            <a:extLst>
              <a:ext uri="{FF2B5EF4-FFF2-40B4-BE49-F238E27FC236}">
                <a16:creationId xmlns:a16="http://schemas.microsoft.com/office/drawing/2014/main" id="{D3DDD6C7-873A-452D-8B4C-3E12FFC147FD}"/>
              </a:ext>
            </a:extLst>
          </p:cNvPr>
          <p:cNvSpPr txBox="1"/>
          <p:nvPr/>
        </p:nvSpPr>
        <p:spPr>
          <a:xfrm>
            <a:off x="596124" y="565955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9d1aa3865d_0_141"/>
          <p:cNvSpPr txBox="1"/>
          <p:nvPr/>
        </p:nvSpPr>
        <p:spPr>
          <a:xfrm>
            <a:off x="0" y="730180"/>
            <a:ext cx="12192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rgbClr val="379FDE"/>
                </a:solidFill>
                <a:latin typeface="Montserrat"/>
                <a:ea typeface="Montserrat"/>
                <a:cs typeface="Montserrat"/>
                <a:sym typeface="Montserrat"/>
              </a:rPr>
              <a:t>Variational Autoencoders</a:t>
            </a:r>
            <a:endParaRPr sz="4000" b="1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4" name="Google Shape;234;g39d1aa3865d_0_141"/>
          <p:cNvSpPr txBox="1"/>
          <p:nvPr/>
        </p:nvSpPr>
        <p:spPr>
          <a:xfrm>
            <a:off x="658425" y="2024704"/>
            <a:ext cx="4397400" cy="3200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figura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ilustra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estrutura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do novo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espaço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latente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após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treinamento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do Variational Autoencoder (VAE), junto com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alguns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pontos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amostrados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e as imagens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geradas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partir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desses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pontos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8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g39d1aa3865d_0_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1300" y="1933229"/>
            <a:ext cx="5715000" cy="26765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43;g37f10a1dfb7_0_17">
            <a:extLst>
              <a:ext uri="{FF2B5EF4-FFF2-40B4-BE49-F238E27FC236}">
                <a16:creationId xmlns:a16="http://schemas.microsoft.com/office/drawing/2014/main" id="{E2265895-922E-4457-8521-E0CEF4646B4C}"/>
              </a:ext>
            </a:extLst>
          </p:cNvPr>
          <p:cNvSpPr txBox="1"/>
          <p:nvPr/>
        </p:nvSpPr>
        <p:spPr>
          <a:xfrm>
            <a:off x="596124" y="565955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9d1aa3865d_0_149"/>
          <p:cNvSpPr txBox="1"/>
          <p:nvPr/>
        </p:nvSpPr>
        <p:spPr>
          <a:xfrm>
            <a:off x="0" y="730180"/>
            <a:ext cx="12192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rgbClr val="379FDE"/>
                </a:solidFill>
                <a:latin typeface="Montserrat"/>
                <a:ea typeface="Montserrat"/>
                <a:cs typeface="Montserrat"/>
                <a:sym typeface="Montserrat"/>
              </a:rPr>
              <a:t>Variational Autoencoders</a:t>
            </a:r>
            <a:endParaRPr sz="4000" b="1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2" name="Google Shape;242;g39d1aa3865d_0_149"/>
          <p:cNvSpPr txBox="1"/>
          <p:nvPr/>
        </p:nvSpPr>
        <p:spPr>
          <a:xfrm>
            <a:off x="6451332" y="1935563"/>
            <a:ext cx="5385900" cy="3200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Uma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visualização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do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espaço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latente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onde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os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pontos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são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coloridos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acordo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com o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tipo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roupa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Esse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tipo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visualização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ajuda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entender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como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o Variational Autoencoder (VAE)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organizou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espaço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latente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em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relação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aos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diferentes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tipos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roupas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8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3" name="Google Shape;243;g39d1aa3865d_0_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832" y="1949850"/>
            <a:ext cx="5715000" cy="29337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43;g37f10a1dfb7_0_17">
            <a:extLst>
              <a:ext uri="{FF2B5EF4-FFF2-40B4-BE49-F238E27FC236}">
                <a16:creationId xmlns:a16="http://schemas.microsoft.com/office/drawing/2014/main" id="{2AC9B3FF-A584-4DAD-BA72-41EBE95EA0F0}"/>
              </a:ext>
            </a:extLst>
          </p:cNvPr>
          <p:cNvSpPr txBox="1"/>
          <p:nvPr/>
        </p:nvSpPr>
        <p:spPr>
          <a:xfrm>
            <a:off x="596124" y="565955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9d1aa3865d_0_163"/>
          <p:cNvSpPr txBox="1"/>
          <p:nvPr/>
        </p:nvSpPr>
        <p:spPr>
          <a:xfrm>
            <a:off x="824725" y="1682325"/>
            <a:ext cx="100455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 ponto importante a ser lembrado é que os rótulos de tipo de roupa não foram usados em momento algum durante o treinamento do VAE.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modelo não foi alimentado com informações sobre que tipo de roupa era cada imagem, mas sim com as imagens brutas.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39d1aa3865d_0_163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Variational Autoencoders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43;g37f10a1dfb7_0_17">
            <a:extLst>
              <a:ext uri="{FF2B5EF4-FFF2-40B4-BE49-F238E27FC236}">
                <a16:creationId xmlns:a16="http://schemas.microsoft.com/office/drawing/2014/main" id="{37849F81-D3F1-460D-BDB7-4C67883514FC}"/>
              </a:ext>
            </a:extLst>
          </p:cNvPr>
          <p:cNvSpPr txBox="1"/>
          <p:nvPr/>
        </p:nvSpPr>
        <p:spPr>
          <a:xfrm>
            <a:off x="596124" y="565955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9d1aa3865d_0_157"/>
          <p:cNvSpPr txBox="1"/>
          <p:nvPr/>
        </p:nvSpPr>
        <p:spPr>
          <a:xfrm>
            <a:off x="824725" y="1682325"/>
            <a:ext cx="100455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VAE aprendeu as formas e padrões dos dados por conta própria, com o objetivo de minimizar a perda de reconstrução, ou seja, gerar imagens de alta qualidade a partir de uma representação latente compacta.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39d1aa3865d_0_157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Variational Autoencoders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43;g37f10a1dfb7_0_17">
            <a:extLst>
              <a:ext uri="{FF2B5EF4-FFF2-40B4-BE49-F238E27FC236}">
                <a16:creationId xmlns:a16="http://schemas.microsoft.com/office/drawing/2014/main" id="{129D344E-BBC6-4664-BEC2-D06DDE694421}"/>
              </a:ext>
            </a:extLst>
          </p:cNvPr>
          <p:cNvSpPr txBox="1"/>
          <p:nvPr/>
        </p:nvSpPr>
        <p:spPr>
          <a:xfrm>
            <a:off x="596124" y="565955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81fef2ff3b_0_84"/>
          <p:cNvSpPr/>
          <p:nvPr/>
        </p:nvSpPr>
        <p:spPr>
          <a:xfrm>
            <a:off x="1180011" y="2485756"/>
            <a:ext cx="9831900" cy="1886400"/>
          </a:xfrm>
          <a:prstGeom prst="roundRect">
            <a:avLst>
              <a:gd name="adj" fmla="val 50000"/>
            </a:avLst>
          </a:prstGeom>
          <a:solidFill>
            <a:srgbClr val="43A9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g381fef2ff3b_0_84"/>
          <p:cNvSpPr txBox="1"/>
          <p:nvPr/>
        </p:nvSpPr>
        <p:spPr>
          <a:xfrm>
            <a:off x="1180060" y="2710592"/>
            <a:ext cx="9831900" cy="21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7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Generative Adversarial Networks</a:t>
            </a:r>
            <a:endParaRPr sz="47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40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9d1aa3865d_0_169"/>
          <p:cNvSpPr txBox="1"/>
          <p:nvPr/>
        </p:nvSpPr>
        <p:spPr>
          <a:xfrm>
            <a:off x="824725" y="1682325"/>
            <a:ext cx="100455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 2014, Ian Goodfellow 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seus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colaboradores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apresentaram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artigo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intitulado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“Generative Adversarial Nets”. 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lançamento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das GANs é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considerado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ponto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virada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história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generativos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pois as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ideias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centrais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desse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artigo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levaram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à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criação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alguns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generativos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bem-sucedidos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g39d1aa3865d_0_169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Generative Adversarial Networks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Google Shape;390;g39b90f914c1_0_297">
            <a:extLst>
              <a:ext uri="{FF2B5EF4-FFF2-40B4-BE49-F238E27FC236}">
                <a16:creationId xmlns:a16="http://schemas.microsoft.com/office/drawing/2014/main" id="{F965E639-D96C-4DB9-9031-686D472481AC}"/>
              </a:ext>
            </a:extLst>
          </p:cNvPr>
          <p:cNvSpPr txBox="1"/>
          <p:nvPr/>
        </p:nvSpPr>
        <p:spPr>
          <a:xfrm>
            <a:off x="442913" y="5682636"/>
            <a:ext cx="7872412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GÉRON, 2022.</a:t>
            </a:r>
            <a:endParaRPr sz="105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9d1aa3865d_0_175"/>
          <p:cNvSpPr txBox="1"/>
          <p:nvPr/>
        </p:nvSpPr>
        <p:spPr>
          <a:xfrm>
            <a:off x="824725" y="1682325"/>
            <a:ext cx="100455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6200" marR="0" lvl="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GANs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consistem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competem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entre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Gerador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(Generator):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Tenta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dados que se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parecem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 dados reais.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Discriminador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(Discriminator):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Tenta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distinguir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entre dados reais 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gerados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39d1aa3865d_0_175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Generative Adversarial Networks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Google Shape;390;g39b90f914c1_0_297">
            <a:extLst>
              <a:ext uri="{FF2B5EF4-FFF2-40B4-BE49-F238E27FC236}">
                <a16:creationId xmlns:a16="http://schemas.microsoft.com/office/drawing/2014/main" id="{7A78EDE6-6A69-4653-A391-5139FF94964B}"/>
              </a:ext>
            </a:extLst>
          </p:cNvPr>
          <p:cNvSpPr txBox="1"/>
          <p:nvPr/>
        </p:nvSpPr>
        <p:spPr>
          <a:xfrm>
            <a:off x="442913" y="5682636"/>
            <a:ext cx="7872412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GÉRON, 2022.</a:t>
            </a:r>
            <a:endParaRPr sz="105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9d1aa3865d_0_181"/>
          <p:cNvSpPr txBox="1"/>
          <p:nvPr/>
        </p:nvSpPr>
        <p:spPr>
          <a:xfrm>
            <a:off x="824725" y="1682325"/>
            <a:ext cx="108693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gerador aprende a criar imagens (ou outros tipos de dados) a partir de uma distribuição aleatória, enquanto o discriminador tenta distinguir as imagens reais das imagens falsas.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g39d1aa3865d_0_181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Generative Adversarial Networks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Google Shape;390;g39b90f914c1_0_297">
            <a:extLst>
              <a:ext uri="{FF2B5EF4-FFF2-40B4-BE49-F238E27FC236}">
                <a16:creationId xmlns:a16="http://schemas.microsoft.com/office/drawing/2014/main" id="{BE6877B6-1355-4FAA-ADE1-F818BA3D9B2C}"/>
              </a:ext>
            </a:extLst>
          </p:cNvPr>
          <p:cNvSpPr txBox="1"/>
          <p:nvPr/>
        </p:nvSpPr>
        <p:spPr>
          <a:xfrm>
            <a:off x="442913" y="5682636"/>
            <a:ext cx="7872412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GÉRON, 2022.</a:t>
            </a:r>
            <a:endParaRPr sz="105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9d1aa3865d_0_217"/>
          <p:cNvSpPr txBox="1"/>
          <p:nvPr/>
        </p:nvSpPr>
        <p:spPr>
          <a:xfrm>
            <a:off x="824725" y="1682325"/>
            <a:ext cx="108693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 o tempo, ambos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melhoram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gerador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acaba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criando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amostras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quase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indistinguíveis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amostras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reais, 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enquanto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discriminador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torna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vez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preciso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identificar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imagens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falsas.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g39d1aa3865d_0_217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Generative Adversarial Networks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Google Shape;390;g39b90f914c1_0_297">
            <a:extLst>
              <a:ext uri="{FF2B5EF4-FFF2-40B4-BE49-F238E27FC236}">
                <a16:creationId xmlns:a16="http://schemas.microsoft.com/office/drawing/2014/main" id="{9A0503BD-0135-4A89-BF48-85E1618EEABE}"/>
              </a:ext>
            </a:extLst>
          </p:cNvPr>
          <p:cNvSpPr txBox="1"/>
          <p:nvPr/>
        </p:nvSpPr>
        <p:spPr>
          <a:xfrm>
            <a:off x="442913" y="5682636"/>
            <a:ext cx="7872412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GÉRON, 2022.</a:t>
            </a:r>
            <a:endParaRPr sz="105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9d1aa3865d_0_187"/>
          <p:cNvSpPr txBox="1"/>
          <p:nvPr/>
        </p:nvSpPr>
        <p:spPr>
          <a:xfrm>
            <a:off x="824725" y="1682325"/>
            <a:ext cx="104091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Jogo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Gato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Rato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detectando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falsificações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em um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mundo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melhoria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contínua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cenário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descrito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analogia para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entender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conceito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das GANs, em que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agentes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em um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jogo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gato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rato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um detector (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você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que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tenta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identificar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falsificações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um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gerador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falsificadores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que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tenta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cópias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vez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convincentes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peças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originais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39d1aa3865d_0_187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Generative Adversarial Networks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Google Shape;390;g39b90f914c1_0_297">
            <a:extLst>
              <a:ext uri="{FF2B5EF4-FFF2-40B4-BE49-F238E27FC236}">
                <a16:creationId xmlns:a16="http://schemas.microsoft.com/office/drawing/2014/main" id="{8A3F8CD1-C973-490C-A898-155A5A1415CD}"/>
              </a:ext>
            </a:extLst>
          </p:cNvPr>
          <p:cNvSpPr txBox="1"/>
          <p:nvPr/>
        </p:nvSpPr>
        <p:spPr>
          <a:xfrm>
            <a:off x="442913" y="5682636"/>
            <a:ext cx="7872412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GÉRON, 2022.</a:t>
            </a:r>
            <a:endParaRPr sz="105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9d1aa3865d_0_193"/>
          <p:cNvSpPr txBox="1"/>
          <p:nvPr/>
        </p:nvSpPr>
        <p:spPr>
          <a:xfrm>
            <a:off x="824724" y="1682325"/>
            <a:ext cx="10924363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Desafio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Inicial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princípio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você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consegue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identificar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facilidade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cópias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falsas,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porque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falsificadores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ainda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usando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técnicas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simples.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Treinamento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constante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Você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torna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vez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hábil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identificar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falsificações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aprendendo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 o feedback dos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ajustando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abordagem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pequenas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diferenças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entre reais 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falsificados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g39d1aa3865d_0_193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Generative Adversarial Networks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Google Shape;390;g39b90f914c1_0_297">
            <a:extLst>
              <a:ext uri="{FF2B5EF4-FFF2-40B4-BE49-F238E27FC236}">
                <a16:creationId xmlns:a16="http://schemas.microsoft.com/office/drawing/2014/main" id="{59BDD441-D770-4302-AB8E-2D81C708A3DB}"/>
              </a:ext>
            </a:extLst>
          </p:cNvPr>
          <p:cNvSpPr txBox="1"/>
          <p:nvPr/>
        </p:nvSpPr>
        <p:spPr>
          <a:xfrm>
            <a:off x="442913" y="5682636"/>
            <a:ext cx="7872412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GÉRON, 2022.</a:t>
            </a:r>
            <a:endParaRPr sz="105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9d1aa3865d_0_199"/>
          <p:cNvSpPr txBox="1"/>
          <p:nvPr/>
        </p:nvSpPr>
        <p:spPr>
          <a:xfrm>
            <a:off x="624699" y="1539450"/>
            <a:ext cx="10924363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Evolução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Falsificação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falsificadores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começam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melhorar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técnicas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tornar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cópias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difíceis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identificar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Com o tempo, as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falsificações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tornam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sofisticadas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e as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diferenças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entre as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cópias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originais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começam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ser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visíveis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disputa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intensifica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à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ambos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lados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você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falsificadores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melhoram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habilidades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g39d1aa3865d_0_199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Generative Adversarial Networks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Google Shape;390;g39b90f914c1_0_297">
            <a:extLst>
              <a:ext uri="{FF2B5EF4-FFF2-40B4-BE49-F238E27FC236}">
                <a16:creationId xmlns:a16="http://schemas.microsoft.com/office/drawing/2014/main" id="{969C6719-AC1D-4B4F-B087-F9F1514B3E8D}"/>
              </a:ext>
            </a:extLst>
          </p:cNvPr>
          <p:cNvSpPr txBox="1"/>
          <p:nvPr/>
        </p:nvSpPr>
        <p:spPr>
          <a:xfrm>
            <a:off x="442913" y="5682636"/>
            <a:ext cx="7872412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GÉRON, 2022.</a:t>
            </a:r>
            <a:endParaRPr sz="105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9d1aa3865d_0_205"/>
          <p:cNvSpPr txBox="1"/>
          <p:nvPr/>
        </p:nvSpPr>
        <p:spPr>
          <a:xfrm>
            <a:off x="824724" y="1682325"/>
            <a:ext cx="10662425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Ciclo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Contínuo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Você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adapta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ao novo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nível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sofisticação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falsificações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ajustando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constantemente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técnicas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detecção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falsificadores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por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vez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continuam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refinar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técnicas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tornar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falsificações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ainda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convincentes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ciclo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melhoria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mútua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continua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g39d1aa3865d_0_205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Generative Adversarial Networks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390;g39b90f914c1_0_297">
            <a:extLst>
              <a:ext uri="{FF2B5EF4-FFF2-40B4-BE49-F238E27FC236}">
                <a16:creationId xmlns:a16="http://schemas.microsoft.com/office/drawing/2014/main" id="{9459353D-C7DD-4775-8B52-53F43B2C6FF2}"/>
              </a:ext>
            </a:extLst>
          </p:cNvPr>
          <p:cNvSpPr txBox="1"/>
          <p:nvPr/>
        </p:nvSpPr>
        <p:spPr>
          <a:xfrm>
            <a:off x="442913" y="5682636"/>
            <a:ext cx="7872412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GÉRON, 2022.</a:t>
            </a:r>
            <a:endParaRPr sz="105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9d1aa3865d_0_211"/>
          <p:cNvSpPr txBox="1"/>
          <p:nvPr/>
        </p:nvSpPr>
        <p:spPr>
          <a:xfrm>
            <a:off x="824724" y="1682325"/>
            <a:ext cx="10433825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Efeito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Aprendizado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Ambos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lados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(detector 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gerador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melhoram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significativamente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longo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 tempo, o que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torna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jogo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vez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desafiador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No final,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você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falsificadores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atingem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nível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sofisticação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em que 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distinção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entre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reais 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falsificados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extremamente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difícil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perceber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9d1aa3865d_0_211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Generative Adversarial Networks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390;g39b90f914c1_0_297">
            <a:extLst>
              <a:ext uri="{FF2B5EF4-FFF2-40B4-BE49-F238E27FC236}">
                <a16:creationId xmlns:a16="http://schemas.microsoft.com/office/drawing/2014/main" id="{61766807-A956-4229-8AA0-3A8C60E8EA61}"/>
              </a:ext>
            </a:extLst>
          </p:cNvPr>
          <p:cNvSpPr txBox="1"/>
          <p:nvPr/>
        </p:nvSpPr>
        <p:spPr>
          <a:xfrm>
            <a:off x="442913" y="5682636"/>
            <a:ext cx="7872412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GÉRON, 2022.</a:t>
            </a:r>
            <a:endParaRPr sz="105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9d1aa3865d_0_223"/>
          <p:cNvSpPr txBox="1"/>
          <p:nvPr/>
        </p:nvSpPr>
        <p:spPr>
          <a:xfrm>
            <a:off x="824725" y="1682325"/>
            <a:ext cx="91680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cenário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analogia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clara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funcionamento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das GANs: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detector (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você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é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representado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pela rede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discriminadora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que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tenta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distinguir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entre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amostras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reais 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geradas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falsificadores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representados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pela rede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geradora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que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tenta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amostras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vez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realistas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enganar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rede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discriminadora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g39d1aa3865d_0_223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Generative Adversarial Networks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390;g39b90f914c1_0_297">
            <a:extLst>
              <a:ext uri="{FF2B5EF4-FFF2-40B4-BE49-F238E27FC236}">
                <a16:creationId xmlns:a16="http://schemas.microsoft.com/office/drawing/2014/main" id="{03C75225-3C02-4402-8F5D-0C3F40393A9C}"/>
              </a:ext>
            </a:extLst>
          </p:cNvPr>
          <p:cNvSpPr txBox="1"/>
          <p:nvPr/>
        </p:nvSpPr>
        <p:spPr>
          <a:xfrm>
            <a:off x="442913" y="5682636"/>
            <a:ext cx="7872412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GÉRON, 2022.</a:t>
            </a:r>
            <a:endParaRPr sz="105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9b90f914c1_0_278"/>
          <p:cNvSpPr txBox="1"/>
          <p:nvPr/>
        </p:nvSpPr>
        <p:spPr>
          <a:xfrm>
            <a:off x="0" y="655534"/>
            <a:ext cx="121920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 dirty="0">
                <a:solidFill>
                  <a:srgbClr val="379FDE"/>
                </a:solidFill>
                <a:latin typeface="Montserrat"/>
                <a:ea typeface="Montserrat"/>
                <a:cs typeface="Montserrat"/>
                <a:sym typeface="Montserrat"/>
              </a:rPr>
              <a:t>Generative Adversarial Networks</a:t>
            </a:r>
            <a:endParaRPr sz="4000" b="1" dirty="0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4000" b="1" i="0" u="none" strike="noStrike" cap="none" dirty="0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3" name="Google Shape;343;g39b90f914c1_0_278"/>
          <p:cNvSpPr txBox="1"/>
          <p:nvPr/>
        </p:nvSpPr>
        <p:spPr>
          <a:xfrm>
            <a:off x="442913" y="1308087"/>
            <a:ext cx="11306175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 GAN é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batalha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entre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adversários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gerador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discriminador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gerador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tenta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converter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ruído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aleatório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observações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pareçam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amostradas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 conjunto de dados original, e 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discriminador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tenta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prever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observação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 conjunto de dados original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falsificações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gerador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4" name="Google Shape;344;g39b90f914c1_0_2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9925" y="3649187"/>
            <a:ext cx="5715000" cy="192405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390;g39b90f914c1_0_297">
            <a:extLst>
              <a:ext uri="{FF2B5EF4-FFF2-40B4-BE49-F238E27FC236}">
                <a16:creationId xmlns:a16="http://schemas.microsoft.com/office/drawing/2014/main" id="{E89D924B-E0C7-4788-B1F1-2738612079B6}"/>
              </a:ext>
            </a:extLst>
          </p:cNvPr>
          <p:cNvSpPr txBox="1"/>
          <p:nvPr/>
        </p:nvSpPr>
        <p:spPr>
          <a:xfrm>
            <a:off x="442913" y="5682636"/>
            <a:ext cx="7872412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GÉRON, 2022.</a:t>
            </a:r>
            <a:endParaRPr sz="105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9d1aa3865d_0_230"/>
          <p:cNvSpPr txBox="1"/>
          <p:nvPr/>
        </p:nvSpPr>
        <p:spPr>
          <a:xfrm>
            <a:off x="810437" y="1510875"/>
            <a:ext cx="10648138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Redes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adversárias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generativas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(GANs)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também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redes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neurais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capazes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dados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GANs agora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amplamente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usadas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para: 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super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resolução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aumento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resolução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), 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prevendo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próximos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quadros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em um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vídeo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aumentando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um conjunto de dados (para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treinar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outros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g39d1aa3865d_0_230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Generative Adversarial Networks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390;g39b90f914c1_0_297">
            <a:extLst>
              <a:ext uri="{FF2B5EF4-FFF2-40B4-BE49-F238E27FC236}">
                <a16:creationId xmlns:a16="http://schemas.microsoft.com/office/drawing/2014/main" id="{73471E89-9258-4FEC-9B95-FD2F716E5BAC}"/>
              </a:ext>
            </a:extLst>
          </p:cNvPr>
          <p:cNvSpPr txBox="1"/>
          <p:nvPr/>
        </p:nvSpPr>
        <p:spPr>
          <a:xfrm>
            <a:off x="442913" y="5682636"/>
            <a:ext cx="7872412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GÉRON, 2022.</a:t>
            </a:r>
            <a:endParaRPr sz="105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9d1aa3865d_0_236"/>
          <p:cNvSpPr txBox="1"/>
          <p:nvPr/>
        </p:nvSpPr>
        <p:spPr>
          <a:xfrm>
            <a:off x="824725" y="1682325"/>
            <a:ext cx="97779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GANs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compostas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por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redes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neurais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gerador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tenta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dados (imagens)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semelhantes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dados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treinamento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e 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discriminador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tenta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diferenciar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dados reais de dados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falsos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g39d1aa3865d_0_236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Generative Adversarial Networks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390;g39b90f914c1_0_297">
            <a:extLst>
              <a:ext uri="{FF2B5EF4-FFF2-40B4-BE49-F238E27FC236}">
                <a16:creationId xmlns:a16="http://schemas.microsoft.com/office/drawing/2014/main" id="{DB42850B-3BB7-46D8-B2E3-2036F4384409}"/>
              </a:ext>
            </a:extLst>
          </p:cNvPr>
          <p:cNvSpPr txBox="1"/>
          <p:nvPr/>
        </p:nvSpPr>
        <p:spPr>
          <a:xfrm>
            <a:off x="442913" y="5682636"/>
            <a:ext cx="7872412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GÉRON, 2022.</a:t>
            </a:r>
            <a:endParaRPr sz="105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9d1aa3865d_0_242"/>
          <p:cNvSpPr txBox="1"/>
          <p:nvPr/>
        </p:nvSpPr>
        <p:spPr>
          <a:xfrm>
            <a:off x="824725" y="1682325"/>
            <a:ext cx="97779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gerador e o discriminador competem entre si durante o treinamento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gerador é frequentemente comparado a um criminoso tentando ganhar dinheiro falso realista, enquanto o discriminador é como o investigador da polícia tentando dizer dinheiro real de falso.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g39d1aa3865d_0_242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Generative Adversarial Networks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Google Shape;390;g39b90f914c1_0_297">
            <a:extLst>
              <a:ext uri="{FF2B5EF4-FFF2-40B4-BE49-F238E27FC236}">
                <a16:creationId xmlns:a16="http://schemas.microsoft.com/office/drawing/2014/main" id="{74C834F8-8A3A-47AD-8B06-FF198CE01F00}"/>
              </a:ext>
            </a:extLst>
          </p:cNvPr>
          <p:cNvSpPr txBox="1"/>
          <p:nvPr/>
        </p:nvSpPr>
        <p:spPr>
          <a:xfrm>
            <a:off x="442913" y="5682636"/>
            <a:ext cx="7872412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GÉRON, 2022.</a:t>
            </a:r>
            <a:endParaRPr sz="105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9d1aa3865d_0_248"/>
          <p:cNvSpPr txBox="1"/>
          <p:nvPr/>
        </p:nvSpPr>
        <p:spPr>
          <a:xfrm>
            <a:off x="0" y="730180"/>
            <a:ext cx="121920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rgbClr val="379FDE"/>
                </a:solidFill>
                <a:latin typeface="Montserrat"/>
                <a:ea typeface="Montserrat"/>
                <a:cs typeface="Montserrat"/>
                <a:sym typeface="Montserrat"/>
              </a:rPr>
              <a:t>Generative Adversarial Networks</a:t>
            </a:r>
            <a:endParaRPr sz="4000" b="1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4000" b="1" i="0" u="none" strike="noStrike" cap="none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2" name="Google Shape;372;g39d1aa3865d_0_248"/>
          <p:cNvSpPr txBox="1"/>
          <p:nvPr/>
        </p:nvSpPr>
        <p:spPr>
          <a:xfrm>
            <a:off x="6240213" y="1698225"/>
            <a:ext cx="48360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discriminador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tenta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diferenciar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imagens falsas de imagens reais.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gerador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tenta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produzir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imagens que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pareçam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reais 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suficiente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enganar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discriminador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3" name="Google Shape;373;g39d1aa3865d_0_2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12" y="1698236"/>
            <a:ext cx="3342799" cy="382193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0;g39b90f914c1_0_297">
            <a:extLst>
              <a:ext uri="{FF2B5EF4-FFF2-40B4-BE49-F238E27FC236}">
                <a16:creationId xmlns:a16="http://schemas.microsoft.com/office/drawing/2014/main" id="{9F08E24D-33EF-4A94-A53B-0B0602AD2E3A}"/>
              </a:ext>
            </a:extLst>
          </p:cNvPr>
          <p:cNvSpPr txBox="1"/>
          <p:nvPr/>
        </p:nvSpPr>
        <p:spPr>
          <a:xfrm>
            <a:off x="442913" y="5682636"/>
            <a:ext cx="7872412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GÉRON, 2022.</a:t>
            </a:r>
            <a:endParaRPr sz="105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9d1aa3865d_0_262"/>
          <p:cNvSpPr txBox="1"/>
          <p:nvPr/>
        </p:nvSpPr>
        <p:spPr>
          <a:xfrm>
            <a:off x="0" y="730180"/>
            <a:ext cx="121920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rgbClr val="379FDE"/>
                </a:solidFill>
                <a:latin typeface="Montserrat"/>
                <a:ea typeface="Montserrat"/>
                <a:cs typeface="Montserrat"/>
                <a:sym typeface="Montserrat"/>
              </a:rPr>
              <a:t>Generative Adversarial Networks</a:t>
            </a:r>
            <a:endParaRPr sz="4000" b="1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4000" b="1" i="0" u="none" strike="noStrike" cap="none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0" name="Google Shape;380;g39d1aa3865d_0_262"/>
          <p:cNvSpPr txBox="1"/>
          <p:nvPr/>
        </p:nvSpPr>
        <p:spPr>
          <a:xfrm>
            <a:off x="6190575" y="1483788"/>
            <a:ext cx="48360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queremos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gerador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produza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imagens que 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discriminador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erroneamente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acredita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ser real! No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aprendizado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gerador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treinado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“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enganar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 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discriminador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gerador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aprende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produzir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imagens falsas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convincentes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1" name="Google Shape;381;g39d1aa3865d_0_2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43113" y="1683948"/>
            <a:ext cx="3342799" cy="382193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0;g39b90f914c1_0_297">
            <a:extLst>
              <a:ext uri="{FF2B5EF4-FFF2-40B4-BE49-F238E27FC236}">
                <a16:creationId xmlns:a16="http://schemas.microsoft.com/office/drawing/2014/main" id="{D7218CD6-525A-4EC5-880F-6D71DB8DDDD3}"/>
              </a:ext>
            </a:extLst>
          </p:cNvPr>
          <p:cNvSpPr txBox="1"/>
          <p:nvPr/>
        </p:nvSpPr>
        <p:spPr>
          <a:xfrm>
            <a:off x="442913" y="5682636"/>
            <a:ext cx="7872412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GÉRON, 2022.</a:t>
            </a:r>
            <a:endParaRPr sz="105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9b90f914c1_0_357"/>
          <p:cNvSpPr/>
          <p:nvPr/>
        </p:nvSpPr>
        <p:spPr>
          <a:xfrm>
            <a:off x="1180011" y="2485756"/>
            <a:ext cx="9831900" cy="1886400"/>
          </a:xfrm>
          <a:prstGeom prst="roundRect">
            <a:avLst>
              <a:gd name="adj" fmla="val 50000"/>
            </a:avLst>
          </a:prstGeom>
          <a:solidFill>
            <a:srgbClr val="43A9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g39b90f914c1_0_357"/>
          <p:cNvSpPr txBox="1"/>
          <p:nvPr/>
        </p:nvSpPr>
        <p:spPr>
          <a:xfrm>
            <a:off x="1180060" y="2967767"/>
            <a:ext cx="9831900" cy="21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7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Criando</a:t>
            </a:r>
            <a:r>
              <a:rPr lang="en-ID" sz="47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ID" sz="47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uma</a:t>
            </a:r>
            <a:r>
              <a:rPr lang="en-ID" sz="47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GAN</a:t>
            </a:r>
            <a:endParaRPr sz="47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4700" b="1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4000" b="1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9b90f914c1_0_362"/>
          <p:cNvSpPr txBox="1"/>
          <p:nvPr/>
        </p:nvSpPr>
        <p:spPr>
          <a:xfrm>
            <a:off x="824725" y="1682325"/>
            <a:ext cx="10533838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construir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GAN, é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necessário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principais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Gerador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(Generator):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Funciona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maneira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semelhante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decodificador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um autoencoder.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recebe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entrada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aleatória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normalmente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ruído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tenta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imagens que se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assemelham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às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imagens reais do conjunto de dados.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g39b90f914c1_0_362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Generative Adversarial Networks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390;g39b90f914c1_0_297">
            <a:extLst>
              <a:ext uri="{FF2B5EF4-FFF2-40B4-BE49-F238E27FC236}">
                <a16:creationId xmlns:a16="http://schemas.microsoft.com/office/drawing/2014/main" id="{37A94004-4A0A-4AD1-A27D-4E0B6A45213A}"/>
              </a:ext>
            </a:extLst>
          </p:cNvPr>
          <p:cNvSpPr txBox="1"/>
          <p:nvPr/>
        </p:nvSpPr>
        <p:spPr>
          <a:xfrm>
            <a:off x="442913" y="5682636"/>
            <a:ext cx="7872412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GÉRON, 2022.</a:t>
            </a:r>
            <a:endParaRPr sz="105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9d1aa3865d_0_269"/>
          <p:cNvSpPr txBox="1"/>
          <p:nvPr/>
        </p:nvSpPr>
        <p:spPr>
          <a:xfrm>
            <a:off x="824725" y="1682325"/>
            <a:ext cx="98208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Discriminador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(Discriminator):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 um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classificador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binário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tradicional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Recebe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entrada e termina com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camada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densa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(Dense) com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única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unidade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função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ativação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sigmoid, que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produz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probabilidade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indicando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 real (do conjunto de dados)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falsa (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g39d1aa3865d_0_269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Generative Adversarial Networks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390;g39b90f914c1_0_297">
            <a:extLst>
              <a:ext uri="{FF2B5EF4-FFF2-40B4-BE49-F238E27FC236}">
                <a16:creationId xmlns:a16="http://schemas.microsoft.com/office/drawing/2014/main" id="{E18C70BE-C19F-4EAF-90DF-628B9496CE68}"/>
              </a:ext>
            </a:extLst>
          </p:cNvPr>
          <p:cNvSpPr txBox="1"/>
          <p:nvPr/>
        </p:nvSpPr>
        <p:spPr>
          <a:xfrm>
            <a:off x="442913" y="5682636"/>
            <a:ext cx="7872412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GÉRON, 2022.</a:t>
            </a:r>
            <a:endParaRPr sz="105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9d1aa3865d_0_295"/>
          <p:cNvSpPr txBox="1"/>
          <p:nvPr/>
        </p:nvSpPr>
        <p:spPr>
          <a:xfrm>
            <a:off x="0" y="562228"/>
            <a:ext cx="121920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 dirty="0">
                <a:solidFill>
                  <a:srgbClr val="379FDE"/>
                </a:solidFill>
                <a:latin typeface="Montserrat"/>
                <a:ea typeface="Montserrat"/>
                <a:cs typeface="Montserrat"/>
                <a:sym typeface="Montserrat"/>
              </a:rPr>
              <a:t>Generative Adversarial Networks</a:t>
            </a:r>
            <a:endParaRPr sz="4000" b="1" dirty="0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4000" b="1" i="0" u="none" strike="noStrike" cap="none" dirty="0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2" name="Google Shape;412;g39d1aa3865d_0_295"/>
          <p:cNvSpPr txBox="1"/>
          <p:nvPr/>
        </p:nvSpPr>
        <p:spPr>
          <a:xfrm>
            <a:off x="7072313" y="1447500"/>
            <a:ext cx="4562475" cy="29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Funções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ID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Discriminador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Como se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trata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um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classificador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binário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função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binary cross-entropy.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treinado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diretamente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 imagens reais e falsas, para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aprender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diferenciá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-las.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g39d1aa3865d_0_295"/>
          <p:cNvSpPr txBox="1"/>
          <p:nvPr/>
        </p:nvSpPr>
        <p:spPr>
          <a:xfrm>
            <a:off x="814386" y="1373113"/>
            <a:ext cx="5977263" cy="3693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codings_size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FF66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30</a:t>
            </a:r>
            <a:endParaRPr sz="1200" dirty="0">
              <a:solidFill>
                <a:srgbClr val="3D3B49"/>
              </a:solidFill>
              <a:highlight>
                <a:srgbClr val="EEF2F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3D3B49"/>
              </a:solidFill>
              <a:highlight>
                <a:srgbClr val="EEF2F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Dense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tf</a:t>
            </a:r>
            <a:r>
              <a:rPr lang="en-ID" sz="1200" dirty="0" err="1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keras</a:t>
            </a:r>
            <a:r>
              <a:rPr lang="en-ID" sz="1200" dirty="0" err="1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layers</a:t>
            </a:r>
            <a:r>
              <a:rPr lang="en-ID" sz="1200" dirty="0" err="1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Dense</a:t>
            </a:r>
            <a:endParaRPr sz="1200" dirty="0">
              <a:solidFill>
                <a:srgbClr val="3D3B49"/>
              </a:solidFill>
              <a:highlight>
                <a:srgbClr val="EEF2F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generator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tf</a:t>
            </a:r>
            <a:r>
              <a:rPr lang="en-ID" sz="1200" dirty="0" err="1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keras</a:t>
            </a:r>
            <a:r>
              <a:rPr lang="en-ID" sz="1200" dirty="0" err="1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Sequential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([</a:t>
            </a:r>
            <a:endParaRPr sz="1200" dirty="0">
              <a:solidFill>
                <a:srgbClr val="3D3B49"/>
              </a:solidFill>
              <a:highlight>
                <a:srgbClr val="EEF2F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Dense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200" dirty="0">
                <a:solidFill>
                  <a:srgbClr val="FF66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activation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 err="1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relu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kernel_initializer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 err="1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he_normal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),</a:t>
            </a:r>
            <a:endParaRPr sz="1200" dirty="0">
              <a:solidFill>
                <a:srgbClr val="3D3B49"/>
              </a:solidFill>
              <a:highlight>
                <a:srgbClr val="EEF2F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Dense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200" dirty="0">
                <a:solidFill>
                  <a:srgbClr val="FF66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150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activation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 err="1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relu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kernel_initializer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 err="1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he_normal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),</a:t>
            </a:r>
            <a:endParaRPr sz="1200" dirty="0">
              <a:solidFill>
                <a:srgbClr val="3D3B49"/>
              </a:solidFill>
              <a:highlight>
                <a:srgbClr val="EEF2F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Dense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200" dirty="0">
                <a:solidFill>
                  <a:srgbClr val="FF66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28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FF66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28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activation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"sigmoid"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),</a:t>
            </a:r>
            <a:endParaRPr sz="1200" dirty="0">
              <a:solidFill>
                <a:srgbClr val="3D3B49"/>
              </a:solidFill>
              <a:highlight>
                <a:srgbClr val="EEF2F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tf</a:t>
            </a:r>
            <a:r>
              <a:rPr lang="en-ID" sz="1200" dirty="0" err="1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keras</a:t>
            </a:r>
            <a:r>
              <a:rPr lang="en-ID" sz="1200" dirty="0" err="1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layers</a:t>
            </a:r>
            <a:r>
              <a:rPr lang="en-ID" sz="1200" dirty="0" err="1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Reshape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([</a:t>
            </a:r>
            <a:r>
              <a:rPr lang="en-ID" sz="1200" dirty="0">
                <a:solidFill>
                  <a:srgbClr val="FF66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28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FF66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28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200" dirty="0">
              <a:solidFill>
                <a:srgbClr val="3D3B49"/>
              </a:solidFill>
              <a:highlight>
                <a:srgbClr val="EEF2F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200" dirty="0">
              <a:solidFill>
                <a:srgbClr val="3D3B49"/>
              </a:solidFill>
              <a:highlight>
                <a:srgbClr val="EEF2F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discriminator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tf</a:t>
            </a:r>
            <a:r>
              <a:rPr lang="en-ID" sz="1200" dirty="0" err="1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keras</a:t>
            </a:r>
            <a:r>
              <a:rPr lang="en-ID" sz="1200" dirty="0" err="1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Sequential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([</a:t>
            </a:r>
            <a:endParaRPr sz="1200" dirty="0">
              <a:solidFill>
                <a:srgbClr val="3D3B49"/>
              </a:solidFill>
              <a:highlight>
                <a:srgbClr val="EEF2F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tf</a:t>
            </a:r>
            <a:r>
              <a:rPr lang="en-ID" sz="1200" dirty="0" err="1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keras</a:t>
            </a:r>
            <a:r>
              <a:rPr lang="en-ID" sz="1200" dirty="0" err="1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layers</a:t>
            </a:r>
            <a:r>
              <a:rPr lang="en-ID" sz="1200" dirty="0" err="1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Flatten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(),</a:t>
            </a:r>
            <a:endParaRPr sz="1200" dirty="0">
              <a:solidFill>
                <a:srgbClr val="3D3B49"/>
              </a:solidFill>
              <a:highlight>
                <a:srgbClr val="EEF2F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Dense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200" dirty="0">
                <a:solidFill>
                  <a:srgbClr val="FF66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150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activation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 err="1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relu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kernel_initializer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 err="1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he_normal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),</a:t>
            </a:r>
            <a:endParaRPr sz="1200" dirty="0">
              <a:solidFill>
                <a:srgbClr val="3D3B49"/>
              </a:solidFill>
              <a:highlight>
                <a:srgbClr val="EEF2F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Dense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200" dirty="0">
                <a:solidFill>
                  <a:srgbClr val="FF66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activation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 err="1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relu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kernel_initializer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 err="1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he_normal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),</a:t>
            </a:r>
            <a:endParaRPr sz="1200" dirty="0">
              <a:solidFill>
                <a:srgbClr val="3D3B49"/>
              </a:solidFill>
              <a:highlight>
                <a:srgbClr val="EEF2F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Dense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200" dirty="0">
                <a:solidFill>
                  <a:srgbClr val="FF66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activation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"sigmoid"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200" dirty="0">
              <a:solidFill>
                <a:srgbClr val="3D3B49"/>
              </a:solidFill>
              <a:highlight>
                <a:srgbClr val="EEF2F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200" dirty="0">
              <a:solidFill>
                <a:srgbClr val="3D3B49"/>
              </a:solidFill>
              <a:highlight>
                <a:srgbClr val="EEF2F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228600" marR="228600" lvl="0" indent="0" algn="l" rtl="0">
              <a:lnSpc>
                <a:spcPct val="150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gan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tf</a:t>
            </a:r>
            <a:r>
              <a:rPr lang="en-ID" sz="1200" dirty="0" err="1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keras</a:t>
            </a:r>
            <a:r>
              <a:rPr lang="en-ID" sz="1200" dirty="0" err="1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Sequential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([</a:t>
            </a: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generator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discriminator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200" dirty="0">
              <a:solidFill>
                <a:srgbClr val="000000"/>
              </a:solidFill>
              <a:highlight>
                <a:srgbClr val="EEF2F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5" name="Google Shape;415;g39d1aa3865d_0_295"/>
          <p:cNvSpPr txBox="1"/>
          <p:nvPr/>
        </p:nvSpPr>
        <p:spPr>
          <a:xfrm>
            <a:off x="776713" y="4811862"/>
            <a:ext cx="74079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discriminator</a:t>
            </a:r>
            <a:r>
              <a:rPr lang="en-ID" sz="1200" dirty="0" err="1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compile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loss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 err="1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binary_crossentropy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optimizer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 err="1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rmsprop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200" dirty="0">
              <a:solidFill>
                <a:srgbClr val="3D3B49"/>
              </a:solidFill>
              <a:highlight>
                <a:srgbClr val="EEF2F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discriminator</a:t>
            </a:r>
            <a:r>
              <a:rPr lang="en-ID" sz="1200" dirty="0" err="1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trainable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00669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False</a:t>
            </a:r>
            <a:endParaRPr sz="1200" dirty="0">
              <a:solidFill>
                <a:srgbClr val="3D3B49"/>
              </a:solidFill>
              <a:highlight>
                <a:srgbClr val="EEF2F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228600" marR="228600" lvl="0" indent="0" algn="l" rtl="0">
              <a:lnSpc>
                <a:spcPct val="150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gan</a:t>
            </a:r>
            <a:r>
              <a:rPr lang="en-ID" sz="1200" dirty="0" err="1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compile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loss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 err="1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binary_crossentropy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optimizer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 err="1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rmsprop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200" dirty="0">
              <a:solidFill>
                <a:srgbClr val="000000"/>
              </a:solidFill>
              <a:highlight>
                <a:srgbClr val="EEF2F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" name="Google Shape;390;g39b90f914c1_0_297">
            <a:extLst>
              <a:ext uri="{FF2B5EF4-FFF2-40B4-BE49-F238E27FC236}">
                <a16:creationId xmlns:a16="http://schemas.microsoft.com/office/drawing/2014/main" id="{13CD4871-CD82-4373-93B4-31FD44CB101A}"/>
              </a:ext>
            </a:extLst>
          </p:cNvPr>
          <p:cNvSpPr txBox="1"/>
          <p:nvPr/>
        </p:nvSpPr>
        <p:spPr>
          <a:xfrm>
            <a:off x="8220075" y="5359470"/>
            <a:ext cx="3529013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GÉRON, 2022.</a:t>
            </a:r>
            <a:endParaRPr sz="105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9b90f914c1_0_375"/>
          <p:cNvSpPr txBox="1"/>
          <p:nvPr/>
        </p:nvSpPr>
        <p:spPr>
          <a:xfrm>
            <a:off x="6872289" y="1276050"/>
            <a:ext cx="4876800" cy="29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GAN (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gerador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discriminador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):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usado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apenas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treinar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gerador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forçando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-o 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produzir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imagens que 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discriminador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classifique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reais.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g39b90f914c1_0_375"/>
          <p:cNvSpPr txBox="1"/>
          <p:nvPr/>
        </p:nvSpPr>
        <p:spPr>
          <a:xfrm>
            <a:off x="642663" y="1373113"/>
            <a:ext cx="6020400" cy="3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codings_size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FF66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30</a:t>
            </a:r>
            <a:endParaRPr sz="1200" dirty="0">
              <a:solidFill>
                <a:srgbClr val="3D3B49"/>
              </a:solidFill>
              <a:highlight>
                <a:srgbClr val="EEF2F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3D3B49"/>
              </a:solidFill>
              <a:highlight>
                <a:srgbClr val="EEF2F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Dense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tf</a:t>
            </a:r>
            <a:r>
              <a:rPr lang="en-ID" sz="1200" dirty="0" err="1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keras</a:t>
            </a:r>
            <a:r>
              <a:rPr lang="en-ID" sz="1200" dirty="0" err="1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layers</a:t>
            </a:r>
            <a:r>
              <a:rPr lang="en-ID" sz="1200" dirty="0" err="1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Dense</a:t>
            </a:r>
            <a:endParaRPr sz="1200" dirty="0">
              <a:solidFill>
                <a:srgbClr val="3D3B49"/>
              </a:solidFill>
              <a:highlight>
                <a:srgbClr val="EEF2F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generator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tf</a:t>
            </a:r>
            <a:r>
              <a:rPr lang="en-ID" sz="1200" dirty="0" err="1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keras</a:t>
            </a:r>
            <a:r>
              <a:rPr lang="en-ID" sz="1200" dirty="0" err="1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Sequential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([</a:t>
            </a:r>
            <a:endParaRPr sz="1200" dirty="0">
              <a:solidFill>
                <a:srgbClr val="3D3B49"/>
              </a:solidFill>
              <a:highlight>
                <a:srgbClr val="EEF2F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Dense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200" dirty="0">
                <a:solidFill>
                  <a:srgbClr val="FF66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activation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 err="1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relu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kernel_initializer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 err="1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he_normal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),</a:t>
            </a:r>
            <a:endParaRPr sz="1200" dirty="0">
              <a:solidFill>
                <a:srgbClr val="3D3B49"/>
              </a:solidFill>
              <a:highlight>
                <a:srgbClr val="EEF2F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Dense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200" dirty="0">
                <a:solidFill>
                  <a:srgbClr val="FF66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150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activation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 err="1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relu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kernel_initializer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 err="1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he_normal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),</a:t>
            </a:r>
            <a:endParaRPr sz="1200" dirty="0">
              <a:solidFill>
                <a:srgbClr val="3D3B49"/>
              </a:solidFill>
              <a:highlight>
                <a:srgbClr val="EEF2F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Dense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200" dirty="0">
                <a:solidFill>
                  <a:srgbClr val="FF66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28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FF66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28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activation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"sigmoid"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),</a:t>
            </a:r>
            <a:endParaRPr sz="1200" dirty="0">
              <a:solidFill>
                <a:srgbClr val="3D3B49"/>
              </a:solidFill>
              <a:highlight>
                <a:srgbClr val="EEF2F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tf</a:t>
            </a:r>
            <a:r>
              <a:rPr lang="en-ID" sz="1200" dirty="0" err="1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keras</a:t>
            </a:r>
            <a:r>
              <a:rPr lang="en-ID" sz="1200" dirty="0" err="1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layers</a:t>
            </a:r>
            <a:r>
              <a:rPr lang="en-ID" sz="1200" dirty="0" err="1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Reshape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([</a:t>
            </a:r>
            <a:r>
              <a:rPr lang="en-ID" sz="1200" dirty="0">
                <a:solidFill>
                  <a:srgbClr val="FF66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28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FF66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28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200" dirty="0">
              <a:solidFill>
                <a:srgbClr val="3D3B49"/>
              </a:solidFill>
              <a:highlight>
                <a:srgbClr val="EEF2F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200" dirty="0">
              <a:solidFill>
                <a:srgbClr val="3D3B49"/>
              </a:solidFill>
              <a:highlight>
                <a:srgbClr val="EEF2F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discriminator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tf</a:t>
            </a:r>
            <a:r>
              <a:rPr lang="en-ID" sz="1200" dirty="0" err="1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keras</a:t>
            </a:r>
            <a:r>
              <a:rPr lang="en-ID" sz="1200" dirty="0" err="1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Sequential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([</a:t>
            </a:r>
            <a:endParaRPr sz="1200" dirty="0">
              <a:solidFill>
                <a:srgbClr val="3D3B49"/>
              </a:solidFill>
              <a:highlight>
                <a:srgbClr val="EEF2F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tf</a:t>
            </a:r>
            <a:r>
              <a:rPr lang="en-ID" sz="1200" dirty="0" err="1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keras</a:t>
            </a:r>
            <a:r>
              <a:rPr lang="en-ID" sz="1200" dirty="0" err="1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layers</a:t>
            </a:r>
            <a:r>
              <a:rPr lang="en-ID" sz="1200" dirty="0" err="1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Flatten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(),</a:t>
            </a:r>
            <a:endParaRPr sz="1200" dirty="0">
              <a:solidFill>
                <a:srgbClr val="3D3B49"/>
              </a:solidFill>
              <a:highlight>
                <a:srgbClr val="EEF2F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Dense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200" dirty="0">
                <a:solidFill>
                  <a:srgbClr val="FF66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150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activation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 err="1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relu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kernel_initializer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 err="1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he_normal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),</a:t>
            </a:r>
            <a:endParaRPr sz="1200" dirty="0">
              <a:solidFill>
                <a:srgbClr val="3D3B49"/>
              </a:solidFill>
              <a:highlight>
                <a:srgbClr val="EEF2F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Dense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200" dirty="0">
                <a:solidFill>
                  <a:srgbClr val="FF66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activation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 err="1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relu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kernel_initializer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 err="1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he_normal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),</a:t>
            </a:r>
            <a:endParaRPr sz="1200" dirty="0">
              <a:solidFill>
                <a:srgbClr val="3D3B49"/>
              </a:solidFill>
              <a:highlight>
                <a:srgbClr val="EEF2F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Dense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200" dirty="0">
                <a:solidFill>
                  <a:srgbClr val="FF66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activation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"sigmoid"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200" dirty="0">
              <a:solidFill>
                <a:srgbClr val="3D3B49"/>
              </a:solidFill>
              <a:highlight>
                <a:srgbClr val="EEF2F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200" dirty="0">
              <a:solidFill>
                <a:srgbClr val="3D3B49"/>
              </a:solidFill>
              <a:highlight>
                <a:srgbClr val="EEF2F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228600" marR="228600" lvl="0" indent="0" algn="l" rtl="0">
              <a:lnSpc>
                <a:spcPct val="150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gan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tf</a:t>
            </a:r>
            <a:r>
              <a:rPr lang="en-ID" sz="1200" dirty="0" err="1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keras</a:t>
            </a:r>
            <a:r>
              <a:rPr lang="en-ID" sz="1200" dirty="0" err="1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Sequential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([</a:t>
            </a: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generator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discriminator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200" dirty="0">
              <a:solidFill>
                <a:srgbClr val="000000"/>
              </a:solidFill>
              <a:highlight>
                <a:srgbClr val="EEF2F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4" name="Google Shape;424;g39b90f914c1_0_375"/>
          <p:cNvSpPr txBox="1"/>
          <p:nvPr/>
        </p:nvSpPr>
        <p:spPr>
          <a:xfrm>
            <a:off x="590975" y="4754713"/>
            <a:ext cx="74079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discriminator</a:t>
            </a:r>
            <a:r>
              <a:rPr lang="en-ID" sz="1200" dirty="0" err="1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compile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loss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 err="1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binary_crossentropy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optimizer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 err="1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rmsprop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200" dirty="0">
              <a:solidFill>
                <a:srgbClr val="3D3B49"/>
              </a:solidFill>
              <a:highlight>
                <a:srgbClr val="EEF2F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discriminator</a:t>
            </a:r>
            <a:r>
              <a:rPr lang="en-ID" sz="1200" dirty="0" err="1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trainable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00669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False</a:t>
            </a:r>
            <a:endParaRPr sz="1200" dirty="0">
              <a:solidFill>
                <a:srgbClr val="3D3B49"/>
              </a:solidFill>
              <a:highlight>
                <a:srgbClr val="EEF2F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228600" marR="228600" lvl="0" indent="0" algn="l" rtl="0">
              <a:lnSpc>
                <a:spcPct val="150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gan</a:t>
            </a:r>
            <a:r>
              <a:rPr lang="en-ID" sz="1200" dirty="0" err="1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compile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loss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 err="1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binary_crossentropy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optimizer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 err="1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rmsprop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200" dirty="0">
              <a:solidFill>
                <a:srgbClr val="000000"/>
              </a:solidFill>
              <a:highlight>
                <a:srgbClr val="EEF2F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" name="Google Shape;390;g39b90f914c1_0_297">
            <a:extLst>
              <a:ext uri="{FF2B5EF4-FFF2-40B4-BE49-F238E27FC236}">
                <a16:creationId xmlns:a16="http://schemas.microsoft.com/office/drawing/2014/main" id="{C3A4B44A-EE5C-4836-B8AA-36C33C2289E2}"/>
              </a:ext>
            </a:extLst>
          </p:cNvPr>
          <p:cNvSpPr txBox="1"/>
          <p:nvPr/>
        </p:nvSpPr>
        <p:spPr>
          <a:xfrm>
            <a:off x="8358189" y="5359470"/>
            <a:ext cx="3390900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GÉRON, 2022.</a:t>
            </a:r>
            <a:endParaRPr sz="105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  <p:sp>
        <p:nvSpPr>
          <p:cNvPr id="8" name="Google Shape;411;g39d1aa3865d_0_295">
            <a:extLst>
              <a:ext uri="{FF2B5EF4-FFF2-40B4-BE49-F238E27FC236}">
                <a16:creationId xmlns:a16="http://schemas.microsoft.com/office/drawing/2014/main" id="{E7942C82-5B1D-4F92-9FAD-7944D63754BB}"/>
              </a:ext>
            </a:extLst>
          </p:cNvPr>
          <p:cNvSpPr txBox="1"/>
          <p:nvPr/>
        </p:nvSpPr>
        <p:spPr>
          <a:xfrm>
            <a:off x="0" y="562228"/>
            <a:ext cx="121920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 dirty="0">
                <a:solidFill>
                  <a:srgbClr val="379FDE"/>
                </a:solidFill>
                <a:latin typeface="Montserrat"/>
                <a:ea typeface="Montserrat"/>
                <a:cs typeface="Montserrat"/>
                <a:sym typeface="Montserrat"/>
              </a:rPr>
              <a:t>Generative Adversarial Networks</a:t>
            </a:r>
            <a:endParaRPr sz="4000" b="1" dirty="0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4000" b="1" i="0" u="none" strike="noStrike" cap="none" dirty="0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9d1aa3865d_0_303"/>
          <p:cNvSpPr txBox="1"/>
          <p:nvPr/>
        </p:nvSpPr>
        <p:spPr>
          <a:xfrm>
            <a:off x="7343774" y="1504650"/>
            <a:ext cx="3886201" cy="29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Gerador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compilado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separadamente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pois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só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treinado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indiretamente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através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GAN.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g39d1aa3865d_0_303"/>
          <p:cNvSpPr txBox="1"/>
          <p:nvPr/>
        </p:nvSpPr>
        <p:spPr>
          <a:xfrm>
            <a:off x="842687" y="1415975"/>
            <a:ext cx="6020400" cy="3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codings_size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FF66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30</a:t>
            </a:r>
            <a:endParaRPr sz="1200" dirty="0">
              <a:solidFill>
                <a:srgbClr val="3D3B49"/>
              </a:solidFill>
              <a:highlight>
                <a:srgbClr val="EEF2F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3D3B49"/>
              </a:solidFill>
              <a:highlight>
                <a:srgbClr val="EEF2F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Dense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tf</a:t>
            </a:r>
            <a:r>
              <a:rPr lang="en-ID" sz="1200" dirty="0" err="1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keras</a:t>
            </a:r>
            <a:r>
              <a:rPr lang="en-ID" sz="1200" dirty="0" err="1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layers</a:t>
            </a:r>
            <a:r>
              <a:rPr lang="en-ID" sz="1200" dirty="0" err="1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Dense</a:t>
            </a:r>
            <a:endParaRPr sz="1200" dirty="0">
              <a:solidFill>
                <a:srgbClr val="3D3B49"/>
              </a:solidFill>
              <a:highlight>
                <a:srgbClr val="EEF2F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generator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tf</a:t>
            </a:r>
            <a:r>
              <a:rPr lang="en-ID" sz="1200" dirty="0" err="1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keras</a:t>
            </a:r>
            <a:r>
              <a:rPr lang="en-ID" sz="1200" dirty="0" err="1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Sequential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([</a:t>
            </a:r>
            <a:endParaRPr sz="1200" dirty="0">
              <a:solidFill>
                <a:srgbClr val="3D3B49"/>
              </a:solidFill>
              <a:highlight>
                <a:srgbClr val="EEF2F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Dense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200" dirty="0">
                <a:solidFill>
                  <a:srgbClr val="FF66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activation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 err="1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relu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kernel_initializer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 err="1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he_normal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),</a:t>
            </a:r>
            <a:endParaRPr sz="1200" dirty="0">
              <a:solidFill>
                <a:srgbClr val="3D3B49"/>
              </a:solidFill>
              <a:highlight>
                <a:srgbClr val="EEF2F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Dense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200" dirty="0">
                <a:solidFill>
                  <a:srgbClr val="FF66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150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activation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 err="1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relu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kernel_initializer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 err="1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he_normal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),</a:t>
            </a:r>
            <a:endParaRPr sz="1200" dirty="0">
              <a:solidFill>
                <a:srgbClr val="3D3B49"/>
              </a:solidFill>
              <a:highlight>
                <a:srgbClr val="EEF2F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Dense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200" dirty="0">
                <a:solidFill>
                  <a:srgbClr val="FF66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28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FF66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28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activation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"sigmoid"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),</a:t>
            </a:r>
            <a:endParaRPr sz="1200" dirty="0">
              <a:solidFill>
                <a:srgbClr val="3D3B49"/>
              </a:solidFill>
              <a:highlight>
                <a:srgbClr val="EEF2F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tf</a:t>
            </a:r>
            <a:r>
              <a:rPr lang="en-ID" sz="1200" dirty="0" err="1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keras</a:t>
            </a:r>
            <a:r>
              <a:rPr lang="en-ID" sz="1200" dirty="0" err="1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layers</a:t>
            </a:r>
            <a:r>
              <a:rPr lang="en-ID" sz="1200" dirty="0" err="1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Reshape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([</a:t>
            </a:r>
            <a:r>
              <a:rPr lang="en-ID" sz="1200" dirty="0">
                <a:solidFill>
                  <a:srgbClr val="FF66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28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FF66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28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200" dirty="0">
              <a:solidFill>
                <a:srgbClr val="3D3B49"/>
              </a:solidFill>
              <a:highlight>
                <a:srgbClr val="EEF2F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200" dirty="0">
              <a:solidFill>
                <a:srgbClr val="3D3B49"/>
              </a:solidFill>
              <a:highlight>
                <a:srgbClr val="EEF2F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discriminator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tf</a:t>
            </a:r>
            <a:r>
              <a:rPr lang="en-ID" sz="1200" dirty="0" err="1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keras</a:t>
            </a:r>
            <a:r>
              <a:rPr lang="en-ID" sz="1200" dirty="0" err="1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Sequential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([</a:t>
            </a:r>
            <a:endParaRPr sz="1200" dirty="0">
              <a:solidFill>
                <a:srgbClr val="3D3B49"/>
              </a:solidFill>
              <a:highlight>
                <a:srgbClr val="EEF2F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tf</a:t>
            </a:r>
            <a:r>
              <a:rPr lang="en-ID" sz="1200" dirty="0" err="1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keras</a:t>
            </a:r>
            <a:r>
              <a:rPr lang="en-ID" sz="1200" dirty="0" err="1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layers</a:t>
            </a:r>
            <a:r>
              <a:rPr lang="en-ID" sz="1200" dirty="0" err="1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Flatten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(),</a:t>
            </a:r>
            <a:endParaRPr sz="1200" dirty="0">
              <a:solidFill>
                <a:srgbClr val="3D3B49"/>
              </a:solidFill>
              <a:highlight>
                <a:srgbClr val="EEF2F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Dense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200" dirty="0">
                <a:solidFill>
                  <a:srgbClr val="FF66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150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activation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 err="1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relu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kernel_initializer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 err="1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he_normal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),</a:t>
            </a:r>
            <a:endParaRPr sz="1200" dirty="0">
              <a:solidFill>
                <a:srgbClr val="3D3B49"/>
              </a:solidFill>
              <a:highlight>
                <a:srgbClr val="EEF2F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Dense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200" dirty="0">
                <a:solidFill>
                  <a:srgbClr val="FF66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activation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 err="1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relu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kernel_initializer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 err="1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he_normal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),</a:t>
            </a:r>
            <a:endParaRPr sz="1200" dirty="0">
              <a:solidFill>
                <a:srgbClr val="3D3B49"/>
              </a:solidFill>
              <a:highlight>
                <a:srgbClr val="EEF2F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Dense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200" dirty="0">
                <a:solidFill>
                  <a:srgbClr val="FF66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activation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"sigmoid"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200" dirty="0">
              <a:solidFill>
                <a:srgbClr val="3D3B49"/>
              </a:solidFill>
              <a:highlight>
                <a:srgbClr val="EEF2F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200" dirty="0">
              <a:solidFill>
                <a:srgbClr val="3D3B49"/>
              </a:solidFill>
              <a:highlight>
                <a:srgbClr val="EEF2F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228600" marR="228600" lvl="0" indent="0" algn="l" rtl="0">
              <a:lnSpc>
                <a:spcPct val="150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gan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tf</a:t>
            </a:r>
            <a:r>
              <a:rPr lang="en-ID" sz="1200" dirty="0" err="1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keras</a:t>
            </a:r>
            <a:r>
              <a:rPr lang="en-ID" sz="1200" dirty="0" err="1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Sequential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([</a:t>
            </a: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generator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discriminator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200" dirty="0">
              <a:solidFill>
                <a:srgbClr val="000000"/>
              </a:solidFill>
              <a:highlight>
                <a:srgbClr val="EEF2F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3" name="Google Shape;433;g39d1aa3865d_0_303"/>
          <p:cNvSpPr txBox="1"/>
          <p:nvPr/>
        </p:nvSpPr>
        <p:spPr>
          <a:xfrm>
            <a:off x="862438" y="4826150"/>
            <a:ext cx="74079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discriminator</a:t>
            </a:r>
            <a:r>
              <a:rPr lang="en-ID" sz="1200" dirty="0" err="1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compile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loss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 err="1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binary_crossentropy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optimizer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 err="1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rmsprop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200" dirty="0">
              <a:solidFill>
                <a:srgbClr val="3D3B49"/>
              </a:solidFill>
              <a:highlight>
                <a:srgbClr val="EEF2F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discriminator</a:t>
            </a:r>
            <a:r>
              <a:rPr lang="en-ID" sz="1200" dirty="0" err="1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trainable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00669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False</a:t>
            </a:r>
            <a:endParaRPr sz="1200" dirty="0">
              <a:solidFill>
                <a:srgbClr val="3D3B49"/>
              </a:solidFill>
              <a:highlight>
                <a:srgbClr val="EEF2F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228600" marR="228600" lvl="0" indent="0" algn="l" rtl="0">
              <a:lnSpc>
                <a:spcPct val="150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gan</a:t>
            </a:r>
            <a:r>
              <a:rPr lang="en-ID" sz="1200" dirty="0" err="1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ID" sz="1200" dirty="0" err="1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compile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loss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 err="1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binary_crossentropy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ID" sz="1200" dirty="0">
                <a:solidFill>
                  <a:srgbClr val="3D3B49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 dirty="0">
                <a:solidFill>
                  <a:srgbClr val="000088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optimizer</a:t>
            </a:r>
            <a:r>
              <a:rPr lang="en-ID" sz="1200" dirty="0">
                <a:solidFill>
                  <a:srgbClr val="555555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 err="1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rmsprop</a:t>
            </a:r>
            <a:r>
              <a:rPr lang="en-ID" sz="1200" dirty="0">
                <a:solidFill>
                  <a:srgbClr val="CC33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00" dirty="0">
                <a:solidFill>
                  <a:srgbClr val="000000"/>
                </a:solidFill>
                <a:highlight>
                  <a:srgbClr val="EEF2F6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200" dirty="0">
              <a:solidFill>
                <a:srgbClr val="000000"/>
              </a:solidFill>
              <a:highlight>
                <a:srgbClr val="EEF2F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" name="Google Shape;390;g39b90f914c1_0_297">
            <a:extLst>
              <a:ext uri="{FF2B5EF4-FFF2-40B4-BE49-F238E27FC236}">
                <a16:creationId xmlns:a16="http://schemas.microsoft.com/office/drawing/2014/main" id="{E328BE88-3CCB-4406-A7CC-6D77A5399104}"/>
              </a:ext>
            </a:extLst>
          </p:cNvPr>
          <p:cNvSpPr txBox="1"/>
          <p:nvPr/>
        </p:nvSpPr>
        <p:spPr>
          <a:xfrm>
            <a:off x="8358189" y="5359470"/>
            <a:ext cx="3390900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GÉRON, 2022.</a:t>
            </a:r>
            <a:endParaRPr sz="105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  <p:sp>
        <p:nvSpPr>
          <p:cNvPr id="8" name="Google Shape;411;g39d1aa3865d_0_295">
            <a:extLst>
              <a:ext uri="{FF2B5EF4-FFF2-40B4-BE49-F238E27FC236}">
                <a16:creationId xmlns:a16="http://schemas.microsoft.com/office/drawing/2014/main" id="{80CFEDF0-C120-4CE0-A8E2-B1D9F7FA03EF}"/>
              </a:ext>
            </a:extLst>
          </p:cNvPr>
          <p:cNvSpPr txBox="1"/>
          <p:nvPr/>
        </p:nvSpPr>
        <p:spPr>
          <a:xfrm>
            <a:off x="0" y="562228"/>
            <a:ext cx="121920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 dirty="0">
                <a:solidFill>
                  <a:srgbClr val="379FDE"/>
                </a:solidFill>
                <a:latin typeface="Montserrat"/>
                <a:ea typeface="Montserrat"/>
                <a:cs typeface="Montserrat"/>
                <a:sym typeface="Montserrat"/>
              </a:rPr>
              <a:t>Generative Adversarial Networks</a:t>
            </a:r>
            <a:endParaRPr sz="4000" b="1" dirty="0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4000" b="1" i="0" u="none" strike="noStrike" cap="none" dirty="0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9d1aa3865d_0_311"/>
          <p:cNvSpPr txBox="1"/>
          <p:nvPr/>
        </p:nvSpPr>
        <p:spPr>
          <a:xfrm>
            <a:off x="824725" y="1453725"/>
            <a:ext cx="10419538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treinamento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GAN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ocorre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distintas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iteração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1 –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Treinamento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Discriminador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vetor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ruído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gaussiano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passado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gerador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que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produz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imagens falsas.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imagens falsas (label 0)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combinadas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 imagens reais (label 1) para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um batch.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g39d1aa3865d_0_311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4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Generative Adversarial Networks</a:t>
            </a:r>
            <a:endParaRPr sz="40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390;g39b90f914c1_0_297">
            <a:extLst>
              <a:ext uri="{FF2B5EF4-FFF2-40B4-BE49-F238E27FC236}">
                <a16:creationId xmlns:a16="http://schemas.microsoft.com/office/drawing/2014/main" id="{751E32E0-7481-4A25-A992-3990D6F94F19}"/>
              </a:ext>
            </a:extLst>
          </p:cNvPr>
          <p:cNvSpPr txBox="1"/>
          <p:nvPr/>
        </p:nvSpPr>
        <p:spPr>
          <a:xfrm>
            <a:off x="442913" y="5682636"/>
            <a:ext cx="7872412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GÉRON, 2022.</a:t>
            </a:r>
            <a:endParaRPr sz="105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9d1aa3865d_0_317"/>
          <p:cNvSpPr txBox="1"/>
          <p:nvPr/>
        </p:nvSpPr>
        <p:spPr>
          <a:xfrm>
            <a:off x="824725" y="1682325"/>
            <a:ext cx="81195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discriminador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treinado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aprender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distinguir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entre imagens reais 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geradas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Obs.: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nesta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apenas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discriminador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treinado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gerador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permanece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inalterado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g39d1aa3865d_0_317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Generative Adversarial Networks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390;g39b90f914c1_0_297">
            <a:extLst>
              <a:ext uri="{FF2B5EF4-FFF2-40B4-BE49-F238E27FC236}">
                <a16:creationId xmlns:a16="http://schemas.microsoft.com/office/drawing/2014/main" id="{93D84424-83A2-4015-B98E-0D7F185BB1CD}"/>
              </a:ext>
            </a:extLst>
          </p:cNvPr>
          <p:cNvSpPr txBox="1"/>
          <p:nvPr/>
        </p:nvSpPr>
        <p:spPr>
          <a:xfrm>
            <a:off x="442913" y="5682636"/>
            <a:ext cx="7872412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GÉRON, 2022.</a:t>
            </a:r>
            <a:endParaRPr sz="105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9d1aa3865d_0_323"/>
          <p:cNvSpPr txBox="1"/>
          <p:nvPr/>
        </p:nvSpPr>
        <p:spPr>
          <a:xfrm>
            <a:off x="781862" y="1596600"/>
            <a:ext cx="10762438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 –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Treinamento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Gerador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(via GAN)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Novamente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gerador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recebe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ruído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gaussiano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imagens falsas.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GAN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tenta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enganar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discriminador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labels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definidos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mesmo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as imagens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sejam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falsas.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Isso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força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gerador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melhorar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imagens para que 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discriminador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classifique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reais.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g39d1aa3865d_0_323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Generative Adversarial Networks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390;g39b90f914c1_0_297">
            <a:extLst>
              <a:ext uri="{FF2B5EF4-FFF2-40B4-BE49-F238E27FC236}">
                <a16:creationId xmlns:a16="http://schemas.microsoft.com/office/drawing/2014/main" id="{3CDBB94A-1E53-4B5A-8B79-C4329226D317}"/>
              </a:ext>
            </a:extLst>
          </p:cNvPr>
          <p:cNvSpPr txBox="1"/>
          <p:nvPr/>
        </p:nvSpPr>
        <p:spPr>
          <a:xfrm>
            <a:off x="442913" y="5682636"/>
            <a:ext cx="7872412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GÉRON, 2022.</a:t>
            </a:r>
            <a:endParaRPr sz="105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9d1aa3865d_0_329"/>
          <p:cNvSpPr txBox="1"/>
          <p:nvPr/>
        </p:nvSpPr>
        <p:spPr>
          <a:xfrm>
            <a:off x="824725" y="1682325"/>
            <a:ext cx="96066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Nesta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discriminador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está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congelado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treinável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),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Apenas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gerador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treinado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por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meio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retropropagação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GAN.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g39d1aa3865d_0_329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Generative Adversarial Networks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390;g39b90f914c1_0_297">
            <a:extLst>
              <a:ext uri="{FF2B5EF4-FFF2-40B4-BE49-F238E27FC236}">
                <a16:creationId xmlns:a16="http://schemas.microsoft.com/office/drawing/2014/main" id="{E1BE65FD-1552-4741-8597-D67E61E39CDE}"/>
              </a:ext>
            </a:extLst>
          </p:cNvPr>
          <p:cNvSpPr txBox="1"/>
          <p:nvPr/>
        </p:nvSpPr>
        <p:spPr>
          <a:xfrm>
            <a:off x="442913" y="5682636"/>
            <a:ext cx="7872412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GÉRON, 2022.</a:t>
            </a:r>
            <a:endParaRPr sz="105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9d1aa3865d_0_335"/>
          <p:cNvSpPr txBox="1"/>
          <p:nvPr/>
        </p:nvSpPr>
        <p:spPr>
          <a:xfrm>
            <a:off x="824725" y="1682325"/>
            <a:ext cx="96066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Dificuldades do Treinamento de GANs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Durante o treinamento de uma GAN, o gerador e o discriminador estão em constante competição, em um jogo de soma zero: o progresso de um implica a derrota do outro.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g39d1aa3865d_0_335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Generative Adversarial Networks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390;g39b90f914c1_0_297">
            <a:extLst>
              <a:ext uri="{FF2B5EF4-FFF2-40B4-BE49-F238E27FC236}">
                <a16:creationId xmlns:a16="http://schemas.microsoft.com/office/drawing/2014/main" id="{9BF578D9-BA14-47CC-8BCC-2174382C89E1}"/>
              </a:ext>
            </a:extLst>
          </p:cNvPr>
          <p:cNvSpPr txBox="1"/>
          <p:nvPr/>
        </p:nvSpPr>
        <p:spPr>
          <a:xfrm>
            <a:off x="442913" y="5682636"/>
            <a:ext cx="7872412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GÉRON, 2022.</a:t>
            </a:r>
            <a:endParaRPr sz="105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9d1aa3865d_0_341"/>
          <p:cNvSpPr txBox="1"/>
          <p:nvPr/>
        </p:nvSpPr>
        <p:spPr>
          <a:xfrm>
            <a:off x="610411" y="1425150"/>
            <a:ext cx="10676713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teoricamente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chegar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um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equilíbrio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Nash,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conceito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teoria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jogos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onde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nenhum</a:t>
            </a:r>
            <a:r>
              <a:rPr lang="en-ID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jogador</a:t>
            </a:r>
            <a:r>
              <a:rPr lang="en-ID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</a:t>
            </a:r>
            <a:r>
              <a:rPr lang="en-ID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incentivo</a:t>
            </a:r>
            <a:r>
              <a:rPr lang="en-ID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mudar </a:t>
            </a:r>
            <a:r>
              <a:rPr lang="en-ID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sua</a:t>
            </a:r>
            <a:r>
              <a:rPr lang="en-ID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estratégia</a:t>
            </a:r>
            <a:r>
              <a:rPr lang="en-ID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o outro </a:t>
            </a:r>
            <a:r>
              <a:rPr lang="en-ID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mantiver</a:t>
            </a:r>
            <a:r>
              <a:rPr lang="en-ID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ID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No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das GANs,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equilíbrio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ocorre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gerador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produz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imagens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perfeitamente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realistas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e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discriminador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consegue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distinguir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reais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falsas,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acertando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apenas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50% das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vezes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um chute.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g39d1aa3865d_0_341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Generative Adversarial Networks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390;g39b90f914c1_0_297">
            <a:extLst>
              <a:ext uri="{FF2B5EF4-FFF2-40B4-BE49-F238E27FC236}">
                <a16:creationId xmlns:a16="http://schemas.microsoft.com/office/drawing/2014/main" id="{4CEF70F6-9269-4ECE-86A0-EABFFD4339E3}"/>
              </a:ext>
            </a:extLst>
          </p:cNvPr>
          <p:cNvSpPr txBox="1"/>
          <p:nvPr/>
        </p:nvSpPr>
        <p:spPr>
          <a:xfrm>
            <a:off x="442913" y="5682636"/>
            <a:ext cx="7872412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GÉRON, 2022.</a:t>
            </a:r>
            <a:endParaRPr sz="105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9d1aa3865d_0_347"/>
          <p:cNvSpPr txBox="1"/>
          <p:nvPr/>
        </p:nvSpPr>
        <p:spPr>
          <a:xfrm>
            <a:off x="824725" y="1682325"/>
            <a:ext cx="103662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Embora isso seja o objetivo ideal, não há garantia de que esse equilíbrio será alcançado, mesmo com treinamento prolongado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g39d1aa3865d_0_347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Generative Adversarial Networks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390;g39b90f914c1_0_297">
            <a:extLst>
              <a:ext uri="{FF2B5EF4-FFF2-40B4-BE49-F238E27FC236}">
                <a16:creationId xmlns:a16="http://schemas.microsoft.com/office/drawing/2014/main" id="{D5D15328-10FA-4528-825A-AC2A8084D6B7}"/>
              </a:ext>
            </a:extLst>
          </p:cNvPr>
          <p:cNvSpPr txBox="1"/>
          <p:nvPr/>
        </p:nvSpPr>
        <p:spPr>
          <a:xfrm>
            <a:off x="442913" y="5682636"/>
            <a:ext cx="7872412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GÉRON, 2022.</a:t>
            </a:r>
            <a:endParaRPr sz="105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9b90f914c1_0_523"/>
          <p:cNvSpPr txBox="1"/>
          <p:nvPr/>
        </p:nvSpPr>
        <p:spPr>
          <a:xfrm>
            <a:off x="0" y="496915"/>
            <a:ext cx="121920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ID" sz="4000" b="1" i="0" u="none" strike="noStrike" kern="0" cap="none" spc="0" normalizeH="0" baseline="0" noProof="0" dirty="0" err="1">
                <a:ln>
                  <a:noFill/>
                </a:ln>
                <a:solidFill>
                  <a:srgbClr val="379FDE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Referências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379FDE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379FDE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379FDE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7" name="Google Shape;607;g39b90f914c1_0_523"/>
          <p:cNvSpPr txBox="1"/>
          <p:nvPr/>
        </p:nvSpPr>
        <p:spPr>
          <a:xfrm>
            <a:off x="5477850" y="1504650"/>
            <a:ext cx="5995013" cy="29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tabLst/>
              <a:defRPr/>
            </a:pPr>
            <a:r>
              <a:rPr kumimoji="0" lang="en-ID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GÉRON, </a:t>
            </a:r>
            <a:r>
              <a:rPr kumimoji="0" lang="en-ID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Aurélien</a:t>
            </a:r>
            <a:r>
              <a:rPr kumimoji="0" lang="en-ID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kumimoji="0" lang="en-ID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Hands-On Machine Learning with Scikit-Learn, </a:t>
            </a:r>
            <a:r>
              <a:rPr kumimoji="0" lang="en-ID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Keras</a:t>
            </a:r>
            <a:r>
              <a:rPr kumimoji="0" lang="en-ID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, and </a:t>
            </a:r>
            <a:r>
              <a:rPr kumimoji="0" lang="en-ID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Tensorflow</a:t>
            </a:r>
            <a:r>
              <a:rPr kumimoji="0" lang="en-ID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: Concepts, Tools, and Techniques to Build Intelligent Systems. Sebastopol: O'Reilly Media; 3nd ed. 2022.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8" name="Google Shape;608;g39b90f914c1_0_5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565" y="1072525"/>
            <a:ext cx="3504979" cy="46123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F894697F-E934-4625-AD13-D7653B38A626}"/>
              </a:ext>
            </a:extLst>
          </p:cNvPr>
          <p:cNvSpPr txBox="1"/>
          <p:nvPr/>
        </p:nvSpPr>
        <p:spPr>
          <a:xfrm rot="16200000">
            <a:off x="146500" y="5013280"/>
            <a:ext cx="11256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0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Imagem: </a:t>
            </a:r>
            <a:r>
              <a:rPr kumimoji="0" lang="pt-BR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Amazon</a:t>
            </a:r>
            <a:r>
              <a:rPr kumimoji="0" lang="pt-BR" sz="10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9b90f914c1_0_531"/>
          <p:cNvSpPr txBox="1"/>
          <p:nvPr/>
        </p:nvSpPr>
        <p:spPr>
          <a:xfrm>
            <a:off x="5129214" y="1504650"/>
            <a:ext cx="6115050" cy="29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tabLst/>
              <a:defRPr/>
            </a:pPr>
            <a:r>
              <a:rPr kumimoji="0" lang="en-ID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FOSTER, David. </a:t>
            </a:r>
            <a:r>
              <a:rPr kumimoji="0" lang="en-ID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Generative Deep Learning</a:t>
            </a:r>
            <a:r>
              <a:rPr kumimoji="0" lang="en-ID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. O'Reilly Media; 2nd ed. 2023.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5" name="Google Shape;615;g39b90f914c1_0_5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0000" y="1294350"/>
            <a:ext cx="3504975" cy="468779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FCC17CB1-0F43-47DB-B148-E5931A909AFA}"/>
              </a:ext>
            </a:extLst>
          </p:cNvPr>
          <p:cNvSpPr txBox="1"/>
          <p:nvPr/>
        </p:nvSpPr>
        <p:spPr>
          <a:xfrm rot="16200000">
            <a:off x="175075" y="5227513"/>
            <a:ext cx="11256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0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Imagem: </a:t>
            </a:r>
            <a:r>
              <a:rPr kumimoji="0" lang="pt-BR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Amazon</a:t>
            </a:r>
            <a:r>
              <a:rPr kumimoji="0" lang="pt-BR" sz="10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.</a:t>
            </a:r>
          </a:p>
        </p:txBody>
      </p:sp>
      <p:sp>
        <p:nvSpPr>
          <p:cNvPr id="6" name="Google Shape;606;g39b90f914c1_0_523">
            <a:extLst>
              <a:ext uri="{FF2B5EF4-FFF2-40B4-BE49-F238E27FC236}">
                <a16:creationId xmlns:a16="http://schemas.microsoft.com/office/drawing/2014/main" id="{C1B18BA1-5D85-42C9-82A0-8235213EAFAE}"/>
              </a:ext>
            </a:extLst>
          </p:cNvPr>
          <p:cNvSpPr txBox="1"/>
          <p:nvPr/>
        </p:nvSpPr>
        <p:spPr>
          <a:xfrm>
            <a:off x="0" y="496915"/>
            <a:ext cx="121920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ID" sz="4000" b="1" i="0" u="none" strike="noStrike" kern="0" cap="none" spc="0" normalizeH="0" baseline="0" noProof="0" dirty="0" err="1">
                <a:ln>
                  <a:noFill/>
                </a:ln>
                <a:solidFill>
                  <a:srgbClr val="379FDE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Referências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379FDE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379FDE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379FDE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0_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5_Personalizar design">
  <a:themeElements>
    <a:clrScheme name="Azul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7_Personalizar design">
  <a:themeElements>
    <a:clrScheme name="Azul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d515b78-c394-4c68-913b-64702d1b471e" xsi:nil="true"/>
    <lcf76f155ced4ddcb4097134ff3c332f xmlns="942d5ec7-aacc-4a5b-a58b-71e198b95712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D1042ECD13DF54ABFD3312BD93AC736" ma:contentTypeVersion="14" ma:contentTypeDescription="Crie um novo documento." ma:contentTypeScope="" ma:versionID="c3379b84d20a6d06fcaca77f4d02b37a">
  <xsd:schema xmlns:xsd="http://www.w3.org/2001/XMLSchema" xmlns:xs="http://www.w3.org/2001/XMLSchema" xmlns:p="http://schemas.microsoft.com/office/2006/metadata/properties" xmlns:ns2="942d5ec7-aacc-4a5b-a58b-71e198b95712" xmlns:ns3="dd515b78-c394-4c68-913b-64702d1b471e" targetNamespace="http://schemas.microsoft.com/office/2006/metadata/properties" ma:root="true" ma:fieldsID="5590a7ea86eaf6b97fecbb3d40b5a4d0" ns2:_="" ns3:_="">
    <xsd:import namespace="942d5ec7-aacc-4a5b-a58b-71e198b95712"/>
    <xsd:import namespace="dd515b78-c394-4c68-913b-64702d1b47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2d5ec7-aacc-4a5b-a58b-71e198b957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553fe116-42e8-49a4-86e5-3f68d57c9f9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15b78-c394-4c68-913b-64702d1b471e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de72ad8-281c-4dff-88d1-843eaf0c4a59}" ma:internalName="TaxCatchAll" ma:showField="CatchAllData" ma:web="dd515b78-c394-4c68-913b-64702d1b47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1E1FBC0-EC00-409F-9110-32C979BD77C1}">
  <ds:schemaRefs>
    <ds:schemaRef ds:uri="http://schemas.microsoft.com/office/2006/metadata/properties"/>
    <ds:schemaRef ds:uri="http://schemas.microsoft.com/office/infopath/2007/PartnerControls"/>
    <ds:schemaRef ds:uri="dd515b78-c394-4c68-913b-64702d1b471e"/>
    <ds:schemaRef ds:uri="942d5ec7-aacc-4a5b-a58b-71e198b95712"/>
  </ds:schemaRefs>
</ds:datastoreItem>
</file>

<file path=customXml/itemProps2.xml><?xml version="1.0" encoding="utf-8"?>
<ds:datastoreItem xmlns:ds="http://schemas.openxmlformats.org/officeDocument/2006/customXml" ds:itemID="{7AB0021E-05CE-4377-A8C2-0C5B2B09C0B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42d5ec7-aacc-4a5b-a58b-71e198b95712"/>
    <ds:schemaRef ds:uri="dd515b78-c394-4c68-913b-64702d1b47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884E0D0-D087-438B-A141-B0F91CC4840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4193</Words>
  <Application>Microsoft Office PowerPoint</Application>
  <PresentationFormat>Widescreen</PresentationFormat>
  <Paragraphs>329</Paragraphs>
  <Slides>69</Slides>
  <Notes>69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69</vt:i4>
      </vt:variant>
    </vt:vector>
  </HeadingPairs>
  <TitlesOfParts>
    <vt:vector size="79" baseType="lpstr">
      <vt:lpstr>Montserrat</vt:lpstr>
      <vt:lpstr>Cronos Pro</vt:lpstr>
      <vt:lpstr>Calibri</vt:lpstr>
      <vt:lpstr>Consolas</vt:lpstr>
      <vt:lpstr>Courier New</vt:lpstr>
      <vt:lpstr>Arial</vt:lpstr>
      <vt:lpstr>Noto Sans Symbols</vt:lpstr>
      <vt:lpstr>10_Personalizar design</vt:lpstr>
      <vt:lpstr>5_Personalizar design</vt:lpstr>
      <vt:lpstr>7_Personalizar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Fernando José Ferreira</cp:lastModifiedBy>
  <cp:revision>8</cp:revision>
  <dcterms:created xsi:type="dcterms:W3CDTF">2025-06-11T21:44:24Z</dcterms:created>
  <dcterms:modified xsi:type="dcterms:W3CDTF">2025-12-11T19:29:59Z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0x0101007D1042ECD13DF54ABFD3312BD93AC736</vt:lpwstr>
  </property>
</Properties>
</file>