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5" r:id="rId1"/>
    <p:sldMasterId id="2147483672" r:id="rId2"/>
    <p:sldMasterId id="2147483675" r:id="rId3"/>
    <p:sldMasterId id="2147483677" r:id="rId4"/>
  </p:sldMasterIdLst>
  <p:sldIdLst>
    <p:sldId id="268" r:id="rId5"/>
    <p:sldId id="273" r:id="rId6"/>
    <p:sldId id="269" r:id="rId7"/>
    <p:sldId id="274" r:id="rId8"/>
    <p:sldId id="275" r:id="rId9"/>
    <p:sldId id="276" r:id="rId10"/>
    <p:sldId id="277"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79"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264" r:id="rId41"/>
  </p:sldIdLst>
  <p:sldSz cx="12192000" cy="6858000"/>
  <p:notesSz cx="6858000" cy="9144000"/>
  <p:embeddedFontLst>
    <p:embeddedFont>
      <p:font typeface="Calibri" panose="020F0502020204030204" pitchFamily="34" charset="0"/>
      <p:regular r:id="rId42"/>
      <p:bold r:id="rId43"/>
      <p:italic r:id="rId44"/>
      <p:boldItalic r:id="rId45"/>
    </p:embeddedFont>
    <p:embeddedFont>
      <p:font typeface="Cronos Pro" panose="020C0502030403020304" pitchFamily="34" charset="0"/>
      <p:regular r:id="rId46"/>
      <p:bold r:id="rId47"/>
      <p:italic r:id="rId48"/>
    </p:embeddedFont>
    <p:embeddedFont>
      <p:font typeface="Montserrat" panose="00000500000000000000" pitchFamily="50" charset="0"/>
      <p:regular r:id="rId49"/>
      <p:bold r:id="rId50"/>
    </p:embeddedFont>
    <p:embeddedFont>
      <p:font typeface="Verdana" panose="020B0604030504040204" pitchFamily="34" charset="0"/>
      <p:regular r:id="rId51"/>
      <p:bold r:id="rId52"/>
      <p:italic r:id="rId53"/>
      <p:boldItalic r:id="rId54"/>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3725" userDrawn="1">
          <p15:clr>
            <a:srgbClr val="A4A3A4"/>
          </p15:clr>
        </p15:guide>
        <p15:guide id="6" pos="597" userDrawn="1">
          <p15:clr>
            <a:srgbClr val="A4A3A4"/>
          </p15:clr>
        </p15:guide>
        <p15:guide id="7" pos="7401" userDrawn="1">
          <p15:clr>
            <a:srgbClr val="A4A3A4"/>
          </p15:clr>
        </p15:guide>
        <p15:guide id="8" orient="horz" pos="5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9FDE"/>
    <a:srgbClr val="2087C6"/>
    <a:srgbClr val="FFD230"/>
    <a:srgbClr val="4BA8DE"/>
    <a:srgbClr val="E6E6E6"/>
    <a:srgbClr val="43A9E7"/>
    <a:srgbClr val="56B6F1"/>
    <a:srgbClr val="FFD639"/>
    <a:srgbClr val="1772A5"/>
    <a:srgbClr val="3CA3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109" d="100"/>
          <a:sy n="109" d="100"/>
        </p:scale>
        <p:origin x="414" y="108"/>
      </p:cViewPr>
      <p:guideLst>
        <p:guide orient="horz" pos="3725"/>
        <p:guide pos="597"/>
        <p:guide pos="7401"/>
        <p:guide orient="horz" pos="55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customXml" Target="../customXml/item3.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59" Type="http://schemas.openxmlformats.org/officeDocument/2006/relationships/customXml" Target="../customXml/item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customXml" Target="../customXml/item2.xml"/><Relationship Id="rId4" Type="http://schemas.openxmlformats.org/officeDocument/2006/relationships/slideMaster" Target="slideMasters/slideMaster4.xml"/><Relationship Id="rId9"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888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o e Título Vertical">
    <p:spTree>
      <p:nvGrpSpPr>
        <p:cNvPr id="1" name=""/>
        <p:cNvGrpSpPr/>
        <p:nvPr/>
      </p:nvGrpSpPr>
      <p:grpSpPr>
        <a:xfrm>
          <a:off x="0" y="0"/>
          <a:ext cx="0" cy="0"/>
          <a:chOff x="0" y="0"/>
          <a:chExt cx="0" cy="0"/>
        </a:xfrm>
      </p:grpSpPr>
      <p:sp>
        <p:nvSpPr>
          <p:cNvPr id="8" name="PpFooter">
            <a:extLst>
              <a:ext uri="{FF2B5EF4-FFF2-40B4-BE49-F238E27FC236}">
                <a16:creationId xmlns:a16="http://schemas.microsoft.com/office/drawing/2014/main" id="{3811FE2C-F4C3-42BF-A394-5DCBACE4206D}"/>
              </a:ext>
            </a:extLst>
          </p:cNvPr>
          <p:cNvSpPr txBox="1"/>
          <p:nvPr/>
        </p:nvSpPr>
        <p:spPr bwMode="auto">
          <a:xfrm>
            <a:off x="957294" y="6373144"/>
            <a:ext cx="607538" cy="153888"/>
          </a:xfrm>
          <a:prstGeom prst="rect">
            <a:avLst/>
          </a:prstGeom>
          <a:noFill/>
        </p:spPr>
        <p:txBody>
          <a:bodyPr wrap="none" lIns="0" tIns="0" rIns="0" bIns="0">
            <a:spAutoFit/>
          </a:bodyPr>
          <a:lstStyle/>
          <a:p>
            <a:pPr defTabSz="457120" eaLnBrk="1" fontAlgn="auto" hangingPunct="1">
              <a:spcBef>
                <a:spcPts val="0"/>
              </a:spcBef>
              <a:spcAft>
                <a:spcPts val="0"/>
              </a:spcAft>
              <a:defRPr/>
            </a:pPr>
            <a:r>
              <a:rPr lang="en-ID" sz="1000" dirty="0">
                <a:solidFill>
                  <a:srgbClr val="3CA3E1"/>
                </a:solidFill>
                <a:latin typeface="Cronos Pro" panose="020C0502030403020304" pitchFamily="34" charset="0"/>
              </a:rPr>
              <a:t>PUC MINAS</a:t>
            </a:r>
            <a:endParaRPr lang="en-ID" sz="1100" b="1" dirty="0">
              <a:solidFill>
                <a:srgbClr val="3CA3E1"/>
              </a:solidFill>
              <a:latin typeface="Cronos Pro" panose="020C0502030403020304" pitchFamily="34" charset="0"/>
            </a:endParaRPr>
          </a:p>
        </p:txBody>
      </p:sp>
    </p:spTree>
    <p:extLst>
      <p:ext uri="{BB962C8B-B14F-4D97-AF65-F5344CB8AC3E}">
        <p14:creationId xmlns:p14="http://schemas.microsoft.com/office/powerpoint/2010/main" val="3413666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o e Título Vertical">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973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o e Título Vertical">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671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g"/><Relationship Id="rId7" Type="http://schemas.openxmlformats.org/officeDocument/2006/relationships/image" Target="../media/image12.sv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A"/>
        </a:solidFill>
        <a:effectLst/>
      </p:bgPr>
    </p:bg>
    <p:spTree>
      <p:nvGrpSpPr>
        <p:cNvPr id="1" name=""/>
        <p:cNvGrpSpPr/>
        <p:nvPr/>
      </p:nvGrpSpPr>
      <p:grpSpPr>
        <a:xfrm>
          <a:off x="0" y="0"/>
          <a:ext cx="0" cy="0"/>
          <a:chOff x="0" y="0"/>
          <a:chExt cx="0" cy="0"/>
        </a:xfrm>
      </p:grpSpPr>
      <p:pic>
        <p:nvPicPr>
          <p:cNvPr id="8" name="Imagem 7">
            <a:extLst>
              <a:ext uri="{FF2B5EF4-FFF2-40B4-BE49-F238E27FC236}">
                <a16:creationId xmlns:a16="http://schemas.microsoft.com/office/drawing/2014/main" id="{413BE60C-4F50-4749-84D4-A250A2FEDB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88389" cy="6858000"/>
          </a:xfrm>
          <a:prstGeom prst="rect">
            <a:avLst/>
          </a:prstGeom>
        </p:spPr>
      </p:pic>
      <p:pic>
        <p:nvPicPr>
          <p:cNvPr id="13" name="Imagem 12">
            <a:extLst>
              <a:ext uri="{FF2B5EF4-FFF2-40B4-BE49-F238E27FC236}">
                <a16:creationId xmlns:a16="http://schemas.microsoft.com/office/drawing/2014/main" id="{A37BE1F7-6D6E-4A43-9207-6B3CE92E50C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74740" t="3691" r="2018" b="59006"/>
          <a:stretch/>
        </p:blipFill>
        <p:spPr>
          <a:xfrm>
            <a:off x="8531051" y="-163761"/>
            <a:ext cx="3476731" cy="3139731"/>
          </a:xfrm>
          <a:prstGeom prst="rect">
            <a:avLst/>
          </a:prstGeom>
        </p:spPr>
      </p:pic>
      <p:sp>
        <p:nvSpPr>
          <p:cNvPr id="12" name="Retângulo 11">
            <a:extLst>
              <a:ext uri="{FF2B5EF4-FFF2-40B4-BE49-F238E27FC236}">
                <a16:creationId xmlns:a16="http://schemas.microsoft.com/office/drawing/2014/main" id="{FFADEAFF-EEAF-4BD1-82B8-65D4D688687D}"/>
              </a:ext>
            </a:extLst>
          </p:cNvPr>
          <p:cNvSpPr/>
          <p:nvPr userDrawn="1"/>
        </p:nvSpPr>
        <p:spPr>
          <a:xfrm>
            <a:off x="12192000" y="0"/>
            <a:ext cx="1213449" cy="281221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Gráfico 9">
            <a:extLst>
              <a:ext uri="{FF2B5EF4-FFF2-40B4-BE49-F238E27FC236}">
                <a16:creationId xmlns:a16="http://schemas.microsoft.com/office/drawing/2014/main" id="{D4670863-8AB6-459A-B0E6-3162D696489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2630" y="5438751"/>
            <a:ext cx="739013" cy="434512"/>
          </a:xfrm>
          <a:prstGeom prst="rect">
            <a:avLst/>
          </a:prstGeom>
        </p:spPr>
      </p:pic>
      <p:pic>
        <p:nvPicPr>
          <p:cNvPr id="11" name="Gráfico 10">
            <a:extLst>
              <a:ext uri="{FF2B5EF4-FFF2-40B4-BE49-F238E27FC236}">
                <a16:creationId xmlns:a16="http://schemas.microsoft.com/office/drawing/2014/main" id="{435FC32D-1CE4-41CE-A75C-6BFBE2888ED4}"/>
              </a:ext>
            </a:extLst>
          </p:cNvPr>
          <p:cNvPicPr>
            <a:picLocks noChangeAspect="1"/>
          </p:cNvPicPr>
          <p:nvPr userDrawn="1"/>
        </p:nvPicPr>
        <p:blipFill rotWithShape="1">
          <a:blip r:embed="rId7">
            <a:extLst>
              <a:ext uri="{96DAC541-7B7A-43D3-8B79-37D633B846F1}">
                <asvg:svgBlip xmlns:asvg="http://schemas.microsoft.com/office/drawing/2016/SVG/main" r:embed="rId8"/>
              </a:ext>
            </a:extLst>
          </a:blip>
          <a:srcRect b="8323"/>
          <a:stretch/>
        </p:blipFill>
        <p:spPr>
          <a:xfrm>
            <a:off x="10370858" y="563666"/>
            <a:ext cx="859397" cy="1219455"/>
          </a:xfrm>
          <a:prstGeom prst="rect">
            <a:avLst/>
          </a:prstGeom>
        </p:spPr>
      </p:pic>
    </p:spTree>
    <p:extLst>
      <p:ext uri="{BB962C8B-B14F-4D97-AF65-F5344CB8AC3E}">
        <p14:creationId xmlns:p14="http://schemas.microsoft.com/office/powerpoint/2010/main" val="1544922948"/>
      </p:ext>
    </p:extLst>
  </p:cSld>
  <p:clrMap bg1="lt1" tx1="dk1" bg2="lt2" tx2="dk2" accent1="accent1" accent2="accent2" accent3="accent3" accent4="accent4" accent5="accent5" accent6="accent6" hlink="hlink" folHlink="folHlink"/>
  <p:sldLayoutIdLst>
    <p:sldLayoutId id="214748368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A"/>
        </a:solidFill>
        <a:effectLst/>
      </p:bgPr>
    </p:bg>
    <p:spTree>
      <p:nvGrpSpPr>
        <p:cNvPr id="1" name=""/>
        <p:cNvGrpSpPr/>
        <p:nvPr/>
      </p:nvGrpSpPr>
      <p:grpSpPr>
        <a:xfrm>
          <a:off x="0" y="0"/>
          <a:ext cx="0" cy="0"/>
          <a:chOff x="0" y="0"/>
          <a:chExt cx="0" cy="0"/>
        </a:xfrm>
      </p:grpSpPr>
      <p:pic>
        <p:nvPicPr>
          <p:cNvPr id="14" name="Imagem 13">
            <a:extLst>
              <a:ext uri="{FF2B5EF4-FFF2-40B4-BE49-F238E27FC236}">
                <a16:creationId xmlns:a16="http://schemas.microsoft.com/office/drawing/2014/main" id="{4453D851-AA9E-4435-A07A-01756CD65E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60032"/>
          </a:xfrm>
          <a:prstGeom prst="rect">
            <a:avLst/>
          </a:prstGeom>
        </p:spPr>
      </p:pic>
    </p:spTree>
    <p:extLst>
      <p:ext uri="{BB962C8B-B14F-4D97-AF65-F5344CB8AC3E}">
        <p14:creationId xmlns:p14="http://schemas.microsoft.com/office/powerpoint/2010/main" val="2477909675"/>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785553"/>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A"/>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FDBB3C98-8E1A-47A9-A8B4-CE33C88BB9D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60032"/>
          </a:xfrm>
          <a:prstGeom prst="rect">
            <a:avLst/>
          </a:prstGeom>
        </p:spPr>
      </p:pic>
      <p:pic>
        <p:nvPicPr>
          <p:cNvPr id="5" name="Gráfico 4">
            <a:extLst>
              <a:ext uri="{FF2B5EF4-FFF2-40B4-BE49-F238E27FC236}">
                <a16:creationId xmlns:a16="http://schemas.microsoft.com/office/drawing/2014/main" id="{01A37BB3-0E46-4CA1-8E41-A278A1637A5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7232"/>
          <a:stretch/>
        </p:blipFill>
        <p:spPr>
          <a:xfrm>
            <a:off x="5072287" y="1512942"/>
            <a:ext cx="2047426" cy="2932619"/>
          </a:xfrm>
          <a:prstGeom prst="rect">
            <a:avLst/>
          </a:prstGeom>
        </p:spPr>
      </p:pic>
      <p:pic>
        <p:nvPicPr>
          <p:cNvPr id="7" name="Gráfico 6">
            <a:extLst>
              <a:ext uri="{FF2B5EF4-FFF2-40B4-BE49-F238E27FC236}">
                <a16:creationId xmlns:a16="http://schemas.microsoft.com/office/drawing/2014/main" id="{1100C50E-1DA0-41B4-9816-4E77DE3A3A3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36692" y="592026"/>
            <a:ext cx="834735" cy="490794"/>
          </a:xfrm>
          <a:prstGeom prst="rect">
            <a:avLst/>
          </a:prstGeom>
        </p:spPr>
      </p:pic>
      <p:pic>
        <p:nvPicPr>
          <p:cNvPr id="8" name="Gráfico 7">
            <a:extLst>
              <a:ext uri="{FF2B5EF4-FFF2-40B4-BE49-F238E27FC236}">
                <a16:creationId xmlns:a16="http://schemas.microsoft.com/office/drawing/2014/main" id="{F180DFD4-6B82-47B3-BA00-6ABD2101198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36729" y="5760979"/>
            <a:ext cx="834735" cy="490794"/>
          </a:xfrm>
          <a:prstGeom prst="rect">
            <a:avLst/>
          </a:prstGeom>
        </p:spPr>
      </p:pic>
      <p:pic>
        <p:nvPicPr>
          <p:cNvPr id="6" name="Imagem 5">
            <a:extLst>
              <a:ext uri="{FF2B5EF4-FFF2-40B4-BE49-F238E27FC236}">
                <a16:creationId xmlns:a16="http://schemas.microsoft.com/office/drawing/2014/main" id="{51843510-8E25-4E72-A3BF-02F9BD0BE3A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865367" y="5139077"/>
            <a:ext cx="8461265" cy="612649"/>
          </a:xfrm>
          <a:prstGeom prst="rect">
            <a:avLst/>
          </a:prstGeom>
        </p:spPr>
      </p:pic>
    </p:spTree>
    <p:extLst>
      <p:ext uri="{BB962C8B-B14F-4D97-AF65-F5344CB8AC3E}">
        <p14:creationId xmlns:p14="http://schemas.microsoft.com/office/powerpoint/2010/main" val="3942298534"/>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AFD478C7-31D7-4DCB-B3BC-9B1090C6B445}"/>
              </a:ext>
            </a:extLst>
          </p:cNvPr>
          <p:cNvSpPr/>
          <p:nvPr/>
        </p:nvSpPr>
        <p:spPr>
          <a:xfrm>
            <a:off x="2055735" y="2485755"/>
            <a:ext cx="8080529" cy="1886487"/>
          </a:xfrm>
          <a:prstGeom prst="roundRect">
            <a:avLst>
              <a:gd name="adj" fmla="val 50000"/>
            </a:avLst>
          </a:prstGeom>
          <a:solidFill>
            <a:srgbClr val="43A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extBox 1">
            <a:extLst>
              <a:ext uri="{FF2B5EF4-FFF2-40B4-BE49-F238E27FC236}">
                <a16:creationId xmlns:a16="http://schemas.microsoft.com/office/drawing/2014/main" id="{D055BA4B-DC22-4207-ABC8-3B491F765609}"/>
              </a:ext>
            </a:extLst>
          </p:cNvPr>
          <p:cNvSpPr txBox="1"/>
          <p:nvPr/>
        </p:nvSpPr>
        <p:spPr>
          <a:xfrm>
            <a:off x="2055735" y="2536447"/>
            <a:ext cx="8080529" cy="1785104"/>
          </a:xfrm>
          <a:prstGeom prst="rect">
            <a:avLst/>
          </a:prstGeom>
          <a:noFill/>
        </p:spPr>
        <p:txBody>
          <a:bodyPr wrap="square" rtlCol="0">
            <a:spAutoFit/>
          </a:bodyPr>
          <a:lstStyle/>
          <a:p>
            <a:pPr algn="ctr"/>
            <a:r>
              <a:rPr lang="pt-BR" sz="5500" b="1" kern="0" dirty="0" err="1">
                <a:solidFill>
                  <a:schemeClr val="bg1"/>
                </a:solidFill>
                <a:latin typeface="Montserrat" panose="00000500000000000000" pitchFamily="50" charset="0"/>
                <a:cs typeface="Poppins" panose="02000000000000000000" pitchFamily="2" charset="0"/>
              </a:rPr>
              <a:t>Generative</a:t>
            </a:r>
            <a:br>
              <a:rPr lang="pt-BR" sz="5500" b="1" kern="0" dirty="0">
                <a:solidFill>
                  <a:schemeClr val="bg1"/>
                </a:solidFill>
                <a:latin typeface="Montserrat" panose="00000500000000000000" pitchFamily="50" charset="0"/>
                <a:cs typeface="Poppins" panose="02000000000000000000" pitchFamily="2" charset="0"/>
              </a:rPr>
            </a:br>
            <a:r>
              <a:rPr lang="pt-BR" sz="5500" b="1" kern="0" dirty="0" err="1">
                <a:solidFill>
                  <a:schemeClr val="bg1"/>
                </a:solidFill>
                <a:latin typeface="Montserrat" panose="00000500000000000000" pitchFamily="50" charset="0"/>
                <a:cs typeface="Poppins" panose="02000000000000000000" pitchFamily="2" charset="0"/>
              </a:rPr>
              <a:t>Deep</a:t>
            </a:r>
            <a:r>
              <a:rPr lang="pt-BR" sz="5500" b="1" kern="0" dirty="0">
                <a:solidFill>
                  <a:schemeClr val="bg1"/>
                </a:solidFill>
                <a:latin typeface="Montserrat" panose="00000500000000000000" pitchFamily="50" charset="0"/>
                <a:cs typeface="Poppins" panose="02000000000000000000" pitchFamily="2" charset="0"/>
              </a:rPr>
              <a:t> Learning</a:t>
            </a:r>
            <a:endParaRPr lang="en-ID" sz="5500" b="1" kern="0" dirty="0">
              <a:solidFill>
                <a:schemeClr val="bg1"/>
              </a:solidFill>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1316730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AFD478C7-31D7-4DCB-B3BC-9B1090C6B445}"/>
              </a:ext>
            </a:extLst>
          </p:cNvPr>
          <p:cNvSpPr/>
          <p:nvPr/>
        </p:nvSpPr>
        <p:spPr>
          <a:xfrm>
            <a:off x="2055735" y="2485755"/>
            <a:ext cx="8080529" cy="1886487"/>
          </a:xfrm>
          <a:prstGeom prst="roundRect">
            <a:avLst>
              <a:gd name="adj" fmla="val 50000"/>
            </a:avLst>
          </a:prstGeom>
          <a:solidFill>
            <a:srgbClr val="43A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extBox 1">
            <a:extLst>
              <a:ext uri="{FF2B5EF4-FFF2-40B4-BE49-F238E27FC236}">
                <a16:creationId xmlns:a16="http://schemas.microsoft.com/office/drawing/2014/main" id="{D055BA4B-DC22-4207-ABC8-3B491F765609}"/>
              </a:ext>
            </a:extLst>
          </p:cNvPr>
          <p:cNvSpPr txBox="1"/>
          <p:nvPr/>
        </p:nvSpPr>
        <p:spPr>
          <a:xfrm>
            <a:off x="2055735" y="3002612"/>
            <a:ext cx="8080529" cy="938719"/>
          </a:xfrm>
          <a:prstGeom prst="rect">
            <a:avLst/>
          </a:prstGeom>
          <a:noFill/>
        </p:spPr>
        <p:txBody>
          <a:bodyPr wrap="square" rtlCol="0">
            <a:spAutoFit/>
          </a:bodyPr>
          <a:lstStyle/>
          <a:p>
            <a:pPr algn="ctr"/>
            <a:r>
              <a:rPr lang="pt-BR" sz="5500" b="1" kern="0" dirty="0">
                <a:solidFill>
                  <a:schemeClr val="bg1"/>
                </a:solidFill>
                <a:latin typeface="Montserrat" panose="00000500000000000000" pitchFamily="50" charset="0"/>
                <a:cs typeface="Poppins" panose="02000000000000000000" pitchFamily="2" charset="0"/>
              </a:rPr>
              <a:t> </a:t>
            </a:r>
            <a:r>
              <a:rPr lang="pt-BR" sz="5500" b="1" kern="0" dirty="0" err="1">
                <a:solidFill>
                  <a:schemeClr val="bg1"/>
                </a:solidFill>
                <a:latin typeface="Montserrat" panose="00000500000000000000" pitchFamily="50" charset="0"/>
                <a:cs typeface="Poppins" panose="02000000000000000000" pitchFamily="2" charset="0"/>
              </a:rPr>
              <a:t>Diffusion</a:t>
            </a:r>
            <a:r>
              <a:rPr lang="pt-BR" sz="5500" b="1" kern="0" dirty="0">
                <a:solidFill>
                  <a:schemeClr val="bg1"/>
                </a:solidFill>
                <a:latin typeface="Montserrat" panose="00000500000000000000" pitchFamily="50" charset="0"/>
                <a:cs typeface="Poppins" panose="02000000000000000000" pitchFamily="2" charset="0"/>
              </a:rPr>
              <a:t> Models</a:t>
            </a:r>
            <a:endParaRPr lang="en-ID" sz="5500" b="1" kern="0" dirty="0">
              <a:solidFill>
                <a:schemeClr val="bg1"/>
              </a:solidFill>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1337011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3">
            <a:extLst>
              <a:ext uri="{FF2B5EF4-FFF2-40B4-BE49-F238E27FC236}">
                <a16:creationId xmlns:a16="http://schemas.microsoft.com/office/drawing/2014/main" id="{F04C8F45-6B6A-4A90-AE6A-0D2E671E05C3}"/>
              </a:ext>
            </a:extLst>
          </p:cNvPr>
          <p:cNvSpPr txBox="1"/>
          <p:nvPr/>
        </p:nvSpPr>
        <p:spPr>
          <a:xfrm>
            <a:off x="833161" y="1682323"/>
            <a:ext cx="10563992" cy="3848699"/>
          </a:xfrm>
          <a:prstGeom prst="rect">
            <a:avLst/>
          </a:prstGeom>
          <a:noFill/>
        </p:spPr>
        <p:txBody>
          <a:bodyPr wrap="square">
            <a:noAutofit/>
          </a:bodyPr>
          <a:lstStyle/>
          <a:p>
            <a:pPr marL="342900" indent="-342900">
              <a:lnSpc>
                <a:spcPts val="3300"/>
              </a:lnSpc>
              <a:spcAft>
                <a:spcPts val="1200"/>
              </a:spcAft>
              <a:buFont typeface="Wingdings" panose="05000000000000000000" pitchFamily="2" charset="2"/>
              <a:buChar char="§"/>
            </a:pPr>
            <a:r>
              <a:rPr lang="pt-BR" sz="2400" dirty="0"/>
              <a:t>Os modelos de difusão são uma das técnicas mais influentes para geração de imagens, ao lado das </a:t>
            </a:r>
            <a:r>
              <a:rPr lang="pt-BR" sz="2400" dirty="0" err="1"/>
              <a:t>GANs</a:t>
            </a:r>
            <a:r>
              <a:rPr lang="pt-BR" sz="2400" dirty="0"/>
              <a:t> (</a:t>
            </a:r>
            <a:r>
              <a:rPr lang="pt-BR" sz="2400" dirty="0" err="1"/>
              <a:t>Generative</a:t>
            </a:r>
            <a:r>
              <a:rPr lang="pt-BR" sz="2400" dirty="0"/>
              <a:t> Adversarial Networks), e se destacaram ao longo da última década. </a:t>
            </a:r>
          </a:p>
          <a:p>
            <a:pPr marL="342900" indent="-342900">
              <a:lnSpc>
                <a:spcPts val="3300"/>
              </a:lnSpc>
              <a:spcAft>
                <a:spcPts val="1200"/>
              </a:spcAft>
              <a:buFont typeface="Wingdings" panose="05000000000000000000" pitchFamily="2" charset="2"/>
              <a:buChar char="§"/>
            </a:pPr>
            <a:r>
              <a:rPr lang="pt-BR" sz="2400" dirty="0"/>
              <a:t>Hoje, esses modelos superam as </a:t>
            </a:r>
            <a:r>
              <a:rPr lang="pt-BR" sz="2400" dirty="0" err="1"/>
              <a:t>GANs</a:t>
            </a:r>
            <a:r>
              <a:rPr lang="pt-BR" sz="2400" dirty="0"/>
              <a:t> em muitos benchmarks e estão se tornando a escolha para modelagem generativa, especialmente em domínios visuais (exemplo: DALL·E 2 da </a:t>
            </a:r>
            <a:r>
              <a:rPr lang="pt-BR" sz="2400" dirty="0" err="1"/>
              <a:t>OpenAI</a:t>
            </a:r>
            <a:r>
              <a:rPr lang="pt-BR" sz="2400" dirty="0"/>
              <a:t> e o </a:t>
            </a:r>
            <a:r>
              <a:rPr lang="pt-BR" sz="2400" dirty="0" err="1"/>
              <a:t>ImageGen</a:t>
            </a:r>
            <a:r>
              <a:rPr lang="pt-BR" sz="2400" dirty="0"/>
              <a:t> do Google para geração de imagens a partir de texto)</a:t>
            </a:r>
          </a:p>
          <a:p>
            <a:pPr marL="342900" indent="-342900">
              <a:lnSpc>
                <a:spcPts val="3300"/>
              </a:lnSpc>
              <a:spcAft>
                <a:spcPts val="1200"/>
              </a:spcAft>
              <a:buFont typeface="Wingdings" panose="05000000000000000000" pitchFamily="2" charset="2"/>
              <a:buChar char="§"/>
            </a:pPr>
            <a:endParaRPr lang="pt-BR" sz="2400" dirty="0"/>
          </a:p>
        </p:txBody>
      </p:sp>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4" name="Google Shape;43;g37f10a1dfb7_0_17">
            <a:extLst>
              <a:ext uri="{FF2B5EF4-FFF2-40B4-BE49-F238E27FC236}">
                <a16:creationId xmlns:a16="http://schemas.microsoft.com/office/drawing/2014/main" id="{EA11E684-3B05-42EA-80DD-D974C0AB256D}"/>
              </a:ext>
            </a:extLst>
          </p:cNvPr>
          <p:cNvSpPr txBox="1"/>
          <p:nvPr/>
        </p:nvSpPr>
        <p:spPr>
          <a:xfrm>
            <a:off x="1136066" y="5674941"/>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latin typeface="Calibri" panose="020F0502020204030204" pitchFamily="34" charset="0"/>
              <a:ea typeface="Calibri" panose="020F0502020204030204" pitchFamily="34" charset="0"/>
              <a:cs typeface="Calibri" panose="020F0502020204030204" pitchFamily="34" charset="0"/>
              <a:sym typeface="Verdana"/>
            </a:endParaRPr>
          </a:p>
        </p:txBody>
      </p:sp>
    </p:spTree>
    <p:extLst>
      <p:ext uri="{BB962C8B-B14F-4D97-AF65-F5344CB8AC3E}">
        <p14:creationId xmlns:p14="http://schemas.microsoft.com/office/powerpoint/2010/main" val="213764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3">
            <a:extLst>
              <a:ext uri="{FF2B5EF4-FFF2-40B4-BE49-F238E27FC236}">
                <a16:creationId xmlns:a16="http://schemas.microsoft.com/office/drawing/2014/main" id="{F04C8F45-6B6A-4A90-AE6A-0D2E671E05C3}"/>
              </a:ext>
            </a:extLst>
          </p:cNvPr>
          <p:cNvSpPr txBox="1"/>
          <p:nvPr/>
        </p:nvSpPr>
        <p:spPr>
          <a:xfrm>
            <a:off x="841953" y="1682323"/>
            <a:ext cx="10563992" cy="2942431"/>
          </a:xfrm>
          <a:prstGeom prst="rect">
            <a:avLst/>
          </a:prstGeom>
          <a:noFill/>
        </p:spPr>
        <p:txBody>
          <a:bodyPr wrap="square">
            <a:noAutofit/>
          </a:bodyPr>
          <a:lstStyle/>
          <a:p>
            <a:pPr>
              <a:lnSpc>
                <a:spcPts val="3300"/>
              </a:lnSpc>
              <a:spcAft>
                <a:spcPts val="1200"/>
              </a:spcAft>
            </a:pPr>
            <a:r>
              <a:rPr lang="pt-BR" sz="2400" dirty="0"/>
              <a:t>Uma história para entender a ideia:</a:t>
            </a:r>
          </a:p>
          <a:p>
            <a:pPr>
              <a:lnSpc>
                <a:spcPts val="3300"/>
              </a:lnSpc>
              <a:spcAft>
                <a:spcPts val="1200"/>
              </a:spcAft>
            </a:pPr>
            <a:endParaRPr lang="pt-BR" sz="2400" dirty="0"/>
          </a:p>
          <a:p>
            <a:pPr>
              <a:lnSpc>
                <a:spcPts val="3300"/>
              </a:lnSpc>
              <a:spcAft>
                <a:spcPts val="1200"/>
              </a:spcAft>
            </a:pPr>
            <a:r>
              <a:rPr lang="pt-BR" sz="2400" dirty="0"/>
              <a:t>Você está em uma loja de eletrônicos. Em vez de uma grande variedade de marcas de televisores, há centenas de cópias idênticas do mesmo modelo, conectadas em sequência, se estendendo para o fundo da loja. As primeiras televisões exibem apenas ruído aleatório.</a:t>
            </a:r>
          </a:p>
        </p:txBody>
      </p:sp>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1846868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3">
            <a:extLst>
              <a:ext uri="{FF2B5EF4-FFF2-40B4-BE49-F238E27FC236}">
                <a16:creationId xmlns:a16="http://schemas.microsoft.com/office/drawing/2014/main" id="{F04C8F45-6B6A-4A90-AE6A-0D2E671E05C3}"/>
              </a:ext>
            </a:extLst>
          </p:cNvPr>
          <p:cNvSpPr txBox="1"/>
          <p:nvPr/>
        </p:nvSpPr>
        <p:spPr>
          <a:xfrm>
            <a:off x="841953" y="1682323"/>
            <a:ext cx="6473247" cy="2942431"/>
          </a:xfrm>
          <a:prstGeom prst="rect">
            <a:avLst/>
          </a:prstGeom>
          <a:noFill/>
        </p:spPr>
        <p:txBody>
          <a:bodyPr wrap="square">
            <a:noAutofit/>
          </a:bodyPr>
          <a:lstStyle/>
          <a:p>
            <a:pPr>
              <a:lnSpc>
                <a:spcPts val="3300"/>
              </a:lnSpc>
              <a:spcAft>
                <a:spcPts val="1200"/>
              </a:spcAft>
            </a:pPr>
            <a:r>
              <a:rPr lang="pt-BR" sz="2400" dirty="0"/>
              <a:t>O vendedor, percebendo sua confusão, se aproxima e explica que essa é a nova TV </a:t>
            </a:r>
            <a:r>
              <a:rPr lang="pt-BR" sz="2400" dirty="0" err="1"/>
              <a:t>DiffuseTV</a:t>
            </a:r>
            <a:r>
              <a:rPr lang="pt-BR" sz="2400" dirty="0"/>
              <a:t>, que promete revolucionar a indústria do entretenimento. Enquanto fala, ele caminha pela loja, indo mais fundo ao lado das TVs.</a:t>
            </a:r>
          </a:p>
          <a:p>
            <a:pPr>
              <a:lnSpc>
                <a:spcPts val="3300"/>
              </a:lnSpc>
              <a:spcAft>
                <a:spcPts val="1200"/>
              </a:spcAft>
            </a:pPr>
            <a:endParaRPr lang="pt-BR" sz="2400" dirty="0"/>
          </a:p>
        </p:txBody>
      </p:sp>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pic>
        <p:nvPicPr>
          <p:cNvPr id="4" name="Google Shape;105;p25">
            <a:extLst>
              <a:ext uri="{FF2B5EF4-FFF2-40B4-BE49-F238E27FC236}">
                <a16:creationId xmlns:a16="http://schemas.microsoft.com/office/drawing/2014/main" id="{EDEE7759-2611-4FC5-A2BE-3743E5E3F87D}"/>
              </a:ext>
            </a:extLst>
          </p:cNvPr>
          <p:cNvPicPr preferRelativeResize="0"/>
          <p:nvPr/>
        </p:nvPicPr>
        <p:blipFill>
          <a:blip r:embed="rId2">
            <a:alphaModFix/>
          </a:blip>
          <a:stretch>
            <a:fillRect/>
          </a:stretch>
        </p:blipFill>
        <p:spPr>
          <a:xfrm>
            <a:off x="7491047" y="1559848"/>
            <a:ext cx="4258042" cy="4014475"/>
          </a:xfrm>
          <a:prstGeom prst="rect">
            <a:avLst/>
          </a:prstGeom>
          <a:noFill/>
          <a:ln>
            <a:noFill/>
          </a:ln>
        </p:spPr>
      </p:pic>
      <p:sp>
        <p:nvSpPr>
          <p:cNvPr id="5" name="CaixaDeTexto 4">
            <a:extLst>
              <a:ext uri="{FF2B5EF4-FFF2-40B4-BE49-F238E27FC236}">
                <a16:creationId xmlns:a16="http://schemas.microsoft.com/office/drawing/2014/main" id="{C62D9F1F-0029-4A8C-9D17-C82F43705F3B}"/>
              </a:ext>
            </a:extLst>
          </p:cNvPr>
          <p:cNvSpPr txBox="1"/>
          <p:nvPr/>
        </p:nvSpPr>
        <p:spPr>
          <a:xfrm>
            <a:off x="10907067" y="5574323"/>
            <a:ext cx="671979" cy="215444"/>
          </a:xfrm>
          <a:prstGeom prst="rect">
            <a:avLst/>
          </a:prstGeom>
          <a:noFill/>
        </p:spPr>
        <p:txBody>
          <a:bodyPr wrap="none" rtlCol="0">
            <a:spAutoFit/>
          </a:bodyPr>
          <a:lstStyle/>
          <a:p>
            <a:r>
              <a:rPr lang="pt-BR" sz="800" dirty="0" err="1">
                <a:latin typeface="Calibri" panose="020F0502020204030204" pitchFamily="34" charset="0"/>
                <a:ea typeface="Calibri" panose="020F0502020204030204" pitchFamily="34" charset="0"/>
                <a:cs typeface="Calibri" panose="020F0502020204030204" pitchFamily="34" charset="0"/>
              </a:rPr>
              <a:t>Midjourney</a:t>
            </a:r>
            <a:endParaRPr lang="pt-BR" sz="800" dirty="0">
              <a:latin typeface="Calibri" panose="020F0502020204030204" pitchFamily="34" charset="0"/>
              <a:ea typeface="Calibri" panose="020F0502020204030204" pitchFamily="34" charset="0"/>
              <a:cs typeface="Calibri" panose="020F0502020204030204" pitchFamily="34"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Tree>
    <p:extLst>
      <p:ext uri="{BB962C8B-B14F-4D97-AF65-F5344CB8AC3E}">
        <p14:creationId xmlns:p14="http://schemas.microsoft.com/office/powerpoint/2010/main" val="59273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11;p26">
            <a:extLst>
              <a:ext uri="{FF2B5EF4-FFF2-40B4-BE49-F238E27FC236}">
                <a16:creationId xmlns:a16="http://schemas.microsoft.com/office/drawing/2014/main" id="{F43EFA74-6A78-4B90-B39C-B0B9F650186E}"/>
              </a:ext>
            </a:extLst>
          </p:cNvPr>
          <p:cNvSpPr txBox="1"/>
          <p:nvPr/>
        </p:nvSpPr>
        <p:spPr>
          <a:xfrm>
            <a:off x="868608" y="1722697"/>
            <a:ext cx="10801350" cy="3504006"/>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Durante o processo de fabricação, as imagens de programas de TV anteriores são corrompidas com ruído aleatório até se tornarem indistinguíveis de puro ruído. </a:t>
            </a:r>
            <a:endParaRPr sz="2400" dirty="0"/>
          </a:p>
          <a:p>
            <a:pPr marL="0" lvl="0" indent="0" algn="l" rtl="0">
              <a:lnSpc>
                <a:spcPct val="115000"/>
              </a:lnSpc>
              <a:spcBef>
                <a:spcPts val="1200"/>
              </a:spcBef>
              <a:spcAft>
                <a:spcPts val="0"/>
              </a:spcAft>
              <a:buClr>
                <a:schemeClr val="dk1"/>
              </a:buClr>
              <a:buSzPts val="1100"/>
              <a:buFont typeface="Arial"/>
              <a:buNone/>
            </a:pPr>
            <a:r>
              <a:rPr lang="pt-BR" sz="2400" dirty="0"/>
              <a:t>As TVs são projetadas para remover esse ruído em pequenos passos, tentando prever como eram as imagens antes de receberem o ruído.</a:t>
            </a:r>
            <a:endParaRPr sz="2400" dirty="0"/>
          </a:p>
          <a:p>
            <a:pPr marL="0" lvl="0" indent="0" algn="l" rtl="0">
              <a:lnSpc>
                <a:spcPct val="115000"/>
              </a:lnSpc>
              <a:spcBef>
                <a:spcPts val="1200"/>
              </a:spcBef>
              <a:spcAft>
                <a:spcPts val="1200"/>
              </a:spcAft>
              <a:buClr>
                <a:schemeClr val="dk1"/>
              </a:buClr>
              <a:buSzPts val="1100"/>
              <a:buFont typeface="Arial"/>
              <a:buNone/>
            </a:pPr>
            <a:r>
              <a:rPr lang="pt-BR" sz="2400" dirty="0"/>
              <a:t>À medida que você caminha pela loja, percebe que as imagens nas televisões ficam cada vez mais claras, até que, ao chegar no final da linha, a última TV exibe uma imagem perfeita.</a:t>
            </a:r>
            <a:endParaRPr sz="2400" dirty="0"/>
          </a:p>
        </p:txBody>
      </p:sp>
    </p:spTree>
    <p:extLst>
      <p:ext uri="{BB962C8B-B14F-4D97-AF65-F5344CB8AC3E}">
        <p14:creationId xmlns:p14="http://schemas.microsoft.com/office/powerpoint/2010/main" val="904721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11;p26">
            <a:extLst>
              <a:ext uri="{FF2B5EF4-FFF2-40B4-BE49-F238E27FC236}">
                <a16:creationId xmlns:a16="http://schemas.microsoft.com/office/drawing/2014/main" id="{F43EFA74-6A78-4B90-B39C-B0B9F650186E}"/>
              </a:ext>
            </a:extLst>
          </p:cNvPr>
          <p:cNvSpPr txBox="1"/>
          <p:nvPr/>
        </p:nvSpPr>
        <p:spPr>
          <a:xfrm>
            <a:off x="868608" y="1722697"/>
            <a:ext cx="10801350" cy="3350118"/>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A verdadeira inovação da </a:t>
            </a:r>
            <a:r>
              <a:rPr lang="pt-BR" sz="2400" dirty="0" err="1"/>
              <a:t>DiffuseTV</a:t>
            </a:r>
            <a:r>
              <a:rPr lang="pt-BR" sz="2400" dirty="0"/>
              <a:t> está em seu funcionamento. Em vez de escolher um canal para assistir, o espectador escolhe uma configuração inicial aleatória de estática. </a:t>
            </a:r>
          </a:p>
          <a:p>
            <a:pPr marL="0" lvl="0" indent="0" algn="l" rtl="0">
              <a:lnSpc>
                <a:spcPct val="115000"/>
              </a:lnSpc>
              <a:spcBef>
                <a:spcPts val="1200"/>
              </a:spcBef>
              <a:spcAft>
                <a:spcPts val="1200"/>
              </a:spcAft>
              <a:buClr>
                <a:schemeClr val="dk1"/>
              </a:buClr>
              <a:buSzPts val="1100"/>
              <a:buFont typeface="Arial"/>
              <a:buNone/>
            </a:pPr>
            <a:r>
              <a:rPr lang="pt-BR" sz="2400" dirty="0"/>
              <a:t>A partir disso, a TV gera uma imagem diferente, que pode até ser guiada por um prompt de texto. A </a:t>
            </a:r>
            <a:r>
              <a:rPr lang="pt-BR" sz="2400" dirty="0" err="1"/>
              <a:t>DiffuseTV</a:t>
            </a:r>
            <a:r>
              <a:rPr lang="pt-BR" sz="2400" dirty="0"/>
              <a:t> permite ao usuário criar qualquer imagem que desejar, proporcionando liberdade total de escolha e criatividade.</a:t>
            </a:r>
          </a:p>
          <a:p>
            <a:pPr marL="0" lvl="0" indent="0" algn="l" rtl="0">
              <a:lnSpc>
                <a:spcPct val="115000"/>
              </a:lnSpc>
              <a:spcBef>
                <a:spcPts val="0"/>
              </a:spcBef>
              <a:spcAft>
                <a:spcPts val="0"/>
              </a:spcAft>
              <a:buClr>
                <a:schemeClr val="dk1"/>
              </a:buClr>
              <a:buSzPts val="1100"/>
              <a:buFont typeface="Arial"/>
              <a:buNone/>
            </a:pPr>
            <a:endParaRPr sz="2400" dirty="0"/>
          </a:p>
        </p:txBody>
      </p:sp>
    </p:spTree>
    <p:extLst>
      <p:ext uri="{BB962C8B-B14F-4D97-AF65-F5344CB8AC3E}">
        <p14:creationId xmlns:p14="http://schemas.microsoft.com/office/powerpoint/2010/main" val="2535627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AFD478C7-31D7-4DCB-B3BC-9B1090C6B445}"/>
              </a:ext>
            </a:extLst>
          </p:cNvPr>
          <p:cNvSpPr/>
          <p:nvPr/>
        </p:nvSpPr>
        <p:spPr>
          <a:xfrm>
            <a:off x="2055735" y="2485755"/>
            <a:ext cx="8080529" cy="1886487"/>
          </a:xfrm>
          <a:prstGeom prst="roundRect">
            <a:avLst>
              <a:gd name="adj" fmla="val 50000"/>
            </a:avLst>
          </a:prstGeom>
          <a:solidFill>
            <a:srgbClr val="43A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extBox 1">
            <a:extLst>
              <a:ext uri="{FF2B5EF4-FFF2-40B4-BE49-F238E27FC236}">
                <a16:creationId xmlns:a16="http://schemas.microsoft.com/office/drawing/2014/main" id="{D055BA4B-DC22-4207-ABC8-3B491F765609}"/>
              </a:ext>
            </a:extLst>
          </p:cNvPr>
          <p:cNvSpPr txBox="1"/>
          <p:nvPr/>
        </p:nvSpPr>
        <p:spPr>
          <a:xfrm>
            <a:off x="2055735" y="2751601"/>
            <a:ext cx="8080529" cy="1569660"/>
          </a:xfrm>
          <a:prstGeom prst="rect">
            <a:avLst/>
          </a:prstGeom>
          <a:noFill/>
        </p:spPr>
        <p:txBody>
          <a:bodyPr wrap="square" rtlCol="0">
            <a:spAutoFit/>
          </a:bodyPr>
          <a:lstStyle/>
          <a:p>
            <a:pPr algn="ctr"/>
            <a:r>
              <a:rPr lang="pt-BR" sz="4800" b="1" kern="0" dirty="0" err="1">
                <a:solidFill>
                  <a:schemeClr val="bg1"/>
                </a:solidFill>
                <a:latin typeface="Montserrat" panose="00000500000000000000" pitchFamily="50" charset="0"/>
                <a:cs typeface="Poppins" panose="02000000000000000000" pitchFamily="2" charset="0"/>
              </a:rPr>
              <a:t>Denoising</a:t>
            </a:r>
            <a:r>
              <a:rPr lang="pt-BR" sz="4800" b="1" kern="0" dirty="0">
                <a:solidFill>
                  <a:schemeClr val="bg1"/>
                </a:solidFill>
                <a:latin typeface="Montserrat" panose="00000500000000000000" pitchFamily="50" charset="0"/>
                <a:cs typeface="Poppins" panose="02000000000000000000" pitchFamily="2" charset="0"/>
              </a:rPr>
              <a:t> </a:t>
            </a:r>
            <a:r>
              <a:rPr lang="pt-BR" sz="4800" b="1" kern="0" dirty="0" err="1">
                <a:solidFill>
                  <a:schemeClr val="bg1"/>
                </a:solidFill>
                <a:latin typeface="Montserrat" panose="00000500000000000000" pitchFamily="50" charset="0"/>
                <a:cs typeface="Poppins" panose="02000000000000000000" pitchFamily="2" charset="0"/>
              </a:rPr>
              <a:t>Diffusion</a:t>
            </a:r>
            <a:r>
              <a:rPr lang="pt-BR" sz="4800" b="1" kern="0" dirty="0">
                <a:solidFill>
                  <a:schemeClr val="bg1"/>
                </a:solidFill>
                <a:latin typeface="Montserrat" panose="00000500000000000000" pitchFamily="50" charset="0"/>
                <a:cs typeface="Poppins" panose="02000000000000000000" pitchFamily="2" charset="0"/>
              </a:rPr>
              <a:t> Models (DDM)</a:t>
            </a:r>
            <a:endParaRPr lang="en-ID" sz="4800" b="1" kern="0" dirty="0">
              <a:solidFill>
                <a:schemeClr val="bg1"/>
              </a:solidFill>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2411340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11;p26">
            <a:extLst>
              <a:ext uri="{FF2B5EF4-FFF2-40B4-BE49-F238E27FC236}">
                <a16:creationId xmlns:a16="http://schemas.microsoft.com/office/drawing/2014/main" id="{F43EFA74-6A78-4B90-B39C-B0B9F650186E}"/>
              </a:ext>
            </a:extLst>
          </p:cNvPr>
          <p:cNvSpPr txBox="1"/>
          <p:nvPr/>
        </p:nvSpPr>
        <p:spPr>
          <a:xfrm>
            <a:off x="868608" y="1722697"/>
            <a:ext cx="10801350" cy="3350118"/>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O conceito central por trás de um Modelo de Difusão </a:t>
            </a:r>
            <a:r>
              <a:rPr lang="pt-BR" sz="2400" dirty="0" err="1"/>
              <a:t>Denoising</a:t>
            </a:r>
            <a:r>
              <a:rPr lang="pt-BR" sz="2400" dirty="0"/>
              <a:t> (DDM) é simples: treinamos um modelo de aprendizado profundo para remover o ruído de uma imagem em uma série de pequenos passos. </a:t>
            </a:r>
          </a:p>
          <a:p>
            <a:pPr marL="0" lvl="0" indent="0" algn="l" rtl="0">
              <a:lnSpc>
                <a:spcPct val="115000"/>
              </a:lnSpc>
              <a:spcBef>
                <a:spcPts val="1200"/>
              </a:spcBef>
              <a:spcAft>
                <a:spcPts val="1200"/>
              </a:spcAft>
              <a:buClr>
                <a:schemeClr val="dk1"/>
              </a:buClr>
              <a:buSzPts val="1100"/>
              <a:buFont typeface="Arial"/>
              <a:buNone/>
            </a:pPr>
            <a:r>
              <a:rPr lang="pt-BR" sz="2400" dirty="0"/>
              <a:t>Começando com puro ruído aleatório, teoricamente, deveríamos ser capazes de aplicar o modelo repetidamente até que a imagem gerada se pareça com uma amostra extraída do conjunto de dados de treinamento</a:t>
            </a:r>
          </a:p>
          <a:p>
            <a:pPr marL="0" lvl="0" indent="0" algn="l" rtl="0">
              <a:lnSpc>
                <a:spcPct val="115000"/>
              </a:lnSpc>
              <a:spcBef>
                <a:spcPts val="0"/>
              </a:spcBef>
              <a:spcAft>
                <a:spcPts val="0"/>
              </a:spcAft>
              <a:buClr>
                <a:schemeClr val="dk1"/>
              </a:buClr>
              <a:buSzPts val="1100"/>
              <a:buFont typeface="Arial"/>
              <a:buNone/>
            </a:pPr>
            <a:endParaRPr sz="2400" dirty="0"/>
          </a:p>
        </p:txBody>
      </p:sp>
    </p:spTree>
    <p:extLst>
      <p:ext uri="{BB962C8B-B14F-4D97-AF65-F5344CB8AC3E}">
        <p14:creationId xmlns:p14="http://schemas.microsoft.com/office/powerpoint/2010/main" val="350334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11;p26">
            <a:extLst>
              <a:ext uri="{FF2B5EF4-FFF2-40B4-BE49-F238E27FC236}">
                <a16:creationId xmlns:a16="http://schemas.microsoft.com/office/drawing/2014/main" id="{F43EFA74-6A78-4B90-B39C-B0B9F650186E}"/>
              </a:ext>
            </a:extLst>
          </p:cNvPr>
          <p:cNvSpPr txBox="1"/>
          <p:nvPr/>
        </p:nvSpPr>
        <p:spPr>
          <a:xfrm>
            <a:off x="868608" y="1722697"/>
            <a:ext cx="10801350" cy="3079274"/>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Vamos utilizar o Oxford 102 </a:t>
            </a:r>
            <a:r>
              <a:rPr lang="pt-BR" sz="2400" dirty="0" err="1"/>
              <a:t>Flower</a:t>
            </a:r>
            <a:r>
              <a:rPr lang="pt-BR" sz="2400" dirty="0"/>
              <a:t> </a:t>
            </a:r>
            <a:r>
              <a:rPr lang="pt-BR" sz="2400" dirty="0" err="1"/>
              <a:t>dataset</a:t>
            </a:r>
            <a:r>
              <a:rPr lang="pt-BR" sz="2400" dirty="0"/>
              <a:t>, disponível no </a:t>
            </a:r>
            <a:r>
              <a:rPr lang="pt-BR" sz="2400" dirty="0" err="1"/>
              <a:t>Kaggle</a:t>
            </a:r>
            <a:r>
              <a:rPr lang="pt-BR" sz="2400" dirty="0"/>
              <a:t>. Ele contém mais de 8.000 imagens coloridas de diversas espécies de flores, ideal para treinar modelos de geração de imagens.</a:t>
            </a:r>
          </a:p>
          <a:p>
            <a:pPr marL="0" lvl="0" indent="0" algn="l" rtl="0">
              <a:lnSpc>
                <a:spcPct val="115000"/>
              </a:lnSpc>
              <a:spcBef>
                <a:spcPts val="1200"/>
              </a:spcBef>
              <a:spcAft>
                <a:spcPts val="0"/>
              </a:spcAft>
              <a:buClr>
                <a:schemeClr val="dk1"/>
              </a:buClr>
              <a:buSzPts val="1100"/>
              <a:buFont typeface="Arial"/>
              <a:buNone/>
            </a:pPr>
            <a:endParaRPr lang="pt-BR" sz="2400" dirty="0"/>
          </a:p>
          <a:p>
            <a:pPr marL="0" lvl="0" indent="0" algn="l" rtl="0">
              <a:lnSpc>
                <a:spcPct val="115000"/>
              </a:lnSpc>
              <a:spcBef>
                <a:spcPts val="1200"/>
              </a:spcBef>
              <a:spcAft>
                <a:spcPts val="1200"/>
              </a:spcAft>
              <a:buClr>
                <a:schemeClr val="dk1"/>
              </a:buClr>
              <a:buSzPts val="1100"/>
              <a:buFont typeface="Arial"/>
              <a:buNone/>
            </a:pPr>
            <a:r>
              <a:rPr lang="pt-BR" sz="2400" dirty="0"/>
              <a:t>Veja o notebook da aula:</a:t>
            </a:r>
          </a:p>
          <a:p>
            <a:pPr marL="0" lvl="0" indent="0" algn="l" rtl="0">
              <a:lnSpc>
                <a:spcPct val="115000"/>
              </a:lnSpc>
              <a:spcBef>
                <a:spcPts val="0"/>
              </a:spcBef>
              <a:spcAft>
                <a:spcPts val="0"/>
              </a:spcAft>
              <a:buClr>
                <a:schemeClr val="dk1"/>
              </a:buClr>
              <a:buSzPts val="1100"/>
              <a:buFont typeface="Arial"/>
              <a:buNone/>
            </a:pPr>
            <a:endParaRPr sz="2400" dirty="0"/>
          </a:p>
        </p:txBody>
      </p:sp>
    </p:spTree>
    <p:extLst>
      <p:ext uri="{BB962C8B-B14F-4D97-AF65-F5344CB8AC3E}">
        <p14:creationId xmlns:p14="http://schemas.microsoft.com/office/powerpoint/2010/main" val="3478152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146;p31">
            <a:extLst>
              <a:ext uri="{FF2B5EF4-FFF2-40B4-BE49-F238E27FC236}">
                <a16:creationId xmlns:a16="http://schemas.microsoft.com/office/drawing/2014/main" id="{A428C740-C055-487D-A2D7-D46375E95696}"/>
              </a:ext>
            </a:extLst>
          </p:cNvPr>
          <p:cNvPicPr preferRelativeResize="0"/>
          <p:nvPr/>
        </p:nvPicPr>
        <p:blipFill rotWithShape="1">
          <a:blip r:embed="rId2">
            <a:alphaModFix/>
          </a:blip>
          <a:srcRect/>
          <a:stretch/>
        </p:blipFill>
        <p:spPr>
          <a:xfrm>
            <a:off x="1984819" y="3780693"/>
            <a:ext cx="7698800" cy="2359131"/>
          </a:xfrm>
          <a:prstGeom prst="rect">
            <a:avLst/>
          </a:prstGeom>
          <a:noFill/>
          <a:ln>
            <a:noFill/>
          </a:ln>
        </p:spPr>
      </p:pic>
      <p:sp>
        <p:nvSpPr>
          <p:cNvPr id="6" name="TextBox 1">
            <a:extLst>
              <a:ext uri="{FF2B5EF4-FFF2-40B4-BE49-F238E27FC236}">
                <a16:creationId xmlns:a16="http://schemas.microsoft.com/office/drawing/2014/main" id="{E9DCDA1D-C518-4720-B445-DE1ECF17DAD7}"/>
              </a:ext>
            </a:extLst>
          </p:cNvPr>
          <p:cNvSpPr txBox="1"/>
          <p:nvPr/>
        </p:nvSpPr>
        <p:spPr>
          <a:xfrm>
            <a:off x="0" y="349432"/>
            <a:ext cx="12191999" cy="707886"/>
          </a:xfrm>
          <a:prstGeom prst="rect">
            <a:avLst/>
          </a:prstGeom>
          <a:noFill/>
        </p:spPr>
        <p:txBody>
          <a:bodyPr wrap="square" rtlCol="0">
            <a:spAutoFit/>
          </a:bodyPr>
          <a:lstStyle/>
          <a:p>
            <a:pPr algn="ctr"/>
            <a:r>
              <a:rPr lang="pt-BR" sz="4000" b="1" kern="0" dirty="0" err="1">
                <a:solidFill>
                  <a:srgbClr val="379FDE"/>
                </a:solidFill>
                <a:latin typeface="Montserrat" panose="00000500000000000000" pitchFamily="50" charset="0"/>
                <a:cs typeface="Poppins" panose="02000000000000000000" pitchFamily="2" charset="0"/>
                <a:sym typeface="Trebuchet MS"/>
              </a:rPr>
              <a:t>Diffusion</a:t>
            </a:r>
            <a:r>
              <a:rPr lang="pt-BR" sz="4000" b="1" kern="0" dirty="0">
                <a:solidFill>
                  <a:srgbClr val="379FDE"/>
                </a:solidFill>
                <a:latin typeface="Montserrat" panose="00000500000000000000" pitchFamily="50" charset="0"/>
                <a:cs typeface="Poppins" panose="02000000000000000000" pitchFamily="2" charset="0"/>
                <a:sym typeface="Trebuchet MS"/>
              </a:rPr>
              <a:t> Models</a:t>
            </a:r>
            <a:endParaRPr lang="en-ID" sz="4000" b="1" kern="0" dirty="0">
              <a:solidFill>
                <a:srgbClr val="379FDE"/>
              </a:solidFill>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2131781" y="6270071"/>
            <a:ext cx="7404875" cy="238497"/>
          </a:xfrm>
          <a:prstGeom prst="rect">
            <a:avLst/>
          </a:prstGeom>
          <a:noFill/>
          <a:ln>
            <a:noFill/>
          </a:ln>
        </p:spPr>
        <p:txBody>
          <a:bodyPr spcFirstLastPara="1" wrap="square" lIns="68575" tIns="34275" rIns="68575" bIns="34275" anchor="t" anchorCtr="0">
            <a:spAutoFit/>
          </a:bodyPr>
          <a:lstStyle/>
          <a:p>
            <a:pPr marL="0" lvl="0" indent="0" algn="ctr"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144;p31">
            <a:extLst>
              <a:ext uri="{FF2B5EF4-FFF2-40B4-BE49-F238E27FC236}">
                <a16:creationId xmlns:a16="http://schemas.microsoft.com/office/drawing/2014/main" id="{49E94A9B-2CB0-43ED-942C-4B017B2AC296}"/>
              </a:ext>
            </a:extLst>
          </p:cNvPr>
          <p:cNvSpPr txBox="1"/>
          <p:nvPr/>
        </p:nvSpPr>
        <p:spPr>
          <a:xfrm>
            <a:off x="531916" y="1314232"/>
            <a:ext cx="11217172" cy="2595552"/>
          </a:xfrm>
          <a:prstGeom prst="rect">
            <a:avLst/>
          </a:prstGeom>
          <a:noFill/>
          <a:ln>
            <a:noFill/>
          </a:ln>
        </p:spPr>
        <p:txBody>
          <a:bodyPr spcFirstLastPara="1" wrap="square" lIns="68575" tIns="34275" rIns="68575" bIns="34275" anchor="t" anchorCtr="0">
            <a:spAutoFit/>
          </a:bodyPr>
          <a:lstStyle/>
          <a:p>
            <a:pPr marL="0" lvl="0" indent="0" algn="l" rtl="0">
              <a:lnSpc>
                <a:spcPts val="2300"/>
              </a:lnSpc>
              <a:spcBef>
                <a:spcPts val="0"/>
              </a:spcBef>
              <a:spcAft>
                <a:spcPts val="0"/>
              </a:spcAft>
              <a:buClr>
                <a:schemeClr val="dk1"/>
              </a:buClr>
              <a:buSzPts val="1100"/>
              <a:buFont typeface="Arial"/>
              <a:buNone/>
            </a:pPr>
            <a:r>
              <a:rPr lang="pt-BR" sz="2100" dirty="0">
                <a:solidFill>
                  <a:srgbClr val="595959"/>
                </a:solidFill>
              </a:rPr>
              <a:t>O Processo de Difusão para Frente (</a:t>
            </a:r>
            <a:r>
              <a:rPr lang="pt-BR" sz="2100" dirty="0" err="1">
                <a:solidFill>
                  <a:srgbClr val="595959"/>
                </a:solidFill>
              </a:rPr>
              <a:t>Forward</a:t>
            </a:r>
            <a:r>
              <a:rPr lang="pt-BR" sz="2100" dirty="0">
                <a:solidFill>
                  <a:srgbClr val="595959"/>
                </a:solidFill>
              </a:rPr>
              <a:t> </a:t>
            </a:r>
            <a:r>
              <a:rPr lang="pt-BR" sz="2100" dirty="0" err="1">
                <a:solidFill>
                  <a:srgbClr val="595959"/>
                </a:solidFill>
              </a:rPr>
              <a:t>Diffusion</a:t>
            </a:r>
            <a:r>
              <a:rPr lang="pt-BR" sz="2100" dirty="0">
                <a:solidFill>
                  <a:srgbClr val="595959"/>
                </a:solidFill>
              </a:rPr>
              <a:t>)</a:t>
            </a:r>
            <a:endParaRPr sz="2100" dirty="0">
              <a:solidFill>
                <a:srgbClr val="595959"/>
              </a:solidFill>
            </a:endParaRPr>
          </a:p>
          <a:p>
            <a:pPr marL="0" lvl="0" indent="0" algn="l" rtl="0">
              <a:lnSpc>
                <a:spcPts val="2300"/>
              </a:lnSpc>
              <a:spcBef>
                <a:spcPts val="1200"/>
              </a:spcBef>
              <a:spcAft>
                <a:spcPts val="0"/>
              </a:spcAft>
              <a:buClr>
                <a:schemeClr val="dk1"/>
              </a:buClr>
              <a:buSzPts val="1100"/>
              <a:buFont typeface="Arial"/>
              <a:buNone/>
            </a:pPr>
            <a:r>
              <a:rPr lang="pt-BR" sz="2100" dirty="0">
                <a:solidFill>
                  <a:srgbClr val="595959"/>
                </a:solidFill>
              </a:rPr>
              <a:t>A ideia aqui é corromper uma imagem real aos poucos, ao longo de muitos passos (por exemplo, 𝑇 passos), até que ela se torne indistinguível de um ruído Gaussiano padrão — ou seja, com média zero e variância 1.</a:t>
            </a:r>
            <a:endParaRPr sz="2100" dirty="0">
              <a:solidFill>
                <a:srgbClr val="595959"/>
              </a:solidFill>
            </a:endParaRPr>
          </a:p>
          <a:p>
            <a:pPr marL="0" lvl="0" indent="0" algn="l" rtl="0">
              <a:lnSpc>
                <a:spcPts val="2300"/>
              </a:lnSpc>
              <a:spcBef>
                <a:spcPts val="1200"/>
              </a:spcBef>
              <a:spcAft>
                <a:spcPts val="1200"/>
              </a:spcAft>
              <a:buClr>
                <a:schemeClr val="dk1"/>
              </a:buClr>
              <a:buSzPts val="1100"/>
              <a:buFont typeface="Arial"/>
              <a:buNone/>
            </a:pPr>
            <a:r>
              <a:rPr lang="pt-BR" sz="2100" dirty="0">
                <a:solidFill>
                  <a:srgbClr val="595959"/>
                </a:solidFill>
              </a:rPr>
              <a:t>Para isso, define-se uma função que adiciona uma pequena quantidade de ruído Gaussiano à imagem, gerando uma nova imagem a partir dela​. Ao aplicar essa função repetidamente, obtemos uma sequência de imagens​, cada vez mais ruidosa.</a:t>
            </a:r>
            <a:endParaRPr sz="2100" dirty="0">
              <a:solidFill>
                <a:srgbClr val="595959"/>
              </a:solidFill>
            </a:endParaRPr>
          </a:p>
        </p:txBody>
      </p:sp>
    </p:spTree>
    <p:extLst>
      <p:ext uri="{BB962C8B-B14F-4D97-AF65-F5344CB8AC3E}">
        <p14:creationId xmlns:p14="http://schemas.microsoft.com/office/powerpoint/2010/main" val="2239031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152;p32">
            <a:extLst>
              <a:ext uri="{FF2B5EF4-FFF2-40B4-BE49-F238E27FC236}">
                <a16:creationId xmlns:a16="http://schemas.microsoft.com/office/drawing/2014/main" id="{007E28EC-EB89-4726-9D25-473458349FEF}"/>
              </a:ext>
            </a:extLst>
          </p:cNvPr>
          <p:cNvSpPr txBox="1"/>
          <p:nvPr/>
        </p:nvSpPr>
        <p:spPr>
          <a:xfrm>
            <a:off x="862832" y="1643566"/>
            <a:ext cx="10886255" cy="3774849"/>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Durante o processo de difusão (adição de ruído), é possível variar a quantidade de ruído aplicada em cada passo. Essa variação é chamada de </a:t>
            </a:r>
            <a:r>
              <a:rPr lang="pt-BR" sz="2400" b="1" dirty="0" err="1"/>
              <a:t>diffusion</a:t>
            </a:r>
            <a:r>
              <a:rPr lang="pt-BR" sz="2400" b="1" dirty="0"/>
              <a:t> schedule</a:t>
            </a:r>
            <a:r>
              <a:rPr lang="pt-BR" sz="2400" dirty="0"/>
              <a:t>.</a:t>
            </a:r>
            <a:endParaRPr sz="2400" dirty="0"/>
          </a:p>
          <a:p>
            <a:pPr marL="0" lvl="0" indent="0" algn="l" rtl="0">
              <a:lnSpc>
                <a:spcPct val="115000"/>
              </a:lnSpc>
              <a:spcBef>
                <a:spcPts val="1200"/>
              </a:spcBef>
              <a:spcAft>
                <a:spcPts val="0"/>
              </a:spcAft>
              <a:buClr>
                <a:schemeClr val="dk1"/>
              </a:buClr>
              <a:buSzPts val="1100"/>
              <a:buFont typeface="Arial"/>
              <a:buNone/>
            </a:pPr>
            <a:r>
              <a:rPr lang="pt-BR" sz="2400" dirty="0"/>
              <a:t>No artigo original de Ho </a:t>
            </a:r>
            <a:r>
              <a:rPr lang="pt-BR" sz="2400" i="1" dirty="0"/>
              <a:t>et al</a:t>
            </a:r>
            <a:r>
              <a:rPr lang="pt-BR" sz="2400" dirty="0"/>
              <a:t>. (2020), foi utilizado de modo que o ruído aumenta linearmente com de 0.0001 até 0.02. Isso significa que:</a:t>
            </a:r>
            <a:endParaRPr sz="2400" dirty="0"/>
          </a:p>
          <a:p>
            <a:pPr marL="457200" lvl="0" indent="-336550" algn="l" rtl="0">
              <a:lnSpc>
                <a:spcPct val="115000"/>
              </a:lnSpc>
              <a:spcBef>
                <a:spcPts val="1200"/>
              </a:spcBef>
              <a:spcAft>
                <a:spcPts val="0"/>
              </a:spcAft>
              <a:buClr>
                <a:srgbClr val="595959"/>
              </a:buClr>
              <a:buSzPts val="1700"/>
              <a:buChar char="●"/>
            </a:pPr>
            <a:r>
              <a:rPr lang="pt-BR" sz="2400" dirty="0"/>
              <a:t>Nos primeiros passos, quando a imagem ainda está relativamente clara, o ruído adicionado é bem pequeno.</a:t>
            </a:r>
            <a:endParaRPr sz="2400" dirty="0"/>
          </a:p>
          <a:p>
            <a:pPr marL="457200" lvl="0" indent="-336550" algn="l" rtl="0">
              <a:lnSpc>
                <a:spcPct val="115000"/>
              </a:lnSpc>
              <a:spcBef>
                <a:spcPts val="0"/>
              </a:spcBef>
              <a:spcAft>
                <a:spcPts val="0"/>
              </a:spcAft>
              <a:buClr>
                <a:srgbClr val="595959"/>
              </a:buClr>
              <a:buSzPts val="1700"/>
              <a:buChar char="●"/>
            </a:pPr>
            <a:r>
              <a:rPr lang="pt-BR" sz="2400" dirty="0"/>
              <a:t>Nos últimos passos, quando a imagem já está bastante corrompida, adiciona-se mais ruído por etapa.</a:t>
            </a:r>
            <a:endParaRPr sz="2400" dirty="0"/>
          </a:p>
        </p:txBody>
      </p:sp>
    </p:spTree>
    <p:extLst>
      <p:ext uri="{BB962C8B-B14F-4D97-AF65-F5344CB8AC3E}">
        <p14:creationId xmlns:p14="http://schemas.microsoft.com/office/powerpoint/2010/main" val="2907848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59;p33">
            <a:extLst>
              <a:ext uri="{FF2B5EF4-FFF2-40B4-BE49-F238E27FC236}">
                <a16:creationId xmlns:a16="http://schemas.microsoft.com/office/drawing/2014/main" id="{BBE7687D-71D3-48AA-87E9-224FB930DF05}"/>
              </a:ext>
            </a:extLst>
          </p:cNvPr>
          <p:cNvSpPr txBox="1"/>
          <p:nvPr/>
        </p:nvSpPr>
        <p:spPr>
          <a:xfrm>
            <a:off x="862832" y="1564436"/>
            <a:ext cx="10886255" cy="1072571"/>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1200"/>
              </a:spcAft>
              <a:buNone/>
            </a:pPr>
            <a:r>
              <a:rPr lang="pt-BR" sz="2400" dirty="0"/>
              <a:t>Esse tipo de estratégia ajuda a preservar melhor a estrutura da imagem original nas primeiras fases da difusão e acelera a degradação nas fases finais.</a:t>
            </a:r>
            <a:endParaRPr sz="2400" dirty="0"/>
          </a:p>
        </p:txBody>
      </p:sp>
      <p:sp>
        <p:nvSpPr>
          <p:cNvPr id="9" name="Google Shape;161;p33">
            <a:extLst>
              <a:ext uri="{FF2B5EF4-FFF2-40B4-BE49-F238E27FC236}">
                <a16:creationId xmlns:a16="http://schemas.microsoft.com/office/drawing/2014/main" id="{DD1A71A4-FDD2-49F0-8DF7-ADEFE7960B8B}"/>
              </a:ext>
            </a:extLst>
          </p:cNvPr>
          <p:cNvSpPr txBox="1"/>
          <p:nvPr/>
        </p:nvSpPr>
        <p:spPr>
          <a:xfrm>
            <a:off x="998620" y="2549083"/>
            <a:ext cx="10616018" cy="3087353"/>
          </a:xfrm>
          <a:prstGeom prst="rect">
            <a:avLst/>
          </a:prstGeom>
          <a:noFill/>
          <a:ln>
            <a:noFill/>
          </a:ln>
        </p:spPr>
        <p:txBody>
          <a:bodyPr spcFirstLastPara="1" wrap="square" lIns="91425" tIns="91425" rIns="91425" bIns="91425" anchor="t" anchorCtr="0">
            <a:spAutoFit/>
          </a:bodyPr>
          <a:lstStyle/>
          <a:p>
            <a:pPr marL="0" lvl="0" indent="0" algn="l" rtl="0">
              <a:lnSpc>
                <a:spcPct val="131250"/>
              </a:lnSpc>
              <a:spcBef>
                <a:spcPts val="0"/>
              </a:spcBef>
              <a:spcAft>
                <a:spcPts val="0"/>
              </a:spcAft>
              <a:buNone/>
            </a:pPr>
            <a:r>
              <a:rPr lang="pt-BR" sz="1600" dirty="0" err="1">
                <a:solidFill>
                  <a:srgbClr val="0000FF"/>
                </a:solidFill>
                <a:highlight>
                  <a:srgbClr val="F7F7F7"/>
                </a:highlight>
                <a:latin typeface="Courier New"/>
                <a:ea typeface="Courier New"/>
                <a:cs typeface="Courier New"/>
                <a:sym typeface="Courier New"/>
              </a:rPr>
              <a:t>def</a:t>
            </a:r>
            <a:r>
              <a:rPr lang="pt-BR" sz="1600" dirty="0">
                <a:solidFill>
                  <a:schemeClr val="dk1"/>
                </a:solidFill>
                <a:highlight>
                  <a:srgbClr val="F7F7F7"/>
                </a:highlight>
                <a:latin typeface="Courier New"/>
                <a:ea typeface="Courier New"/>
                <a:cs typeface="Courier New"/>
                <a:sym typeface="Courier New"/>
              </a:rPr>
              <a:t> </a:t>
            </a:r>
            <a:r>
              <a:rPr lang="pt-BR" sz="1600" dirty="0" err="1">
                <a:solidFill>
                  <a:srgbClr val="6A5221"/>
                </a:solidFill>
                <a:highlight>
                  <a:srgbClr val="F7F7F7"/>
                </a:highlight>
                <a:latin typeface="Courier New"/>
                <a:ea typeface="Courier New"/>
                <a:cs typeface="Courier New"/>
                <a:sym typeface="Courier New"/>
              </a:rPr>
              <a:t>linear_diffusion_schedule</a:t>
            </a:r>
            <a:r>
              <a:rPr lang="pt-BR" sz="1600" dirty="0">
                <a:solidFill>
                  <a:schemeClr val="dk1"/>
                </a:solidFill>
                <a:highlight>
                  <a:srgbClr val="F7F7F7"/>
                </a:highlight>
                <a:latin typeface="Courier New"/>
                <a:ea typeface="Courier New"/>
                <a:cs typeface="Courier New"/>
                <a:sym typeface="Courier New"/>
              </a:rPr>
              <a:t>(</a:t>
            </a:r>
            <a:r>
              <a:rPr lang="pt-BR" sz="1600" dirty="0" err="1">
                <a:solidFill>
                  <a:srgbClr val="001080"/>
                </a:solidFill>
                <a:highlight>
                  <a:srgbClr val="F7F7F7"/>
                </a:highlight>
                <a:latin typeface="Courier New"/>
                <a:ea typeface="Courier New"/>
                <a:cs typeface="Courier New"/>
                <a:sym typeface="Courier New"/>
              </a:rPr>
              <a:t>diffusion_times</a:t>
            </a:r>
            <a:r>
              <a:rPr lang="pt-BR" sz="1600" dirty="0">
                <a:solidFill>
                  <a:schemeClr val="dk1"/>
                </a:solidFill>
                <a:highlight>
                  <a:srgbClr val="F7F7F7"/>
                </a:highlight>
                <a:latin typeface="Courier New"/>
                <a:ea typeface="Courier New"/>
                <a:cs typeface="Courier New"/>
                <a:sym typeface="Courier New"/>
              </a:rPr>
              <a:t>):</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b="1" dirty="0">
                <a:solidFill>
                  <a:schemeClr val="dk1"/>
                </a:solidFill>
                <a:highlight>
                  <a:srgbClr val="F7F7F7"/>
                </a:highlight>
                <a:latin typeface="Courier New"/>
                <a:ea typeface="Courier New"/>
                <a:cs typeface="Courier New"/>
                <a:sym typeface="Courier New"/>
              </a:rPr>
              <a:t>    </a:t>
            </a:r>
            <a:r>
              <a:rPr lang="pt-BR" sz="1600" b="1" dirty="0" err="1">
                <a:solidFill>
                  <a:schemeClr val="dk1"/>
                </a:solidFill>
                <a:highlight>
                  <a:srgbClr val="F7F7F7"/>
                </a:highlight>
                <a:latin typeface="Courier New"/>
                <a:ea typeface="Courier New"/>
                <a:cs typeface="Courier New"/>
                <a:sym typeface="Courier New"/>
              </a:rPr>
              <a:t>min_rate</a:t>
            </a:r>
            <a:r>
              <a:rPr lang="pt-BR" sz="1600" b="1" dirty="0">
                <a:solidFill>
                  <a:schemeClr val="dk1"/>
                </a:solidFill>
                <a:highlight>
                  <a:srgbClr val="F7F7F7"/>
                </a:highlight>
                <a:latin typeface="Courier New"/>
                <a:ea typeface="Courier New"/>
                <a:cs typeface="Courier New"/>
                <a:sym typeface="Courier New"/>
              </a:rPr>
              <a:t> = </a:t>
            </a:r>
            <a:r>
              <a:rPr lang="pt-BR" sz="1600" b="1" dirty="0">
                <a:solidFill>
                  <a:srgbClr val="116644"/>
                </a:solidFill>
                <a:highlight>
                  <a:srgbClr val="F7F7F7"/>
                </a:highlight>
                <a:latin typeface="Courier New"/>
                <a:ea typeface="Courier New"/>
                <a:cs typeface="Courier New"/>
                <a:sym typeface="Courier New"/>
              </a:rPr>
              <a:t>0.0001</a:t>
            </a:r>
            <a:endParaRPr sz="1600" b="1" dirty="0">
              <a:solidFill>
                <a:srgbClr val="116644"/>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b="1" dirty="0">
                <a:solidFill>
                  <a:schemeClr val="dk1"/>
                </a:solidFill>
                <a:highlight>
                  <a:srgbClr val="F7F7F7"/>
                </a:highlight>
                <a:latin typeface="Courier New"/>
                <a:ea typeface="Courier New"/>
                <a:cs typeface="Courier New"/>
                <a:sym typeface="Courier New"/>
              </a:rPr>
              <a:t>    </a:t>
            </a:r>
            <a:r>
              <a:rPr lang="pt-BR" sz="1600" b="1" dirty="0" err="1">
                <a:solidFill>
                  <a:schemeClr val="dk1"/>
                </a:solidFill>
                <a:highlight>
                  <a:srgbClr val="F7F7F7"/>
                </a:highlight>
                <a:latin typeface="Courier New"/>
                <a:ea typeface="Courier New"/>
                <a:cs typeface="Courier New"/>
                <a:sym typeface="Courier New"/>
              </a:rPr>
              <a:t>max_rate</a:t>
            </a:r>
            <a:r>
              <a:rPr lang="pt-BR" sz="1600" b="1" dirty="0">
                <a:solidFill>
                  <a:schemeClr val="dk1"/>
                </a:solidFill>
                <a:highlight>
                  <a:srgbClr val="F7F7F7"/>
                </a:highlight>
                <a:latin typeface="Courier New"/>
                <a:ea typeface="Courier New"/>
                <a:cs typeface="Courier New"/>
                <a:sym typeface="Courier New"/>
              </a:rPr>
              <a:t> = </a:t>
            </a:r>
            <a:r>
              <a:rPr lang="pt-BR" sz="1600" b="1" dirty="0">
                <a:solidFill>
                  <a:srgbClr val="116644"/>
                </a:solidFill>
                <a:highlight>
                  <a:srgbClr val="F7F7F7"/>
                </a:highlight>
                <a:latin typeface="Courier New"/>
                <a:ea typeface="Courier New"/>
                <a:cs typeface="Courier New"/>
                <a:sym typeface="Courier New"/>
              </a:rPr>
              <a:t>0.02</a:t>
            </a:r>
            <a:endParaRPr sz="1600" b="1" dirty="0">
              <a:solidFill>
                <a:srgbClr val="116644"/>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betas = </a:t>
            </a:r>
            <a:r>
              <a:rPr lang="pt-BR" sz="1600" dirty="0" err="1">
                <a:solidFill>
                  <a:schemeClr val="dk1"/>
                </a:solidFill>
                <a:highlight>
                  <a:srgbClr val="F7F7F7"/>
                </a:highlight>
                <a:latin typeface="Courier New"/>
                <a:ea typeface="Courier New"/>
                <a:cs typeface="Courier New"/>
                <a:sym typeface="Courier New"/>
              </a:rPr>
              <a:t>min_rate</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diffusion_times</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max_rate</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min_rate</a:t>
            </a:r>
            <a:r>
              <a:rPr lang="pt-BR" sz="1600" dirty="0">
                <a:solidFill>
                  <a:schemeClr val="dk1"/>
                </a:solidFill>
                <a:highlight>
                  <a:srgbClr val="F7F7F7"/>
                </a:highlight>
                <a:latin typeface="Courier New"/>
                <a:ea typeface="Courier New"/>
                <a:cs typeface="Courier New"/>
                <a:sym typeface="Courier New"/>
              </a:rPr>
              <a:t>)</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alphas</a:t>
            </a:r>
            <a:r>
              <a:rPr lang="pt-BR" sz="1600" dirty="0">
                <a:solidFill>
                  <a:schemeClr val="dk1"/>
                </a:solidFill>
                <a:highlight>
                  <a:srgbClr val="F7F7F7"/>
                </a:highlight>
                <a:latin typeface="Courier New"/>
                <a:ea typeface="Courier New"/>
                <a:cs typeface="Courier New"/>
                <a:sym typeface="Courier New"/>
              </a:rPr>
              <a:t> = </a:t>
            </a:r>
            <a:r>
              <a:rPr lang="pt-BR" sz="1600" dirty="0">
                <a:solidFill>
                  <a:srgbClr val="116644"/>
                </a:solidFill>
                <a:highlight>
                  <a:srgbClr val="F7F7F7"/>
                </a:highlight>
                <a:latin typeface="Courier New"/>
                <a:ea typeface="Courier New"/>
                <a:cs typeface="Courier New"/>
                <a:sym typeface="Courier New"/>
              </a:rPr>
              <a:t>1</a:t>
            </a:r>
            <a:r>
              <a:rPr lang="pt-BR" sz="1600" dirty="0">
                <a:solidFill>
                  <a:schemeClr val="dk1"/>
                </a:solidFill>
                <a:highlight>
                  <a:srgbClr val="F7F7F7"/>
                </a:highlight>
                <a:latin typeface="Courier New"/>
                <a:ea typeface="Courier New"/>
                <a:cs typeface="Courier New"/>
                <a:sym typeface="Courier New"/>
              </a:rPr>
              <a:t> - betas</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alpha_bars</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tf.math.cumprod</a:t>
            </a:r>
            <a:r>
              <a:rPr lang="pt-BR" sz="1600" dirty="0">
                <a:solidFill>
                  <a:schemeClr val="dk1"/>
                </a:solidFill>
                <a:highlight>
                  <a:srgbClr val="F7F7F7"/>
                </a:highlight>
                <a:latin typeface="Courier New"/>
                <a:ea typeface="Courier New"/>
                <a:cs typeface="Courier New"/>
                <a:sym typeface="Courier New"/>
              </a:rPr>
              <a:t>(</a:t>
            </a:r>
            <a:r>
              <a:rPr lang="pt-BR" sz="1600" dirty="0" err="1">
                <a:solidFill>
                  <a:schemeClr val="dk1"/>
                </a:solidFill>
                <a:highlight>
                  <a:srgbClr val="F7F7F7"/>
                </a:highlight>
                <a:latin typeface="Courier New"/>
                <a:ea typeface="Courier New"/>
                <a:cs typeface="Courier New"/>
                <a:sym typeface="Courier New"/>
              </a:rPr>
              <a:t>alphas</a:t>
            </a:r>
            <a:r>
              <a:rPr lang="pt-BR" sz="1600" dirty="0">
                <a:solidFill>
                  <a:schemeClr val="dk1"/>
                </a:solidFill>
                <a:highlight>
                  <a:srgbClr val="F7F7F7"/>
                </a:highlight>
                <a:latin typeface="Courier New"/>
                <a:ea typeface="Courier New"/>
                <a:cs typeface="Courier New"/>
                <a:sym typeface="Courier New"/>
              </a:rPr>
              <a:t>)</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signal_rates</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tf.sqrt</a:t>
            </a:r>
            <a:r>
              <a:rPr lang="pt-BR" sz="1600" dirty="0">
                <a:solidFill>
                  <a:schemeClr val="dk1"/>
                </a:solidFill>
                <a:highlight>
                  <a:srgbClr val="F7F7F7"/>
                </a:highlight>
                <a:latin typeface="Courier New"/>
                <a:ea typeface="Courier New"/>
                <a:cs typeface="Courier New"/>
                <a:sym typeface="Courier New"/>
              </a:rPr>
              <a:t>(</a:t>
            </a:r>
            <a:r>
              <a:rPr lang="pt-BR" sz="1600" dirty="0" err="1">
                <a:solidFill>
                  <a:schemeClr val="dk1"/>
                </a:solidFill>
                <a:highlight>
                  <a:srgbClr val="F7F7F7"/>
                </a:highlight>
                <a:latin typeface="Courier New"/>
                <a:ea typeface="Courier New"/>
                <a:cs typeface="Courier New"/>
                <a:sym typeface="Courier New"/>
              </a:rPr>
              <a:t>alpha_bars</a:t>
            </a:r>
            <a:r>
              <a:rPr lang="pt-BR" sz="1600" dirty="0">
                <a:solidFill>
                  <a:schemeClr val="dk1"/>
                </a:solidFill>
                <a:highlight>
                  <a:srgbClr val="F7F7F7"/>
                </a:highlight>
                <a:latin typeface="Courier New"/>
                <a:ea typeface="Courier New"/>
                <a:cs typeface="Courier New"/>
                <a:sym typeface="Courier New"/>
              </a:rPr>
              <a:t>)</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noise_rates</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tf.sqrt</a:t>
            </a:r>
            <a:r>
              <a:rPr lang="pt-BR" sz="1600" dirty="0">
                <a:solidFill>
                  <a:schemeClr val="dk1"/>
                </a:solidFill>
                <a:highlight>
                  <a:srgbClr val="F7F7F7"/>
                </a:highlight>
                <a:latin typeface="Courier New"/>
                <a:ea typeface="Courier New"/>
                <a:cs typeface="Courier New"/>
                <a:sym typeface="Courier New"/>
              </a:rPr>
              <a:t>(</a:t>
            </a:r>
            <a:r>
              <a:rPr lang="pt-BR" sz="1600" dirty="0">
                <a:solidFill>
                  <a:srgbClr val="116644"/>
                </a:solidFill>
                <a:highlight>
                  <a:srgbClr val="F7F7F7"/>
                </a:highlight>
                <a:latin typeface="Courier New"/>
                <a:ea typeface="Courier New"/>
                <a:cs typeface="Courier New"/>
                <a:sym typeface="Courier New"/>
              </a:rPr>
              <a:t>1</a:t>
            </a:r>
            <a:r>
              <a:rPr lang="pt-BR" sz="1600" dirty="0">
                <a:solidFill>
                  <a:schemeClr val="dk1"/>
                </a:solidFill>
                <a:highlight>
                  <a:srgbClr val="F7F7F7"/>
                </a:highlight>
                <a:latin typeface="Courier New"/>
                <a:ea typeface="Courier New"/>
                <a:cs typeface="Courier New"/>
                <a:sym typeface="Courier New"/>
              </a:rPr>
              <a:t> - </a:t>
            </a:r>
            <a:r>
              <a:rPr lang="pt-BR" sz="1600" dirty="0" err="1">
                <a:solidFill>
                  <a:schemeClr val="dk1"/>
                </a:solidFill>
                <a:highlight>
                  <a:srgbClr val="F7F7F7"/>
                </a:highlight>
                <a:latin typeface="Courier New"/>
                <a:ea typeface="Courier New"/>
                <a:cs typeface="Courier New"/>
                <a:sym typeface="Courier New"/>
              </a:rPr>
              <a:t>alpha_bars</a:t>
            </a:r>
            <a:r>
              <a:rPr lang="pt-BR" sz="1600" dirty="0">
                <a:solidFill>
                  <a:schemeClr val="dk1"/>
                </a:solidFill>
                <a:highlight>
                  <a:srgbClr val="F7F7F7"/>
                </a:highlight>
                <a:latin typeface="Courier New"/>
                <a:ea typeface="Courier New"/>
                <a:cs typeface="Courier New"/>
                <a:sym typeface="Courier New"/>
              </a:rPr>
              <a:t>)</a:t>
            </a:r>
            <a:endParaRPr sz="1600" dirty="0">
              <a:solidFill>
                <a:schemeClr val="dk1"/>
              </a:solidFill>
              <a:highlight>
                <a:srgbClr val="F7F7F7"/>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pt-BR" sz="1600" dirty="0">
                <a:solidFill>
                  <a:schemeClr val="dk1"/>
                </a:solidFill>
                <a:highlight>
                  <a:srgbClr val="F7F7F7"/>
                </a:highlight>
                <a:latin typeface="Courier New"/>
                <a:ea typeface="Courier New"/>
                <a:cs typeface="Courier New"/>
                <a:sym typeface="Courier New"/>
              </a:rPr>
              <a:t>    </a:t>
            </a:r>
            <a:r>
              <a:rPr lang="pt-BR" sz="1600" dirty="0" err="1">
                <a:solidFill>
                  <a:srgbClr val="9723B4"/>
                </a:solidFill>
                <a:highlight>
                  <a:srgbClr val="F7F7F7"/>
                </a:highlight>
                <a:latin typeface="Courier New"/>
                <a:ea typeface="Courier New"/>
                <a:cs typeface="Courier New"/>
                <a:sym typeface="Courier New"/>
              </a:rPr>
              <a:t>return</a:t>
            </a: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noise_rates</a:t>
            </a:r>
            <a:r>
              <a:rPr lang="pt-BR" sz="1600" dirty="0">
                <a:solidFill>
                  <a:schemeClr val="dk1"/>
                </a:solidFill>
                <a:highlight>
                  <a:srgbClr val="F7F7F7"/>
                </a:highlight>
                <a:latin typeface="Courier New"/>
                <a:ea typeface="Courier New"/>
                <a:cs typeface="Courier New"/>
                <a:sym typeface="Courier New"/>
              </a:rPr>
              <a:t>, </a:t>
            </a:r>
            <a:r>
              <a:rPr lang="pt-BR" sz="1600" dirty="0" err="1">
                <a:solidFill>
                  <a:schemeClr val="dk1"/>
                </a:solidFill>
                <a:highlight>
                  <a:srgbClr val="F7F7F7"/>
                </a:highlight>
                <a:latin typeface="Courier New"/>
                <a:ea typeface="Courier New"/>
                <a:cs typeface="Courier New"/>
                <a:sym typeface="Courier New"/>
              </a:rPr>
              <a:t>signal_rates</a:t>
            </a:r>
            <a:endParaRPr sz="1600" dirty="0">
              <a:solidFill>
                <a:schemeClr val="dk1"/>
              </a:solidFill>
              <a:highlight>
                <a:srgbClr val="F7F7F7"/>
              </a:highlight>
              <a:latin typeface="Courier New"/>
              <a:ea typeface="Courier New"/>
              <a:cs typeface="Courier New"/>
              <a:sym typeface="Courier New"/>
            </a:endParaRPr>
          </a:p>
        </p:txBody>
      </p:sp>
    </p:spTree>
    <p:extLst>
      <p:ext uri="{BB962C8B-B14F-4D97-AF65-F5344CB8AC3E}">
        <p14:creationId xmlns:p14="http://schemas.microsoft.com/office/powerpoint/2010/main" val="3247262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947738" y="582125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59;p33">
            <a:extLst>
              <a:ext uri="{FF2B5EF4-FFF2-40B4-BE49-F238E27FC236}">
                <a16:creationId xmlns:a16="http://schemas.microsoft.com/office/drawing/2014/main" id="{BBE7687D-71D3-48AA-87E9-224FB930DF05}"/>
              </a:ext>
            </a:extLst>
          </p:cNvPr>
          <p:cNvSpPr txBox="1"/>
          <p:nvPr/>
        </p:nvSpPr>
        <p:spPr>
          <a:xfrm>
            <a:off x="862832" y="1564436"/>
            <a:ext cx="10886255" cy="1072571"/>
          </a:xfrm>
          <a:prstGeom prst="rect">
            <a:avLst/>
          </a:prstGeom>
          <a:noFill/>
          <a:ln>
            <a:noFill/>
          </a:ln>
        </p:spPr>
        <p:txBody>
          <a:bodyPr spcFirstLastPara="1" wrap="square" lIns="68575" tIns="34275" rIns="68575" bIns="34275" anchor="t" anchorCtr="0">
            <a:spAutoFit/>
          </a:bodyPr>
          <a:lstStyle/>
          <a:p>
            <a:pPr>
              <a:lnSpc>
                <a:spcPct val="115000"/>
              </a:lnSpc>
              <a:spcAft>
                <a:spcPts val="1200"/>
              </a:spcAft>
            </a:pPr>
            <a:r>
              <a:rPr lang="pt-BR" sz="2400" dirty="0"/>
              <a:t>Em um estudo posterior, foi descoberto que um </a:t>
            </a:r>
            <a:r>
              <a:rPr lang="pt-BR" sz="2400" dirty="0" err="1"/>
              <a:t>diffusion</a:t>
            </a:r>
            <a:r>
              <a:rPr lang="pt-BR" sz="2400" dirty="0"/>
              <a:t> schedule baseado em cosseno teve desempenho superior ao linear proposto no artigo original.</a:t>
            </a:r>
          </a:p>
        </p:txBody>
      </p:sp>
    </p:spTree>
    <p:extLst>
      <p:ext uri="{BB962C8B-B14F-4D97-AF65-F5344CB8AC3E}">
        <p14:creationId xmlns:p14="http://schemas.microsoft.com/office/powerpoint/2010/main" val="594491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174;p35">
            <a:extLst>
              <a:ext uri="{FF2B5EF4-FFF2-40B4-BE49-F238E27FC236}">
                <a16:creationId xmlns:a16="http://schemas.microsoft.com/office/drawing/2014/main" id="{494CD54E-F5BF-40E1-8CE9-DB789E4918FB}"/>
              </a:ext>
            </a:extLst>
          </p:cNvPr>
          <p:cNvSpPr txBox="1"/>
          <p:nvPr/>
        </p:nvSpPr>
        <p:spPr>
          <a:xfrm>
            <a:off x="862832" y="1520474"/>
            <a:ext cx="10886255" cy="3387051"/>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400" dirty="0"/>
              <a:t>Uma comparação visual entre dois tipos de </a:t>
            </a:r>
            <a:r>
              <a:rPr lang="pt-BR" sz="2400" dirty="0" err="1"/>
              <a:t>diffusion</a:t>
            </a:r>
            <a:r>
              <a:rPr lang="pt-BR" sz="2400" dirty="0"/>
              <a:t> schedule aplicados a uma imagem:</a:t>
            </a:r>
            <a:endParaRPr sz="2400" dirty="0"/>
          </a:p>
          <a:p>
            <a:pPr marL="0" lvl="0" indent="0" algn="l" rtl="0">
              <a:lnSpc>
                <a:spcPct val="115000"/>
              </a:lnSpc>
              <a:spcBef>
                <a:spcPts val="1200"/>
              </a:spcBef>
              <a:spcAft>
                <a:spcPts val="0"/>
              </a:spcAft>
              <a:buNone/>
            </a:pPr>
            <a:endParaRPr sz="2400" dirty="0"/>
          </a:p>
          <a:p>
            <a:pPr marL="0" lvl="0" indent="0" algn="l" rtl="0">
              <a:lnSpc>
                <a:spcPct val="115000"/>
              </a:lnSpc>
              <a:spcBef>
                <a:spcPts val="1200"/>
              </a:spcBef>
              <a:spcAft>
                <a:spcPts val="0"/>
              </a:spcAft>
              <a:buNone/>
            </a:pPr>
            <a:endParaRPr sz="2400" dirty="0"/>
          </a:p>
          <a:p>
            <a:pPr marL="0" lvl="0" indent="0" algn="l" rtl="0">
              <a:lnSpc>
                <a:spcPct val="115000"/>
              </a:lnSpc>
              <a:spcBef>
                <a:spcPts val="1200"/>
              </a:spcBef>
              <a:spcAft>
                <a:spcPts val="0"/>
              </a:spcAft>
              <a:buNone/>
            </a:pPr>
            <a:endParaRPr sz="2400" dirty="0"/>
          </a:p>
          <a:p>
            <a:pPr marL="0" lvl="0" indent="0" algn="l" rtl="0">
              <a:lnSpc>
                <a:spcPct val="115000"/>
              </a:lnSpc>
              <a:spcBef>
                <a:spcPts val="1200"/>
              </a:spcBef>
              <a:spcAft>
                <a:spcPts val="1200"/>
              </a:spcAft>
              <a:buNone/>
            </a:pPr>
            <a:endParaRPr sz="2400" dirty="0"/>
          </a:p>
        </p:txBody>
      </p:sp>
      <p:pic>
        <p:nvPicPr>
          <p:cNvPr id="9" name="Google Shape;176;p35">
            <a:extLst>
              <a:ext uri="{FF2B5EF4-FFF2-40B4-BE49-F238E27FC236}">
                <a16:creationId xmlns:a16="http://schemas.microsoft.com/office/drawing/2014/main" id="{53ED9AB6-908C-4701-8243-A9EC7E0CA5DD}"/>
              </a:ext>
            </a:extLst>
          </p:cNvPr>
          <p:cNvPicPr preferRelativeResize="0"/>
          <p:nvPr/>
        </p:nvPicPr>
        <p:blipFill>
          <a:blip r:embed="rId2">
            <a:alphaModFix/>
          </a:blip>
          <a:stretch>
            <a:fillRect/>
          </a:stretch>
        </p:blipFill>
        <p:spPr>
          <a:xfrm>
            <a:off x="947738" y="2606022"/>
            <a:ext cx="6461471" cy="1098450"/>
          </a:xfrm>
          <a:prstGeom prst="rect">
            <a:avLst/>
          </a:prstGeom>
          <a:noFill/>
          <a:ln>
            <a:noFill/>
          </a:ln>
        </p:spPr>
      </p:pic>
      <p:sp>
        <p:nvSpPr>
          <p:cNvPr id="10" name="Google Shape;177;p35">
            <a:extLst>
              <a:ext uri="{FF2B5EF4-FFF2-40B4-BE49-F238E27FC236}">
                <a16:creationId xmlns:a16="http://schemas.microsoft.com/office/drawing/2014/main" id="{54D3F584-D1A5-4F49-898B-7080CB07453A}"/>
              </a:ext>
            </a:extLst>
          </p:cNvPr>
          <p:cNvSpPr txBox="1"/>
          <p:nvPr/>
        </p:nvSpPr>
        <p:spPr>
          <a:xfrm>
            <a:off x="862830" y="3896687"/>
            <a:ext cx="4729077"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400" dirty="0"/>
              <a:t>Ambos os métodos mostram como a imagem é corrompida ao longo do tempo, com ruído sendo progressivamente adicionado em etapas igualmente espaçadas</a:t>
            </a:r>
            <a:endParaRPr sz="2400" dirty="0"/>
          </a:p>
        </p:txBody>
      </p:sp>
      <p:sp>
        <p:nvSpPr>
          <p:cNvPr id="11" name="Google Shape;178;p35">
            <a:extLst>
              <a:ext uri="{FF2B5EF4-FFF2-40B4-BE49-F238E27FC236}">
                <a16:creationId xmlns:a16="http://schemas.microsoft.com/office/drawing/2014/main" id="{DDA0A269-4594-4DDB-B153-9CABB7FFB5A1}"/>
              </a:ext>
            </a:extLst>
          </p:cNvPr>
          <p:cNvSpPr txBox="1"/>
          <p:nvPr/>
        </p:nvSpPr>
        <p:spPr>
          <a:xfrm>
            <a:off x="7737230" y="2140437"/>
            <a:ext cx="4202723" cy="38779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400" b="1" dirty="0"/>
              <a:t>Linear</a:t>
            </a:r>
            <a:r>
              <a:rPr lang="pt-BR" sz="2400" dirty="0"/>
              <a:t>: o ruído é introduzido de forma constante ao longo do tempo, mas pode ser mais agressivo em estágios iniciais.</a:t>
            </a:r>
            <a:endParaRPr sz="2400" dirty="0"/>
          </a:p>
          <a:p>
            <a:pPr marL="0" lvl="0" indent="0" algn="l" rtl="0">
              <a:spcBef>
                <a:spcPts val="0"/>
              </a:spcBef>
              <a:spcAft>
                <a:spcPts val="0"/>
              </a:spcAft>
              <a:buNone/>
            </a:pPr>
            <a:endParaRPr sz="2400" dirty="0"/>
          </a:p>
          <a:p>
            <a:pPr marL="0" lvl="0" indent="0" algn="l" rtl="0">
              <a:spcBef>
                <a:spcPts val="0"/>
              </a:spcBef>
              <a:spcAft>
                <a:spcPts val="0"/>
              </a:spcAft>
              <a:buNone/>
            </a:pPr>
            <a:r>
              <a:rPr lang="pt-BR" sz="2400" b="1" dirty="0"/>
              <a:t>Cosseno</a:t>
            </a:r>
            <a:r>
              <a:rPr lang="pt-BR" sz="2400" dirty="0"/>
              <a:t>: a degradação é mais suave no início e acelera nos estágios finais, o que ajuda a preservar melhor a estrutura da imagem nos primeiros passos.</a:t>
            </a:r>
            <a:endParaRPr sz="2400" dirty="0"/>
          </a:p>
        </p:txBody>
      </p:sp>
    </p:spTree>
    <p:extLst>
      <p:ext uri="{BB962C8B-B14F-4D97-AF65-F5344CB8AC3E}">
        <p14:creationId xmlns:p14="http://schemas.microsoft.com/office/powerpoint/2010/main" val="3702439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84;p36">
            <a:extLst>
              <a:ext uri="{FF2B5EF4-FFF2-40B4-BE49-F238E27FC236}">
                <a16:creationId xmlns:a16="http://schemas.microsoft.com/office/drawing/2014/main" id="{8F247AE7-2B63-4AB6-8F65-1C78FD282200}"/>
              </a:ext>
            </a:extLst>
          </p:cNvPr>
          <p:cNvSpPr txBox="1"/>
          <p:nvPr/>
        </p:nvSpPr>
        <p:spPr>
          <a:xfrm>
            <a:off x="886192" y="1511682"/>
            <a:ext cx="10862896" cy="4578146"/>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200" b="1" dirty="0"/>
              <a:t>O Processo de Difusão Reversa</a:t>
            </a:r>
            <a:endParaRPr sz="2200" b="1" dirty="0"/>
          </a:p>
          <a:p>
            <a:pPr marL="0" lvl="0" indent="0" algn="l" rtl="0">
              <a:lnSpc>
                <a:spcPct val="115000"/>
              </a:lnSpc>
              <a:spcBef>
                <a:spcPts val="1200"/>
              </a:spcBef>
              <a:spcAft>
                <a:spcPts val="0"/>
              </a:spcAft>
              <a:buNone/>
            </a:pPr>
            <a:r>
              <a:rPr lang="pt-BR" sz="2200" dirty="0"/>
              <a:t>Foco agora é remover o ruído e reconstruir a imagem original. </a:t>
            </a:r>
            <a:endParaRPr sz="2200" dirty="0"/>
          </a:p>
          <a:p>
            <a:pPr marL="0" lvl="0" indent="0" algn="l" rtl="0">
              <a:lnSpc>
                <a:spcPct val="115000"/>
              </a:lnSpc>
              <a:spcBef>
                <a:spcPts val="1200"/>
              </a:spcBef>
              <a:spcAft>
                <a:spcPts val="0"/>
              </a:spcAft>
              <a:buNone/>
            </a:pPr>
            <a:r>
              <a:rPr lang="pt-BR" sz="2200" dirty="0"/>
              <a:t>O objetivo é treinar uma rede neural que aprenda a inverter o processo de adição de ruído — ou seja, </a:t>
            </a:r>
            <a:r>
              <a:rPr lang="pt-BR" sz="2200" b="1" dirty="0"/>
              <a:t>a rede deve aproximar a distribuição reversa que nos leva de uma imagem ruidosa a uma versão um pouco mais limpa</a:t>
            </a:r>
            <a:r>
              <a:rPr lang="pt-BR" sz="2200" dirty="0"/>
              <a:t>.</a:t>
            </a:r>
            <a:endParaRPr sz="2200" dirty="0"/>
          </a:p>
          <a:p>
            <a:pPr marL="0" lvl="0" indent="0" algn="l" rtl="0">
              <a:lnSpc>
                <a:spcPct val="115000"/>
              </a:lnSpc>
              <a:spcBef>
                <a:spcPts val="1200"/>
              </a:spcBef>
              <a:spcAft>
                <a:spcPts val="0"/>
              </a:spcAft>
              <a:buNone/>
            </a:pPr>
            <a:r>
              <a:rPr lang="pt-BR" sz="2200" dirty="0"/>
              <a:t>Se essa rede for bem treinada, podemos:</a:t>
            </a:r>
            <a:endParaRPr sz="2200" dirty="0"/>
          </a:p>
          <a:p>
            <a:pPr marL="457200" lvl="0" indent="-317500" algn="l" rtl="0">
              <a:lnSpc>
                <a:spcPct val="115000"/>
              </a:lnSpc>
              <a:spcBef>
                <a:spcPts val="1200"/>
              </a:spcBef>
              <a:spcAft>
                <a:spcPts val="0"/>
              </a:spcAft>
              <a:buClr>
                <a:srgbClr val="595959"/>
              </a:buClr>
              <a:buSzPts val="1400"/>
              <a:buChar char="●"/>
            </a:pPr>
            <a:r>
              <a:rPr lang="pt-BR" sz="2200" dirty="0"/>
              <a:t>Começar com ruído aleatório </a:t>
            </a:r>
            <a:endParaRPr sz="2200" dirty="0"/>
          </a:p>
          <a:p>
            <a:pPr marL="457200" lvl="0" indent="-317500" algn="l" rtl="0">
              <a:lnSpc>
                <a:spcPct val="115000"/>
              </a:lnSpc>
              <a:spcBef>
                <a:spcPts val="0"/>
              </a:spcBef>
              <a:spcAft>
                <a:spcPts val="0"/>
              </a:spcAft>
              <a:buClr>
                <a:srgbClr val="595959"/>
              </a:buClr>
              <a:buSzPts val="1400"/>
              <a:buChar char="●"/>
            </a:pPr>
            <a:r>
              <a:rPr lang="pt-BR" sz="2200" dirty="0"/>
              <a:t>Aplicar o processo de difusão reversa passo a passo (usando a rede neural) </a:t>
            </a:r>
            <a:endParaRPr sz="2200" dirty="0"/>
          </a:p>
          <a:p>
            <a:pPr marL="457200" lvl="0" indent="-317500" algn="l" rtl="0">
              <a:lnSpc>
                <a:spcPct val="115000"/>
              </a:lnSpc>
              <a:spcBef>
                <a:spcPts val="0"/>
              </a:spcBef>
              <a:spcAft>
                <a:spcPts val="0"/>
              </a:spcAft>
              <a:buClr>
                <a:srgbClr val="595959"/>
              </a:buClr>
              <a:buSzPts val="1400"/>
              <a:buChar char="●"/>
            </a:pPr>
            <a:r>
              <a:rPr lang="pt-BR" sz="2200" b="1" dirty="0"/>
              <a:t>Gerar uma nova imagem realista, mesmo que ela nunca tenha existido no conjunto de dados original.</a:t>
            </a:r>
            <a:endParaRPr sz="2200" b="1" dirty="0"/>
          </a:p>
        </p:txBody>
      </p:sp>
    </p:spTree>
    <p:extLst>
      <p:ext uri="{BB962C8B-B14F-4D97-AF65-F5344CB8AC3E}">
        <p14:creationId xmlns:p14="http://schemas.microsoft.com/office/powerpoint/2010/main" val="202632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191;p37">
            <a:extLst>
              <a:ext uri="{FF2B5EF4-FFF2-40B4-BE49-F238E27FC236}">
                <a16:creationId xmlns:a16="http://schemas.microsoft.com/office/drawing/2014/main" id="{EB012F3F-9E57-4469-A9BE-B1C071C5EA0B}"/>
              </a:ext>
            </a:extLst>
          </p:cNvPr>
          <p:cNvSpPr txBox="1"/>
          <p:nvPr/>
        </p:nvSpPr>
        <p:spPr>
          <a:xfrm>
            <a:off x="886192" y="1617188"/>
            <a:ext cx="10862896" cy="1497303"/>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1200"/>
              </a:spcAft>
              <a:buNone/>
            </a:pPr>
            <a:r>
              <a:rPr lang="pt-BR" sz="2400" dirty="0"/>
              <a:t>Esse é o princípio fundamental por trás da geração de imagens com modelos de difusão: transformar ruído em uma imagem plausível por meio de uma sequência controlada de remoções de ruído.</a:t>
            </a:r>
            <a:endParaRPr sz="2400" dirty="0"/>
          </a:p>
        </p:txBody>
      </p:sp>
      <p:pic>
        <p:nvPicPr>
          <p:cNvPr id="9" name="Google Shape;193;p37">
            <a:extLst>
              <a:ext uri="{FF2B5EF4-FFF2-40B4-BE49-F238E27FC236}">
                <a16:creationId xmlns:a16="http://schemas.microsoft.com/office/drawing/2014/main" id="{FFDD84E8-2C44-4539-80E2-0D137C5C4958}"/>
              </a:ext>
            </a:extLst>
          </p:cNvPr>
          <p:cNvPicPr preferRelativeResize="0"/>
          <p:nvPr/>
        </p:nvPicPr>
        <p:blipFill>
          <a:blip r:embed="rId2">
            <a:alphaModFix/>
          </a:blip>
          <a:stretch>
            <a:fillRect/>
          </a:stretch>
        </p:blipFill>
        <p:spPr>
          <a:xfrm>
            <a:off x="2028867" y="3296292"/>
            <a:ext cx="8287721" cy="1464164"/>
          </a:xfrm>
          <a:prstGeom prst="rect">
            <a:avLst/>
          </a:prstGeom>
          <a:noFill/>
          <a:ln>
            <a:noFill/>
          </a:ln>
        </p:spPr>
      </p:pic>
    </p:spTree>
    <p:extLst>
      <p:ext uri="{BB962C8B-B14F-4D97-AF65-F5344CB8AC3E}">
        <p14:creationId xmlns:p14="http://schemas.microsoft.com/office/powerpoint/2010/main" val="1028752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1323439"/>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Semelhanças com </a:t>
            </a:r>
            <a:r>
              <a:rPr lang="pt-BR" sz="4000" b="1" kern="0" dirty="0" err="1">
                <a:latin typeface="Montserrat" panose="00000500000000000000" pitchFamily="50" charset="0"/>
                <a:cs typeface="Poppins" panose="02000000000000000000" pitchFamily="2" charset="0"/>
                <a:sym typeface="Trebuchet MS"/>
              </a:rPr>
              <a:t>Autoencoders</a:t>
            </a:r>
            <a:r>
              <a:rPr lang="pt-BR" sz="4000" b="1" kern="0" dirty="0">
                <a:latin typeface="Montserrat" panose="00000500000000000000" pitchFamily="50" charset="0"/>
                <a:cs typeface="Poppins" panose="02000000000000000000" pitchFamily="2" charset="0"/>
                <a:sym typeface="Trebuchet MS"/>
              </a:rPr>
              <a:t> Variacionais (</a:t>
            </a:r>
            <a:r>
              <a:rPr lang="pt-BR" sz="4000" b="1" kern="0" dirty="0" err="1">
                <a:latin typeface="Montserrat" panose="00000500000000000000" pitchFamily="50" charset="0"/>
                <a:cs typeface="Poppins" panose="02000000000000000000" pitchFamily="2" charset="0"/>
                <a:sym typeface="Trebuchet MS"/>
              </a:rPr>
              <a:t>VAEs</a:t>
            </a:r>
            <a:r>
              <a:rPr lang="pt-BR" sz="4000" b="1" kern="0" dirty="0">
                <a:latin typeface="Montserrat" panose="00000500000000000000" pitchFamily="50" charset="0"/>
                <a:cs typeface="Poppins" panose="02000000000000000000" pitchFamily="2" charset="0"/>
                <a:sym typeface="Trebuchet MS"/>
              </a:rPr>
              <a:t>)</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199;p38">
            <a:extLst>
              <a:ext uri="{FF2B5EF4-FFF2-40B4-BE49-F238E27FC236}">
                <a16:creationId xmlns:a16="http://schemas.microsoft.com/office/drawing/2014/main" id="{8351F31C-4383-40BE-BCBB-C62438577C5F}"/>
              </a:ext>
            </a:extLst>
          </p:cNvPr>
          <p:cNvSpPr txBox="1"/>
          <p:nvPr/>
        </p:nvSpPr>
        <p:spPr>
          <a:xfrm>
            <a:off x="947738" y="2050940"/>
            <a:ext cx="10801350" cy="3774849"/>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400" dirty="0"/>
              <a:t>O processo de difusão reversa tem várias semelhanças com o decodificador de um </a:t>
            </a:r>
            <a:r>
              <a:rPr lang="pt-BR" sz="2400" dirty="0" err="1"/>
              <a:t>autoencoder</a:t>
            </a:r>
            <a:r>
              <a:rPr lang="pt-BR" sz="2400" dirty="0"/>
              <a:t> variacional (VAE): em ambos, usamos uma rede neural para transformar ruído aleatório em uma saída significativa.</a:t>
            </a:r>
            <a:endParaRPr sz="2400" dirty="0"/>
          </a:p>
          <a:p>
            <a:pPr marL="0" lvl="0" indent="0" algn="l" rtl="0">
              <a:lnSpc>
                <a:spcPct val="115000"/>
              </a:lnSpc>
              <a:spcBef>
                <a:spcPts val="1200"/>
              </a:spcBef>
              <a:spcAft>
                <a:spcPts val="0"/>
              </a:spcAft>
              <a:buNone/>
            </a:pPr>
            <a:r>
              <a:rPr lang="pt-BR" sz="2400" dirty="0"/>
              <a:t>A principal diferença é que:</a:t>
            </a:r>
            <a:endParaRPr sz="2400" dirty="0"/>
          </a:p>
          <a:p>
            <a:pPr marL="457200" lvl="0" indent="-330200" algn="l" rtl="0">
              <a:lnSpc>
                <a:spcPct val="115000"/>
              </a:lnSpc>
              <a:spcBef>
                <a:spcPts val="1200"/>
              </a:spcBef>
              <a:spcAft>
                <a:spcPts val="0"/>
              </a:spcAft>
              <a:buClr>
                <a:srgbClr val="595959"/>
              </a:buClr>
              <a:buSzPts val="1600"/>
              <a:buChar char="●"/>
            </a:pPr>
            <a:r>
              <a:rPr lang="pt-BR" sz="2400" dirty="0"/>
              <a:t>Nos </a:t>
            </a:r>
            <a:r>
              <a:rPr lang="pt-BR" sz="2400" dirty="0" err="1"/>
              <a:t>VAEs</a:t>
            </a:r>
            <a:r>
              <a:rPr lang="pt-BR" sz="2400" dirty="0"/>
              <a:t>, o processo direto (imagem → ruído) </a:t>
            </a:r>
            <a:r>
              <a:rPr lang="pt-BR" sz="2400" b="1" dirty="0"/>
              <a:t>é aprendido pelo modelo</a:t>
            </a:r>
            <a:r>
              <a:rPr lang="pt-BR" sz="2400" dirty="0"/>
              <a:t>.</a:t>
            </a:r>
            <a:endParaRPr sz="2400" dirty="0"/>
          </a:p>
          <a:p>
            <a:pPr marL="457200" lvl="0" indent="-330200" algn="l" rtl="0">
              <a:lnSpc>
                <a:spcPct val="115000"/>
              </a:lnSpc>
              <a:spcBef>
                <a:spcPts val="0"/>
              </a:spcBef>
              <a:spcAft>
                <a:spcPts val="0"/>
              </a:spcAft>
              <a:buClr>
                <a:srgbClr val="595959"/>
              </a:buClr>
              <a:buSzPts val="1600"/>
              <a:buChar char="●"/>
            </a:pPr>
            <a:r>
              <a:rPr lang="pt-BR" sz="2400" dirty="0"/>
              <a:t>Nos modelos de difusão, o processo direto é fixo e não parametrizado (ou seja, não é aprendido — apenas aplicamos ruído Gaussiano com uma agenda predefinida).</a:t>
            </a:r>
            <a:endParaRPr sz="2400" dirty="0"/>
          </a:p>
        </p:txBody>
      </p:sp>
    </p:spTree>
    <p:extLst>
      <p:ext uri="{BB962C8B-B14F-4D97-AF65-F5344CB8AC3E}">
        <p14:creationId xmlns:p14="http://schemas.microsoft.com/office/powerpoint/2010/main" val="1845043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Função de Perda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206;p39">
            <a:extLst>
              <a:ext uri="{FF2B5EF4-FFF2-40B4-BE49-F238E27FC236}">
                <a16:creationId xmlns:a16="http://schemas.microsoft.com/office/drawing/2014/main" id="{14869BF6-DDDF-4B2F-85DE-A4785AF3D2FC}"/>
              </a:ext>
            </a:extLst>
          </p:cNvPr>
          <p:cNvSpPr txBox="1"/>
          <p:nvPr/>
        </p:nvSpPr>
        <p:spPr>
          <a:xfrm>
            <a:off x="880680" y="1555644"/>
            <a:ext cx="10777921" cy="4293453"/>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300" dirty="0"/>
              <a:t>Por conta dessa semelhança, é natural usar uma função de perda parecida com a dos </a:t>
            </a:r>
            <a:r>
              <a:rPr lang="pt-BR" sz="2300" dirty="0" err="1"/>
              <a:t>VAEs</a:t>
            </a:r>
            <a:r>
              <a:rPr lang="pt-BR" sz="2300" dirty="0"/>
              <a:t>. No artigo original do DDPM (</a:t>
            </a:r>
            <a:r>
              <a:rPr lang="pt-BR" sz="2300" dirty="0" err="1"/>
              <a:t>Denoising</a:t>
            </a:r>
            <a:r>
              <a:rPr lang="pt-BR" sz="2300" dirty="0"/>
              <a:t> </a:t>
            </a:r>
            <a:r>
              <a:rPr lang="pt-BR" sz="2300" dirty="0" err="1"/>
              <a:t>Diffusion</a:t>
            </a:r>
            <a:r>
              <a:rPr lang="pt-BR" sz="2300" dirty="0"/>
              <a:t> </a:t>
            </a:r>
            <a:r>
              <a:rPr lang="pt-BR" sz="2300" dirty="0" err="1"/>
              <a:t>Probabilistic</a:t>
            </a:r>
            <a:r>
              <a:rPr lang="pt-BR" sz="2300" dirty="0"/>
              <a:t> Model), os autores mostram que </a:t>
            </a:r>
            <a:r>
              <a:rPr lang="pt-BR" sz="2300" b="1" dirty="0"/>
              <a:t>a rede neural pode ser treinada para prever o ruído 𝜀 que foi adicionado à imagem em determinado passo 𝑡</a:t>
            </a:r>
            <a:r>
              <a:rPr lang="pt-BR" sz="2300" dirty="0"/>
              <a:t>, da seguinte forma:</a:t>
            </a:r>
            <a:endParaRPr sz="2300" dirty="0"/>
          </a:p>
          <a:p>
            <a:pPr marL="457200" lvl="0" indent="-323850" algn="l" rtl="0">
              <a:lnSpc>
                <a:spcPct val="115000"/>
              </a:lnSpc>
              <a:spcBef>
                <a:spcPts val="1200"/>
              </a:spcBef>
              <a:spcAft>
                <a:spcPts val="0"/>
              </a:spcAft>
              <a:buClr>
                <a:srgbClr val="595959"/>
              </a:buClr>
              <a:buSzPts val="1500"/>
              <a:buChar char="●"/>
            </a:pPr>
            <a:r>
              <a:rPr lang="pt-BR" sz="2300" dirty="0"/>
              <a:t>Amostramos uma imagem x0 do </a:t>
            </a:r>
            <a:r>
              <a:rPr lang="pt-BR" sz="2300" dirty="0" err="1"/>
              <a:t>dataset</a:t>
            </a:r>
            <a:endParaRPr sz="2300" dirty="0"/>
          </a:p>
          <a:p>
            <a:pPr marL="457200" lvl="0" indent="-323850" algn="l" rtl="0">
              <a:lnSpc>
                <a:spcPct val="115000"/>
              </a:lnSpc>
              <a:spcBef>
                <a:spcPts val="0"/>
              </a:spcBef>
              <a:spcAft>
                <a:spcPts val="0"/>
              </a:spcAft>
              <a:buClr>
                <a:srgbClr val="595959"/>
              </a:buClr>
              <a:buSzPts val="1500"/>
              <a:buChar char="●"/>
            </a:pPr>
            <a:r>
              <a:rPr lang="pt-BR" sz="2300" dirty="0"/>
              <a:t>Aplicamos 𝑡 passos de ruído para obter x𝑡 (uma versão da imagem original com ruído)</a:t>
            </a:r>
            <a:endParaRPr sz="2300" dirty="0"/>
          </a:p>
          <a:p>
            <a:pPr marL="457200" lvl="0" indent="-323850" algn="l" rtl="0">
              <a:lnSpc>
                <a:spcPct val="115000"/>
              </a:lnSpc>
              <a:spcBef>
                <a:spcPts val="0"/>
              </a:spcBef>
              <a:spcAft>
                <a:spcPts val="0"/>
              </a:spcAft>
              <a:buClr>
                <a:srgbClr val="595959"/>
              </a:buClr>
              <a:buSzPts val="1500"/>
              <a:buChar char="●"/>
            </a:pPr>
            <a:r>
              <a:rPr lang="pt-BR" sz="2300" dirty="0"/>
              <a:t>Passamos x𝑡 e 𝑡 para a rede neural.</a:t>
            </a:r>
            <a:endParaRPr sz="2300" dirty="0"/>
          </a:p>
          <a:p>
            <a:pPr marL="457200" lvl="0" indent="-323850" algn="l" rtl="0">
              <a:lnSpc>
                <a:spcPct val="115000"/>
              </a:lnSpc>
              <a:spcBef>
                <a:spcPts val="0"/>
              </a:spcBef>
              <a:spcAft>
                <a:spcPts val="0"/>
              </a:spcAft>
              <a:buClr>
                <a:srgbClr val="595959"/>
              </a:buClr>
              <a:buSzPts val="1500"/>
              <a:buChar char="●"/>
            </a:pPr>
            <a:r>
              <a:rPr lang="pt-BR" sz="2300" dirty="0"/>
              <a:t>A rede tenta prever o ruído original 𝜀</a:t>
            </a:r>
            <a:endParaRPr sz="2300" dirty="0"/>
          </a:p>
          <a:p>
            <a:pPr marL="457200" lvl="0" indent="-323850" algn="l" rtl="0">
              <a:lnSpc>
                <a:spcPct val="115000"/>
              </a:lnSpc>
              <a:spcBef>
                <a:spcPts val="0"/>
              </a:spcBef>
              <a:spcAft>
                <a:spcPts val="0"/>
              </a:spcAft>
              <a:buClr>
                <a:srgbClr val="595959"/>
              </a:buClr>
              <a:buSzPts val="1500"/>
              <a:buChar char="●"/>
            </a:pPr>
            <a:r>
              <a:rPr lang="pt-BR" sz="2300" dirty="0"/>
              <a:t>Calculamos o erro quadrático entre a previsão da rede e o ruído real 𝜀, e atualizamos os pesos via gradiente descendente.</a:t>
            </a:r>
            <a:endParaRPr sz="2300" dirty="0"/>
          </a:p>
        </p:txBody>
      </p:sp>
    </p:spTree>
    <p:extLst>
      <p:ext uri="{BB962C8B-B14F-4D97-AF65-F5344CB8AC3E}">
        <p14:creationId xmlns:p14="http://schemas.microsoft.com/office/powerpoint/2010/main" val="2414840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Função de Perda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7443"/>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13;p40">
            <a:extLst>
              <a:ext uri="{FF2B5EF4-FFF2-40B4-BE49-F238E27FC236}">
                <a16:creationId xmlns:a16="http://schemas.microsoft.com/office/drawing/2014/main" id="{72C82AA1-2E55-4602-868E-21532E39D511}"/>
              </a:ext>
            </a:extLst>
          </p:cNvPr>
          <p:cNvSpPr txBox="1"/>
          <p:nvPr/>
        </p:nvSpPr>
        <p:spPr>
          <a:xfrm>
            <a:off x="894984" y="1839834"/>
            <a:ext cx="10854103" cy="3657894"/>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400" dirty="0"/>
              <a:t>Como a rede tenta prever o ruído original 𝜀 ?</a:t>
            </a:r>
            <a:endParaRPr sz="2400" dirty="0"/>
          </a:p>
          <a:p>
            <a:pPr marL="0" lvl="0" indent="0" algn="l" rtl="0">
              <a:lnSpc>
                <a:spcPct val="115000"/>
              </a:lnSpc>
              <a:spcBef>
                <a:spcPts val="1200"/>
              </a:spcBef>
              <a:spcAft>
                <a:spcPts val="0"/>
              </a:spcAft>
              <a:buClr>
                <a:schemeClr val="dk1"/>
              </a:buClr>
              <a:buSzPts val="1100"/>
              <a:buFont typeface="Arial"/>
              <a:buNone/>
            </a:pPr>
            <a:r>
              <a:rPr lang="pt-BR" sz="2400" dirty="0"/>
              <a:t>A rede tenta aprender qual foi o ruído adicionado em x𝑡, dado o próprio x𝑡 e o passo 𝑡.</a:t>
            </a:r>
            <a:endParaRPr sz="2400" dirty="0"/>
          </a:p>
          <a:p>
            <a:pPr marL="0" lvl="0" indent="0" algn="l" rtl="0">
              <a:lnSpc>
                <a:spcPct val="115000"/>
              </a:lnSpc>
              <a:spcBef>
                <a:spcPts val="1200"/>
              </a:spcBef>
              <a:spcAft>
                <a:spcPts val="0"/>
              </a:spcAft>
              <a:buNone/>
            </a:pPr>
            <a:r>
              <a:rPr lang="pt-BR" sz="2400" dirty="0"/>
              <a:t>Se a rede souber qual ruído foi adicionado 𝜀, ela pode removê-lo e aproximar a imagem original.</a:t>
            </a:r>
            <a:endParaRPr sz="2400" dirty="0"/>
          </a:p>
          <a:p>
            <a:pPr marL="0" lvl="0" indent="0" algn="l" rtl="0">
              <a:lnSpc>
                <a:spcPct val="115000"/>
              </a:lnSpc>
              <a:spcBef>
                <a:spcPts val="1200"/>
              </a:spcBef>
              <a:spcAft>
                <a:spcPts val="0"/>
              </a:spcAft>
              <a:buNone/>
            </a:pPr>
            <a:r>
              <a:rPr lang="pt-BR" sz="2400" dirty="0"/>
              <a:t>Vantagens:</a:t>
            </a:r>
            <a:endParaRPr sz="2400" dirty="0"/>
          </a:p>
          <a:p>
            <a:pPr marL="457200" lvl="0" indent="-323850" algn="l" rtl="0">
              <a:lnSpc>
                <a:spcPct val="115000"/>
              </a:lnSpc>
              <a:spcBef>
                <a:spcPts val="1200"/>
              </a:spcBef>
              <a:spcAft>
                <a:spcPts val="0"/>
              </a:spcAft>
              <a:buClr>
                <a:srgbClr val="595959"/>
              </a:buClr>
              <a:buSzPts val="1500"/>
              <a:buChar char="●"/>
            </a:pPr>
            <a:r>
              <a:rPr lang="pt-BR" sz="2400" dirty="0"/>
              <a:t>A função de perda é simples: erro quadrático entre ruído real e ruído previsto</a:t>
            </a:r>
            <a:endParaRPr sz="2400" dirty="0"/>
          </a:p>
          <a:p>
            <a:pPr marL="457200" lvl="0" indent="-323850" algn="l" rtl="0">
              <a:lnSpc>
                <a:spcPct val="115000"/>
              </a:lnSpc>
              <a:spcBef>
                <a:spcPts val="0"/>
              </a:spcBef>
              <a:spcAft>
                <a:spcPts val="0"/>
              </a:spcAft>
              <a:buClr>
                <a:srgbClr val="595959"/>
              </a:buClr>
              <a:buSzPts val="1500"/>
              <a:buChar char="●"/>
            </a:pPr>
            <a:r>
              <a:rPr lang="pt-BR" sz="2400" dirty="0"/>
              <a:t>É mais eficiente e estável do que tentar prever diretamente a imagem limpa x0 </a:t>
            </a:r>
            <a:endParaRPr sz="2400" dirty="0"/>
          </a:p>
        </p:txBody>
      </p:sp>
    </p:spTree>
    <p:extLst>
      <p:ext uri="{BB962C8B-B14F-4D97-AF65-F5344CB8AC3E}">
        <p14:creationId xmlns:p14="http://schemas.microsoft.com/office/powerpoint/2010/main" val="2927783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AFD478C7-31D7-4DCB-B3BC-9B1090C6B445}"/>
              </a:ext>
            </a:extLst>
          </p:cNvPr>
          <p:cNvSpPr/>
          <p:nvPr/>
        </p:nvSpPr>
        <p:spPr>
          <a:xfrm>
            <a:off x="2055735" y="2485755"/>
            <a:ext cx="8080529" cy="1886487"/>
          </a:xfrm>
          <a:prstGeom prst="roundRect">
            <a:avLst>
              <a:gd name="adj" fmla="val 50000"/>
            </a:avLst>
          </a:prstGeom>
          <a:solidFill>
            <a:srgbClr val="43A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extBox 1">
            <a:extLst>
              <a:ext uri="{FF2B5EF4-FFF2-40B4-BE49-F238E27FC236}">
                <a16:creationId xmlns:a16="http://schemas.microsoft.com/office/drawing/2014/main" id="{D055BA4B-DC22-4207-ABC8-3B491F765609}"/>
              </a:ext>
            </a:extLst>
          </p:cNvPr>
          <p:cNvSpPr txBox="1"/>
          <p:nvPr/>
        </p:nvSpPr>
        <p:spPr>
          <a:xfrm>
            <a:off x="2055735" y="3047437"/>
            <a:ext cx="8080529" cy="830997"/>
          </a:xfrm>
          <a:prstGeom prst="rect">
            <a:avLst/>
          </a:prstGeom>
          <a:noFill/>
        </p:spPr>
        <p:txBody>
          <a:bodyPr wrap="square" rtlCol="0">
            <a:spAutoFit/>
          </a:bodyPr>
          <a:lstStyle/>
          <a:p>
            <a:pPr algn="ctr"/>
            <a:r>
              <a:rPr lang="pt-BR" sz="4800" b="1" kern="0" dirty="0" err="1">
                <a:solidFill>
                  <a:schemeClr val="bg1"/>
                </a:solidFill>
                <a:latin typeface="Montserrat" panose="00000500000000000000" pitchFamily="50" charset="0"/>
                <a:cs typeface="Poppins" panose="02000000000000000000" pitchFamily="2" charset="0"/>
              </a:rPr>
              <a:t>U-Net</a:t>
            </a:r>
            <a:r>
              <a:rPr lang="pt-BR" sz="4800" b="1" kern="0" dirty="0">
                <a:solidFill>
                  <a:schemeClr val="bg1"/>
                </a:solidFill>
                <a:latin typeface="Montserrat" panose="00000500000000000000" pitchFamily="50" charset="0"/>
                <a:cs typeface="Poppins" panose="02000000000000000000" pitchFamily="2" charset="0"/>
              </a:rPr>
              <a:t> </a:t>
            </a:r>
            <a:r>
              <a:rPr lang="pt-BR" sz="4800" b="1" kern="0" dirty="0" err="1">
                <a:solidFill>
                  <a:schemeClr val="bg1"/>
                </a:solidFill>
                <a:latin typeface="Montserrat" panose="00000500000000000000" pitchFamily="50" charset="0"/>
                <a:cs typeface="Poppins" panose="02000000000000000000" pitchFamily="2" charset="0"/>
              </a:rPr>
              <a:t>Denoising</a:t>
            </a:r>
            <a:r>
              <a:rPr lang="pt-BR" sz="4800" b="1" kern="0" dirty="0">
                <a:solidFill>
                  <a:schemeClr val="bg1"/>
                </a:solidFill>
                <a:latin typeface="Montserrat" panose="00000500000000000000" pitchFamily="50" charset="0"/>
                <a:cs typeface="Poppins" panose="02000000000000000000" pitchFamily="2" charset="0"/>
              </a:rPr>
              <a:t> Model</a:t>
            </a:r>
            <a:endParaRPr lang="en-ID" sz="4800" b="1" kern="0" dirty="0">
              <a:solidFill>
                <a:schemeClr val="bg1"/>
              </a:solidFill>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1999488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U-Net</a:t>
            </a:r>
            <a:r>
              <a:rPr lang="pt-BR" sz="4000" b="1" kern="0" dirty="0">
                <a:latin typeface="Montserrat" panose="00000500000000000000" pitchFamily="50" charset="0"/>
                <a:cs typeface="Poppins" panose="02000000000000000000" pitchFamily="2" charset="0"/>
                <a:sym typeface="Trebuchet MS"/>
              </a:rPr>
              <a:t> </a:t>
            </a:r>
            <a:r>
              <a:rPr lang="pt-BR" sz="4000" b="1" kern="0" dirty="0" err="1">
                <a:latin typeface="Montserrat" panose="00000500000000000000" pitchFamily="50" charset="0"/>
                <a:cs typeface="Poppins" panose="02000000000000000000" pitchFamily="2" charset="0"/>
                <a:sym typeface="Trebuchet MS"/>
              </a:rPr>
              <a:t>Denoising</a:t>
            </a:r>
            <a:r>
              <a:rPr lang="pt-BR" sz="4000" b="1" kern="0" dirty="0">
                <a:latin typeface="Montserrat" panose="00000500000000000000" pitchFamily="50" charset="0"/>
                <a:cs typeface="Poppins" panose="02000000000000000000" pitchFamily="2" charset="0"/>
                <a:sym typeface="Trebuchet MS"/>
              </a:rPr>
              <a:t> Model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225;p42">
            <a:extLst>
              <a:ext uri="{FF2B5EF4-FFF2-40B4-BE49-F238E27FC236}">
                <a16:creationId xmlns:a16="http://schemas.microsoft.com/office/drawing/2014/main" id="{32153E45-195B-4395-9494-1D37512B9F2E}"/>
              </a:ext>
            </a:extLst>
          </p:cNvPr>
          <p:cNvSpPr txBox="1"/>
          <p:nvPr/>
        </p:nvSpPr>
        <p:spPr>
          <a:xfrm>
            <a:off x="880416" y="1651624"/>
            <a:ext cx="10886255" cy="3774849"/>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400" dirty="0"/>
              <a:t>A </a:t>
            </a:r>
            <a:r>
              <a:rPr lang="pt-BR" sz="2400" dirty="0" err="1"/>
              <a:t>U-Net</a:t>
            </a:r>
            <a:r>
              <a:rPr lang="pt-BR" sz="2400" dirty="0"/>
              <a:t> é um tipo de rede neural </a:t>
            </a:r>
            <a:r>
              <a:rPr lang="pt-BR" sz="2400" dirty="0" err="1"/>
              <a:t>convolucional</a:t>
            </a:r>
            <a:r>
              <a:rPr lang="pt-BR" sz="2400" dirty="0"/>
              <a:t> que foi originalmente criada para tarefas de segmentação de imagens médicas, mas se mostrou extremamente eficaz para tarefas de geração e reconstrução de imagens.</a:t>
            </a:r>
            <a:endParaRPr sz="2400" dirty="0"/>
          </a:p>
          <a:p>
            <a:pPr marL="0" lvl="0" indent="0" algn="l" rtl="0">
              <a:lnSpc>
                <a:spcPct val="115000"/>
              </a:lnSpc>
              <a:spcBef>
                <a:spcPts val="1200"/>
              </a:spcBef>
              <a:spcAft>
                <a:spcPts val="0"/>
              </a:spcAft>
              <a:buNone/>
            </a:pPr>
            <a:r>
              <a:rPr lang="pt-BR" sz="2400" dirty="0"/>
              <a:t>Essa arquitetura é composta por duas partes principais:</a:t>
            </a:r>
            <a:endParaRPr sz="2400" dirty="0"/>
          </a:p>
          <a:p>
            <a:pPr marL="457200" lvl="0" indent="-323850" algn="l" rtl="0">
              <a:lnSpc>
                <a:spcPct val="115000"/>
              </a:lnSpc>
              <a:spcBef>
                <a:spcPts val="1200"/>
              </a:spcBef>
              <a:spcAft>
                <a:spcPts val="0"/>
              </a:spcAft>
              <a:buClr>
                <a:srgbClr val="595959"/>
              </a:buClr>
              <a:buSzPts val="1500"/>
              <a:buChar char="●"/>
            </a:pPr>
            <a:r>
              <a:rPr lang="pt-BR" sz="2400" dirty="0" err="1"/>
              <a:t>encoder</a:t>
            </a:r>
            <a:r>
              <a:rPr lang="pt-BR" sz="2400" dirty="0"/>
              <a:t>: reduz progressivamente a resolução da imagem e extrai características profundas.</a:t>
            </a:r>
            <a:endParaRPr sz="2400" dirty="0"/>
          </a:p>
          <a:p>
            <a:pPr marL="457200" lvl="0" indent="-323850" algn="l" rtl="0">
              <a:lnSpc>
                <a:spcPct val="115000"/>
              </a:lnSpc>
              <a:spcBef>
                <a:spcPts val="0"/>
              </a:spcBef>
              <a:spcAft>
                <a:spcPts val="0"/>
              </a:spcAft>
              <a:buClr>
                <a:srgbClr val="595959"/>
              </a:buClr>
              <a:buSzPts val="1500"/>
              <a:buChar char="●"/>
            </a:pPr>
            <a:r>
              <a:rPr lang="pt-BR" sz="2400" dirty="0" err="1"/>
              <a:t>decoder</a:t>
            </a:r>
            <a:r>
              <a:rPr lang="pt-BR" sz="2400" dirty="0"/>
              <a:t>: reconstrói a imagem a partir dessas características, aumentando novamente a resolução.</a:t>
            </a:r>
            <a:endParaRPr sz="2400" dirty="0"/>
          </a:p>
        </p:txBody>
      </p:sp>
    </p:spTree>
    <p:extLst>
      <p:ext uri="{BB962C8B-B14F-4D97-AF65-F5344CB8AC3E}">
        <p14:creationId xmlns:p14="http://schemas.microsoft.com/office/powerpoint/2010/main" val="1988032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34;p43">
            <a:extLst>
              <a:ext uri="{FF2B5EF4-FFF2-40B4-BE49-F238E27FC236}">
                <a16:creationId xmlns:a16="http://schemas.microsoft.com/office/drawing/2014/main" id="{0FFF51A7-E8DC-4943-9917-1D96EAA71518}"/>
              </a:ext>
            </a:extLst>
          </p:cNvPr>
          <p:cNvPicPr preferRelativeResize="0"/>
          <p:nvPr/>
        </p:nvPicPr>
        <p:blipFill>
          <a:blip r:embed="rId2">
            <a:alphaModFix/>
          </a:blip>
          <a:stretch>
            <a:fillRect/>
          </a:stretch>
        </p:blipFill>
        <p:spPr>
          <a:xfrm>
            <a:off x="1239434" y="513901"/>
            <a:ext cx="4651412" cy="5589465"/>
          </a:xfrm>
          <a:prstGeom prst="rect">
            <a:avLst/>
          </a:prstGeom>
          <a:noFill/>
          <a:ln>
            <a:noFill/>
          </a:ln>
        </p:spPr>
      </p:pic>
      <p:sp>
        <p:nvSpPr>
          <p:cNvPr id="3" name="Google Shape;235;p43">
            <a:extLst>
              <a:ext uri="{FF2B5EF4-FFF2-40B4-BE49-F238E27FC236}">
                <a16:creationId xmlns:a16="http://schemas.microsoft.com/office/drawing/2014/main" id="{87F3ECE5-9FBC-47E5-A467-629A057B396F}"/>
              </a:ext>
            </a:extLst>
          </p:cNvPr>
          <p:cNvSpPr txBox="1"/>
          <p:nvPr/>
        </p:nvSpPr>
        <p:spPr>
          <a:xfrm>
            <a:off x="6019609" y="627863"/>
            <a:ext cx="5817402" cy="524756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pt-BR" sz="2000" b="1" dirty="0">
                <a:solidFill>
                  <a:schemeClr val="dk1"/>
                </a:solidFill>
              </a:rPr>
              <a:t>Arquitetura </a:t>
            </a:r>
            <a:r>
              <a:rPr lang="pt-BR" sz="2000" b="1" dirty="0" err="1">
                <a:solidFill>
                  <a:schemeClr val="dk1"/>
                </a:solidFill>
              </a:rPr>
              <a:t>U-Net</a:t>
            </a:r>
            <a:r>
              <a:rPr lang="pt-BR" sz="2000" b="1" dirty="0">
                <a:solidFill>
                  <a:schemeClr val="dk1"/>
                </a:solidFill>
              </a:rPr>
              <a:t> no Contexto de Modelos de Difusão</a:t>
            </a:r>
            <a:endParaRPr sz="2000" b="1" dirty="0">
              <a:solidFill>
                <a:schemeClr val="dk1"/>
              </a:solidFill>
            </a:endParaRPr>
          </a:p>
          <a:p>
            <a:pPr marL="0" lvl="0" indent="0" algn="l" rtl="0">
              <a:lnSpc>
                <a:spcPct val="115000"/>
              </a:lnSpc>
              <a:spcBef>
                <a:spcPts val="1200"/>
              </a:spcBef>
              <a:spcAft>
                <a:spcPts val="0"/>
              </a:spcAft>
              <a:buNone/>
            </a:pPr>
            <a:r>
              <a:rPr lang="pt-BR" sz="2000" dirty="0">
                <a:solidFill>
                  <a:schemeClr val="dk1"/>
                </a:solidFill>
              </a:rPr>
              <a:t>A </a:t>
            </a:r>
            <a:r>
              <a:rPr lang="pt-BR" sz="2000" b="1" dirty="0" err="1">
                <a:solidFill>
                  <a:schemeClr val="dk1"/>
                </a:solidFill>
              </a:rPr>
              <a:t>U-Net</a:t>
            </a:r>
            <a:r>
              <a:rPr lang="pt-BR" sz="2000" dirty="0">
                <a:solidFill>
                  <a:schemeClr val="dk1"/>
                </a:solidFill>
              </a:rPr>
              <a:t> tem uma estrutura semelhante à de um </a:t>
            </a:r>
            <a:r>
              <a:rPr lang="pt-BR" sz="2000" i="1" dirty="0" err="1">
                <a:solidFill>
                  <a:schemeClr val="dk1"/>
                </a:solidFill>
              </a:rPr>
              <a:t>autoencoder</a:t>
            </a:r>
            <a:r>
              <a:rPr lang="pt-BR" sz="2000" i="1" dirty="0">
                <a:solidFill>
                  <a:schemeClr val="dk1"/>
                </a:solidFill>
              </a:rPr>
              <a:t> variacional</a:t>
            </a:r>
            <a:r>
              <a:rPr lang="pt-BR" sz="2000" dirty="0">
                <a:solidFill>
                  <a:schemeClr val="dk1"/>
                </a:solidFill>
              </a:rPr>
              <a:t> (VAE), pois também é dividida em duas partes:</a:t>
            </a:r>
            <a:endParaRPr sz="20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pt-BR" sz="2000" b="1" dirty="0">
                <a:solidFill>
                  <a:schemeClr val="dk1"/>
                </a:solidFill>
              </a:rPr>
              <a:t>Parte de compressão (</a:t>
            </a:r>
            <a:r>
              <a:rPr lang="pt-BR" sz="2000" b="1" dirty="0" err="1">
                <a:solidFill>
                  <a:schemeClr val="dk1"/>
                </a:solidFill>
              </a:rPr>
              <a:t>downsampling</a:t>
            </a:r>
            <a:r>
              <a:rPr lang="pt-BR" sz="2000" b="1" dirty="0">
                <a:solidFill>
                  <a:schemeClr val="dk1"/>
                </a:solidFill>
              </a:rPr>
              <a:t>)</a:t>
            </a:r>
            <a:r>
              <a:rPr lang="pt-BR" sz="2000" dirty="0">
                <a:solidFill>
                  <a:schemeClr val="dk1"/>
                </a:solidFill>
              </a:rPr>
              <a:t>: reduz a resolução espacial da imagem, mas aumenta o número de canais para capturar representações mais abstratas.</a:t>
            </a:r>
            <a:br>
              <a:rPr lang="pt-BR" sz="2000" dirty="0">
                <a:solidFill>
                  <a:schemeClr val="dk1"/>
                </a:solidFill>
              </a:rPr>
            </a:br>
            <a:endParaRPr sz="20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pt-BR" sz="2000" b="1" dirty="0">
                <a:solidFill>
                  <a:schemeClr val="dk1"/>
                </a:solidFill>
              </a:rPr>
              <a:t>Parte de reconstrução (</a:t>
            </a:r>
            <a:r>
              <a:rPr lang="pt-BR" sz="2000" b="1" dirty="0" err="1">
                <a:solidFill>
                  <a:schemeClr val="dk1"/>
                </a:solidFill>
              </a:rPr>
              <a:t>upsampling</a:t>
            </a:r>
            <a:r>
              <a:rPr lang="pt-BR" sz="2000" b="1" dirty="0">
                <a:solidFill>
                  <a:schemeClr val="dk1"/>
                </a:solidFill>
              </a:rPr>
              <a:t>)</a:t>
            </a:r>
            <a:r>
              <a:rPr lang="pt-BR" sz="2000" dirty="0">
                <a:solidFill>
                  <a:schemeClr val="dk1"/>
                </a:solidFill>
              </a:rPr>
              <a:t>: aumenta novamente a resolução espacial enquanto reduz os canais, reconstruindo a saída.</a:t>
            </a:r>
            <a:endParaRPr sz="2000" dirty="0">
              <a:solidFill>
                <a:schemeClr val="dk1"/>
              </a:solidFill>
            </a:endParaRPr>
          </a:p>
        </p:txBody>
      </p:sp>
      <p:sp>
        <p:nvSpPr>
          <p:cNvPr id="4" name="Google Shape;43;g37f10a1dfb7_0_17">
            <a:extLst>
              <a:ext uri="{FF2B5EF4-FFF2-40B4-BE49-F238E27FC236}">
                <a16:creationId xmlns:a16="http://schemas.microsoft.com/office/drawing/2014/main" id="{4479301D-BCE9-432F-8AF6-4D0307ACB82E}"/>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Tree>
    <p:extLst>
      <p:ext uri="{BB962C8B-B14F-4D97-AF65-F5344CB8AC3E}">
        <p14:creationId xmlns:p14="http://schemas.microsoft.com/office/powerpoint/2010/main" val="687420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U-Net</a:t>
            </a:r>
            <a:r>
              <a:rPr lang="pt-BR" sz="4000" b="1" kern="0" dirty="0">
                <a:latin typeface="Montserrat" panose="00000500000000000000" pitchFamily="50" charset="0"/>
                <a:cs typeface="Poppins" panose="02000000000000000000" pitchFamily="2" charset="0"/>
                <a:sym typeface="Trebuchet MS"/>
              </a:rPr>
              <a:t> </a:t>
            </a:r>
            <a:r>
              <a:rPr lang="pt-BR" sz="4000" b="1" kern="0" dirty="0" err="1">
                <a:latin typeface="Montserrat" panose="00000500000000000000" pitchFamily="50" charset="0"/>
                <a:cs typeface="Poppins" panose="02000000000000000000" pitchFamily="2" charset="0"/>
                <a:sym typeface="Trebuchet MS"/>
              </a:rPr>
              <a:t>Denoising</a:t>
            </a:r>
            <a:r>
              <a:rPr lang="pt-BR" sz="4000" b="1" kern="0" dirty="0">
                <a:latin typeface="Montserrat" panose="00000500000000000000" pitchFamily="50" charset="0"/>
                <a:cs typeface="Poppins" panose="02000000000000000000" pitchFamily="2" charset="0"/>
                <a:sym typeface="Trebuchet MS"/>
              </a:rPr>
              <a:t> Model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41;p44">
            <a:extLst>
              <a:ext uri="{FF2B5EF4-FFF2-40B4-BE49-F238E27FC236}">
                <a16:creationId xmlns:a16="http://schemas.microsoft.com/office/drawing/2014/main" id="{C71E95D0-7E3B-4EE5-8CC0-AEB9343EC481}"/>
              </a:ext>
            </a:extLst>
          </p:cNvPr>
          <p:cNvSpPr txBox="1"/>
          <p:nvPr/>
        </p:nvSpPr>
        <p:spPr>
          <a:xfrm>
            <a:off x="894985" y="1426596"/>
            <a:ext cx="10895500" cy="4778201"/>
          </a:xfrm>
          <a:prstGeom prst="rect">
            <a:avLst/>
          </a:prstGeom>
          <a:noFill/>
          <a:ln>
            <a:noFill/>
          </a:ln>
        </p:spPr>
        <p:txBody>
          <a:bodyPr spcFirstLastPara="1" wrap="square" lIns="68575" tIns="34275" rIns="68575" bIns="34275" anchor="t" anchorCtr="0">
            <a:spAutoFit/>
          </a:bodyPr>
          <a:lstStyle/>
          <a:p>
            <a:pPr marL="0" lvl="0" indent="0" algn="l" rtl="0">
              <a:lnSpc>
                <a:spcPts val="3200"/>
              </a:lnSpc>
              <a:spcBef>
                <a:spcPts val="0"/>
              </a:spcBef>
              <a:spcAft>
                <a:spcPts val="0"/>
              </a:spcAft>
              <a:buNone/>
            </a:pPr>
            <a:r>
              <a:rPr lang="pt-BR" sz="2400" dirty="0"/>
              <a:t>Os blocos </a:t>
            </a:r>
            <a:r>
              <a:rPr lang="pt-BR" sz="2400" dirty="0" err="1"/>
              <a:t>DownBlock</a:t>
            </a:r>
            <a:r>
              <a:rPr lang="pt-BR" sz="2400" dirty="0"/>
              <a:t> e </a:t>
            </a:r>
            <a:r>
              <a:rPr lang="pt-BR" sz="2400" dirty="0" err="1"/>
              <a:t>UpBlock</a:t>
            </a:r>
            <a:r>
              <a:rPr lang="pt-BR" sz="2400" dirty="0"/>
              <a:t> da </a:t>
            </a:r>
            <a:r>
              <a:rPr lang="pt-BR" sz="2400" dirty="0" err="1"/>
              <a:t>U-Net</a:t>
            </a:r>
            <a:r>
              <a:rPr lang="pt-BR" sz="2400" dirty="0"/>
              <a:t> utilizados no modelo de difusão contêm blocos residuais (</a:t>
            </a:r>
            <a:r>
              <a:rPr lang="pt-BR" sz="2400" dirty="0" err="1"/>
              <a:t>ResidualBlocks</a:t>
            </a:r>
            <a:r>
              <a:rPr lang="pt-BR" sz="2400" dirty="0"/>
              <a:t>), que são componentes fundamentais para redes neurais profundas.</a:t>
            </a:r>
            <a:endParaRPr sz="2400" dirty="0"/>
          </a:p>
          <a:p>
            <a:pPr marL="0" lvl="0" indent="0" algn="l" rtl="0">
              <a:lnSpc>
                <a:spcPts val="3200"/>
              </a:lnSpc>
              <a:spcBef>
                <a:spcPts val="1200"/>
              </a:spcBef>
              <a:spcAft>
                <a:spcPts val="0"/>
              </a:spcAft>
              <a:buNone/>
            </a:pPr>
            <a:r>
              <a:rPr lang="pt-BR" sz="2400" dirty="0"/>
              <a:t>Um bloco residual é um grupo de camadas com uma </a:t>
            </a:r>
            <a:r>
              <a:rPr lang="pt-BR" sz="2400" b="1" dirty="0" err="1"/>
              <a:t>skip</a:t>
            </a:r>
            <a:r>
              <a:rPr lang="pt-BR" sz="2400" b="1" dirty="0"/>
              <a:t> connection</a:t>
            </a:r>
            <a:r>
              <a:rPr lang="pt-BR" sz="2400" dirty="0"/>
              <a:t> que </a:t>
            </a:r>
            <a:r>
              <a:rPr lang="pt-BR" sz="2400" b="1" dirty="0"/>
              <a:t>soma a entrada diretamente à saída do bloco</a:t>
            </a:r>
            <a:r>
              <a:rPr lang="pt-BR" sz="2400" dirty="0"/>
              <a:t>. Isso significa que o bloco aprende apenas a diferença (resíduo) entre a entrada e a saída esperada.</a:t>
            </a:r>
            <a:endParaRPr sz="2400" dirty="0"/>
          </a:p>
          <a:p>
            <a:pPr marL="0" lvl="0" indent="0" algn="l" rtl="0">
              <a:lnSpc>
                <a:spcPts val="3200"/>
              </a:lnSpc>
              <a:spcBef>
                <a:spcPts val="1200"/>
              </a:spcBef>
              <a:spcAft>
                <a:spcPts val="1200"/>
              </a:spcAft>
              <a:buNone/>
            </a:pPr>
            <a:r>
              <a:rPr lang="pt-BR" sz="2400" b="1" dirty="0" err="1"/>
              <a:t>Skip</a:t>
            </a:r>
            <a:r>
              <a:rPr lang="pt-BR" sz="2400" b="1" dirty="0"/>
              <a:t> connections</a:t>
            </a:r>
            <a:r>
              <a:rPr lang="pt-BR" sz="2400" dirty="0"/>
              <a:t> permitem que informações importantes de baixo nível (como texturas e detalhes) fluam diretamente das camadas iniciais para as camadas finais, evitando a perda de detalhes que ocorreria num VAE tradicional, onde os dados passam sequencialmente de uma camada para outra.</a:t>
            </a:r>
            <a:endParaRPr sz="2400" dirty="0"/>
          </a:p>
        </p:txBody>
      </p:sp>
    </p:spTree>
    <p:extLst>
      <p:ext uri="{BB962C8B-B14F-4D97-AF65-F5344CB8AC3E}">
        <p14:creationId xmlns:p14="http://schemas.microsoft.com/office/powerpoint/2010/main" val="2905473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U-Net</a:t>
            </a:r>
            <a:r>
              <a:rPr lang="pt-BR" sz="4000" b="1" kern="0" dirty="0">
                <a:latin typeface="Montserrat" panose="00000500000000000000" pitchFamily="50" charset="0"/>
                <a:cs typeface="Poppins" panose="02000000000000000000" pitchFamily="2" charset="0"/>
                <a:sym typeface="Trebuchet MS"/>
              </a:rPr>
              <a:t> </a:t>
            </a:r>
            <a:r>
              <a:rPr lang="pt-BR" sz="4000" b="1" kern="0" dirty="0" err="1">
                <a:latin typeface="Montserrat" panose="00000500000000000000" pitchFamily="50" charset="0"/>
                <a:cs typeface="Poppins" panose="02000000000000000000" pitchFamily="2" charset="0"/>
                <a:sym typeface="Trebuchet MS"/>
              </a:rPr>
              <a:t>Denoising</a:t>
            </a:r>
            <a:r>
              <a:rPr lang="pt-BR" sz="4000" b="1" kern="0" dirty="0">
                <a:latin typeface="Montserrat" panose="00000500000000000000" pitchFamily="50" charset="0"/>
                <a:cs typeface="Poppins" panose="02000000000000000000" pitchFamily="2" charset="0"/>
                <a:sym typeface="Trebuchet MS"/>
              </a:rPr>
              <a:t> Model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248;p45">
            <a:extLst>
              <a:ext uri="{FF2B5EF4-FFF2-40B4-BE49-F238E27FC236}">
                <a16:creationId xmlns:a16="http://schemas.microsoft.com/office/drawing/2014/main" id="{FE006236-C1BB-4146-96D8-77777D08BEFE}"/>
              </a:ext>
            </a:extLst>
          </p:cNvPr>
          <p:cNvSpPr txBox="1"/>
          <p:nvPr/>
        </p:nvSpPr>
        <p:spPr>
          <a:xfrm>
            <a:off x="947738" y="1617189"/>
            <a:ext cx="10869124" cy="3403466"/>
          </a:xfrm>
          <a:prstGeom prst="rect">
            <a:avLst/>
          </a:prstGeom>
          <a:noFill/>
          <a:ln>
            <a:noFill/>
          </a:ln>
        </p:spPr>
        <p:txBody>
          <a:bodyPr spcFirstLastPara="1" wrap="square" lIns="68575" tIns="34275" rIns="68575" bIns="34275" anchor="t" anchorCtr="0">
            <a:spAutoFit/>
          </a:bodyPr>
          <a:lstStyle/>
          <a:p>
            <a:pPr marL="0" lvl="0" indent="0" algn="l" rtl="0">
              <a:lnSpc>
                <a:spcPts val="3200"/>
              </a:lnSpc>
              <a:spcBef>
                <a:spcPts val="0"/>
              </a:spcBef>
              <a:spcAft>
                <a:spcPts val="600"/>
              </a:spcAft>
              <a:buNone/>
            </a:pPr>
            <a:r>
              <a:rPr lang="pt-BR" sz="2400" dirty="0"/>
              <a:t>Cada </a:t>
            </a:r>
            <a:r>
              <a:rPr lang="pt-BR" sz="2400" dirty="0" err="1"/>
              <a:t>DownBlock</a:t>
            </a:r>
            <a:r>
              <a:rPr lang="pt-BR" sz="2400" dirty="0"/>
              <a:t>:</a:t>
            </a:r>
            <a:endParaRPr sz="2400" dirty="0"/>
          </a:p>
          <a:p>
            <a:pPr marL="457200" lvl="0" indent="-323850" algn="l" rtl="0">
              <a:lnSpc>
                <a:spcPts val="3200"/>
              </a:lnSpc>
              <a:spcBef>
                <a:spcPts val="1200"/>
              </a:spcBef>
              <a:spcAft>
                <a:spcPts val="600"/>
              </a:spcAft>
              <a:buClr>
                <a:srgbClr val="595959"/>
              </a:buClr>
              <a:buSzPts val="1500"/>
              <a:buChar char="●"/>
            </a:pPr>
            <a:r>
              <a:rPr lang="pt-BR" sz="2400" dirty="0"/>
              <a:t>Aumenta o número de canais da imagem (profundidade) usando dois blocos residuais (</a:t>
            </a:r>
            <a:r>
              <a:rPr lang="pt-BR" sz="2400" dirty="0" err="1"/>
              <a:t>ResidualBlocks</a:t>
            </a:r>
            <a:r>
              <a:rPr lang="pt-BR" sz="2400" dirty="0"/>
              <a:t>), definidos por </a:t>
            </a:r>
            <a:r>
              <a:rPr lang="pt-BR" sz="2400" dirty="0" err="1"/>
              <a:t>block_depth</a:t>
            </a:r>
            <a:r>
              <a:rPr lang="pt-BR" sz="2400" dirty="0"/>
              <a:t> = 2.</a:t>
            </a:r>
            <a:endParaRPr sz="2400" dirty="0"/>
          </a:p>
          <a:p>
            <a:pPr marL="457200" lvl="0" indent="-323850" algn="l" rtl="0">
              <a:lnSpc>
                <a:spcPts val="3200"/>
              </a:lnSpc>
              <a:spcBef>
                <a:spcPts val="0"/>
              </a:spcBef>
              <a:spcAft>
                <a:spcPts val="600"/>
              </a:spcAft>
              <a:buClr>
                <a:srgbClr val="595959"/>
              </a:buClr>
              <a:buSzPts val="1500"/>
              <a:buChar char="●"/>
            </a:pPr>
            <a:r>
              <a:rPr lang="pt-BR" sz="2400" dirty="0"/>
              <a:t>Aplica uma camada AveragePooling2D, que reduz a resolução da imagem pela metade (</a:t>
            </a:r>
            <a:r>
              <a:rPr lang="pt-BR" sz="2400" dirty="0" err="1"/>
              <a:t>downsampling</a:t>
            </a:r>
            <a:r>
              <a:rPr lang="pt-BR" sz="2400" dirty="0"/>
              <a:t>).</a:t>
            </a:r>
            <a:endParaRPr sz="2400" dirty="0"/>
          </a:p>
          <a:p>
            <a:pPr marL="457200" lvl="0" indent="-323850" algn="l" rtl="0">
              <a:lnSpc>
                <a:spcPts val="3200"/>
              </a:lnSpc>
              <a:spcBef>
                <a:spcPts val="0"/>
              </a:spcBef>
              <a:spcAft>
                <a:spcPts val="600"/>
              </a:spcAft>
              <a:buClr>
                <a:srgbClr val="595959"/>
              </a:buClr>
              <a:buSzPts val="1500"/>
              <a:buChar char="●"/>
            </a:pPr>
            <a:r>
              <a:rPr lang="pt-BR" sz="2400" dirty="0"/>
              <a:t>Armazena as saídas dos blocos residuais numa lista para uso posterior (</a:t>
            </a:r>
            <a:r>
              <a:rPr lang="pt-BR" sz="2400" dirty="0" err="1"/>
              <a:t>skip</a:t>
            </a:r>
            <a:r>
              <a:rPr lang="pt-BR" sz="2400" dirty="0"/>
              <a:t> connections) durante a fase de reconstrução.</a:t>
            </a:r>
            <a:endParaRPr sz="2400" dirty="0"/>
          </a:p>
        </p:txBody>
      </p:sp>
    </p:spTree>
    <p:extLst>
      <p:ext uri="{BB962C8B-B14F-4D97-AF65-F5344CB8AC3E}">
        <p14:creationId xmlns:p14="http://schemas.microsoft.com/office/powerpoint/2010/main" val="3492704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U-Net</a:t>
            </a:r>
            <a:r>
              <a:rPr lang="pt-BR" sz="4000" b="1" kern="0" dirty="0">
                <a:latin typeface="Montserrat" panose="00000500000000000000" pitchFamily="50" charset="0"/>
                <a:cs typeface="Poppins" panose="02000000000000000000" pitchFamily="2" charset="0"/>
                <a:sym typeface="Trebuchet MS"/>
              </a:rPr>
              <a:t> </a:t>
            </a:r>
            <a:r>
              <a:rPr lang="pt-BR" sz="4000" b="1" kern="0" dirty="0" err="1">
                <a:latin typeface="Montserrat" panose="00000500000000000000" pitchFamily="50" charset="0"/>
                <a:cs typeface="Poppins" panose="02000000000000000000" pitchFamily="2" charset="0"/>
                <a:sym typeface="Trebuchet MS"/>
              </a:rPr>
              <a:t>Denoising</a:t>
            </a:r>
            <a:r>
              <a:rPr lang="pt-BR" sz="4000" b="1" kern="0" dirty="0">
                <a:latin typeface="Montserrat" panose="00000500000000000000" pitchFamily="50" charset="0"/>
                <a:cs typeface="Poppins" panose="02000000000000000000" pitchFamily="2" charset="0"/>
                <a:sym typeface="Trebuchet MS"/>
              </a:rPr>
              <a:t> Model </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6065079"/>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55;p46">
            <a:extLst>
              <a:ext uri="{FF2B5EF4-FFF2-40B4-BE49-F238E27FC236}">
                <a16:creationId xmlns:a16="http://schemas.microsoft.com/office/drawing/2014/main" id="{0E8CF6DA-55C6-4464-AA1B-C825A0D66117}"/>
              </a:ext>
            </a:extLst>
          </p:cNvPr>
          <p:cNvSpPr txBox="1"/>
          <p:nvPr/>
        </p:nvSpPr>
        <p:spPr>
          <a:xfrm>
            <a:off x="947738" y="1713904"/>
            <a:ext cx="6358670" cy="4470424"/>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400" dirty="0"/>
              <a:t>Cada </a:t>
            </a:r>
            <a:r>
              <a:rPr lang="pt-BR" sz="2400" dirty="0" err="1"/>
              <a:t>UpBlock</a:t>
            </a:r>
            <a:r>
              <a:rPr lang="pt-BR" sz="2400" dirty="0"/>
              <a:t>:</a:t>
            </a:r>
            <a:endParaRPr sz="2400" dirty="0"/>
          </a:p>
          <a:p>
            <a:pPr marL="457200" lvl="0" indent="-323850" algn="l" rtl="0">
              <a:lnSpc>
                <a:spcPct val="115000"/>
              </a:lnSpc>
              <a:spcBef>
                <a:spcPts val="1200"/>
              </a:spcBef>
              <a:spcAft>
                <a:spcPts val="0"/>
              </a:spcAft>
              <a:buClr>
                <a:srgbClr val="595959"/>
              </a:buClr>
              <a:buSzPts val="1500"/>
              <a:buChar char="●"/>
            </a:pPr>
            <a:r>
              <a:rPr lang="pt-BR" sz="2400" dirty="0"/>
              <a:t>Aplica uma camada UpSampling2D, que aumenta a resolução da imagem em 2x, usando interpolação.</a:t>
            </a:r>
            <a:endParaRPr sz="2400" dirty="0"/>
          </a:p>
          <a:p>
            <a:pPr marL="457200" lvl="0" indent="-323850" algn="l" rtl="0">
              <a:lnSpc>
                <a:spcPct val="115000"/>
              </a:lnSpc>
              <a:spcBef>
                <a:spcPts val="0"/>
              </a:spcBef>
              <a:spcAft>
                <a:spcPts val="0"/>
              </a:spcAft>
              <a:buClr>
                <a:srgbClr val="595959"/>
              </a:buClr>
              <a:buSzPts val="1500"/>
              <a:buChar char="●"/>
            </a:pPr>
            <a:r>
              <a:rPr lang="pt-BR" sz="2400" dirty="0"/>
              <a:t>Diminui o número de canais através de dois blocos residuais.</a:t>
            </a:r>
            <a:endParaRPr sz="2400" dirty="0"/>
          </a:p>
          <a:p>
            <a:pPr marL="457200" lvl="0" indent="-323850" algn="l" rtl="0">
              <a:lnSpc>
                <a:spcPct val="115000"/>
              </a:lnSpc>
              <a:spcBef>
                <a:spcPts val="0"/>
              </a:spcBef>
              <a:spcAft>
                <a:spcPts val="0"/>
              </a:spcAft>
              <a:buClr>
                <a:srgbClr val="595959"/>
              </a:buClr>
              <a:buSzPts val="1500"/>
              <a:buChar char="●"/>
            </a:pPr>
            <a:r>
              <a:rPr lang="pt-BR" sz="2400" dirty="0"/>
              <a:t>Concatena a saída com as ativações correspondentes do </a:t>
            </a:r>
            <a:r>
              <a:rPr lang="pt-BR" sz="2400" dirty="0" err="1"/>
              <a:t>DownBlock</a:t>
            </a:r>
            <a:r>
              <a:rPr lang="pt-BR" sz="2400" dirty="0"/>
              <a:t> equivalente (mesmo tamanho espacial), formando as </a:t>
            </a:r>
            <a:r>
              <a:rPr lang="pt-BR" sz="2400" dirty="0" err="1"/>
              <a:t>skip</a:t>
            </a:r>
            <a:r>
              <a:rPr lang="pt-BR" sz="2400" dirty="0"/>
              <a:t> connections da </a:t>
            </a:r>
            <a:r>
              <a:rPr lang="pt-BR" sz="2400" dirty="0" err="1"/>
              <a:t>U-Net</a:t>
            </a:r>
            <a:r>
              <a:rPr lang="pt-BR" sz="2400" dirty="0"/>
              <a:t>.</a:t>
            </a:r>
            <a:endParaRPr sz="2400" dirty="0"/>
          </a:p>
        </p:txBody>
      </p:sp>
      <p:pic>
        <p:nvPicPr>
          <p:cNvPr id="9" name="Google Shape;257;p46">
            <a:extLst>
              <a:ext uri="{FF2B5EF4-FFF2-40B4-BE49-F238E27FC236}">
                <a16:creationId xmlns:a16="http://schemas.microsoft.com/office/drawing/2014/main" id="{AAF5BA5C-FBA3-4C08-96A4-1FEA0C378931}"/>
              </a:ext>
            </a:extLst>
          </p:cNvPr>
          <p:cNvPicPr preferRelativeResize="0"/>
          <p:nvPr/>
        </p:nvPicPr>
        <p:blipFill>
          <a:blip r:embed="rId2">
            <a:alphaModFix/>
          </a:blip>
          <a:stretch>
            <a:fillRect/>
          </a:stretch>
        </p:blipFill>
        <p:spPr>
          <a:xfrm>
            <a:off x="7460403" y="1868381"/>
            <a:ext cx="4411777" cy="3918181"/>
          </a:xfrm>
          <a:prstGeom prst="rect">
            <a:avLst/>
          </a:prstGeom>
          <a:noFill/>
          <a:ln>
            <a:noFill/>
          </a:ln>
        </p:spPr>
      </p:pic>
    </p:spTree>
    <p:extLst>
      <p:ext uri="{BB962C8B-B14F-4D97-AF65-F5344CB8AC3E}">
        <p14:creationId xmlns:p14="http://schemas.microsoft.com/office/powerpoint/2010/main" val="2813099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AFD478C7-31D7-4DCB-B3BC-9B1090C6B445}"/>
              </a:ext>
            </a:extLst>
          </p:cNvPr>
          <p:cNvSpPr/>
          <p:nvPr/>
        </p:nvSpPr>
        <p:spPr>
          <a:xfrm>
            <a:off x="2055735" y="2485755"/>
            <a:ext cx="8080529" cy="1886487"/>
          </a:xfrm>
          <a:prstGeom prst="roundRect">
            <a:avLst>
              <a:gd name="adj" fmla="val 50000"/>
            </a:avLst>
          </a:prstGeom>
          <a:solidFill>
            <a:srgbClr val="43A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extBox 1">
            <a:extLst>
              <a:ext uri="{FF2B5EF4-FFF2-40B4-BE49-F238E27FC236}">
                <a16:creationId xmlns:a16="http://schemas.microsoft.com/office/drawing/2014/main" id="{D055BA4B-DC22-4207-ABC8-3B491F765609}"/>
              </a:ext>
            </a:extLst>
          </p:cNvPr>
          <p:cNvSpPr txBox="1"/>
          <p:nvPr/>
        </p:nvSpPr>
        <p:spPr>
          <a:xfrm>
            <a:off x="2055735" y="2670918"/>
            <a:ext cx="8080529" cy="1569660"/>
          </a:xfrm>
          <a:prstGeom prst="rect">
            <a:avLst/>
          </a:prstGeom>
          <a:noFill/>
        </p:spPr>
        <p:txBody>
          <a:bodyPr wrap="square" rtlCol="0">
            <a:spAutoFit/>
          </a:bodyPr>
          <a:lstStyle/>
          <a:p>
            <a:pPr algn="ctr"/>
            <a:r>
              <a:rPr lang="pt-BR" sz="4800" b="1" kern="0" dirty="0">
                <a:solidFill>
                  <a:schemeClr val="bg1"/>
                </a:solidFill>
                <a:latin typeface="Montserrat" panose="00000500000000000000" pitchFamily="50" charset="0"/>
                <a:cs typeface="Poppins" panose="02000000000000000000" pitchFamily="2" charset="0"/>
              </a:rPr>
              <a:t>Treinando um</a:t>
            </a:r>
            <a:br>
              <a:rPr lang="pt-BR" sz="4800" b="1" kern="0" dirty="0">
                <a:solidFill>
                  <a:schemeClr val="bg1"/>
                </a:solidFill>
                <a:latin typeface="Montserrat" panose="00000500000000000000" pitchFamily="50" charset="0"/>
                <a:cs typeface="Poppins" panose="02000000000000000000" pitchFamily="2" charset="0"/>
              </a:rPr>
            </a:br>
            <a:r>
              <a:rPr lang="pt-BR" sz="4800" b="1" kern="0" dirty="0" err="1">
                <a:solidFill>
                  <a:schemeClr val="bg1"/>
                </a:solidFill>
                <a:latin typeface="Montserrat" panose="00000500000000000000" pitchFamily="50" charset="0"/>
                <a:cs typeface="Poppins" panose="02000000000000000000" pitchFamily="2" charset="0"/>
              </a:rPr>
              <a:t>Denoising</a:t>
            </a:r>
            <a:r>
              <a:rPr lang="pt-BR" sz="4800" b="1" kern="0" dirty="0">
                <a:solidFill>
                  <a:schemeClr val="bg1"/>
                </a:solidFill>
                <a:latin typeface="Montserrat" panose="00000500000000000000" pitchFamily="50" charset="0"/>
                <a:cs typeface="Poppins" panose="02000000000000000000" pitchFamily="2" charset="0"/>
              </a:rPr>
              <a:t> Model </a:t>
            </a:r>
            <a:endParaRPr lang="en-ID" sz="4800" b="1" kern="0" dirty="0">
              <a:solidFill>
                <a:schemeClr val="bg1"/>
              </a:solidFill>
              <a:latin typeface="Montserrat" panose="00000500000000000000" pitchFamily="50" charset="0"/>
              <a:cs typeface="Poppins" panose="02000000000000000000" pitchFamily="2" charset="0"/>
            </a:endParaRPr>
          </a:p>
        </p:txBody>
      </p:sp>
    </p:spTree>
    <p:extLst>
      <p:ext uri="{BB962C8B-B14F-4D97-AF65-F5344CB8AC3E}">
        <p14:creationId xmlns:p14="http://schemas.microsoft.com/office/powerpoint/2010/main" val="1357040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Amostragem com o Modelo de Difusão</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68;p48">
            <a:extLst>
              <a:ext uri="{FF2B5EF4-FFF2-40B4-BE49-F238E27FC236}">
                <a16:creationId xmlns:a16="http://schemas.microsoft.com/office/drawing/2014/main" id="{680763A4-65B4-4FC0-8BB5-D1B7F79DA3BF}"/>
              </a:ext>
            </a:extLst>
          </p:cNvPr>
          <p:cNvSpPr txBox="1"/>
          <p:nvPr/>
        </p:nvSpPr>
        <p:spPr>
          <a:xfrm>
            <a:off x="886192" y="1740280"/>
            <a:ext cx="10862896" cy="2569904"/>
          </a:xfrm>
          <a:prstGeom prst="rect">
            <a:avLst/>
          </a:prstGeom>
          <a:noFill/>
          <a:ln>
            <a:noFill/>
          </a:ln>
        </p:spPr>
        <p:txBody>
          <a:bodyPr spcFirstLastPara="1" wrap="square" lIns="68575" tIns="34275" rIns="68575" bIns="34275" anchor="t" anchorCtr="0">
            <a:spAutoFit/>
          </a:bodyPr>
          <a:lstStyle/>
          <a:p>
            <a:pPr marL="0" lvl="0" indent="0" algn="l" rtl="0">
              <a:lnSpc>
                <a:spcPts val="3300"/>
              </a:lnSpc>
              <a:spcBef>
                <a:spcPts val="0"/>
              </a:spcBef>
              <a:spcAft>
                <a:spcPts val="600"/>
              </a:spcAft>
              <a:buNone/>
            </a:pPr>
            <a:r>
              <a:rPr lang="pt-BR" sz="2400" dirty="0"/>
              <a:t>Para gerar imagens com um modelo de difusão treinado, realizamos o processo de difusão reversa:</a:t>
            </a:r>
            <a:endParaRPr sz="2400" dirty="0"/>
          </a:p>
          <a:p>
            <a:pPr marL="457200" lvl="0" indent="-323850" algn="l" rtl="0">
              <a:lnSpc>
                <a:spcPts val="3300"/>
              </a:lnSpc>
              <a:spcBef>
                <a:spcPts val="1200"/>
              </a:spcBef>
              <a:spcAft>
                <a:spcPts val="600"/>
              </a:spcAft>
              <a:buClr>
                <a:srgbClr val="595959"/>
              </a:buClr>
              <a:buSzPts val="1500"/>
              <a:buChar char="●"/>
            </a:pPr>
            <a:r>
              <a:rPr lang="pt-BR" sz="2400" dirty="0"/>
              <a:t>Começamos com ruído aleatório — uma imagem de puro “</a:t>
            </a:r>
            <a:r>
              <a:rPr lang="pt-BR" sz="2400" dirty="0" err="1"/>
              <a:t>noise</a:t>
            </a:r>
            <a:r>
              <a:rPr lang="pt-BR" sz="2400" dirty="0"/>
              <a:t>”.</a:t>
            </a:r>
            <a:endParaRPr sz="2400" dirty="0"/>
          </a:p>
          <a:p>
            <a:pPr marL="457200" lvl="0" indent="-323850" algn="l" rtl="0">
              <a:lnSpc>
                <a:spcPts val="3300"/>
              </a:lnSpc>
              <a:spcBef>
                <a:spcPts val="0"/>
              </a:spcBef>
              <a:spcAft>
                <a:spcPts val="600"/>
              </a:spcAft>
              <a:buClr>
                <a:srgbClr val="595959"/>
              </a:buClr>
              <a:buSzPts val="1500"/>
              <a:buChar char="●"/>
            </a:pPr>
            <a:r>
              <a:rPr lang="pt-BR" sz="2400" dirty="0"/>
              <a:t>Aplicamos a rede neural diversas vezes para remover gradualmente o ruído, passo a passo, até que a imagem final seja reconhecível (por exemplo, uma flor).</a:t>
            </a:r>
            <a:endParaRPr sz="2400" dirty="0"/>
          </a:p>
        </p:txBody>
      </p:sp>
    </p:spTree>
    <p:extLst>
      <p:ext uri="{BB962C8B-B14F-4D97-AF65-F5344CB8AC3E}">
        <p14:creationId xmlns:p14="http://schemas.microsoft.com/office/powerpoint/2010/main" val="2079841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27501"/>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Amostragem com o Modelo de Difusão</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5" name="Google Shape;275;p49">
            <a:extLst>
              <a:ext uri="{FF2B5EF4-FFF2-40B4-BE49-F238E27FC236}">
                <a16:creationId xmlns:a16="http://schemas.microsoft.com/office/drawing/2014/main" id="{6336CBF9-3A00-4501-84AD-AC85C59E989F}"/>
              </a:ext>
            </a:extLst>
          </p:cNvPr>
          <p:cNvSpPr txBox="1"/>
          <p:nvPr/>
        </p:nvSpPr>
        <p:spPr>
          <a:xfrm>
            <a:off x="862832" y="1765739"/>
            <a:ext cx="10886255" cy="2916153"/>
          </a:xfrm>
          <a:prstGeom prst="rect">
            <a:avLst/>
          </a:prstGeom>
          <a:noFill/>
          <a:ln>
            <a:noFill/>
          </a:ln>
        </p:spPr>
        <p:txBody>
          <a:bodyPr spcFirstLastPara="1" wrap="square" lIns="68575" tIns="34275" rIns="68575" bIns="34275" anchor="t" anchorCtr="0">
            <a:spAutoFit/>
          </a:bodyPr>
          <a:lstStyle/>
          <a:p>
            <a:pPr marL="0" lvl="0" indent="0" algn="l" rtl="0">
              <a:lnSpc>
                <a:spcPts val="3200"/>
              </a:lnSpc>
              <a:spcBef>
                <a:spcPts val="0"/>
              </a:spcBef>
              <a:spcAft>
                <a:spcPts val="600"/>
              </a:spcAft>
              <a:buNone/>
            </a:pPr>
            <a:r>
              <a:rPr lang="pt-BR" sz="2400" dirty="0"/>
              <a:t>Importante sobre a previsão do ruído:</a:t>
            </a:r>
            <a:endParaRPr sz="2400" dirty="0"/>
          </a:p>
          <a:p>
            <a:pPr marL="457200" lvl="0" indent="-323850" algn="l" rtl="0">
              <a:lnSpc>
                <a:spcPts val="3200"/>
              </a:lnSpc>
              <a:spcBef>
                <a:spcPts val="1200"/>
              </a:spcBef>
              <a:spcAft>
                <a:spcPts val="600"/>
              </a:spcAft>
              <a:buClr>
                <a:srgbClr val="595959"/>
              </a:buClr>
              <a:buSzPts val="1500"/>
              <a:buChar char="●"/>
            </a:pPr>
            <a:r>
              <a:rPr lang="pt-BR" sz="2400" dirty="0"/>
              <a:t>A rede foi treinada para prever todo o ruído presente em uma imagem ruidosa, e não apenas o ruído do último passo.</a:t>
            </a:r>
            <a:endParaRPr sz="2400" dirty="0"/>
          </a:p>
          <a:p>
            <a:pPr marL="457200" lvl="0" indent="-323850" algn="l" rtl="0">
              <a:lnSpc>
                <a:spcPts val="3200"/>
              </a:lnSpc>
              <a:spcBef>
                <a:spcPts val="0"/>
              </a:spcBef>
              <a:spcAft>
                <a:spcPts val="600"/>
              </a:spcAft>
              <a:buClr>
                <a:srgbClr val="595959"/>
              </a:buClr>
              <a:buSzPts val="1500"/>
              <a:buChar char="●"/>
            </a:pPr>
            <a:r>
              <a:rPr lang="pt-BR" sz="2400" dirty="0"/>
              <a:t>Por isso, </a:t>
            </a:r>
            <a:r>
              <a:rPr lang="pt-BR" sz="2400" b="1" dirty="0"/>
              <a:t>não podemos tentar remover todo o ruído de uma vez só </a:t>
            </a:r>
            <a:r>
              <a:rPr lang="pt-BR" sz="2400" dirty="0"/>
              <a:t>— isso não funcionaria, pois o modelo não é capaz de gerar uma imagem limpa diretamente do ruído puro em um único passo.</a:t>
            </a:r>
            <a:endParaRPr sz="2400" dirty="0"/>
          </a:p>
        </p:txBody>
      </p:sp>
    </p:spTree>
    <p:extLst>
      <p:ext uri="{BB962C8B-B14F-4D97-AF65-F5344CB8AC3E}">
        <p14:creationId xmlns:p14="http://schemas.microsoft.com/office/powerpoint/2010/main" val="4133621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454940"/>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Amostragem com o Modelo de Difusão</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82;p50">
            <a:extLst>
              <a:ext uri="{FF2B5EF4-FFF2-40B4-BE49-F238E27FC236}">
                <a16:creationId xmlns:a16="http://schemas.microsoft.com/office/drawing/2014/main" id="{5901B41C-6CFF-4358-8B84-A228E838F17B}"/>
              </a:ext>
            </a:extLst>
          </p:cNvPr>
          <p:cNvSpPr txBox="1"/>
          <p:nvPr/>
        </p:nvSpPr>
        <p:spPr>
          <a:xfrm>
            <a:off x="894854" y="1259508"/>
            <a:ext cx="11297567" cy="3256246"/>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None/>
            </a:pPr>
            <a:r>
              <a:rPr lang="pt-BR" sz="2200" dirty="0"/>
              <a:t>Como funciona o processo reverso? Para passar de uma imagem com ruído para uma menos ruidosa </a:t>
            </a:r>
            <a:endParaRPr sz="2200" dirty="0"/>
          </a:p>
          <a:p>
            <a:pPr marL="457200" lvl="0" indent="-317500" algn="l" rtl="0">
              <a:lnSpc>
                <a:spcPct val="115000"/>
              </a:lnSpc>
              <a:spcBef>
                <a:spcPts val="1200"/>
              </a:spcBef>
              <a:spcAft>
                <a:spcPts val="0"/>
              </a:spcAft>
              <a:buClr>
                <a:srgbClr val="595959"/>
              </a:buClr>
              <a:buSzPts val="1400"/>
              <a:buChar char="●"/>
            </a:pPr>
            <a:r>
              <a:rPr lang="pt-BR" sz="2200" dirty="0"/>
              <a:t>Usamos o modelo para prever o ruído presente em </a:t>
            </a:r>
            <a:r>
              <a:rPr lang="pt-BR" sz="2200" dirty="0" err="1"/>
              <a:t>xt</a:t>
            </a:r>
            <a:endParaRPr sz="2200" dirty="0"/>
          </a:p>
          <a:p>
            <a:pPr marL="457200" lvl="0" indent="-317500" algn="l" rtl="0">
              <a:lnSpc>
                <a:spcPct val="115000"/>
              </a:lnSpc>
              <a:spcBef>
                <a:spcPts val="0"/>
              </a:spcBef>
              <a:spcAft>
                <a:spcPts val="0"/>
              </a:spcAft>
              <a:buClr>
                <a:srgbClr val="595959"/>
              </a:buClr>
              <a:buSzPts val="1400"/>
              <a:buChar char="●"/>
            </a:pPr>
            <a:r>
              <a:rPr lang="pt-BR" sz="2200" dirty="0"/>
              <a:t>Estimamos a imagem original 𝑥0 a partir dessa previsão.</a:t>
            </a:r>
            <a:endParaRPr sz="2200" dirty="0"/>
          </a:p>
          <a:p>
            <a:pPr marL="457200" lvl="0" indent="-317500" algn="l" rtl="0">
              <a:lnSpc>
                <a:spcPct val="115000"/>
              </a:lnSpc>
              <a:spcBef>
                <a:spcPts val="0"/>
              </a:spcBef>
              <a:spcAft>
                <a:spcPts val="0"/>
              </a:spcAft>
              <a:buClr>
                <a:srgbClr val="595959"/>
              </a:buClr>
              <a:buSzPts val="1400"/>
              <a:buChar char="●"/>
            </a:pPr>
            <a:r>
              <a:rPr lang="pt-BR" sz="2200" dirty="0"/>
              <a:t>Reaplicamos um pouco do ruído previsto, proporcional ao passo de tempo 𝑡, para gerar 𝑥𝑡−1.</a:t>
            </a:r>
            <a:endParaRPr sz="2200" dirty="0"/>
          </a:p>
          <a:p>
            <a:pPr marL="0" lvl="0" indent="0" algn="l" rtl="0">
              <a:lnSpc>
                <a:spcPct val="115000"/>
              </a:lnSpc>
              <a:spcBef>
                <a:spcPts val="1200"/>
              </a:spcBef>
              <a:spcAft>
                <a:spcPts val="1200"/>
              </a:spcAft>
              <a:buNone/>
            </a:pPr>
            <a:r>
              <a:rPr lang="pt-BR" sz="2200" dirty="0"/>
              <a:t>Esse processo é repetido de forma gradual, do passo 𝑇 até 𝑡=0, gerando uma imagem cada vez mais limpa.</a:t>
            </a:r>
            <a:endParaRPr sz="2200" dirty="0"/>
          </a:p>
        </p:txBody>
      </p:sp>
      <p:pic>
        <p:nvPicPr>
          <p:cNvPr id="9" name="Google Shape;284;p50">
            <a:extLst>
              <a:ext uri="{FF2B5EF4-FFF2-40B4-BE49-F238E27FC236}">
                <a16:creationId xmlns:a16="http://schemas.microsoft.com/office/drawing/2014/main" id="{A613186A-04BD-4B76-9368-7AB06D3C335F}"/>
              </a:ext>
            </a:extLst>
          </p:cNvPr>
          <p:cNvPicPr preferRelativeResize="0"/>
          <p:nvPr/>
        </p:nvPicPr>
        <p:blipFill>
          <a:blip r:embed="rId2">
            <a:alphaModFix/>
          </a:blip>
          <a:stretch>
            <a:fillRect/>
          </a:stretch>
        </p:blipFill>
        <p:spPr>
          <a:xfrm>
            <a:off x="2970920" y="4335178"/>
            <a:ext cx="6780682" cy="1977699"/>
          </a:xfrm>
          <a:prstGeom prst="rect">
            <a:avLst/>
          </a:prstGeom>
          <a:noFill/>
          <a:ln>
            <a:noFill/>
          </a:ln>
        </p:spPr>
      </p:pic>
    </p:spTree>
    <p:extLst>
      <p:ext uri="{BB962C8B-B14F-4D97-AF65-F5344CB8AC3E}">
        <p14:creationId xmlns:p14="http://schemas.microsoft.com/office/powerpoint/2010/main" val="1379854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454940"/>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Amostragem com o Modelo de Difusão</a:t>
            </a:r>
            <a:endParaRPr lang="en-ID" sz="4000" b="1" kern="0" dirty="0">
              <a:latin typeface="Montserrat" panose="00000500000000000000" pitchFamily="50" charset="0"/>
              <a:cs typeface="Poppins" panose="02000000000000000000" pitchFamily="2" charset="0"/>
            </a:endParaRPr>
          </a:p>
        </p:txBody>
      </p:sp>
      <p:sp>
        <p:nvSpPr>
          <p:cNvPr id="7" name="Google Shape;43;g37f10a1dfb7_0_17">
            <a:extLst>
              <a:ext uri="{FF2B5EF4-FFF2-40B4-BE49-F238E27FC236}">
                <a16:creationId xmlns:a16="http://schemas.microsoft.com/office/drawing/2014/main" id="{AF1415A5-1F99-4F41-A879-5FDF14A76F8D}"/>
              </a:ext>
            </a:extLst>
          </p:cNvPr>
          <p:cNvSpPr txBox="1"/>
          <p:nvPr/>
        </p:nvSpPr>
        <p:spPr>
          <a:xfrm>
            <a:off x="886192" y="5909182"/>
            <a:ext cx="7404875" cy="2384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en-ID"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rPr>
              <a:t>Fonte: FOSTER, 2023.</a:t>
            </a:r>
            <a:endParaRPr sz="1050" dirty="0">
              <a:solidFill>
                <a:srgbClr val="595959"/>
              </a:solidFill>
              <a:latin typeface="Calibri" panose="020F0502020204030204" pitchFamily="34" charset="0"/>
              <a:ea typeface="Calibri" panose="020F0502020204030204" pitchFamily="34" charset="0"/>
              <a:cs typeface="Calibri" panose="020F0502020204030204" pitchFamily="34" charset="0"/>
              <a:sym typeface="Verdana"/>
            </a:endParaRPr>
          </a:p>
        </p:txBody>
      </p:sp>
      <p:sp>
        <p:nvSpPr>
          <p:cNvPr id="8" name="Google Shape;282;p50">
            <a:extLst>
              <a:ext uri="{FF2B5EF4-FFF2-40B4-BE49-F238E27FC236}">
                <a16:creationId xmlns:a16="http://schemas.microsoft.com/office/drawing/2014/main" id="{5901B41C-6CFF-4358-8B84-A228E838F17B}"/>
              </a:ext>
            </a:extLst>
          </p:cNvPr>
          <p:cNvSpPr txBox="1"/>
          <p:nvPr/>
        </p:nvSpPr>
        <p:spPr>
          <a:xfrm>
            <a:off x="894854" y="1259508"/>
            <a:ext cx="11297567" cy="1626569"/>
          </a:xfrm>
          <a:prstGeom prst="rect">
            <a:avLst/>
          </a:prstGeom>
          <a:noFill/>
          <a:ln>
            <a:noFill/>
          </a:ln>
        </p:spPr>
        <p:txBody>
          <a:bodyPr spcFirstLastPara="1" wrap="square" lIns="68575" tIns="34275" rIns="68575" bIns="34275" anchor="t" anchorCtr="0">
            <a:spAutoFit/>
          </a:bodyPr>
          <a:lstStyle/>
          <a:p>
            <a:pPr>
              <a:lnSpc>
                <a:spcPct val="115000"/>
              </a:lnSpc>
            </a:pPr>
            <a:r>
              <a:rPr lang="pt-BR" sz="2200" dirty="0"/>
              <a:t>Durante o processo de geração de imagens com o modelo de difusão (amostragem), repetimos o processo reverso de remoção de ruído em vários pequenos passos até obter uma imagem final estimada x0.</a:t>
            </a:r>
          </a:p>
          <a:p>
            <a:pPr marL="0" lvl="0" indent="0" algn="l" rtl="0">
              <a:lnSpc>
                <a:spcPct val="115000"/>
              </a:lnSpc>
              <a:spcBef>
                <a:spcPts val="0"/>
              </a:spcBef>
              <a:spcAft>
                <a:spcPts val="0"/>
              </a:spcAft>
              <a:buNone/>
            </a:pPr>
            <a:endParaRPr sz="2200" dirty="0"/>
          </a:p>
        </p:txBody>
      </p:sp>
    </p:spTree>
    <p:extLst>
      <p:ext uri="{BB962C8B-B14F-4D97-AF65-F5344CB8AC3E}">
        <p14:creationId xmlns:p14="http://schemas.microsoft.com/office/powerpoint/2010/main" val="2078735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53877"/>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5" name="Google Shape;297;p52">
            <a:extLst>
              <a:ext uri="{FF2B5EF4-FFF2-40B4-BE49-F238E27FC236}">
                <a16:creationId xmlns:a16="http://schemas.microsoft.com/office/drawing/2014/main" id="{090650FE-206D-4791-A601-4975A6F85838}"/>
              </a:ext>
            </a:extLst>
          </p:cNvPr>
          <p:cNvSpPr txBox="1"/>
          <p:nvPr/>
        </p:nvSpPr>
        <p:spPr>
          <a:xfrm>
            <a:off x="862832" y="1678733"/>
            <a:ext cx="10886255" cy="4390402"/>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Suponha que você comece com a foto de um gato, anotado x0, e a cada passo de tempo t, você adiciona um pouco de ruído à imagem</a:t>
            </a:r>
            <a:endParaRPr sz="2400" dirty="0"/>
          </a:p>
          <a:p>
            <a:pPr marL="0" lvl="0" indent="0" algn="l" rtl="0">
              <a:lnSpc>
                <a:spcPct val="115000"/>
              </a:lnSpc>
              <a:spcBef>
                <a:spcPts val="1200"/>
              </a:spcBef>
              <a:spcAft>
                <a:spcPts val="0"/>
              </a:spcAft>
              <a:buClr>
                <a:schemeClr val="dk1"/>
              </a:buClr>
              <a:buSzPts val="1100"/>
              <a:buFont typeface="Arial"/>
              <a:buNone/>
            </a:pPr>
            <a:r>
              <a:rPr lang="pt-BR" sz="2400" dirty="0"/>
              <a:t>Você primeiro obtém a imagem x1 , depois x2 , e assim por diante, até que o gato esteja completamente escondido pelo ruído, impossível de ver. </a:t>
            </a:r>
            <a:endParaRPr sz="2400" dirty="0"/>
          </a:p>
          <a:p>
            <a:pPr marL="0" lvl="0" indent="0" algn="l" rtl="0">
              <a:lnSpc>
                <a:spcPct val="115000"/>
              </a:lnSpc>
              <a:spcBef>
                <a:spcPts val="1200"/>
              </a:spcBef>
              <a:spcAft>
                <a:spcPts val="0"/>
              </a:spcAft>
              <a:buClr>
                <a:schemeClr val="dk1"/>
              </a:buClr>
              <a:buSzPts val="1100"/>
              <a:buFont typeface="Arial"/>
              <a:buNone/>
            </a:pPr>
            <a:endParaRPr sz="2400" dirty="0"/>
          </a:p>
          <a:p>
            <a:pPr marL="0" lvl="0" indent="0" algn="l" rtl="0">
              <a:lnSpc>
                <a:spcPct val="115000"/>
              </a:lnSpc>
              <a:spcBef>
                <a:spcPts val="1200"/>
              </a:spcBef>
              <a:spcAft>
                <a:spcPts val="0"/>
              </a:spcAft>
              <a:buClr>
                <a:schemeClr val="dk1"/>
              </a:buClr>
              <a:buSzPts val="1100"/>
              <a:buFont typeface="Arial"/>
              <a:buNone/>
            </a:pPr>
            <a:endParaRPr sz="2400" dirty="0"/>
          </a:p>
          <a:p>
            <a:pPr marL="0" lvl="0" indent="0" algn="l" rtl="0">
              <a:lnSpc>
                <a:spcPct val="115000"/>
              </a:lnSpc>
              <a:spcBef>
                <a:spcPts val="1200"/>
              </a:spcBef>
              <a:spcAft>
                <a:spcPts val="0"/>
              </a:spcAft>
              <a:buClr>
                <a:schemeClr val="dk1"/>
              </a:buClr>
              <a:buSzPts val="1100"/>
              <a:buFont typeface="Arial"/>
              <a:buNone/>
            </a:pPr>
            <a:endParaRPr sz="2400" dirty="0"/>
          </a:p>
          <a:p>
            <a:pPr marL="0" lvl="0" indent="0" algn="l" rtl="0">
              <a:lnSpc>
                <a:spcPct val="115000"/>
              </a:lnSpc>
              <a:spcBef>
                <a:spcPts val="1200"/>
              </a:spcBef>
              <a:spcAft>
                <a:spcPts val="1200"/>
              </a:spcAft>
              <a:buClr>
                <a:schemeClr val="dk1"/>
              </a:buClr>
              <a:buSzPts val="1100"/>
              <a:buFont typeface="Arial"/>
              <a:buNone/>
            </a:pPr>
            <a:endParaRPr sz="2400" dirty="0"/>
          </a:p>
        </p:txBody>
      </p:sp>
      <p:pic>
        <p:nvPicPr>
          <p:cNvPr id="9" name="Google Shape;299;p52">
            <a:extLst>
              <a:ext uri="{FF2B5EF4-FFF2-40B4-BE49-F238E27FC236}">
                <a16:creationId xmlns:a16="http://schemas.microsoft.com/office/drawing/2014/main" id="{61E4707E-2F42-4E68-B6A8-07A450AE3DD3}"/>
              </a:ext>
            </a:extLst>
          </p:cNvPr>
          <p:cNvPicPr preferRelativeResize="0"/>
          <p:nvPr/>
        </p:nvPicPr>
        <p:blipFill rotWithShape="1">
          <a:blip r:embed="rId2">
            <a:alphaModFix/>
          </a:blip>
          <a:srcRect/>
          <a:stretch/>
        </p:blipFill>
        <p:spPr>
          <a:xfrm>
            <a:off x="2681800" y="3759635"/>
            <a:ext cx="6981856" cy="2139439"/>
          </a:xfrm>
          <a:prstGeom prst="rect">
            <a:avLst/>
          </a:prstGeom>
          <a:noFill/>
          <a:ln>
            <a:noFill/>
          </a:ln>
        </p:spPr>
      </p:pic>
      <p:sp>
        <p:nvSpPr>
          <p:cNvPr id="10" name="Google Shape;313;p54">
            <a:extLst>
              <a:ext uri="{FF2B5EF4-FFF2-40B4-BE49-F238E27FC236}">
                <a16:creationId xmlns:a16="http://schemas.microsoft.com/office/drawing/2014/main" id="{DD3FB4F8-8F6A-45F7-900D-2FE3A6315B1A}"/>
              </a:ext>
            </a:extLst>
          </p:cNvPr>
          <p:cNvSpPr txBox="1"/>
          <p:nvPr/>
        </p:nvSpPr>
        <p:spPr>
          <a:xfrm>
            <a:off x="947738" y="5721138"/>
            <a:ext cx="6479100" cy="192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pt-BR" sz="800" dirty="0">
                <a:solidFill>
                  <a:srgbClr val="595959"/>
                </a:solidFill>
                <a:latin typeface="Verdana"/>
                <a:ea typeface="Verdana"/>
                <a:cs typeface="Verdana"/>
                <a:sym typeface="Verdana"/>
              </a:rPr>
              <a:t>Fonte: GÉRON, 2022.</a:t>
            </a:r>
            <a:endParaRPr sz="800" dirty="0">
              <a:solidFill>
                <a:srgbClr val="595959"/>
              </a:solidFill>
              <a:latin typeface="Verdana"/>
              <a:ea typeface="Verdana"/>
              <a:cs typeface="Verdana"/>
              <a:sym typeface="Verdana"/>
            </a:endParaRPr>
          </a:p>
        </p:txBody>
      </p:sp>
    </p:spTree>
    <p:extLst>
      <p:ext uri="{BB962C8B-B14F-4D97-AF65-F5344CB8AC3E}">
        <p14:creationId xmlns:p14="http://schemas.microsoft.com/office/powerpoint/2010/main" val="3771579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53877"/>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8" name="Google Shape;305;p53">
            <a:extLst>
              <a:ext uri="{FF2B5EF4-FFF2-40B4-BE49-F238E27FC236}">
                <a16:creationId xmlns:a16="http://schemas.microsoft.com/office/drawing/2014/main" id="{EA35FB6D-40E0-412B-9706-D4E6BFDD6764}"/>
              </a:ext>
            </a:extLst>
          </p:cNvPr>
          <p:cNvSpPr txBox="1"/>
          <p:nvPr/>
        </p:nvSpPr>
        <p:spPr>
          <a:xfrm>
            <a:off x="871624" y="1703373"/>
            <a:ext cx="10886255" cy="2654543"/>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0"/>
              </a:spcAft>
              <a:buClr>
                <a:schemeClr val="dk1"/>
              </a:buClr>
              <a:buSzPts val="1100"/>
              <a:buFont typeface="Arial"/>
              <a:buNone/>
            </a:pPr>
            <a:r>
              <a:rPr lang="pt-BR" sz="2400" dirty="0"/>
              <a:t>Nosso objetivo, claro, não é aplicar ruído apenas nas imagens (aos gatos). Pelo contrário, queremos criar muitos gatos novos!</a:t>
            </a:r>
            <a:endParaRPr sz="2400" dirty="0"/>
          </a:p>
          <a:p>
            <a:pPr marL="0" lvl="0" indent="0" algn="l" rtl="0">
              <a:lnSpc>
                <a:spcPct val="115000"/>
              </a:lnSpc>
              <a:spcBef>
                <a:spcPts val="1200"/>
              </a:spcBef>
              <a:spcAft>
                <a:spcPts val="0"/>
              </a:spcAft>
              <a:buClr>
                <a:schemeClr val="dk1"/>
              </a:buClr>
              <a:buSzPts val="1100"/>
              <a:buFont typeface="Arial"/>
              <a:buNone/>
            </a:pPr>
            <a:r>
              <a:rPr lang="pt-BR" sz="2400" dirty="0"/>
              <a:t>Podemos fazer isso treinando um modelo que pode realizar o processo inverso. </a:t>
            </a:r>
            <a:endParaRPr sz="2400" dirty="0"/>
          </a:p>
          <a:p>
            <a:pPr marL="0" lvl="0" indent="0" algn="l" rtl="0">
              <a:lnSpc>
                <a:spcPct val="115000"/>
              </a:lnSpc>
              <a:spcBef>
                <a:spcPts val="1200"/>
              </a:spcBef>
              <a:spcAft>
                <a:spcPts val="1200"/>
              </a:spcAft>
              <a:buClr>
                <a:schemeClr val="dk1"/>
              </a:buClr>
              <a:buSzPts val="1100"/>
              <a:buFont typeface="Arial"/>
              <a:buNone/>
            </a:pPr>
            <a:r>
              <a:rPr lang="pt-BR" sz="2400" dirty="0"/>
              <a:t>Podemos então usá-lo para remover um pouquinho de ruído de uma imagem e repetir a operação várias vezes até que todo o ruído desapareça. </a:t>
            </a:r>
            <a:endParaRPr sz="2400" dirty="0"/>
          </a:p>
        </p:txBody>
      </p:sp>
      <p:sp>
        <p:nvSpPr>
          <p:cNvPr id="10" name="Google Shape;313;p54">
            <a:extLst>
              <a:ext uri="{FF2B5EF4-FFF2-40B4-BE49-F238E27FC236}">
                <a16:creationId xmlns:a16="http://schemas.microsoft.com/office/drawing/2014/main" id="{DF84BF8B-9A49-484A-8F95-5D0EE5470582}"/>
              </a:ext>
            </a:extLst>
          </p:cNvPr>
          <p:cNvSpPr txBox="1"/>
          <p:nvPr/>
        </p:nvSpPr>
        <p:spPr>
          <a:xfrm>
            <a:off x="947738" y="5721138"/>
            <a:ext cx="6479100" cy="192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pt-BR" sz="800" dirty="0">
                <a:solidFill>
                  <a:srgbClr val="595959"/>
                </a:solidFill>
                <a:latin typeface="Verdana"/>
                <a:ea typeface="Verdana"/>
                <a:cs typeface="Verdana"/>
                <a:sym typeface="Verdana"/>
              </a:rPr>
              <a:t>Fonte: GÉRON, 2022.</a:t>
            </a:r>
            <a:endParaRPr sz="800" dirty="0">
              <a:solidFill>
                <a:srgbClr val="595959"/>
              </a:solidFill>
              <a:latin typeface="Verdana"/>
              <a:ea typeface="Verdana"/>
              <a:cs typeface="Verdana"/>
              <a:sym typeface="Verdana"/>
            </a:endParaRPr>
          </a:p>
        </p:txBody>
      </p:sp>
    </p:spTree>
    <p:extLst>
      <p:ext uri="{BB962C8B-B14F-4D97-AF65-F5344CB8AC3E}">
        <p14:creationId xmlns:p14="http://schemas.microsoft.com/office/powerpoint/2010/main" val="2071302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53877"/>
            <a:ext cx="10619791" cy="707886"/>
          </a:xfrm>
          <a:prstGeom prst="rect">
            <a:avLst/>
          </a:prstGeom>
          <a:noFill/>
        </p:spPr>
        <p:txBody>
          <a:bodyPr wrap="square" rtlCol="0">
            <a:spAutoFit/>
          </a:bodyPr>
          <a:lstStyle/>
          <a:p>
            <a:r>
              <a:rPr lang="pt-BR" sz="4000" b="1" kern="0" dirty="0" err="1">
                <a:latin typeface="Montserrat" panose="00000500000000000000" pitchFamily="50" charset="0"/>
                <a:cs typeface="Poppins" panose="02000000000000000000" pitchFamily="2" charset="0"/>
                <a:sym typeface="Trebuchet MS"/>
              </a:rPr>
              <a:t>Diffusion</a:t>
            </a:r>
            <a:r>
              <a:rPr lang="pt-BR" sz="4000" b="1" kern="0" dirty="0">
                <a:latin typeface="Montserrat" panose="00000500000000000000" pitchFamily="50" charset="0"/>
                <a:cs typeface="Poppins" panose="02000000000000000000" pitchFamily="2" charset="0"/>
                <a:sym typeface="Trebuchet MS"/>
              </a:rPr>
              <a:t> Models</a:t>
            </a:r>
            <a:endParaRPr lang="en-ID" sz="4000" b="1" kern="0" dirty="0">
              <a:latin typeface="Montserrat" panose="00000500000000000000" pitchFamily="50" charset="0"/>
              <a:cs typeface="Poppins" panose="02000000000000000000" pitchFamily="2" charset="0"/>
            </a:endParaRPr>
          </a:p>
        </p:txBody>
      </p:sp>
      <p:sp>
        <p:nvSpPr>
          <p:cNvPr id="5" name="Google Shape;312;p54">
            <a:extLst>
              <a:ext uri="{FF2B5EF4-FFF2-40B4-BE49-F238E27FC236}">
                <a16:creationId xmlns:a16="http://schemas.microsoft.com/office/drawing/2014/main" id="{55196089-9002-4E90-9A4A-37A72893E7BD}"/>
              </a:ext>
            </a:extLst>
          </p:cNvPr>
          <p:cNvSpPr txBox="1"/>
          <p:nvPr/>
        </p:nvSpPr>
        <p:spPr>
          <a:xfrm>
            <a:off x="886192" y="1763438"/>
            <a:ext cx="10862896" cy="1497303"/>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0"/>
              </a:spcBef>
              <a:spcAft>
                <a:spcPts val="1200"/>
              </a:spcAft>
              <a:buClr>
                <a:schemeClr val="dk1"/>
              </a:buClr>
              <a:buSzPts val="1100"/>
              <a:buFont typeface="Arial"/>
              <a:buNone/>
            </a:pPr>
            <a:r>
              <a:rPr lang="pt-BR" sz="2400" dirty="0"/>
              <a:t>Se treinarmos o modelo em um conjunto de dados contendo muitas imagens de gatos, podemos fornecer uma imagem totalmente cheia de ruído, e o modelo fará gradualmente um novo gato aparecer</a:t>
            </a:r>
            <a:endParaRPr sz="2400" dirty="0"/>
          </a:p>
        </p:txBody>
      </p:sp>
      <p:pic>
        <p:nvPicPr>
          <p:cNvPr id="9" name="Google Shape;314;p54">
            <a:extLst>
              <a:ext uri="{FF2B5EF4-FFF2-40B4-BE49-F238E27FC236}">
                <a16:creationId xmlns:a16="http://schemas.microsoft.com/office/drawing/2014/main" id="{762A53A2-BB37-4704-92BB-B5D38C2A42C4}"/>
              </a:ext>
            </a:extLst>
          </p:cNvPr>
          <p:cNvPicPr preferRelativeResize="0"/>
          <p:nvPr/>
        </p:nvPicPr>
        <p:blipFill rotWithShape="1">
          <a:blip r:embed="rId2">
            <a:alphaModFix/>
          </a:blip>
          <a:srcRect/>
          <a:stretch/>
        </p:blipFill>
        <p:spPr>
          <a:xfrm>
            <a:off x="1741142" y="3379683"/>
            <a:ext cx="7436342" cy="2410557"/>
          </a:xfrm>
          <a:prstGeom prst="rect">
            <a:avLst/>
          </a:prstGeom>
          <a:noFill/>
          <a:ln>
            <a:noFill/>
          </a:ln>
        </p:spPr>
      </p:pic>
      <p:sp>
        <p:nvSpPr>
          <p:cNvPr id="10" name="Google Shape;313;p54">
            <a:extLst>
              <a:ext uri="{FF2B5EF4-FFF2-40B4-BE49-F238E27FC236}">
                <a16:creationId xmlns:a16="http://schemas.microsoft.com/office/drawing/2014/main" id="{62470CB4-89AF-4C2D-AB95-302E171C4A79}"/>
              </a:ext>
            </a:extLst>
          </p:cNvPr>
          <p:cNvSpPr txBox="1"/>
          <p:nvPr/>
        </p:nvSpPr>
        <p:spPr>
          <a:xfrm>
            <a:off x="947738" y="5721138"/>
            <a:ext cx="6479100" cy="192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pt-BR" sz="800" dirty="0">
                <a:solidFill>
                  <a:srgbClr val="595959"/>
                </a:solidFill>
                <a:latin typeface="Verdana"/>
                <a:ea typeface="Verdana"/>
                <a:cs typeface="Verdana"/>
                <a:sym typeface="Verdana"/>
              </a:rPr>
              <a:t>Fonte: GÉRON, 2022.</a:t>
            </a:r>
            <a:endParaRPr sz="800" dirty="0">
              <a:solidFill>
                <a:srgbClr val="595959"/>
              </a:solidFill>
              <a:latin typeface="Verdana"/>
              <a:ea typeface="Verdana"/>
              <a:cs typeface="Verdana"/>
              <a:sym typeface="Verdana"/>
            </a:endParaRPr>
          </a:p>
        </p:txBody>
      </p:sp>
    </p:spTree>
    <p:extLst>
      <p:ext uri="{BB962C8B-B14F-4D97-AF65-F5344CB8AC3E}">
        <p14:creationId xmlns:p14="http://schemas.microsoft.com/office/powerpoint/2010/main" val="2321830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53877"/>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Referências</a:t>
            </a:r>
            <a:endParaRPr lang="en-ID" sz="4000" b="1" kern="0" dirty="0">
              <a:latin typeface="Montserrat" panose="00000500000000000000" pitchFamily="50" charset="0"/>
              <a:cs typeface="Poppins" panose="02000000000000000000" pitchFamily="2" charset="0"/>
            </a:endParaRPr>
          </a:p>
        </p:txBody>
      </p:sp>
      <p:sp>
        <p:nvSpPr>
          <p:cNvPr id="13" name="Google Shape;607;g39b90f914c1_0_523">
            <a:extLst>
              <a:ext uri="{FF2B5EF4-FFF2-40B4-BE49-F238E27FC236}">
                <a16:creationId xmlns:a16="http://schemas.microsoft.com/office/drawing/2014/main" id="{DA525068-5BCF-4296-95AE-A7FC8A920674}"/>
              </a:ext>
            </a:extLst>
          </p:cNvPr>
          <p:cNvSpPr txBox="1"/>
          <p:nvPr/>
        </p:nvSpPr>
        <p:spPr>
          <a:xfrm>
            <a:off x="4829357" y="1347463"/>
            <a:ext cx="6424797" cy="2241675"/>
          </a:xfrm>
          <a:prstGeom prst="rect">
            <a:avLst/>
          </a:prstGeom>
          <a:noFill/>
          <a:ln>
            <a:noFill/>
          </a:ln>
        </p:spPr>
        <p:txBody>
          <a:bodyPr spcFirstLastPara="1" wrap="square" lIns="68569" tIns="34275" rIns="68569" bIns="34275" anchor="t" anchorCtr="0">
            <a:noAutofit/>
          </a:bodyPr>
          <a:lstStyle/>
          <a:p>
            <a:pPr defTabSz="685800">
              <a:lnSpc>
                <a:spcPct val="137500"/>
              </a:lnSpc>
              <a:spcBef>
                <a:spcPts val="900"/>
              </a:spcBef>
              <a:buSzPts val="2400"/>
            </a:pPr>
            <a:r>
              <a:rPr lang="en-ID" sz="2400" dirty="0">
                <a:latin typeface="Calibri"/>
                <a:ea typeface="Calibri"/>
                <a:cs typeface="Calibri"/>
                <a:sym typeface="Calibri"/>
              </a:rPr>
              <a:t>GÉRON, </a:t>
            </a:r>
            <a:r>
              <a:rPr lang="en-ID" sz="2400" dirty="0" err="1">
                <a:latin typeface="Calibri"/>
                <a:ea typeface="Calibri"/>
                <a:cs typeface="Calibri"/>
                <a:sym typeface="Calibri"/>
              </a:rPr>
              <a:t>Aurélien</a:t>
            </a:r>
            <a:r>
              <a:rPr lang="en-ID" sz="2400" dirty="0">
                <a:latin typeface="Calibri"/>
                <a:ea typeface="Calibri"/>
                <a:cs typeface="Calibri"/>
                <a:sym typeface="Calibri"/>
              </a:rPr>
              <a:t>. </a:t>
            </a:r>
            <a:r>
              <a:rPr lang="en-ID" sz="2400" b="1" dirty="0">
                <a:latin typeface="Calibri"/>
                <a:ea typeface="Calibri"/>
                <a:cs typeface="Calibri"/>
                <a:sym typeface="Calibri"/>
              </a:rPr>
              <a:t>Hands-On Machine Learning with Scikit-Learn, </a:t>
            </a:r>
            <a:r>
              <a:rPr lang="en-ID" sz="2400" b="1" dirty="0" err="1">
                <a:latin typeface="Calibri"/>
                <a:ea typeface="Calibri"/>
                <a:cs typeface="Calibri"/>
                <a:sym typeface="Calibri"/>
              </a:rPr>
              <a:t>Keras</a:t>
            </a:r>
            <a:r>
              <a:rPr lang="en-ID" sz="2400" b="1" dirty="0">
                <a:latin typeface="Calibri"/>
                <a:ea typeface="Calibri"/>
                <a:cs typeface="Calibri"/>
                <a:sym typeface="Calibri"/>
              </a:rPr>
              <a:t>, and </a:t>
            </a:r>
            <a:r>
              <a:rPr lang="en-ID" sz="2400" b="1" dirty="0" err="1">
                <a:latin typeface="Calibri"/>
                <a:ea typeface="Calibri"/>
                <a:cs typeface="Calibri"/>
                <a:sym typeface="Calibri"/>
              </a:rPr>
              <a:t>Tensorflow</a:t>
            </a:r>
            <a:r>
              <a:rPr lang="en-ID" sz="2400" dirty="0">
                <a:latin typeface="Calibri"/>
                <a:ea typeface="Calibri"/>
                <a:cs typeface="Calibri"/>
                <a:sym typeface="Calibri"/>
              </a:rPr>
              <a:t>: Concepts, Tools, and Techniques to Build Intelligent Systems. Sebastopol: O'Reilly Media; 3nd ed. 2022.</a:t>
            </a:r>
            <a:endParaRPr sz="2400" dirty="0">
              <a:latin typeface="Calibri"/>
              <a:ea typeface="Calibri"/>
              <a:cs typeface="Calibri"/>
              <a:sym typeface="Calibri"/>
            </a:endParaRPr>
          </a:p>
          <a:p>
            <a:pPr defTabSz="685800">
              <a:lnSpc>
                <a:spcPct val="137500"/>
              </a:lnSpc>
              <a:spcBef>
                <a:spcPts val="900"/>
              </a:spcBef>
              <a:buSzPts val="2400"/>
            </a:pPr>
            <a:endParaRPr sz="2400" dirty="0">
              <a:latin typeface="Calibri"/>
              <a:ea typeface="Calibri"/>
              <a:cs typeface="Calibri"/>
              <a:sym typeface="Calibri"/>
            </a:endParaRPr>
          </a:p>
        </p:txBody>
      </p:sp>
      <p:pic>
        <p:nvPicPr>
          <p:cNvPr id="14" name="Google Shape;608;g39b90f914c1_0_523">
            <a:extLst>
              <a:ext uri="{FF2B5EF4-FFF2-40B4-BE49-F238E27FC236}">
                <a16:creationId xmlns:a16="http://schemas.microsoft.com/office/drawing/2014/main" id="{227CF4B7-5621-4BE9-8129-7CAA151DE78C}"/>
              </a:ext>
            </a:extLst>
          </p:cNvPr>
          <p:cNvPicPr preferRelativeResize="0"/>
          <p:nvPr/>
        </p:nvPicPr>
        <p:blipFill>
          <a:blip r:embed="rId2">
            <a:alphaModFix/>
          </a:blip>
          <a:stretch>
            <a:fillRect/>
          </a:stretch>
        </p:blipFill>
        <p:spPr>
          <a:xfrm>
            <a:off x="862833" y="1572897"/>
            <a:ext cx="3465453" cy="4560312"/>
          </a:xfrm>
          <a:prstGeom prst="rect">
            <a:avLst/>
          </a:prstGeom>
          <a:noFill/>
          <a:ln>
            <a:noFill/>
          </a:ln>
        </p:spPr>
      </p:pic>
      <p:sp>
        <p:nvSpPr>
          <p:cNvPr id="15" name="CaixaDeTexto 14">
            <a:extLst>
              <a:ext uri="{FF2B5EF4-FFF2-40B4-BE49-F238E27FC236}">
                <a16:creationId xmlns:a16="http://schemas.microsoft.com/office/drawing/2014/main" id="{C6C100A3-E682-4143-B1A9-ADC23D1869B0}"/>
              </a:ext>
            </a:extLst>
          </p:cNvPr>
          <p:cNvSpPr txBox="1"/>
          <p:nvPr/>
        </p:nvSpPr>
        <p:spPr>
          <a:xfrm rot="16200000">
            <a:off x="353820" y="5181228"/>
            <a:ext cx="894797" cy="207749"/>
          </a:xfrm>
          <a:prstGeom prst="rect">
            <a:avLst/>
          </a:prstGeom>
          <a:noFill/>
        </p:spPr>
        <p:txBody>
          <a:bodyPr wrap="none" rtlCol="0">
            <a:spAutoFit/>
          </a:bodyPr>
          <a:lstStyle/>
          <a:p>
            <a:pPr defTabSz="685800"/>
            <a:r>
              <a:rPr lang="pt-BR" sz="750" dirty="0">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Imagem: </a:t>
            </a:r>
            <a:r>
              <a:rPr lang="pt-BR" sz="750" dirty="0" err="1">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Amazon</a:t>
            </a:r>
            <a:r>
              <a:rPr lang="pt-BR" sz="750" dirty="0">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830891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E9DCDA1D-C518-4720-B445-DE1ECF17DAD7}"/>
              </a:ext>
            </a:extLst>
          </p:cNvPr>
          <p:cNvSpPr txBox="1"/>
          <p:nvPr/>
        </p:nvSpPr>
        <p:spPr>
          <a:xfrm>
            <a:off x="862833" y="753877"/>
            <a:ext cx="10619791" cy="707886"/>
          </a:xfrm>
          <a:prstGeom prst="rect">
            <a:avLst/>
          </a:prstGeom>
          <a:noFill/>
        </p:spPr>
        <p:txBody>
          <a:bodyPr wrap="square" rtlCol="0">
            <a:spAutoFit/>
          </a:bodyPr>
          <a:lstStyle/>
          <a:p>
            <a:r>
              <a:rPr lang="pt-BR" sz="4000" b="1" kern="0" dirty="0">
                <a:latin typeface="Montserrat" panose="00000500000000000000" pitchFamily="50" charset="0"/>
                <a:cs typeface="Poppins" panose="02000000000000000000" pitchFamily="2" charset="0"/>
                <a:sym typeface="Trebuchet MS"/>
              </a:rPr>
              <a:t>Referências</a:t>
            </a:r>
            <a:endParaRPr lang="en-ID" sz="4000" b="1" kern="0" dirty="0">
              <a:latin typeface="Montserrat" panose="00000500000000000000" pitchFamily="50" charset="0"/>
              <a:cs typeface="Poppins" panose="02000000000000000000" pitchFamily="2" charset="0"/>
            </a:endParaRPr>
          </a:p>
        </p:txBody>
      </p:sp>
      <p:sp>
        <p:nvSpPr>
          <p:cNvPr id="15" name="CaixaDeTexto 14">
            <a:extLst>
              <a:ext uri="{FF2B5EF4-FFF2-40B4-BE49-F238E27FC236}">
                <a16:creationId xmlns:a16="http://schemas.microsoft.com/office/drawing/2014/main" id="{C6C100A3-E682-4143-B1A9-ADC23D1869B0}"/>
              </a:ext>
            </a:extLst>
          </p:cNvPr>
          <p:cNvSpPr txBox="1"/>
          <p:nvPr/>
        </p:nvSpPr>
        <p:spPr>
          <a:xfrm rot="16200000">
            <a:off x="353820" y="5181228"/>
            <a:ext cx="894797" cy="207749"/>
          </a:xfrm>
          <a:prstGeom prst="rect">
            <a:avLst/>
          </a:prstGeom>
          <a:noFill/>
        </p:spPr>
        <p:txBody>
          <a:bodyPr wrap="none" rtlCol="0">
            <a:spAutoFit/>
          </a:bodyPr>
          <a:lstStyle/>
          <a:p>
            <a:pPr defTabSz="685800"/>
            <a:r>
              <a:rPr lang="pt-BR" sz="750" dirty="0">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Imagem: </a:t>
            </a:r>
            <a:r>
              <a:rPr lang="pt-BR" sz="750" dirty="0" err="1">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Amazon</a:t>
            </a:r>
            <a:r>
              <a:rPr lang="pt-BR" sz="750" dirty="0">
                <a:solidFill>
                  <a:srgbClr val="000000">
                    <a:lumMod val="50000"/>
                    <a:lumOff val="50000"/>
                  </a:srgbClr>
                </a:solidFill>
                <a:latin typeface="Calibri" panose="020F0502020204030204" pitchFamily="34" charset="0"/>
                <a:ea typeface="Calibri" panose="020F0502020204030204" pitchFamily="34" charset="0"/>
                <a:cs typeface="Calibri" panose="020F0502020204030204" pitchFamily="34" charset="0"/>
              </a:rPr>
              <a:t>.</a:t>
            </a:r>
          </a:p>
        </p:txBody>
      </p:sp>
      <p:pic>
        <p:nvPicPr>
          <p:cNvPr id="7" name="Google Shape;615;g39b90f914c1_0_531">
            <a:extLst>
              <a:ext uri="{FF2B5EF4-FFF2-40B4-BE49-F238E27FC236}">
                <a16:creationId xmlns:a16="http://schemas.microsoft.com/office/drawing/2014/main" id="{6F02DFCE-A735-4FAB-A702-F503B7EF667F}"/>
              </a:ext>
            </a:extLst>
          </p:cNvPr>
          <p:cNvPicPr preferRelativeResize="0"/>
          <p:nvPr/>
        </p:nvPicPr>
        <p:blipFill>
          <a:blip r:embed="rId2">
            <a:alphaModFix/>
          </a:blip>
          <a:stretch>
            <a:fillRect/>
          </a:stretch>
        </p:blipFill>
        <p:spPr>
          <a:xfrm>
            <a:off x="947738" y="1764381"/>
            <a:ext cx="3218445" cy="4304574"/>
          </a:xfrm>
          <a:prstGeom prst="rect">
            <a:avLst/>
          </a:prstGeom>
          <a:noFill/>
          <a:ln>
            <a:noFill/>
          </a:ln>
        </p:spPr>
      </p:pic>
      <p:sp>
        <p:nvSpPr>
          <p:cNvPr id="8" name="Google Shape;614;g39b90f914c1_0_531">
            <a:extLst>
              <a:ext uri="{FF2B5EF4-FFF2-40B4-BE49-F238E27FC236}">
                <a16:creationId xmlns:a16="http://schemas.microsoft.com/office/drawing/2014/main" id="{1FC7C4EE-C446-4B4B-9F29-276CD8E48628}"/>
              </a:ext>
            </a:extLst>
          </p:cNvPr>
          <p:cNvSpPr txBox="1"/>
          <p:nvPr/>
        </p:nvSpPr>
        <p:spPr>
          <a:xfrm>
            <a:off x="4559086" y="1840665"/>
            <a:ext cx="7190001" cy="2241675"/>
          </a:xfrm>
          <a:prstGeom prst="rect">
            <a:avLst/>
          </a:prstGeom>
          <a:noFill/>
          <a:ln>
            <a:noFill/>
          </a:ln>
        </p:spPr>
        <p:txBody>
          <a:bodyPr spcFirstLastPara="1" wrap="square" lIns="68569" tIns="34275" rIns="68569" bIns="34275" anchor="t" anchorCtr="0">
            <a:noAutofit/>
          </a:bodyPr>
          <a:lstStyle/>
          <a:p>
            <a:pPr defTabSz="685800">
              <a:lnSpc>
                <a:spcPct val="137500"/>
              </a:lnSpc>
              <a:spcBef>
                <a:spcPts val="900"/>
              </a:spcBef>
              <a:buSzPts val="2400"/>
            </a:pPr>
            <a:r>
              <a:rPr lang="en-ID" sz="2400" dirty="0">
                <a:latin typeface="Calibri"/>
                <a:ea typeface="Calibri"/>
                <a:cs typeface="Calibri"/>
                <a:sym typeface="Calibri"/>
              </a:rPr>
              <a:t>FOSTER, David. </a:t>
            </a:r>
            <a:r>
              <a:rPr lang="en-ID" sz="2400" b="1" dirty="0">
                <a:latin typeface="Calibri"/>
                <a:ea typeface="Calibri"/>
                <a:cs typeface="Calibri"/>
                <a:sym typeface="Calibri"/>
              </a:rPr>
              <a:t>Generative Deep Learning</a:t>
            </a:r>
            <a:r>
              <a:rPr lang="en-ID" sz="2400" dirty="0">
                <a:latin typeface="Calibri"/>
                <a:ea typeface="Calibri"/>
                <a:cs typeface="Calibri"/>
                <a:sym typeface="Calibri"/>
              </a:rPr>
              <a:t>. O'Reilly Media; 2nd ed. 2023.</a:t>
            </a:r>
            <a:endParaRPr sz="2400" dirty="0">
              <a:latin typeface="Calibri"/>
              <a:ea typeface="Calibri"/>
              <a:cs typeface="Calibri"/>
              <a:sym typeface="Calibri"/>
            </a:endParaRPr>
          </a:p>
          <a:p>
            <a:pPr defTabSz="685800">
              <a:lnSpc>
                <a:spcPct val="137500"/>
              </a:lnSpc>
              <a:spcBef>
                <a:spcPts val="900"/>
              </a:spcBef>
              <a:buSzPts val="2400"/>
            </a:pPr>
            <a:endParaRPr sz="2400" dirty="0">
              <a:latin typeface="Calibri"/>
              <a:ea typeface="Calibri"/>
              <a:cs typeface="Calibri"/>
              <a:sym typeface="Calibri"/>
            </a:endParaRPr>
          </a:p>
        </p:txBody>
      </p:sp>
    </p:spTree>
    <p:extLst>
      <p:ext uri="{BB962C8B-B14F-4D97-AF65-F5344CB8AC3E}">
        <p14:creationId xmlns:p14="http://schemas.microsoft.com/office/powerpoint/2010/main" val="1084459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810865"/>
      </p:ext>
    </p:extLst>
  </p:cSld>
  <p:clrMapOvr>
    <a:masterClrMapping/>
  </p:clrMapOvr>
</p:sld>
</file>

<file path=ppt/theme/theme1.xml><?xml version="1.0" encoding="utf-8"?>
<a:theme xmlns:a="http://schemas.openxmlformats.org/drawingml/2006/main" name="10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Personalizar design">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Personalizar design">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Personalizar design">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D1042ECD13DF54ABFD3312BD93AC736" ma:contentTypeVersion="14" ma:contentTypeDescription="Crie um novo documento." ma:contentTypeScope="" ma:versionID="c3379b84d20a6d06fcaca77f4d02b37a">
  <xsd:schema xmlns:xsd="http://www.w3.org/2001/XMLSchema" xmlns:xs="http://www.w3.org/2001/XMLSchema" xmlns:p="http://schemas.microsoft.com/office/2006/metadata/properties" xmlns:ns2="942d5ec7-aacc-4a5b-a58b-71e198b95712" xmlns:ns3="dd515b78-c394-4c68-913b-64702d1b471e" targetNamespace="http://schemas.microsoft.com/office/2006/metadata/properties" ma:root="true" ma:fieldsID="5590a7ea86eaf6b97fecbb3d40b5a4d0" ns2:_="" ns3:_="">
    <xsd:import namespace="942d5ec7-aacc-4a5b-a58b-71e198b95712"/>
    <xsd:import namespace="dd515b78-c394-4c68-913b-64702d1b47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2d5ec7-aacc-4a5b-a58b-71e198b957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553fe116-42e8-49a4-86e5-3f68d57c9f9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d515b78-c394-4c68-913b-64702d1b471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de72ad8-281c-4dff-88d1-843eaf0c4a59}" ma:internalName="TaxCatchAll" ma:showField="CatchAllData" ma:web="dd515b78-c394-4c68-913b-64702d1b47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d515b78-c394-4c68-913b-64702d1b471e" xsi:nil="true"/>
    <lcf76f155ced4ddcb4097134ff3c332f xmlns="942d5ec7-aacc-4a5b-a58b-71e198b957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E55E76B-0031-4F16-AEDE-A0EEC752ADE8}"/>
</file>

<file path=customXml/itemProps2.xml><?xml version="1.0" encoding="utf-8"?>
<ds:datastoreItem xmlns:ds="http://schemas.openxmlformats.org/officeDocument/2006/customXml" ds:itemID="{CDD5406F-0678-4918-A67D-5C16F087D2E7}"/>
</file>

<file path=customXml/itemProps3.xml><?xml version="1.0" encoding="utf-8"?>
<ds:datastoreItem xmlns:ds="http://schemas.openxmlformats.org/officeDocument/2006/customXml" ds:itemID="{861D8BF4-1325-4F03-A398-13567BB00414}"/>
</file>

<file path=docProps/app.xml><?xml version="1.0" encoding="utf-8"?>
<Properties xmlns="http://schemas.openxmlformats.org/officeDocument/2006/extended-properties" xmlns:vt="http://schemas.openxmlformats.org/officeDocument/2006/docPropsVTypes">
  <TotalTime>5080</TotalTime>
  <Words>2429</Words>
  <Application>Microsoft Office PowerPoint</Application>
  <PresentationFormat>Widescreen</PresentationFormat>
  <Paragraphs>172</Paragraphs>
  <Slides>37</Slides>
  <Notes>0</Notes>
  <HiddenSlides>0</HiddenSlides>
  <MMClips>0</MMClips>
  <ScaleCrop>false</ScaleCrop>
  <HeadingPairs>
    <vt:vector size="6" baseType="variant">
      <vt:variant>
        <vt:lpstr>Fontes usadas</vt:lpstr>
      </vt:variant>
      <vt:variant>
        <vt:i4>7</vt:i4>
      </vt:variant>
      <vt:variant>
        <vt:lpstr>Tema</vt:lpstr>
      </vt:variant>
      <vt:variant>
        <vt:i4>4</vt:i4>
      </vt:variant>
      <vt:variant>
        <vt:lpstr>Títulos de slides</vt:lpstr>
      </vt:variant>
      <vt:variant>
        <vt:i4>37</vt:i4>
      </vt:variant>
    </vt:vector>
  </HeadingPairs>
  <TitlesOfParts>
    <vt:vector size="48" baseType="lpstr">
      <vt:lpstr>Verdana</vt:lpstr>
      <vt:lpstr>Montserrat</vt:lpstr>
      <vt:lpstr>Cronos Pro</vt:lpstr>
      <vt:lpstr>Wingdings</vt:lpstr>
      <vt:lpstr>Calibri</vt:lpstr>
      <vt:lpstr>Courier New</vt:lpstr>
      <vt:lpstr>Arial</vt:lpstr>
      <vt:lpstr>10_Personalizar design</vt:lpstr>
      <vt:lpstr>5_Personalizar design</vt:lpstr>
      <vt:lpstr>6_Personalizar design</vt:lpstr>
      <vt:lpstr>7_Personalizar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Fernando José Ferreira</dc:creator>
  <cp:lastModifiedBy>Fernando José Ferreira</cp:lastModifiedBy>
  <cp:revision>81</cp:revision>
  <dcterms:created xsi:type="dcterms:W3CDTF">2025-06-11T21:44:24Z</dcterms:created>
  <dcterms:modified xsi:type="dcterms:W3CDTF">2025-12-11T20:46:22Z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0x0101007D1042ECD13DF54ABFD3312BD93AC736</vt:lpwstr>
  </property>
</Properties>
</file>