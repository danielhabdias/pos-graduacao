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3" r:id="rId3"/>
  </p:sldMasterIdLst>
  <p:notesMasterIdLst>
    <p:notesMasterId r:id="rId8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</p:sldIdLst>
  <p:sldSz cx="12192000" cy="6858000"/>
  <p:notesSz cx="6858000" cy="9144000"/>
  <p:embeddedFontLst>
    <p:embeddedFont>
      <p:font typeface="Calibri" panose="020F0502020204030204" pitchFamily="34" charset="0"/>
      <p:regular r:id="rId90"/>
      <p:bold r:id="rId91"/>
      <p:italic r:id="rId92"/>
      <p:boldItalic r:id="rId93"/>
    </p:embeddedFont>
    <p:embeddedFont>
      <p:font typeface="Consolas" panose="020B0609020204030204" pitchFamily="49" charset="0"/>
      <p:regular r:id="rId94"/>
      <p:bold r:id="rId95"/>
      <p:italic r:id="rId96"/>
      <p:boldItalic r:id="rId97"/>
    </p:embeddedFont>
    <p:embeddedFont>
      <p:font typeface="Montserrat" panose="00000500000000000000" pitchFamily="2" charset="0"/>
      <p:regular r:id="rId98"/>
      <p:bold r:id="rId99"/>
      <p:italic r:id="rId100"/>
      <p:boldItalic r:id="rId10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25">
          <p15:clr>
            <a:srgbClr val="A4A3A4"/>
          </p15:clr>
        </p15:guide>
        <p15:guide id="2" pos="279">
          <p15:clr>
            <a:srgbClr val="A4A3A4"/>
          </p15:clr>
        </p15:guide>
        <p15:guide id="3" pos="7401">
          <p15:clr>
            <a:srgbClr val="A4A3A4"/>
          </p15:clr>
        </p15:guide>
        <p15:guide id="4" orient="horz" pos="55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jMiNMeiiYsQkpvxjc+3lCnnzbl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07" Type="http://schemas.openxmlformats.org/officeDocument/2006/relationships/customXml" Target="../customXml/item1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customschemas.google.com/relationships/presentationmetadata" Target="metadata"/><Relationship Id="rId5" Type="http://schemas.openxmlformats.org/officeDocument/2006/relationships/slide" Target="slides/slide2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presProps" Target="presProps.xml"/><Relationship Id="rId108" Type="http://schemas.openxmlformats.org/officeDocument/2006/relationships/customXml" Target="../customXml/item2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font" Target="fonts/font5.fntdata"/><Relationship Id="rId99" Type="http://schemas.openxmlformats.org/officeDocument/2006/relationships/font" Target="fonts/font10.fntdata"/><Relationship Id="rId101" Type="http://schemas.openxmlformats.org/officeDocument/2006/relationships/font" Target="fonts/font1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customXml" Target="../customXml/item3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font" Target="fonts/font8.fntdata"/><Relationship Id="rId104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font" Target="fonts/font11.fntdata"/><Relationship Id="rId105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font" Target="fonts/font4.fntdata"/><Relationship Id="rId98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2777d0b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" name="Google Shape;33;g382777d0b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f10a1dfb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" name="Google Shape;39;g37f10a1dfb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f10a1dfb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" name="Google Shape;46;g37f10a1dfb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b90f914c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39b90f914c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1fef2ff3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g381fef2ff3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b90f914c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" name="Google Shape;69;g39b90f914c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b90f914c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g39b90f914c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b90f914c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9b90f914c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b90f914c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g39b90f914c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90f914c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g39b90f914c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90f914c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39b90f914c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b90f914c1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g39b90f914c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90f914c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9b90f914c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b90f914c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9b90f914c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90f914c1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g39b90f914c1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f10a1dfb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" name="Google Shape;145;g37f10a1dfb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b90f914c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9b90f914c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b90f914c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g39b90f914c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b90f914c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g39b90f914c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b90f914c1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g39b90f914c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b90f914c1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g39b90f914c1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b90f914c1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39b90f914c1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90f914c1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9b90f914c1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b90f914c1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g39b90f914c1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b90f914c1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g39b90f914c1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b90f914c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g39b90f914c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90f914c1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9b90f914c1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b90f914c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" name="Google Shape;229;g39b90f914c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b90f914c1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9b90f914c1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f27467d2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g37f27467d2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1fef2ff3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" name="Google Shape;248;g381fef2ff3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b90f914c1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39b90f914c1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b90f914c1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1" name="Google Shape;261;g39b90f914c1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b90f914c1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8" name="Google Shape;268;g39b90f914c1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b90f914c1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5" name="Google Shape;275;g39b90f914c1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b90f914c1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g39b90f914c1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b90f914c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9" name="Google Shape;289;g39b90f914c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b90f914c1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g39b90f914c1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b90f914c1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9b90f914c1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b90f914c1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0" name="Google Shape;310;g39b90f914c1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b90f914c1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7" name="Google Shape;317;g39b90f914c1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b90f914c1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g39b90f914c1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1fef2ff3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1" name="Google Shape;331;g381fef2ff3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81fef2ff3b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5" name="Google Shape;335;g381fef2ff3b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b90f914c1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1" name="Google Shape;341;g39b90f914c1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b90f914c1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g39b90f914c1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b90f914c1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5" name="Google Shape;355;g39b90f914c1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1fef2ff3b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3" name="Google Shape;363;g381fef2ff3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b90f914c1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g39b90f914c1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b90f914c1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8" name="Google Shape;378;g39b90f914c1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b90f914c1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5" name="Google Shape;385;g39b90f914c1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b90f914c1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3" name="Google Shape;393;g39b90f914c1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b90f914c1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1" name="Google Shape;401;g39b90f914c1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b90f914c1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9" name="Google Shape;409;g39b90f914c1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b90f914c1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7" name="Google Shape;417;g39b90f914c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b90f914c1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g39b90f914c1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9b90f914c1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2" name="Google Shape;432;g39b90f914c1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81fef2ff3b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0" name="Google Shape;440;g381fef2ff3b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9b90f914c1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4" name="Google Shape;444;g39b90f914c1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b90f914c1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0" name="Google Shape;450;g39b90f914c1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b90f914c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7" name="Google Shape;457;g39b90f914c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9b90f914c1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4" name="Google Shape;464;g39b90f914c1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b90f914c1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2" name="Google Shape;472;g39b90f914c1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b90f914c1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1" name="Google Shape;481;g39b90f914c1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b90f914c1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0" name="Google Shape;490;g39b90f914c1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9b90f914c1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9" name="Google Shape;499;g39b90f914c1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9b90f914c1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3" name="Google Shape;503;g39b90f914c1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9b90f914c1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9" name="Google Shape;509;g39b90f914c1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9b90f914c1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6" name="Google Shape;516;g39b90f914c1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b90f914c1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3" name="Google Shape;523;g39b90f914c1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9b90f914c1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0" name="Google Shape;530;g39b90f914c1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9b90f914c1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7" name="Google Shape;537;g39b90f914c1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9b90f914c1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1" name="Google Shape;541;g39b90f914c1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9b90f914c1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7" name="Google Shape;547;g39b90f914c1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9b90f914c1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4" name="Google Shape;554;g39b90f914c1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b90f914c1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1" name="Google Shape;561;g39b90f914c1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9b90f914c1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9" name="Google Shape;569;g39b90f914c1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9b90f914c1_0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7" name="Google Shape;577;g39b90f914c1_0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9b90f914c1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5" name="Google Shape;585;g39b90f914c1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9b90f914c1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3" name="Google Shape;593;g39b90f914c1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9b90f914c1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0" name="Google Shape;600;g39b90f914c1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9b90f914c1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4" name="Google Shape;604;g39b90f914c1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9b90f914c1_0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1" name="Google Shape;611;g39b90f914c1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>
  <p:cSld name="Texto e Título Vertical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/>
        </p:nvSpPr>
        <p:spPr>
          <a:xfrm>
            <a:off x="547719" y="6373144"/>
            <a:ext cx="60753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D" sz="1000" b="0" i="0" u="none" strike="noStrike" cap="none">
                <a:solidFill>
                  <a:srgbClr val="3CA3E1"/>
                </a:solidFill>
                <a:latin typeface="Arial"/>
                <a:ea typeface="Arial"/>
                <a:cs typeface="Arial"/>
                <a:sym typeface="Arial"/>
              </a:rPr>
              <a:t>PUC MINAS</a:t>
            </a:r>
            <a:endParaRPr sz="1100" b="1" i="0" u="none" strike="noStrike" cap="none">
              <a:solidFill>
                <a:srgbClr val="3CA3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corrido">
  <p:cSld name="Título e texto corrid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7faa5e9096_0_81"/>
          <p:cNvSpPr txBox="1">
            <a:spLocks noGrp="1"/>
          </p:cNvSpPr>
          <p:nvPr>
            <p:ph type="ctrTitle"/>
          </p:nvPr>
        </p:nvSpPr>
        <p:spPr>
          <a:xfrm>
            <a:off x="415933" y="135832"/>
            <a:ext cx="114408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67"/>
              <a:buFont typeface="Calibri"/>
              <a:buNone/>
              <a:defRPr sz="4667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>
  <p:cSld name="Texto e Título Vertical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883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0"/>
          <p:cNvPicPr preferRelativeResize="0"/>
          <p:nvPr/>
        </p:nvPicPr>
        <p:blipFill rotWithShape="1">
          <a:blip r:embed="rId4">
            <a:alphaModFix/>
          </a:blip>
          <a:srcRect l="74739" t="3691" r="2017" b="59004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0"/>
          <p:cNvSpPr/>
          <p:nvPr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630" y="5438751"/>
            <a:ext cx="739013" cy="434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0"/>
          <p:cNvPicPr preferRelativeResize="0"/>
          <p:nvPr/>
        </p:nvPicPr>
        <p:blipFill rotWithShape="1">
          <a:blip r:embed="rId6">
            <a:alphaModFix/>
          </a:blip>
          <a:srcRect b="8321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6003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A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6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6"/>
          <p:cNvPicPr preferRelativeResize="0"/>
          <p:nvPr/>
        </p:nvPicPr>
        <p:blipFill rotWithShape="1">
          <a:blip r:embed="rId4">
            <a:alphaModFix/>
          </a:blip>
          <a:srcRect b="7231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36692" y="592026"/>
            <a:ext cx="834735" cy="49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729" y="5760979"/>
            <a:ext cx="834735" cy="490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5367" y="5139077"/>
            <a:ext cx="8461265" cy="61264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1337485" y="2459239"/>
            <a:ext cx="9831900" cy="18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5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Redes Neurais Generativas</a:t>
            </a:r>
            <a:r>
              <a:rPr lang="en-ID" sz="5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5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2777d0b85_0_0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82777d0b85_0_0"/>
          <p:cNvSpPr txBox="1"/>
          <p:nvPr/>
        </p:nvSpPr>
        <p:spPr>
          <a:xfrm>
            <a:off x="1337485" y="2459239"/>
            <a:ext cx="98319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6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Generative Deep Learning</a:t>
            </a: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f10a1dfb7_0_17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área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máquina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semelhantes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um conjunto de dados dado.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7f10a1dfb7_0_1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g37f10a1dfb7_0_17"/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7f10a1dfb7_0_27"/>
          <p:cNvSpPr txBox="1"/>
          <p:nvPr/>
        </p:nvSpPr>
        <p:spPr>
          <a:xfrm>
            <a:off x="0" y="73018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g37f10a1dfb7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8912" y="2946994"/>
            <a:ext cx="57150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g37f10a1dfb7_0_27"/>
          <p:cNvSpPr txBox="1"/>
          <p:nvPr/>
        </p:nvSpPr>
        <p:spPr>
          <a:xfrm>
            <a:off x="639750" y="1297212"/>
            <a:ext cx="1090455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Em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termos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práticos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se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tivermos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um conjunto de dados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contendo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fotos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cavalos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podemos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treinar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generativo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relações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complexas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pixels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nas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imagens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desses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cavalos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podemos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usar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novas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imagens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realistas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cavalos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existiam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no conjunto original de dados.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9D52812D-1A77-45FB-B37F-3431C61089B3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b90f914c1_0_8"/>
          <p:cNvSpPr txBox="1"/>
          <p:nvPr/>
        </p:nvSpPr>
        <p:spPr>
          <a:xfrm>
            <a:off x="0" y="73018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g39b90f914c1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763" y="2689819"/>
            <a:ext cx="57150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9b90f914c1_0_8"/>
          <p:cNvSpPr txBox="1"/>
          <p:nvPr/>
        </p:nvSpPr>
        <p:spPr>
          <a:xfrm>
            <a:off x="696900" y="1482950"/>
            <a:ext cx="11052188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Ponto-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chave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: 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modelagem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generativa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visa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novos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realistas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baseados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nas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do conjunto de dados de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56F6402C-D5D1-4F2C-8183-74F8C9B3A67C}"/>
              </a:ext>
            </a:extLst>
          </p:cNvPr>
          <p:cNvSpPr txBox="1"/>
          <p:nvPr/>
        </p:nvSpPr>
        <p:spPr>
          <a:xfrm>
            <a:off x="739000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1fef2ff3b_0_21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conjunto de dados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contenha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diversos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do que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81fef2ff3b_0_2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E890CF5D-7F5F-4602-A39C-AC912DF2F499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b90f914c1_0_22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observação é composta por múltiplas características (ou features), como os valores dos pixels em uma imagem ou palavras em um texto.</a:t>
            </a:r>
            <a:r>
              <a:rPr lang="en-ID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objetivo do modelo é aprender essas características e gerar novos exemplos realistas que sigam os mesmos padrões do conjunto original.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9b90f914c1_0_2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636EB687-D935-4E48-9DF1-D5755BFEB270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b90f914c1_0_28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modelo generativo precisa ser probabilístico</a:t>
            </a: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não determinístico. Isso significa que ele deve ser capaz de gerar múltiplas variações válidas — não apenas repetir sempre o mesmo resultado. Essa capacidade vem de incluir elementos aleatórios no processo de geração.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9b90f914c1_0_28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884B2D27-4596-442E-9FBF-9540DCA95FEB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b90f914c1_0_34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resumo, </a:t>
            </a:r>
            <a:r>
              <a:rPr lang="en-ID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modelo tenta imitar uma distribuição de probabilidade desconhecida por trás dos dados reais</a:t>
            </a: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para gerar amostras novas que parecem ter vindo do mesmo conjunto original.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9b90f914c1_0_3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B2288BFA-A023-4342-8965-2BE3513E5EA1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b90f914c1_0_40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importância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útil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-la com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tarefas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tradicionais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máquina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slides.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9b90f914c1_0_40"/>
          <p:cNvSpPr txBox="1"/>
          <p:nvPr/>
        </p:nvSpPr>
        <p:spPr>
          <a:xfrm>
            <a:off x="862833" y="727501"/>
            <a:ext cx="10619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29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</a:t>
            </a:r>
            <a:r>
              <a:rPr lang="en-ID" sz="29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sz="29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Generativa</a:t>
            </a:r>
            <a:r>
              <a:rPr lang="en-ID" sz="29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vs. </a:t>
            </a:r>
            <a:r>
              <a:rPr lang="en-ID" sz="29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</a:t>
            </a:r>
            <a:r>
              <a:rPr lang="en-ID" sz="29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sz="29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Discriminativa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636E4BAF-A9E4-452F-B218-ED5FE1BA64C3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b90f914c1_0_58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 um conjunto de dados com pinturas — algumas de Van Gogh e outras de artistas diversos.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9b90f914c1_0_58"/>
          <p:cNvSpPr txBox="1"/>
          <p:nvPr/>
        </p:nvSpPr>
        <p:spPr>
          <a:xfrm>
            <a:off x="862833" y="727501"/>
            <a:ext cx="10619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2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 Generativa vs. Modelagem Discriminativa</a:t>
            </a:r>
            <a:endParaRPr sz="29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2CFF4B2B-C48E-4992-A671-AD730BA55F45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b90f914c1_0_70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pintura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Van Gogh,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-se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cores,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texturas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típicas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dele.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distinguir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(Van Gogh vs.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Van Gogh) com base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dados.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9b90f914c1_0_70"/>
          <p:cNvSpPr txBox="1"/>
          <p:nvPr/>
        </p:nvSpPr>
        <p:spPr>
          <a:xfrm>
            <a:off x="862833" y="727501"/>
            <a:ext cx="10619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2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 Generativa vs. Modelagem Discriminativa</a:t>
            </a:r>
            <a:endParaRPr sz="29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90f914c1_0_64"/>
          <p:cNvSpPr txBox="1"/>
          <p:nvPr/>
        </p:nvSpPr>
        <p:spPr>
          <a:xfrm>
            <a:off x="824725" y="1682325"/>
            <a:ext cx="81624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fronteira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classes.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(ex.: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nova pintura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Van Gogh).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enquanto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decide “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fez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?”,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responder “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?”.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9b90f914c1_0_64"/>
          <p:cNvSpPr txBox="1"/>
          <p:nvPr/>
        </p:nvSpPr>
        <p:spPr>
          <a:xfrm>
            <a:off x="862833" y="727501"/>
            <a:ext cx="10619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2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 Generativa vs. Modelagem Discriminativa</a:t>
            </a:r>
            <a:endParaRPr sz="29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99F8C095-3D18-4440-B769-786D6C40DF63}"/>
              </a:ext>
            </a:extLst>
          </p:cNvPr>
          <p:cNvSpPr txBox="1"/>
          <p:nvPr/>
        </p:nvSpPr>
        <p:spPr>
          <a:xfrm>
            <a:off x="638987" y="5628738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90f914c1_0_76"/>
          <p:cNvSpPr txBox="1"/>
          <p:nvPr/>
        </p:nvSpPr>
        <p:spPr>
          <a:xfrm>
            <a:off x="0" y="73018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Processo de Modelagem Discriminativa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g39b90f914c1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025" y="2995888"/>
            <a:ext cx="57150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9b90f914c1_0_76"/>
          <p:cNvSpPr txBox="1"/>
          <p:nvPr/>
        </p:nvSpPr>
        <p:spPr>
          <a:xfrm>
            <a:off x="5576600" y="1861415"/>
            <a:ext cx="60081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Pinturas de Van Gogh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recebem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rótulo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1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Pinturas de outros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artistas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recebem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rótulo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0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9b90f914c1_0_76"/>
          <p:cNvSpPr txBox="1"/>
          <p:nvPr/>
        </p:nvSpPr>
        <p:spPr>
          <a:xfrm>
            <a:off x="888025" y="1438175"/>
            <a:ext cx="9196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discriminativa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conjunto de dados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possui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rótulo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(label).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pinturas de Van Gogh:</a:t>
            </a:r>
            <a:endParaRPr dirty="0"/>
          </a:p>
        </p:txBody>
      </p:sp>
      <p:sp>
        <p:nvSpPr>
          <p:cNvPr id="7" name="Google Shape;43;g37f10a1dfb7_0_17">
            <a:extLst>
              <a:ext uri="{FF2B5EF4-FFF2-40B4-BE49-F238E27FC236}">
                <a16:creationId xmlns:a16="http://schemas.microsoft.com/office/drawing/2014/main" id="{5E1E368D-3332-4CDE-B0D9-3D0A452C84DD}"/>
              </a:ext>
            </a:extLst>
          </p:cNvPr>
          <p:cNvSpPr txBox="1"/>
          <p:nvPr/>
        </p:nvSpPr>
        <p:spPr>
          <a:xfrm>
            <a:off x="867587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90f914c1_0_95"/>
          <p:cNvSpPr txBox="1"/>
          <p:nvPr/>
        </p:nvSpPr>
        <p:spPr>
          <a:xfrm>
            <a:off x="824725" y="1682325"/>
            <a:ext cx="10141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 modelagem discriminativa, o modelo aprende a diferenciar essas categorias e calcula a probabilidade de uma nova imagem pertencer a uma delas (por exemplo, ser de Van Gogh).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9b90f914c1_0_95"/>
          <p:cNvSpPr txBox="1"/>
          <p:nvPr/>
        </p:nvSpPr>
        <p:spPr>
          <a:xfrm>
            <a:off x="862833" y="727501"/>
            <a:ext cx="10619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2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 Generativa vs. Modelagem Discriminativa</a:t>
            </a:r>
            <a:endParaRPr sz="29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E8B15165-1AE3-4A33-9EC6-5085DDB350AC}"/>
              </a:ext>
            </a:extLst>
          </p:cNvPr>
          <p:cNvSpPr txBox="1"/>
          <p:nvPr/>
        </p:nvSpPr>
        <p:spPr>
          <a:xfrm>
            <a:off x="824725" y="554301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b90f914c1_0_89"/>
          <p:cNvSpPr txBox="1"/>
          <p:nvPr/>
        </p:nvSpPr>
        <p:spPr>
          <a:xfrm>
            <a:off x="824725" y="1682325"/>
            <a:ext cx="10141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Já na modelagem generativa, não é necessário ter rótulos nos dados. O foco está em aprender os padrões internos do conjunto de dados para poder gerar novas amostras realistas, e não em prever categorias ou labels.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9b90f914c1_0_89"/>
          <p:cNvSpPr txBox="1"/>
          <p:nvPr/>
        </p:nvSpPr>
        <p:spPr>
          <a:xfrm>
            <a:off x="862833" y="727501"/>
            <a:ext cx="10619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2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 Generativa vs. Modelagem Discriminativa</a:t>
            </a:r>
            <a:endParaRPr sz="29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AAC57157-79B4-4D46-914D-7447FD0E5F2B}"/>
              </a:ext>
            </a:extLst>
          </p:cNvPr>
          <p:cNvSpPr txBox="1"/>
          <p:nvPr/>
        </p:nvSpPr>
        <p:spPr>
          <a:xfrm>
            <a:off x="1053324" y="554301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f10a1dfb7_0_11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7f10a1dfb7_0_11"/>
          <p:cNvSpPr txBox="1"/>
          <p:nvPr/>
        </p:nvSpPr>
        <p:spPr>
          <a:xfrm>
            <a:off x="1122910" y="3024917"/>
            <a:ext cx="98319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Generative </a:t>
            </a:r>
            <a:r>
              <a:rPr lang="en-ID" sz="47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Modeling</a:t>
            </a:r>
            <a:endParaRPr sz="4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b90f914c1_0_101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muito tempo, o avanço da inteligência artificial foi dominado pela modelagem discriminativa, já que os problemas generativos eram muito mais difíceis de resolver.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9b90f914c1_0_10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5DB5AD8A-A795-413B-8A48-5DCA6A90E49F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b90f914c1_0_107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fácil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pintura de Van Gogh do que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nova pintura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dele.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simples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Charles Dickens do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novo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convincente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9b90f914c1_0_10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43;g37f10a1dfb7_0_17">
            <a:extLst>
              <a:ext uri="{FF2B5EF4-FFF2-40B4-BE49-F238E27FC236}">
                <a16:creationId xmlns:a16="http://schemas.microsoft.com/office/drawing/2014/main" id="{3E6125A2-CB05-4541-9903-6EFC955E1C01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b90f914c1_0_113"/>
          <p:cNvSpPr txBox="1"/>
          <p:nvPr/>
        </p:nvSpPr>
        <p:spPr>
          <a:xfrm>
            <a:off x="767574" y="1325137"/>
            <a:ext cx="10733863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máquinas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pudessem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criatividade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fora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Contudo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10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amadurecimento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machine learning,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mudou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protagonizar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avanços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impressionantes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rostos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realistas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IA,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visíveis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2014.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9b90f914c1_0_113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CE66DFAE-21F5-4709-94F2-5EB599EB46F6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b90f914c1_0_139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Modeling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9b90f914c1_0_139"/>
          <p:cNvSpPr txBox="1"/>
          <p:nvPr/>
        </p:nvSpPr>
        <p:spPr>
          <a:xfrm>
            <a:off x="7114775" y="1945500"/>
            <a:ext cx="4232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Evolução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geração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de faces ao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longo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do tempo.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9b90f914c1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725" y="1998988"/>
            <a:ext cx="57150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A9AD1FB6-65C9-47BB-AB2E-A871162063C6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b90f914c1_0_148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dataset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Assumimos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acordo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desconhecida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P_data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9b90f914c1_0_148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Generative Modeling Framework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3C6A6E22-4183-4624-8425-2272A8F552E2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b90f914c1_0_119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Queremos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P_model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imite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P_data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atingirmos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P_model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parecem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extraídas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P_data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P_model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9b90f914c1_0_11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529FACD8-7C20-49CA-9840-E369BC72C056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b90f914c1_0_154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conceito de aprendizado de representações é central na modelagem generativa.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ideia é que, em vez de descrever um dado de alta dimensão diretamente (como uma imagem pixel a pixel), é muito mais eficiente descrevê-lo usando características abstratas e compactas.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9b90f914c1_0_15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9CB6F4E9-6BE5-4040-9D80-AF5C38832556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b90f914c1_0_160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precisasse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descrever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aparência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alguém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multidão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pixels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tenho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cabelo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óculos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informação de forma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concisa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9b90f914c1_0_160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E9680E26-A4E4-4B82-B029-E334D3373FAA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b90f914c1_0_166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é justamente a proposta do </a:t>
            </a:r>
            <a:r>
              <a:rPr lang="en-ID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representation learning</a:t>
            </a: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■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Transformar dados complexos (como imagens) em um espaço latente de menor dimensão.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■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 uma função de mapeamento que converte esse espaço latente de volta para o domínio original (ex.: imagem).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9b90f914c1_0_166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A811AE7A-7D3C-44E4-ABA5-F7385D953599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b90f914c1_0_172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Treinar modelos que usam um espaço latente traz uma grande vantagem: é possível alterar propriedades de alto nível das imagens manipulando seus vetores de representação nesse espaço mais simples.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9b90f914c1_0_17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F35D6745-B985-40A6-B750-D38339463DA3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b90f914c1_0_178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deixar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biscoito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fácil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pixel. Mas,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basta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relacionada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à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altura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9b90f914c1_0_178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D2F8919E-03F9-4237-96B8-CD79394BDB49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b90f914c1_0_184"/>
          <p:cNvSpPr txBox="1"/>
          <p:nvPr/>
        </p:nvSpPr>
        <p:spPr>
          <a:xfrm>
            <a:off x="824724" y="1682325"/>
            <a:ext cx="9862325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Decodificação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Muitos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imagens) em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latent;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amostrar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decodificam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volta para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domínio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original (imagens,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etc.).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9b90f914c1_0_18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B02DD821-C81D-4D09-BDC3-8C478539B592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b90f914c1_0_190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g39b90f914c1_0_190"/>
          <p:cNvSpPr txBox="1"/>
          <p:nvPr/>
        </p:nvSpPr>
        <p:spPr>
          <a:xfrm>
            <a:off x="5937775" y="1765987"/>
            <a:ext cx="56811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Matematicamente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essas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tentam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transformar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altamente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complexo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dos dados (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pixels) em um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simples 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amostrável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, em que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provavelmente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representa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válida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latin typeface="Calibri"/>
                <a:ea typeface="Calibri"/>
                <a:cs typeface="Calibri"/>
                <a:sym typeface="Calibri"/>
              </a:rPr>
              <a:t>coerente</a:t>
            </a:r>
            <a:r>
              <a:rPr lang="en-ID" sz="2400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9b90f914c1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450" y="1351650"/>
            <a:ext cx="4345826" cy="44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58D96DAC-3D4A-4C5E-A34B-C3D31EE1121B}"/>
              </a:ext>
            </a:extLst>
          </p:cNvPr>
          <p:cNvSpPr txBox="1"/>
          <p:nvPr/>
        </p:nvSpPr>
        <p:spPr>
          <a:xfrm>
            <a:off x="4968099" y="5659553"/>
            <a:ext cx="4904563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1fef2ff3b_0_64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81fef2ff3b_0_64"/>
          <p:cNvSpPr txBox="1"/>
          <p:nvPr/>
        </p:nvSpPr>
        <p:spPr>
          <a:xfrm>
            <a:off x="1222922" y="3017406"/>
            <a:ext cx="98319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Autoencoders</a:t>
            </a: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b90f914c1_0_198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Primeira sequência: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40, 27, 25, 36, 81, 57, 10, 73, 19, 68.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parece haver um padrão óbvio, o que torna mais difícil memorizar a sequência.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9b90f914c1_0_198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E13FCD16-86BB-4751-AF63-E5343A6E9B42}"/>
              </a:ext>
            </a:extLst>
          </p:cNvPr>
          <p:cNvSpPr txBox="1"/>
          <p:nvPr/>
        </p:nvSpPr>
        <p:spPr>
          <a:xfrm>
            <a:off x="596125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b90f914c1_0_210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Segunda sequência: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50, 48, 46, 44, 42, 40, 38, 36, 34, 32, 30, 28, 26, 24, 22, 20, 18, 16, 14.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sequência é apenas uma contagem regressiva de números pares de 50 até 14. Uma vez que o padrão é reconhecido, memorizar fica muito mais fácil.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b90f914c1_0_210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CE55DBC9-7972-4176-B54E-959705951512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b90f914c1_0_216"/>
          <p:cNvSpPr txBox="1"/>
          <p:nvPr/>
        </p:nvSpPr>
        <p:spPr>
          <a:xfrm>
            <a:off x="824725" y="1682325"/>
            <a:ext cx="1017665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reconhecimento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autoencoders,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redes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de forma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etapas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 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rede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reconhecimento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de entrada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Decoder 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reconstrói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dessa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interna.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9b90f914c1_0_216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B4D6C071-1420-49BF-A30C-685C62327777}"/>
              </a:ext>
            </a:extLst>
          </p:cNvPr>
          <p:cNvSpPr txBox="1"/>
          <p:nvPr/>
        </p:nvSpPr>
        <p:spPr>
          <a:xfrm>
            <a:off x="6168250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b90f914c1_0_222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Metáfora para Espaço Latente e Geração de Dados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 suas roupas todas jogadas no chão — calças, blusas, sapatos, casacos — de estilos variados. Seu estilista, Brian, está frustrado com a bagunça e propõe uma solução engenhosa: organizar tudo em um guarda-roupa infinito, onde cada peça tem um local específico.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9b90f914c1_0_22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3BB9D3B9-1638-47B5-8705-33729D554167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b90f914c1_0_228"/>
          <p:cNvSpPr txBox="1"/>
          <p:nvPr/>
        </p:nvSpPr>
        <p:spPr>
          <a:xfrm>
            <a:off x="824725" y="1682325"/>
            <a:ext cx="9964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Agora, sempre que você quiser uma peça, basta informar sua posição nesse guarda-roupa, e Brian a costura do zero com base na localização fornecida.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Logo, percebe-se que faz sentido colocar roupas semelhantes próximas umas das outras nesse espaço, para que Brian possa reconstruí-las com precisão apenas com a informação da posição.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9b90f914c1_0_228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7977D03F-4810-4914-88F6-6ED2CF9D2ED2}"/>
              </a:ext>
            </a:extLst>
          </p:cNvPr>
          <p:cNvSpPr txBox="1"/>
          <p:nvPr/>
        </p:nvSpPr>
        <p:spPr>
          <a:xfrm>
            <a:off x="638987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b90f914c1_0_234"/>
          <p:cNvSpPr txBox="1"/>
          <p:nvPr/>
        </p:nvSpPr>
        <p:spPr>
          <a:xfrm>
            <a:off x="824725" y="1682325"/>
            <a:ext cx="106197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guarda-roupa representa o espaço latente — um espaço organizado onde: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ponto corresponde a uma representação compacta de um dado real (ex.: uma roupa, uma imagem).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Itens similares estão próximos uns dos outros no espaço.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possível gerar novos dados (como Brian costura roupas) a partir de coordenadas nesse espaço, usando um decodificador.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9b90f914c1_0_23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1E4D2E52-D323-4C39-8C7C-4F03B5FC854E}"/>
              </a:ext>
            </a:extLst>
          </p:cNvPr>
          <p:cNvSpPr txBox="1"/>
          <p:nvPr/>
        </p:nvSpPr>
        <p:spPr>
          <a:xfrm>
            <a:off x="638987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b90f914c1_0_240"/>
          <p:cNvSpPr txBox="1"/>
          <p:nvPr/>
        </p:nvSpPr>
        <p:spPr>
          <a:xfrm>
            <a:off x="824725" y="1682325"/>
            <a:ext cx="10494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 metáfora ilustra de forma intuitiva como modelos generativos estruturam e utilizam o espaço latente para gerar novas amostras realistas.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9b90f914c1_0_240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C8E05113-42C9-4081-9882-BEC1CD7E4E3A}"/>
              </a:ext>
            </a:extLst>
          </p:cNvPr>
          <p:cNvSpPr txBox="1"/>
          <p:nvPr/>
        </p:nvSpPr>
        <p:spPr>
          <a:xfrm>
            <a:off x="624699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b90f914c1_0_246"/>
          <p:cNvSpPr txBox="1"/>
          <p:nvPr/>
        </p:nvSpPr>
        <p:spPr>
          <a:xfrm>
            <a:off x="824725" y="1682325"/>
            <a:ext cx="10494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vazia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nenhuma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Surpreendentemente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Brian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ainda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consegue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nova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algo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inédito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acervo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perfeito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plausível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9b90f914c1_0_246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03FB0156-7DD7-4B22-A86C-628B3B1E9342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b90f914c1_0_252"/>
          <p:cNvSpPr txBox="1"/>
          <p:nvPr/>
        </p:nvSpPr>
        <p:spPr>
          <a:xfrm>
            <a:off x="824725" y="1682325"/>
            <a:ext cx="10494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exemplo ilustra como, em modelos generativos: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o treinamento, o modelo entende o layout do espaço latente.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Mesmo pontos não vistos durante o treinamento podem ser amostrados e decodificados em dados novos e realistas.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Assim, o modelo não apenas recria dados existentes, mas gera criações originais, baseadas na estrutura que aprendeu.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9b90f914c1_0_25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27DF284B-68C9-4B6A-A82C-EBFE87E71FEB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b90f914c1_0_258"/>
          <p:cNvSpPr txBox="1"/>
          <p:nvPr/>
        </p:nvSpPr>
        <p:spPr>
          <a:xfrm>
            <a:off x="824725" y="1682325"/>
            <a:ext cx="10494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espaço latente se torna um mapa criativo, de onde o modelo pode gerar infinitas variações plausíveis — mesmo que nunca tenham sido vistas antes.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9b90f914c1_0_258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AF980DF4-4048-4F6A-9905-2616EC56040A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b90f914c1_0_204"/>
          <p:cNvSpPr txBox="1"/>
          <p:nvPr/>
        </p:nvSpPr>
        <p:spPr>
          <a:xfrm>
            <a:off x="824724" y="1682325"/>
            <a:ext cx="10505263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guarda-roupa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metáfora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um autoencoder: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o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atribuindo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guarda-roupa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Brian é o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guarda-roupa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original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localização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9b90f914c1_0_20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25E1FF3F-094D-4F0D-A28D-BF567714F36E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1fef2ff3b_0_84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81fef2ff3b_0_84"/>
          <p:cNvSpPr txBox="1"/>
          <p:nvPr/>
        </p:nvSpPr>
        <p:spPr>
          <a:xfrm>
            <a:off x="1180060" y="2710592"/>
            <a:ext cx="98319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b90f914c1_0_264"/>
          <p:cNvSpPr txBox="1"/>
          <p:nvPr/>
        </p:nvSpPr>
        <p:spPr>
          <a:xfrm>
            <a:off x="824725" y="1682325"/>
            <a:ext cx="102381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autoencoder é composto por duas partes principais: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Encoder: transforma dados de alta dimensão (como imagens) em uma representação compacta (latente).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Decoder: reconstrói os dados originais a partir dessa representação latente.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9b90f914c1_0_26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8FC8FC88-7E06-44A8-A3BB-B7D27CE7CEC2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b90f914c1_0_270"/>
          <p:cNvSpPr txBox="1"/>
          <p:nvPr/>
        </p:nvSpPr>
        <p:spPr>
          <a:xfrm>
            <a:off x="824725" y="1682325"/>
            <a:ext cx="102381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 processo de compressão + reconstrução permite que o modelo aprenda representações significativas dos dados — úteis tanto para reconstrução quanto para geração de novas amostras.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9b90f914c1_0_270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CB16FB59-B220-49A6-95CA-18DF7A5624E3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b90f914c1_0_278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g39b90f914c1_0_278"/>
          <p:cNvSpPr txBox="1"/>
          <p:nvPr/>
        </p:nvSpPr>
        <p:spPr>
          <a:xfrm>
            <a:off x="6237450" y="1504650"/>
            <a:ext cx="5607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“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guarda-roupa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[6.3, –0.9]).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g39b90f914c1_0_2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725" y="1826499"/>
            <a:ext cx="5244949" cy="34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D22DA1AD-CB50-4997-9EEE-9433A1EDF7E6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1fef2ff3b_0_92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g381fef2ff3b_0_92"/>
          <p:cNvSpPr txBox="1"/>
          <p:nvPr/>
        </p:nvSpPr>
        <p:spPr>
          <a:xfrm>
            <a:off x="6258875" y="1504650"/>
            <a:ext cx="56277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embedding, pois o 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“condenser”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máximo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informação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espaço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compacto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que o decoder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consiga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item original.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g381fef2ff3b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725" y="1826499"/>
            <a:ext cx="5244949" cy="34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3;g37f10a1dfb7_0_17">
            <a:extLst>
              <a:ext uri="{FF2B5EF4-FFF2-40B4-BE49-F238E27FC236}">
                <a16:creationId xmlns:a16="http://schemas.microsoft.com/office/drawing/2014/main" id="{1FA9598A-DDE4-42D5-B5C0-A2F882D8A2A0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b90f914c1_0_285"/>
          <p:cNvSpPr txBox="1"/>
          <p:nvPr/>
        </p:nvSpPr>
        <p:spPr>
          <a:xfrm>
            <a:off x="753287" y="1410862"/>
            <a:ext cx="1001948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autoencoder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rede neural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de entrada (ex.: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em um embedding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embedding.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rede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que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reconstruída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parecida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a entrada original.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9b90f914c1_0_28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que é um Autoencoder?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BE027439-0696-42B7-8A54-371A45F4FD2B}"/>
              </a:ext>
            </a:extLst>
          </p:cNvPr>
          <p:cNvSpPr txBox="1"/>
          <p:nvPr/>
        </p:nvSpPr>
        <p:spPr>
          <a:xfrm>
            <a:off x="6500813" y="5659553"/>
            <a:ext cx="52482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b90f914c1_0_291"/>
          <p:cNvSpPr txBox="1"/>
          <p:nvPr/>
        </p:nvSpPr>
        <p:spPr>
          <a:xfrm>
            <a:off x="824725" y="1682325"/>
            <a:ext cx="91575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Embora o objetivo principal de um autoencoder seja a reconstrução, ele também pode ser usado como um modelo generativo: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amostrar qualquer ponto no espaço latente — mesmo que não venha diretamente de um dado original.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decoder tentará gerar um novo item realista a partir desse ponto, criando algo original.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9b90f914c1_0_29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Capacidade Generativa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6955F97D-414E-4D0F-8FF2-9D35C9537E31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b90f914c1_0_297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g39b90f914c1_0_297"/>
          <p:cNvSpPr txBox="1"/>
          <p:nvPr/>
        </p:nvSpPr>
        <p:spPr>
          <a:xfrm>
            <a:off x="5691825" y="1504650"/>
            <a:ext cx="63552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saídas são chamadas de “reconstruções” porque o autoencoder tenta reconstruir as entradas.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função de custo: “reconstruction loss” → penaliza o modelo quando as reconstruções são diferentes das entradas (O modelo é treinado para minimizar essa diferença).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g39b90f914c1_0_2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" y="1504650"/>
            <a:ext cx="4475241" cy="38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9b90f914c1_0_297"/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b90f914c1_0_305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g39b90f914c1_0_305"/>
          <p:cNvSpPr txBox="1"/>
          <p:nvPr/>
        </p:nvSpPr>
        <p:spPr>
          <a:xfrm>
            <a:off x="5393888" y="1504650"/>
            <a:ext cx="63552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“reconstruction loss” →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penaliza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reconstruções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diferentes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entradas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g39b90f914c1_0_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" y="1504650"/>
            <a:ext cx="4475241" cy="38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603C47BE-6EC4-4D91-952F-F5EAC6CDA59C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b90f914c1_0_312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g39b90f914c1_0_312"/>
          <p:cNvSpPr txBox="1"/>
          <p:nvPr/>
        </p:nvSpPr>
        <p:spPr>
          <a:xfrm>
            <a:off x="5208163" y="1590375"/>
            <a:ext cx="66744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três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neurônios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entradas da rede.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oculta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neurônios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g39b90f914c1_0_3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5" y="1504650"/>
            <a:ext cx="4475241" cy="38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F0EF195C-EC51-40E1-8EAE-A87A59CA511C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b90f914c1_0_320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2" name="Google Shape;412;g39b90f914c1_0_320"/>
          <p:cNvSpPr txBox="1"/>
          <p:nvPr/>
        </p:nvSpPr>
        <p:spPr>
          <a:xfrm>
            <a:off x="5982488" y="1737525"/>
            <a:ext cx="57666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autoencoder linear simples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PCA em um conjunto de dados 3D,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-o em 2D (impede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9b90f914c1_0_320"/>
          <p:cNvSpPr txBox="1"/>
          <p:nvPr/>
        </p:nvSpPr>
        <p:spPr>
          <a:xfrm>
            <a:off x="585788" y="2023275"/>
            <a:ext cx="6024600" cy="22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1250" dirty="0">
              <a:solidFill>
                <a:srgbClr val="267F9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 err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 err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autoencoder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.keras.optimizers.SGD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autoencoder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.compile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mse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1828BB0C-7B87-4A43-B258-242615B1BB71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b90f914c1_0_328"/>
          <p:cNvSpPr txBox="1"/>
          <p:nvPr/>
        </p:nvSpPr>
        <p:spPr>
          <a:xfrm>
            <a:off x="824725" y="1682325"/>
            <a:ext cx="98480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subcomponentes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encoder e o decoder.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Ambos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Sequential Models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autoencoder é um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contém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encoder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seguido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decoder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autoencoder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igual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entradas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9b90f914c1_0_328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Autoencoder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A42D7C08-BBBC-40C7-9EE8-46150D2AD30B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9b90f914c1_0_334"/>
          <p:cNvSpPr txBox="1"/>
          <p:nvPr/>
        </p:nvSpPr>
        <p:spPr>
          <a:xfrm>
            <a:off x="824725" y="1682325"/>
            <a:ext cx="100560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um conjunto de dados 3D: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que o conjunto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input e targets.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9b90f914c1_0_334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Autoencoder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g39b90f914c1_0_334"/>
          <p:cNvSpPr txBox="1"/>
          <p:nvPr/>
        </p:nvSpPr>
        <p:spPr>
          <a:xfrm>
            <a:off x="1388600" y="2411155"/>
            <a:ext cx="74247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4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[...]  </a:t>
            </a:r>
            <a:r>
              <a:rPr lang="en-ID" sz="14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generate a 3D dataset</a:t>
            </a:r>
            <a:endParaRPr sz="14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history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4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autoencoder.fit(</a:t>
            </a: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epochs</a:t>
            </a:r>
            <a:r>
              <a:rPr lang="en-ID" sz="14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4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500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verbose</a:t>
            </a:r>
            <a:r>
              <a:rPr lang="en-ID" sz="14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4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5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codings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45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encoder.predict(</a:t>
            </a:r>
            <a:r>
              <a:rPr lang="en-ID" sz="14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45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5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2291824C-5ECC-42EC-A4D9-BBE57B54BF4F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b90f914c1_0_341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Representações de dados eficientes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g39b90f914c1_0_341"/>
          <p:cNvSpPr txBox="1"/>
          <p:nvPr/>
        </p:nvSpPr>
        <p:spPr>
          <a:xfrm>
            <a:off x="5393900" y="1504650"/>
            <a:ext cx="6078963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oculta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autoencoder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encoder). O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encontrou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2D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preservando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máximo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possível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PCA).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g39b90f914c1_0_3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75" y="1580725"/>
            <a:ext cx="4818900" cy="35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90;g39b90f914c1_0_297">
            <a:extLst>
              <a:ext uri="{FF2B5EF4-FFF2-40B4-BE49-F238E27FC236}">
                <a16:creationId xmlns:a16="http://schemas.microsoft.com/office/drawing/2014/main" id="{B1BEE059-495D-4C17-817F-A8F9EF0E8937}"/>
              </a:ext>
            </a:extLst>
          </p:cNvPr>
          <p:cNvSpPr txBox="1"/>
          <p:nvPr/>
        </p:nvSpPr>
        <p:spPr>
          <a:xfrm>
            <a:off x="442913" y="5682636"/>
            <a:ext cx="78724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b90f914c1_0_357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9b90f914c1_0_357"/>
          <p:cNvSpPr txBox="1"/>
          <p:nvPr/>
        </p:nvSpPr>
        <p:spPr>
          <a:xfrm>
            <a:off x="1151485" y="3039204"/>
            <a:ext cx="98319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Stacked Autoencoders</a:t>
            </a: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b90f914c1_0_362"/>
          <p:cNvSpPr txBox="1"/>
          <p:nvPr/>
        </p:nvSpPr>
        <p:spPr>
          <a:xfrm>
            <a:off x="824725" y="1682325"/>
            <a:ext cx="83976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Stacked Autoencoders: autoencoder com vários camadas ocultas.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camadas ajudam o autoencoder a aprender codificações mais complexas.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9b90f914c1_0_36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Stacked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18687FE1-C0CD-48B8-BF6C-6A9F1FB410FF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b90f914c1_0_369"/>
          <p:cNvSpPr txBox="1"/>
          <p:nvPr/>
        </p:nvSpPr>
        <p:spPr>
          <a:xfrm>
            <a:off x="600075" y="1682325"/>
            <a:ext cx="11044237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excessiva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memorizar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dados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(ex.: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 com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arbitrário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decodificá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-la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perfeitamente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leva a overfitting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generalizáveis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perfeitamente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corretamente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9b90f914c1_0_36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Stacked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43;g37f10a1dfb7_0_17">
            <a:extLst>
              <a:ext uri="{FF2B5EF4-FFF2-40B4-BE49-F238E27FC236}">
                <a16:creationId xmlns:a16="http://schemas.microsoft.com/office/drawing/2014/main" id="{9800733D-602C-4F4A-AF42-594D82B1DBA4}"/>
              </a:ext>
            </a:extLst>
          </p:cNvPr>
          <p:cNvSpPr txBox="1"/>
          <p:nvPr/>
        </p:nvSpPr>
        <p:spPr>
          <a:xfrm>
            <a:off x="553262" y="5659553"/>
            <a:ext cx="740487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2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FOSTER, 2023.</a:t>
            </a:r>
            <a:endParaRPr sz="12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9b90f914c1_0_375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Stacked Autoencoders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g39b90f914c1_0_375"/>
          <p:cNvSpPr txBox="1"/>
          <p:nvPr/>
        </p:nvSpPr>
        <p:spPr>
          <a:xfrm>
            <a:off x="5393900" y="1504650"/>
            <a:ext cx="66744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arquitetura de um autoencoder empilhado é normalmente simétrica em relação à camada oculta central (a camada de encoder).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g39b90f914c1_0_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50" y="1504650"/>
            <a:ext cx="4577550" cy="37612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9512550B-2AB2-4C72-8679-4219E8B5B281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b90f914c1_0_383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 dirty="0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Stacked Autoencoders</a:t>
            </a:r>
            <a:endParaRPr sz="4000" b="1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g39b90f914c1_0_383"/>
          <p:cNvSpPr txBox="1"/>
          <p:nvPr/>
        </p:nvSpPr>
        <p:spPr>
          <a:xfrm>
            <a:off x="5970000" y="1504650"/>
            <a:ext cx="55743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foi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subcomponentes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 encoder e o decoder.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imagens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gray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scale (28 × 28) pixels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784 (Flatten).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9b90f914c1_0_383"/>
          <p:cNvSpPr txBox="1"/>
          <p:nvPr/>
        </p:nvSpPr>
        <p:spPr>
          <a:xfrm>
            <a:off x="567575" y="1720500"/>
            <a:ext cx="6617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stacked_encoder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tf.keras.layers.Flatten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stacked_decoder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tf.keras.layers.Reshape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stacked_encoder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stacked_decoder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.compile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mse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nadam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history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.fit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epochs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validation_data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X_valid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X_valid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8" name="Google Shape;478;g39b90f914c1_0_383"/>
          <p:cNvSpPr/>
          <p:nvPr/>
        </p:nvSpPr>
        <p:spPr>
          <a:xfrm>
            <a:off x="567125" y="1806725"/>
            <a:ext cx="3886800" cy="1073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12ABD878-E115-4771-840C-7B88F6BA5DA4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9b90f914c1_0_399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Stacked Autoencoders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g39b90f914c1_0_399"/>
          <p:cNvSpPr txBox="1"/>
          <p:nvPr/>
        </p:nvSpPr>
        <p:spPr>
          <a:xfrm>
            <a:off x="6087675" y="1504650"/>
            <a:ext cx="5661413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decrescentes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(100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30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entrada, o 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30.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9b90f914c1_0_399"/>
          <p:cNvSpPr txBox="1"/>
          <p:nvPr/>
        </p:nvSpPr>
        <p:spPr>
          <a:xfrm>
            <a:off x="753313" y="1691925"/>
            <a:ext cx="6617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stacked_encoder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tf.keras.layers.Flatten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stacked_decoder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tf.keras.layers.Reshape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stacked_encoder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stacked_decoder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.compile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mse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nadam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history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.fit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epochs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validation_data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X_valid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X_valid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g39b90f914c1_0_399"/>
          <p:cNvSpPr/>
          <p:nvPr/>
        </p:nvSpPr>
        <p:spPr>
          <a:xfrm>
            <a:off x="738575" y="1778150"/>
            <a:ext cx="3886800" cy="1073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74C83280-6690-4DF3-A737-423663A3E536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9b90f914c1_0_407"/>
          <p:cNvSpPr txBox="1"/>
          <p:nvPr/>
        </p:nvSpPr>
        <p:spPr>
          <a:xfrm>
            <a:off x="0" y="730180"/>
            <a:ext cx="12192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Stacked Autoencoders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g39b90f914c1_0_407"/>
          <p:cNvSpPr txBox="1"/>
          <p:nvPr/>
        </p:nvSpPr>
        <p:spPr>
          <a:xfrm>
            <a:off x="6087675" y="1504650"/>
            <a:ext cx="52566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decoder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recebe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saída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através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densas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crescentes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(100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784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unidades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28 × 28.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9b90f914c1_0_407"/>
          <p:cNvSpPr txBox="1"/>
          <p:nvPr/>
        </p:nvSpPr>
        <p:spPr>
          <a:xfrm>
            <a:off x="653300" y="1720500"/>
            <a:ext cx="6617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stacked_encoder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tf.keras.layers.Flatten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stacked_decoder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tf.keras.layers.Reshape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stacked_encoder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stacked_decoder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.compile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loss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mse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nadam</a:t>
            </a:r>
            <a:r>
              <a:rPr lang="en-ID" sz="10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history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stacked_ae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.fit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epochs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</a:t>
            </a:r>
            <a:r>
              <a:rPr lang="en-ID" sz="10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validation_data</a:t>
            </a:r>
            <a:r>
              <a:rPr lang="en-ID" sz="10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X_valid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0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X_valid</a:t>
            </a:r>
            <a:r>
              <a:rPr lang="en-ID" sz="10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g39b90f914c1_0_407"/>
          <p:cNvSpPr/>
          <p:nvPr/>
        </p:nvSpPr>
        <p:spPr>
          <a:xfrm>
            <a:off x="638563" y="2887315"/>
            <a:ext cx="3886800" cy="1073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90;g39b90f914c1_0_297">
            <a:extLst>
              <a:ext uri="{FF2B5EF4-FFF2-40B4-BE49-F238E27FC236}">
                <a16:creationId xmlns:a16="http://schemas.microsoft.com/office/drawing/2014/main" id="{A17AB544-3A78-494C-8564-F0D13ADE3DCE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9b90f914c1_0_424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9b90f914c1_0_424"/>
          <p:cNvSpPr txBox="1"/>
          <p:nvPr/>
        </p:nvSpPr>
        <p:spPr>
          <a:xfrm>
            <a:off x="1165773" y="2996342"/>
            <a:ext cx="98319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Convolutional Autoencoders</a:t>
            </a:r>
            <a:endParaRPr sz="40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9b90f914c1_0_429"/>
          <p:cNvSpPr txBox="1"/>
          <p:nvPr/>
        </p:nvSpPr>
        <p:spPr>
          <a:xfrm>
            <a:off x="824725" y="1682325"/>
            <a:ext cx="98850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Limitação dos autoencoders densos (fully connected):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Autoencoders baseados apenas em camadas densas não funcionam bem com imagens grandes.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 porque eles não exploram a estrutura espacial da imagem (altura, largura, padrões locais).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9b90f914c1_0_42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Convolutional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B538B95E-945C-4D95-A323-24653383863D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b90f914c1_0_435"/>
          <p:cNvSpPr txBox="1"/>
          <p:nvPr/>
        </p:nvSpPr>
        <p:spPr>
          <a:xfrm>
            <a:off x="824725" y="1682325"/>
            <a:ext cx="98850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Convolutional Autoencoders (CAEs):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autoencoders cuja arquitetura é baseada em convolutional neural networks (CNNs).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Eles são mais eficientes e eficazes para compressão, reconstrução e representação de imagens.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9b90f914c1_0_435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Convolutional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01959077-2A96-4347-ABF8-B59C517041E5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9b90f914c1_0_441"/>
          <p:cNvSpPr txBox="1"/>
          <p:nvPr/>
        </p:nvSpPr>
        <p:spPr>
          <a:xfrm>
            <a:off x="824725" y="1682325"/>
            <a:ext cx="10533838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Encoder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Composto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■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convolucionais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capturam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■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pooling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reduzem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dimensionalidade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espacial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reduzir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altura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largura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enquanto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profundidade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9b90f914c1_0_44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Convolutional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1C71AFAC-B7AD-4428-9F76-0CBE68362C11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9b90f914c1_0_447"/>
          <p:cNvSpPr txBox="1"/>
          <p:nvPr/>
        </p:nvSpPr>
        <p:spPr>
          <a:xfrm>
            <a:off x="824725" y="1682325"/>
            <a:ext cx="94035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Decoder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reverter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altura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largura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reduzir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profundidade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○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-se usar: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■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transposta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(transpose convolution)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■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upsampling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convolução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9b90f914c1_0_447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Convolutional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2166FDFA-2DB6-40D7-A8F0-3F7A61D49144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b90f914c1_0_456"/>
          <p:cNvSpPr/>
          <p:nvPr/>
        </p:nvSpPr>
        <p:spPr>
          <a:xfrm>
            <a:off x="1180011" y="2485756"/>
            <a:ext cx="9831900" cy="1886400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9b90f914c1_0_456"/>
          <p:cNvSpPr txBox="1"/>
          <p:nvPr/>
        </p:nvSpPr>
        <p:spPr>
          <a:xfrm>
            <a:off x="1051473" y="3010630"/>
            <a:ext cx="9831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7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</a:t>
            </a: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7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9b90f914c1_0_461"/>
          <p:cNvSpPr txBox="1"/>
          <p:nvPr/>
        </p:nvSpPr>
        <p:spPr>
          <a:xfrm>
            <a:off x="824725" y="1682325"/>
            <a:ext cx="98850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autoencoders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(denoising autoencoders)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entradas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ruidosas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têm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reconstruir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entradas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Essa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força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representações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9b90f914c1_0_461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340E568C-AD0E-4D3D-B6B4-8D2A9A3FD797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9b90f914c1_0_472"/>
          <p:cNvSpPr txBox="1"/>
          <p:nvPr/>
        </p:nvSpPr>
        <p:spPr>
          <a:xfrm>
            <a:off x="824725" y="1682325"/>
            <a:ext cx="8536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um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limitamos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encoder,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tornando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incompleto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encoder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 que a entrada).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maneira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fazer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autoencoder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úteis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entradas,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-o para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entradas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originais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9b90f914c1_0_472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4219D512-A0B4-4A2E-8E45-F891051BEF7A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9b90f914c1_0_478"/>
          <p:cNvSpPr txBox="1"/>
          <p:nvPr/>
        </p:nvSpPr>
        <p:spPr>
          <a:xfrm>
            <a:off x="0" y="730180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 usando Keras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g39b90f914c1_0_478"/>
          <p:cNvSpPr txBox="1"/>
          <p:nvPr/>
        </p:nvSpPr>
        <p:spPr>
          <a:xfrm>
            <a:off x="6886850" y="1504650"/>
            <a:ext cx="4514575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ideia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um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empilhado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Dropout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adicional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entradas do encoder.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9b90f914c1_0_478"/>
          <p:cNvSpPr txBox="1"/>
          <p:nvPr/>
        </p:nvSpPr>
        <p:spPr>
          <a:xfrm>
            <a:off x="671300" y="1641188"/>
            <a:ext cx="6734100" cy="3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tf.keras.layers.Flatten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tf.keras.layers.Dropout</a:t>
            </a:r>
            <a:r>
              <a:rPr lang="en-ID" sz="1250" dirty="0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-ID" sz="1250" dirty="0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tf.keras.layers.Reshape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dropout_ae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83B4115E-6916-4ADE-84E1-2C1EDD8D20E4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b90f914c1_0_487"/>
          <p:cNvSpPr txBox="1"/>
          <p:nvPr/>
        </p:nvSpPr>
        <p:spPr>
          <a:xfrm>
            <a:off x="0" y="730180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 usando Keras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g39b90f914c1_0_487"/>
          <p:cNvSpPr txBox="1"/>
          <p:nvPr/>
        </p:nvSpPr>
        <p:spPr>
          <a:xfrm>
            <a:off x="6686825" y="1504650"/>
            <a:ext cx="4757463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Dropout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só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ativa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treinamento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invés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Dropout, um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Gaussiano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também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9b90f914c1_0_487"/>
          <p:cNvSpPr txBox="1"/>
          <p:nvPr/>
        </p:nvSpPr>
        <p:spPr>
          <a:xfrm>
            <a:off x="642725" y="1655475"/>
            <a:ext cx="6734100" cy="3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tf.keras.layers.Flatten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tf.keras.layers.Dropout</a:t>
            </a:r>
            <a:r>
              <a:rPr lang="en-ID" sz="1250" dirty="0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-ID" sz="1250" dirty="0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tf.keras.layers.Reshape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dropout_ae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BC9ABEB3-9727-4131-88ED-0C797AB5360B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9b90f914c1_0_494"/>
          <p:cNvSpPr txBox="1"/>
          <p:nvPr/>
        </p:nvSpPr>
        <p:spPr>
          <a:xfrm>
            <a:off x="0" y="730180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 usando Keras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g39b90f914c1_0_494"/>
          <p:cNvSpPr txBox="1"/>
          <p:nvPr/>
        </p:nvSpPr>
        <p:spPr>
          <a:xfrm>
            <a:off x="6558238" y="1490363"/>
            <a:ext cx="53817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simples: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-se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arquitetura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autoencoder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empilhado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adicionando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Dropout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GaussianNoise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entradas do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codificador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9b90f914c1_0_494"/>
          <p:cNvSpPr txBox="1"/>
          <p:nvPr/>
        </p:nvSpPr>
        <p:spPr>
          <a:xfrm>
            <a:off x="657012" y="1641188"/>
            <a:ext cx="6734100" cy="3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tf.keras.layers.Flatten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tf.keras.layers.Dropout</a:t>
            </a:r>
            <a:r>
              <a:rPr lang="en-ID" sz="1250" dirty="0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-ID" sz="1250" dirty="0">
                <a:solidFill>
                  <a:srgbClr val="3B3B3B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activation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relu</a:t>
            </a:r>
            <a:r>
              <a:rPr lang="en-ID" sz="125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tf.keras.layers.Dense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tf.keras.layers.Reshape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28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dropout_ae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50" dirty="0" err="1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tf.keras.Sequential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dropout_encoder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D" sz="1250" dirty="0" err="1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dropout_decoder</a:t>
            </a:r>
            <a:r>
              <a:rPr lang="en-ID" sz="1250" dirty="0">
                <a:solidFill>
                  <a:srgbClr val="3B3B3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dirty="0">
              <a:solidFill>
                <a:srgbClr val="3B3B3B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F40BE118-7D83-4D55-900D-834DBC82A210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9b90f914c1_0_501"/>
          <p:cNvSpPr txBox="1"/>
          <p:nvPr/>
        </p:nvSpPr>
        <p:spPr>
          <a:xfrm>
            <a:off x="0" y="730180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 usando Keras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g39b90f914c1_0_501"/>
          <p:cNvSpPr txBox="1"/>
          <p:nvPr/>
        </p:nvSpPr>
        <p:spPr>
          <a:xfrm>
            <a:off x="687975" y="1376062"/>
            <a:ext cx="1118040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Imagens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pixels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desligados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dropout) e as imagens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reconstruídas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autoencoder. Observe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encoder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adivinha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detalhes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entrada,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superior da camisa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linha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inferior,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 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0" name="Google Shape;590;g39b90f914c1_0_5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300" y="3360487"/>
            <a:ext cx="5715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0;g39b90f914c1_0_297">
            <a:extLst>
              <a:ext uri="{FF2B5EF4-FFF2-40B4-BE49-F238E27FC236}">
                <a16:creationId xmlns:a16="http://schemas.microsoft.com/office/drawing/2014/main" id="{4AF89CCC-D527-4331-A18A-5C7956B46403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9b90f914c1_0_509"/>
          <p:cNvSpPr txBox="1"/>
          <p:nvPr/>
        </p:nvSpPr>
        <p:spPr>
          <a:xfrm>
            <a:off x="824725" y="1682325"/>
            <a:ext cx="8536800" cy="38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encoder com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eliminação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​​de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maneira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simples e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eficiente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remover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imagens.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9b90f914c1_0_509"/>
          <p:cNvSpPr txBox="1"/>
          <p:nvPr/>
        </p:nvSpPr>
        <p:spPr>
          <a:xfrm>
            <a:off x="862833" y="727501"/>
            <a:ext cx="1061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4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Denoising Autoencoders</a:t>
            </a:r>
            <a:endParaRPr sz="4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390;g39b90f914c1_0_297">
            <a:extLst>
              <a:ext uri="{FF2B5EF4-FFF2-40B4-BE49-F238E27FC236}">
                <a16:creationId xmlns:a16="http://schemas.microsoft.com/office/drawing/2014/main" id="{8494E4C3-7C9E-4C44-B543-1708395311B6}"/>
              </a:ext>
            </a:extLst>
          </p:cNvPr>
          <p:cNvSpPr txBox="1"/>
          <p:nvPr/>
        </p:nvSpPr>
        <p:spPr>
          <a:xfrm>
            <a:off x="442913" y="5682636"/>
            <a:ext cx="7643812" cy="23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0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Verdana"/>
              </a:rPr>
              <a:t>Fonte: GÉRON, 2022.</a:t>
            </a:r>
            <a:endParaRPr sz="105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9b90f914c1_0_523"/>
          <p:cNvSpPr txBox="1"/>
          <p:nvPr/>
        </p:nvSpPr>
        <p:spPr>
          <a:xfrm>
            <a:off x="0" y="730180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Referências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g39b90f914c1_0_523"/>
          <p:cNvSpPr txBox="1"/>
          <p:nvPr/>
        </p:nvSpPr>
        <p:spPr>
          <a:xfrm>
            <a:off x="5477850" y="1504650"/>
            <a:ext cx="5995013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GÉRON, </a:t>
            </a:r>
            <a:r>
              <a:rPr lang="en-ID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Aurélien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Hands-On Machine Learning with Scikit-Learn,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Keras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ID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Tensorflow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Concepts, Tools, and Techniques to Build Intelligent Systems. Sebastopol: O'Reilly Media; 3nd ed. 2022.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8" name="Google Shape;608;g39b90f914c1_0_5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65" y="1072525"/>
            <a:ext cx="3504979" cy="461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894697F-E934-4625-AD13-D7653B38A626}"/>
              </a:ext>
            </a:extLst>
          </p:cNvPr>
          <p:cNvSpPr txBox="1"/>
          <p:nvPr/>
        </p:nvSpPr>
        <p:spPr>
          <a:xfrm rot="16200000">
            <a:off x="146500" y="5013280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Imagem: </a:t>
            </a:r>
            <a:r>
              <a:rPr lang="pt-B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</a:t>
            </a:r>
            <a:r>
              <a:rPr lang="pt-B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9b90f914c1_0_531"/>
          <p:cNvSpPr txBox="1"/>
          <p:nvPr/>
        </p:nvSpPr>
        <p:spPr>
          <a:xfrm>
            <a:off x="0" y="730180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D" sz="4000" b="1">
                <a:solidFill>
                  <a:srgbClr val="379FDE"/>
                </a:solidFill>
                <a:latin typeface="Montserrat"/>
                <a:ea typeface="Montserrat"/>
                <a:cs typeface="Montserrat"/>
                <a:sym typeface="Montserrat"/>
              </a:rPr>
              <a:t>Referências</a:t>
            </a: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379F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g39b90f914c1_0_531"/>
          <p:cNvSpPr txBox="1"/>
          <p:nvPr/>
        </p:nvSpPr>
        <p:spPr>
          <a:xfrm>
            <a:off x="5129214" y="1504650"/>
            <a:ext cx="6115050" cy="29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FOSTER, David. </a:t>
            </a:r>
            <a:r>
              <a:rPr lang="en-ID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Deep Learning</a:t>
            </a:r>
            <a:r>
              <a:rPr lang="en-ID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Sebastopol: O'Reilly Media; 2nd ed. 2023.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5" name="Google Shape;615;g39b90f914c1_0_5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000" y="1294350"/>
            <a:ext cx="3504975" cy="468779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CC17CB1-0F43-47DB-B148-E5931A909AFA}"/>
              </a:ext>
            </a:extLst>
          </p:cNvPr>
          <p:cNvSpPr txBox="1"/>
          <p:nvPr/>
        </p:nvSpPr>
        <p:spPr>
          <a:xfrm rot="16200000">
            <a:off x="175075" y="5227513"/>
            <a:ext cx="1125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Imagem: </a:t>
            </a:r>
            <a:r>
              <a:rPr lang="pt-BR" sz="1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</a:t>
            </a:r>
            <a:r>
              <a:rPr lang="pt-B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Personalizar design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Personalizar design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B50C177-CA84-4E62-8E1C-76D0C3838418}"/>
</file>

<file path=customXml/itemProps2.xml><?xml version="1.0" encoding="utf-8"?>
<ds:datastoreItem xmlns:ds="http://schemas.openxmlformats.org/officeDocument/2006/customXml" ds:itemID="{EA3A1A78-4F74-4842-8509-4908831C8D85}"/>
</file>

<file path=customXml/itemProps3.xml><?xml version="1.0" encoding="utf-8"?>
<ds:datastoreItem xmlns:ds="http://schemas.openxmlformats.org/officeDocument/2006/customXml" ds:itemID="{8E436149-B051-4B09-B917-754B009EF31C}"/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4495</Words>
  <Application>Microsoft Office PowerPoint</Application>
  <PresentationFormat>Widescreen</PresentationFormat>
  <Paragraphs>384</Paragraphs>
  <Slides>85</Slides>
  <Notes>85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85</vt:i4>
      </vt:variant>
    </vt:vector>
  </HeadingPairs>
  <TitlesOfParts>
    <vt:vector size="93" baseType="lpstr">
      <vt:lpstr>Arial</vt:lpstr>
      <vt:lpstr>Noto Sans Symbols</vt:lpstr>
      <vt:lpstr>Calibri</vt:lpstr>
      <vt:lpstr>Montserrat</vt:lpstr>
      <vt:lpstr>Consolas</vt:lpstr>
      <vt:lpstr>10_Personalizar design</vt:lpstr>
      <vt:lpstr>5_Personalizar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16</cp:revision>
  <dcterms:created xsi:type="dcterms:W3CDTF">2025-06-11T21:44:24Z</dcterms:created>
  <dcterms:modified xsi:type="dcterms:W3CDTF">2025-12-10T20:01:54Z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