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sldIdLst>
    <p:sldId id="268" r:id="rId5"/>
    <p:sldId id="273" r:id="rId6"/>
    <p:sldId id="269" r:id="rId7"/>
    <p:sldId id="275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74" r:id="rId28"/>
    <p:sldId id="297" r:id="rId29"/>
    <p:sldId id="298" r:id="rId30"/>
    <p:sldId id="299" r:id="rId31"/>
    <p:sldId id="300" r:id="rId32"/>
    <p:sldId id="301" r:id="rId33"/>
    <p:sldId id="303" r:id="rId34"/>
    <p:sldId id="304" r:id="rId35"/>
    <p:sldId id="305" r:id="rId36"/>
    <p:sldId id="302" r:id="rId37"/>
    <p:sldId id="306" r:id="rId38"/>
    <p:sldId id="307" r:id="rId39"/>
    <p:sldId id="308" r:id="rId40"/>
    <p:sldId id="309" r:id="rId41"/>
    <p:sldId id="296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0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1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53" r:id="rId85"/>
    <p:sldId id="354" r:id="rId86"/>
    <p:sldId id="355" r:id="rId87"/>
    <p:sldId id="356" r:id="rId88"/>
    <p:sldId id="357" r:id="rId89"/>
    <p:sldId id="358" r:id="rId90"/>
    <p:sldId id="359" r:id="rId91"/>
    <p:sldId id="360" r:id="rId92"/>
    <p:sldId id="361" r:id="rId93"/>
    <p:sldId id="259" r:id="rId94"/>
    <p:sldId id="363" r:id="rId95"/>
    <p:sldId id="264" r:id="rId96"/>
  </p:sldIdLst>
  <p:sldSz cx="12192000" cy="6858000"/>
  <p:notesSz cx="6858000" cy="9144000"/>
  <p:embeddedFontLst>
    <p:embeddedFont>
      <p:font typeface="Calibri" panose="020F0502020204030204" pitchFamily="34" charset="0"/>
      <p:regular r:id="rId97"/>
      <p:bold r:id="rId98"/>
      <p:italic r:id="rId99"/>
      <p:boldItalic r:id="rId100"/>
    </p:embeddedFont>
    <p:embeddedFont>
      <p:font typeface="Cronos Pro" panose="020C0502030403020304" pitchFamily="34" charset="0"/>
      <p:regular r:id="rId101"/>
      <p:bold r:id="rId102"/>
      <p:italic r:id="rId103"/>
    </p:embeddedFont>
    <p:embeddedFont>
      <p:font typeface="Montserrat" pitchFamily="2" charset="0"/>
      <p:regular r:id="rId104"/>
      <p:bold r:id="rId105"/>
      <p:italic r:id="rId106"/>
      <p:boldItalic r:id="rId107"/>
    </p:embeddedFont>
    <p:embeddedFont>
      <p:font typeface="Roboto" pitchFamily="2" charset="0"/>
      <p:regular r:id="rId108"/>
      <p:bold r:id="rId109"/>
      <p:italic r:id="rId110"/>
      <p:boldItalic r:id="rId11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9FDE"/>
    <a:srgbClr val="2087C6"/>
    <a:srgbClr val="FFD230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10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customXml" Target="../customXml/item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presProps" Target="presProps.xml"/><Relationship Id="rId16" Type="http://schemas.openxmlformats.org/officeDocument/2006/relationships/slide" Target="slides/slide12.xml"/><Relationship Id="rId107" Type="http://schemas.openxmlformats.org/officeDocument/2006/relationships/font" Target="fonts/font11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font" Target="fonts/font6.fntdata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viewProps" Target="viewProps.xml"/><Relationship Id="rId118" Type="http://schemas.openxmlformats.org/officeDocument/2006/relationships/customXml" Target="../customXml/item3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font" Target="fonts/font7.fntdata"/><Relationship Id="rId108" Type="http://schemas.openxmlformats.org/officeDocument/2006/relationships/font" Target="fonts/font12.fntdata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font" Target="fonts/font3.fntdata"/><Relationship Id="rId10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13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font" Target="fonts/font1.fntdata"/><Relationship Id="rId104" Type="http://schemas.openxmlformats.org/officeDocument/2006/relationships/font" Target="fonts/font8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font" Target="fonts/font14.fntdata"/><Relationship Id="rId115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font" Target="fonts/font4.fntdata"/><Relationship Id="rId105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customXml" Target="../customXml/item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font" Target="fonts/font15.fntdata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459503"/>
            <a:ext cx="98319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Transformers e </a:t>
            </a:r>
            <a:r>
              <a:rPr lang="en-ID" sz="6000" b="1" kern="0" dirty="0" err="1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modelos</a:t>
            </a:r>
            <a:r>
              <a:rPr lang="en-ID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 GPT</a:t>
            </a: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610464"/>
            <a:ext cx="983197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1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Introdução a Transformers </a:t>
            </a:r>
          </a:p>
          <a:p>
            <a:pPr algn="ctr"/>
            <a:r>
              <a:rPr lang="pt-BR" sz="51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e modelos GPT</a:t>
            </a:r>
            <a:endParaRPr lang="en-ID" sz="51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392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 err="1"/>
              <a:t>OpenAI</a:t>
            </a:r>
            <a:r>
              <a:rPr lang="pt-BR" sz="2400" dirty="0"/>
              <a:t> apresentou o GPT em junho de 2018, no artigo “</a:t>
            </a:r>
            <a:r>
              <a:rPr lang="pt-BR" sz="2400" dirty="0" err="1"/>
              <a:t>Improving</a:t>
            </a:r>
            <a:r>
              <a:rPr lang="pt-BR" sz="2400" dirty="0"/>
              <a:t> </a:t>
            </a:r>
            <a:r>
              <a:rPr lang="pt-BR" sz="2400" dirty="0" err="1"/>
              <a:t>Language</a:t>
            </a:r>
            <a:r>
              <a:rPr lang="pt-BR" sz="2400" dirty="0"/>
              <a:t> </a:t>
            </a:r>
            <a:r>
              <a:rPr lang="pt-BR" sz="2400" dirty="0" err="1"/>
              <a:t>Understanding</a:t>
            </a:r>
            <a:r>
              <a:rPr lang="pt-BR" sz="2400" dirty="0"/>
              <a:t> </a:t>
            </a:r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Generative</a:t>
            </a:r>
            <a:r>
              <a:rPr lang="pt-BR" sz="2400" dirty="0"/>
              <a:t> </a:t>
            </a:r>
            <a:r>
              <a:rPr lang="pt-BR" sz="2400" dirty="0" err="1"/>
              <a:t>Pre</a:t>
            </a:r>
            <a:r>
              <a:rPr lang="pt-BR" sz="2400" dirty="0"/>
              <a:t>-Training”, quase exatamente um ano após o aparecimento do artigo original do Transformer (Google).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Técnica tem sido usada para geração de textos.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Transformers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6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en-US" sz="2400" dirty="0"/>
              <a:t>“Transformer: A Novel Neural Network Architecture for Language Understanding”. (Google, 2017)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https://blog.research.google/2017/08/transformer-novel-neural-network.html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Transformers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08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b="1" dirty="0"/>
              <a:t>Transformers</a:t>
            </a:r>
            <a:r>
              <a:rPr lang="pt-BR" sz="2400" dirty="0"/>
              <a:t> são redes neurais utilizadas para modelagem sequencial que não requerem arquiteturas recorrentes ou </a:t>
            </a:r>
            <a:r>
              <a:rPr lang="pt-BR" sz="2400" dirty="0" err="1"/>
              <a:t>convolucionais</a:t>
            </a:r>
            <a:r>
              <a:rPr lang="pt-BR" sz="2400" dirty="0"/>
              <a:t> complexas, mas que dependem apenas de </a:t>
            </a:r>
            <a:r>
              <a:rPr lang="pt-BR" sz="2400" b="1" dirty="0"/>
              <a:t>mecanismos de atenção</a:t>
            </a:r>
            <a:r>
              <a:rPr lang="pt-BR" sz="2400" dirty="0"/>
              <a:t>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Desvantagens da RNN: processa sequências de um token por vez (de forma não paralela).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Transformers são paralelizáveis → treinamento em conjuntos de dados massivos.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Transformers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4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Modelo que alimenta o modelo GPT-4 da </a:t>
            </a:r>
            <a:r>
              <a:rPr lang="pt-BR" sz="2400" dirty="0" err="1"/>
              <a:t>OpenAI</a:t>
            </a:r>
            <a:r>
              <a:rPr lang="pt-BR" sz="2400" dirty="0"/>
              <a:t>. </a:t>
            </a:r>
            <a:r>
              <a:rPr lang="pt-BR" sz="2400" dirty="0" err="1"/>
              <a:t>Paper</a:t>
            </a:r>
            <a:r>
              <a:rPr lang="pt-BR" sz="2400" dirty="0"/>
              <a:t> original publicado em 2018.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“</a:t>
            </a:r>
            <a:r>
              <a:rPr lang="pt-BR" sz="2400" dirty="0" err="1"/>
              <a:t>Improving</a:t>
            </a:r>
            <a:r>
              <a:rPr lang="pt-BR" sz="2400" dirty="0"/>
              <a:t> </a:t>
            </a:r>
            <a:r>
              <a:rPr lang="pt-BR" sz="2400" dirty="0" err="1"/>
              <a:t>Language</a:t>
            </a:r>
            <a:r>
              <a:rPr lang="pt-BR" sz="2400" dirty="0"/>
              <a:t> </a:t>
            </a:r>
            <a:r>
              <a:rPr lang="pt-BR" sz="2400" dirty="0" err="1"/>
              <a:t>Understanding</a:t>
            </a:r>
            <a:r>
              <a:rPr lang="pt-BR" sz="2400" dirty="0"/>
              <a:t> </a:t>
            </a:r>
            <a:r>
              <a:rPr lang="pt-BR" sz="2400" dirty="0" err="1"/>
              <a:t>by</a:t>
            </a:r>
            <a:r>
              <a:rPr lang="pt-BR" sz="2400" dirty="0"/>
              <a:t> </a:t>
            </a:r>
            <a:r>
              <a:rPr lang="pt-BR" sz="2400" dirty="0" err="1"/>
              <a:t>Generative</a:t>
            </a:r>
            <a:r>
              <a:rPr lang="pt-BR" sz="2400" dirty="0"/>
              <a:t> </a:t>
            </a:r>
            <a:r>
              <a:rPr lang="pt-BR" sz="2400" dirty="0" err="1"/>
              <a:t>Pre</a:t>
            </a:r>
            <a:r>
              <a:rPr lang="pt-BR" sz="2400" dirty="0"/>
              <a:t>-Training”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https://paperswithcode.com/paper/improving-language-understanding-by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800" b="1" kern="0">
                <a:latin typeface="Montserrat" panose="00000500000000000000" pitchFamily="50" charset="0"/>
                <a:cs typeface="Poppins" panose="02000000000000000000" pitchFamily="2" charset="0"/>
              </a:rPr>
              <a:t>Generative Pre-trained Transformer (GPT)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039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Neste artigo, os autores mostram como uma arquitetura </a:t>
            </a:r>
            <a:r>
              <a:rPr lang="pt-BR" sz="2400" b="1" dirty="0"/>
              <a:t>Transformer</a:t>
            </a:r>
            <a:r>
              <a:rPr lang="pt-BR" sz="2400" dirty="0"/>
              <a:t> pode ser treinada em grande volumes de dados de texto para </a:t>
            </a:r>
            <a:r>
              <a:rPr lang="pt-BR" sz="2400" b="1" dirty="0"/>
              <a:t>prever a próxima palavra em uma sequência</a:t>
            </a:r>
            <a:r>
              <a:rPr lang="pt-BR" sz="2400" dirty="0"/>
              <a:t> e, posteriormente, </a:t>
            </a:r>
            <a:r>
              <a:rPr lang="pt-BR" sz="2400" b="1" dirty="0"/>
              <a:t>ajustada</a:t>
            </a:r>
            <a:r>
              <a:rPr lang="pt-BR" sz="2400" dirty="0"/>
              <a:t> (fine-</a:t>
            </a:r>
            <a:r>
              <a:rPr lang="pt-BR" sz="2400" dirty="0" err="1"/>
              <a:t>tuned</a:t>
            </a:r>
            <a:r>
              <a:rPr lang="pt-BR" sz="2400" dirty="0"/>
              <a:t>: usar o modelo </a:t>
            </a:r>
            <a:r>
              <a:rPr lang="pt-BR" sz="2400" dirty="0" err="1"/>
              <a:t>pré</a:t>
            </a:r>
            <a:r>
              <a:rPr lang="pt-BR" sz="2400" dirty="0"/>
              <a:t>-treinado) para tarefas posteriores específicas.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800" b="1" kern="0">
                <a:latin typeface="Montserrat" panose="00000500000000000000" pitchFamily="50" charset="0"/>
                <a:cs typeface="Poppins" panose="02000000000000000000" pitchFamily="2" charset="0"/>
              </a:rPr>
              <a:t>Generative Pre-trained Transformer (GPT)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08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800" b="1" kern="0">
                <a:latin typeface="Montserrat" panose="00000500000000000000" pitchFamily="50" charset="0"/>
                <a:cs typeface="Poppins" panose="02000000000000000000" pitchFamily="2" charset="0"/>
              </a:rPr>
              <a:t>Generative Pre-trained Transformer (GPT)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5D2F6647-55C3-4FA9-BAC6-968A2AF62D16}"/>
              </a:ext>
            </a:extLst>
          </p:cNvPr>
          <p:cNvSpPr txBox="1"/>
          <p:nvPr/>
        </p:nvSpPr>
        <p:spPr>
          <a:xfrm>
            <a:off x="824733" y="5510832"/>
            <a:ext cx="10563992" cy="5455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004FE2B-C46F-4D58-BE9B-15C8A26D7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6" y="1670862"/>
            <a:ext cx="8776468" cy="2744240"/>
          </a:xfrm>
          <a:prstGeom prst="rect">
            <a:avLst/>
          </a:prstGeom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2307166" y="1479801"/>
            <a:ext cx="7899400" cy="9338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800"/>
              </a:lnSpc>
              <a:spcAft>
                <a:spcPts val="1200"/>
              </a:spcAft>
            </a:pPr>
            <a:r>
              <a:rPr lang="pt-BR" sz="2200" dirty="0"/>
              <a:t>O modelo é treinado para prever a próxima palavra em uma sequência (</a:t>
            </a:r>
            <a:r>
              <a:rPr lang="pt-BR" sz="2200" dirty="0" err="1"/>
              <a:t>Language</a:t>
            </a:r>
            <a:r>
              <a:rPr lang="pt-BR" sz="2200" dirty="0"/>
              <a:t> </a:t>
            </a:r>
            <a:r>
              <a:rPr lang="pt-BR" sz="2200" dirty="0" err="1"/>
              <a:t>Modeling</a:t>
            </a:r>
            <a:r>
              <a:rPr lang="pt-BR" sz="2200" dirty="0"/>
              <a:t>), dadas as palavras anteriores.</a:t>
            </a:r>
          </a:p>
        </p:txBody>
      </p:sp>
      <p:sp>
        <p:nvSpPr>
          <p:cNvPr id="15" name="TextBox 43">
            <a:extLst>
              <a:ext uri="{FF2B5EF4-FFF2-40B4-BE49-F238E27FC236}">
                <a16:creationId xmlns:a16="http://schemas.microsoft.com/office/drawing/2014/main" id="{D4B6CEE1-7E5B-4726-A88F-1EF949530A85}"/>
              </a:ext>
            </a:extLst>
          </p:cNvPr>
          <p:cNvSpPr txBox="1"/>
          <p:nvPr/>
        </p:nvSpPr>
        <p:spPr>
          <a:xfrm>
            <a:off x="824733" y="4486659"/>
            <a:ext cx="10563992" cy="12585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 pré-treinamento do GPT envolve o treinamento do modelo em um grande corpus de texto chamado </a:t>
            </a:r>
            <a:r>
              <a:rPr lang="pt-BR" sz="2400" dirty="0" err="1"/>
              <a:t>BookCorpus</a:t>
            </a:r>
            <a:r>
              <a:rPr lang="pt-BR" sz="2400" dirty="0"/>
              <a:t>. (4,5 GB de texto de 7.000 livros)</a:t>
            </a:r>
          </a:p>
        </p:txBody>
      </p:sp>
      <p:sp>
        <p:nvSpPr>
          <p:cNvPr id="16" name="TextBox 43">
            <a:extLst>
              <a:ext uri="{FF2B5EF4-FFF2-40B4-BE49-F238E27FC236}">
                <a16:creationId xmlns:a16="http://schemas.microsoft.com/office/drawing/2014/main" id="{526CF39D-CB64-491C-AA59-3F0B175C8830}"/>
              </a:ext>
            </a:extLst>
          </p:cNvPr>
          <p:cNvSpPr txBox="1"/>
          <p:nvPr/>
        </p:nvSpPr>
        <p:spPr>
          <a:xfrm>
            <a:off x="1108366" y="3941087"/>
            <a:ext cx="1723591" cy="5455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 err="1"/>
              <a:t>Freepik</a:t>
            </a:r>
            <a:r>
              <a:rPr lang="pt-B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0318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800" b="1" kern="0">
                <a:latin typeface="Montserrat" panose="00000500000000000000" pitchFamily="50" charset="0"/>
                <a:cs typeface="Poppins" panose="02000000000000000000" pitchFamily="2" charset="0"/>
              </a:rPr>
              <a:t>Generative Pre-trained Transformer (GPT)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5D2F6647-55C3-4FA9-BAC6-968A2AF62D16}"/>
              </a:ext>
            </a:extLst>
          </p:cNvPr>
          <p:cNvSpPr txBox="1"/>
          <p:nvPr/>
        </p:nvSpPr>
        <p:spPr>
          <a:xfrm>
            <a:off x="814003" y="5485432"/>
            <a:ext cx="10563992" cy="5455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E2108BA-1482-48E9-ADEF-678D516FB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49" y="2089135"/>
            <a:ext cx="8231090" cy="1167425"/>
          </a:xfrm>
          <a:prstGeom prst="rect">
            <a:avLst/>
          </a:prstGeom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1657349" y="1479801"/>
            <a:ext cx="8877301" cy="9338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800"/>
              </a:lnSpc>
              <a:spcAft>
                <a:spcPts val="1200"/>
              </a:spcAft>
            </a:pPr>
            <a:r>
              <a:rPr lang="pt-BR" sz="2200" dirty="0"/>
              <a:t>Após o pré-treinamento, o modelo GPT pode ser ajustado (fine-</a:t>
            </a:r>
            <a:r>
              <a:rPr lang="pt-BR" sz="2200" dirty="0" err="1"/>
              <a:t>tuned</a:t>
            </a:r>
            <a:r>
              <a:rPr lang="pt-BR" sz="2200" dirty="0"/>
              <a:t>) para uma </a:t>
            </a:r>
            <a:r>
              <a:rPr lang="pt-BR" sz="2200" b="1" dirty="0"/>
              <a:t>tarefa específica</a:t>
            </a:r>
            <a:r>
              <a:rPr lang="pt-BR" sz="2200" dirty="0"/>
              <a:t>, a partir de um conjunto de dados menor e específico.</a:t>
            </a:r>
          </a:p>
        </p:txBody>
      </p:sp>
      <p:sp>
        <p:nvSpPr>
          <p:cNvPr id="10" name="TextBox 43">
            <a:extLst>
              <a:ext uri="{FF2B5EF4-FFF2-40B4-BE49-F238E27FC236}">
                <a16:creationId xmlns:a16="http://schemas.microsoft.com/office/drawing/2014/main" id="{E7E481BC-3AB6-4D6A-8972-373A9F5B53A6}"/>
              </a:ext>
            </a:extLst>
          </p:cNvPr>
          <p:cNvSpPr txBox="1"/>
          <p:nvPr/>
        </p:nvSpPr>
        <p:spPr>
          <a:xfrm>
            <a:off x="994067" y="3365624"/>
            <a:ext cx="3527134" cy="12585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200" dirty="0"/>
              <a:t>Conjunto menor de treinamento e específico para a tarefa em questão</a:t>
            </a:r>
          </a:p>
        </p:txBody>
      </p:sp>
      <p:sp>
        <p:nvSpPr>
          <p:cNvPr id="12" name="TextBox 43">
            <a:extLst>
              <a:ext uri="{FF2B5EF4-FFF2-40B4-BE49-F238E27FC236}">
                <a16:creationId xmlns:a16="http://schemas.microsoft.com/office/drawing/2014/main" id="{366B656B-FFCF-46D4-835E-EDCBBCAD535C}"/>
              </a:ext>
            </a:extLst>
          </p:cNvPr>
          <p:cNvSpPr txBox="1"/>
          <p:nvPr/>
        </p:nvSpPr>
        <p:spPr>
          <a:xfrm>
            <a:off x="5006975" y="3364006"/>
            <a:ext cx="5666317" cy="19714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200" dirty="0"/>
              <a:t>Fine-tune: ajustar os parâmetros do modelo para melhor se adequar à tarefa em questão.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200" dirty="0"/>
              <a:t>Exemplos: classificação, similaridade ou resposta a perguntas (Chat)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30E5ABF-F07B-40A7-842A-8AD24BA48D29}"/>
              </a:ext>
            </a:extLst>
          </p:cNvPr>
          <p:cNvSpPr txBox="1"/>
          <p:nvPr/>
        </p:nvSpPr>
        <p:spPr>
          <a:xfrm>
            <a:off x="2033734" y="3132991"/>
            <a:ext cx="110913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300" dirty="0" err="1"/>
              <a:t>Freepik</a:t>
            </a:r>
            <a:endParaRPr lang="pt-BR" sz="1300" dirty="0"/>
          </a:p>
        </p:txBody>
      </p:sp>
    </p:spTree>
    <p:extLst>
      <p:ext uri="{BB962C8B-B14F-4D97-AF65-F5344CB8AC3E}">
        <p14:creationId xmlns:p14="http://schemas.microsoft.com/office/powerpoint/2010/main" val="162357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arquitetura GPT foi ampliada pela </a:t>
            </a:r>
            <a:r>
              <a:rPr lang="pt-BR" sz="2400" dirty="0" err="1"/>
              <a:t>OpenAI</a:t>
            </a:r>
            <a:r>
              <a:rPr lang="pt-BR" sz="2400" dirty="0"/>
              <a:t> com o lançamento de modelos subsequentes: GPT-2, GPT-3, GPT-3.5 (</a:t>
            </a:r>
            <a:r>
              <a:rPr lang="pt-BR" sz="2400" dirty="0" err="1"/>
              <a:t>ChatGPT</a:t>
            </a:r>
            <a:r>
              <a:rPr lang="pt-BR" sz="2400" dirty="0"/>
              <a:t>) e GPT-4.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Esses modelos são treinados em conjuntos de dados maiores e possuem maior capacidade para gerar textos mais complexos e coerentes.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800" b="1" kern="0">
                <a:latin typeface="Montserrat" panose="00000500000000000000" pitchFamily="50" charset="0"/>
                <a:cs typeface="Poppins" panose="02000000000000000000" pitchFamily="2" charset="0"/>
              </a:rPr>
              <a:t>Generative Pre-trained Transformer (GPT)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08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5800" b="1" kern="0" dirty="0" err="1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Mecanismo</a:t>
            </a:r>
            <a:r>
              <a:rPr lang="en-ID" sz="58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 de </a:t>
            </a:r>
            <a:r>
              <a:rPr lang="en-ID" sz="5800" b="1" kern="0" dirty="0" err="1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Atenção</a:t>
            </a:r>
            <a:endParaRPr lang="en-ID" sz="58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295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Base para entender como o GPT funciona.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Quando você escreve, a escolha que você faz para a próxima palavra da frase é influenciada por outras palavras que você já escreveu. Por exemplo, suponha que você inicie uma frase da seguinte maneira:</a:t>
            </a:r>
          </a:p>
          <a:p>
            <a:pPr>
              <a:lnSpc>
                <a:spcPts val="15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en-US" sz="2400" dirty="0"/>
              <a:t>The pink elephant tried to get into the car but it was too</a:t>
            </a:r>
          </a:p>
          <a:p>
            <a:pPr>
              <a:lnSpc>
                <a:spcPts val="15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próxima palavra deveria ser algo como “big”. Como nós sabemos disso?</a:t>
            </a:r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Mecanismo de Atenção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06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Certas palavras na frase ajudam na escolha: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Por exemplo, por ser um elefante, significa que preferimos a palavra “grande”.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Se fosse uma piscina, poderíamos escolher a palavra “medo”.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ação de entrar no carro implica que o problema é o tamanho do elefante.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</a:t>
            </a:r>
            <a:r>
              <a:rPr lang="pt-BR" sz="2400" dirty="0"/>
              <a:t>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Mecanismo de Atenção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6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Certas palavras não ajudam: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Por exemplo, “</a:t>
            </a:r>
            <a:r>
              <a:rPr lang="pt-BR" sz="2400" dirty="0" err="1"/>
              <a:t>pink</a:t>
            </a:r>
            <a:r>
              <a:rPr lang="pt-BR" sz="2400" dirty="0"/>
              <a:t> </a:t>
            </a:r>
            <a:r>
              <a:rPr lang="pt-BR" sz="2400" dirty="0" err="1"/>
              <a:t>elephant</a:t>
            </a:r>
            <a:r>
              <a:rPr lang="pt-BR" sz="2400" dirty="0"/>
              <a:t>” não tem influência na nossa escolha da palavra final.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Da mesma forma, as palavras secundárias na frase (o, mas, isso etc.) aqui não são importantes para determinar o adjetivo necessário.</a:t>
            </a:r>
          </a:p>
          <a:p>
            <a:pPr>
              <a:lnSpc>
                <a:spcPts val="10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2000"/>
              </a:lnSpc>
              <a:spcAft>
                <a:spcPts val="1200"/>
              </a:spcAft>
            </a:pPr>
            <a:r>
              <a:rPr lang="pt-BR" sz="2400" dirty="0"/>
              <a:t>Observe que estamos “prestando atenção” a certas palavras </a:t>
            </a:r>
          </a:p>
          <a:p>
            <a:pPr algn="ctr">
              <a:lnSpc>
                <a:spcPts val="2000"/>
              </a:lnSpc>
              <a:spcAft>
                <a:spcPts val="1200"/>
              </a:spcAft>
            </a:pPr>
            <a:r>
              <a:rPr lang="pt-BR" sz="2400" dirty="0"/>
              <a:t>da frase e ignorando outras.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Mecanismo de Atenção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169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Um mecanismo de atenção em um Transformer pode decidir de onde deseja extrair informações.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Isto o torna altamente adaptável a uma série de circunstâncias, pois pode decidir onde deseja procurar informações no momento da inferência.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Mecanismo de Atenção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999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Attention Head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59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Queremos prever qual palavra segue após a palavra “too”.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palavra “</a:t>
            </a:r>
            <a:r>
              <a:rPr lang="pt-BR" sz="2400" dirty="0" err="1"/>
              <a:t>elephant</a:t>
            </a:r>
            <a:r>
              <a:rPr lang="pt-BR" sz="2400" dirty="0"/>
              <a:t>” pode contribuir para que seja mais provável que seja uma palavra relacionada com </a:t>
            </a:r>
            <a:r>
              <a:rPr lang="pt-BR" sz="2400" b="1" dirty="0"/>
              <a:t>tamanho</a:t>
            </a:r>
            <a:r>
              <a:rPr lang="pt-BR" sz="2400" dirty="0"/>
              <a:t> ou </a:t>
            </a:r>
            <a:r>
              <a:rPr lang="pt-BR" sz="2400" b="1" dirty="0"/>
              <a:t>volume</a:t>
            </a:r>
            <a:r>
              <a:rPr lang="pt-BR" sz="2400" dirty="0"/>
              <a:t>, enquanto a palavra “</a:t>
            </a:r>
            <a:r>
              <a:rPr lang="pt-BR" sz="2400" dirty="0" err="1"/>
              <a:t>was</a:t>
            </a:r>
            <a:r>
              <a:rPr lang="pt-BR" sz="2400" dirty="0"/>
              <a:t>” não tem muito a oferecer para restringir as possibilidades.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364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4231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Podemos pensar em uma </a:t>
            </a:r>
            <a:r>
              <a:rPr lang="pt-BR" sz="2400" b="1" dirty="0" err="1"/>
              <a:t>attention</a:t>
            </a:r>
            <a:r>
              <a:rPr lang="pt-BR" sz="2400" b="1" dirty="0"/>
              <a:t> </a:t>
            </a:r>
            <a:r>
              <a:rPr lang="pt-BR" sz="2400" b="1" dirty="0" err="1"/>
              <a:t>head</a:t>
            </a:r>
            <a:r>
              <a:rPr lang="pt-BR" sz="2400" dirty="0"/>
              <a:t> como um sistema de recuperação de informação, </a:t>
            </a:r>
          </a:p>
          <a:p>
            <a:pPr lvl="1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query (“Qual palavra segue </a:t>
            </a:r>
            <a:r>
              <a:rPr lang="pt-BR" sz="2400" b="1" i="1" dirty="0"/>
              <a:t>too</a:t>
            </a:r>
            <a:r>
              <a:rPr lang="pt-BR" sz="2400" dirty="0"/>
              <a:t>?”) é transformada em um armazenamento de chave/valor (</a:t>
            </a:r>
            <a:r>
              <a:rPr lang="pt-BR" sz="2400" dirty="0" err="1"/>
              <a:t>key</a:t>
            </a:r>
            <a:r>
              <a:rPr lang="pt-BR" sz="2400" dirty="0"/>
              <a:t>/</a:t>
            </a:r>
            <a:r>
              <a:rPr lang="pt-BR" sz="2400" dirty="0" err="1"/>
              <a:t>value</a:t>
            </a:r>
            <a:r>
              <a:rPr lang="pt-BR" sz="2400" dirty="0"/>
              <a:t> store) e a saída resultante é uma soma ponderada dos valores (que leva em consideração a relevância entre a consulta e cada chave).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668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14004" y="5926925"/>
            <a:ext cx="10563992" cy="4947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19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pic>
        <p:nvPicPr>
          <p:cNvPr id="5" name="Google Shape;219;p39">
            <a:extLst>
              <a:ext uri="{FF2B5EF4-FFF2-40B4-BE49-F238E27FC236}">
                <a16:creationId xmlns:a16="http://schemas.microsoft.com/office/drawing/2014/main" id="{97CEDCA9-DF2F-41AC-BC7B-E4142E184C0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61266" y="411932"/>
            <a:ext cx="5477933" cy="5523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9781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14004" y="5926925"/>
            <a:ext cx="10563992" cy="4947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C20F5FB-E1BB-474A-AACB-9565FD92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82" y="410903"/>
            <a:ext cx="5674241" cy="552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33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37;p41">
            <a:extLst>
              <a:ext uri="{FF2B5EF4-FFF2-40B4-BE49-F238E27FC236}">
                <a16:creationId xmlns:a16="http://schemas.microsoft.com/office/drawing/2014/main" id="{A883314C-6B25-472E-A392-7DB45F1DFA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1728" y="1888069"/>
            <a:ext cx="10607905" cy="28447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5520261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Tokenização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21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5909E67C-E0A5-4048-812D-1925274D8523}"/>
              </a:ext>
            </a:extLst>
          </p:cNvPr>
          <p:cNvSpPr txBox="1"/>
          <p:nvPr/>
        </p:nvSpPr>
        <p:spPr>
          <a:xfrm>
            <a:off x="824733" y="1363959"/>
            <a:ext cx="2926000" cy="5495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2200" dirty="0"/>
              <a:t>Texto (com pontuação)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EC381EFD-4036-49EF-8FE5-42A8AE2D83EB}"/>
              </a:ext>
            </a:extLst>
          </p:cNvPr>
          <p:cNvSpPr txBox="1"/>
          <p:nvPr/>
        </p:nvSpPr>
        <p:spPr>
          <a:xfrm>
            <a:off x="682367" y="4156859"/>
            <a:ext cx="4312966" cy="1549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 dirty="0" err="1"/>
              <a:t>String</a:t>
            </a:r>
            <a:r>
              <a:rPr lang="pt-BR" sz="2200" dirty="0"/>
              <a:t> deve ter comprimento fixo. As saídas a serem previstas são as mesmas </a:t>
            </a:r>
            <a:r>
              <a:rPr lang="pt-BR" sz="2200" dirty="0" err="1"/>
              <a:t>strings</a:t>
            </a:r>
            <a:r>
              <a:rPr lang="pt-BR" sz="2200" dirty="0"/>
              <a:t> deslocadas por um token.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5E104B63-898B-4B3F-B6B6-44B76ACBE8E6}"/>
              </a:ext>
            </a:extLst>
          </p:cNvPr>
          <p:cNvSpPr txBox="1"/>
          <p:nvPr/>
        </p:nvSpPr>
        <p:spPr>
          <a:xfrm>
            <a:off x="4397666" y="1363959"/>
            <a:ext cx="2926000" cy="5495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2200"/>
              <a:t>Texto tokenizado</a:t>
            </a:r>
            <a:endParaRPr lang="pt-BR" sz="2200" dirty="0"/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97FADF76-3BA5-4335-A96B-615234F8777A}"/>
              </a:ext>
            </a:extLst>
          </p:cNvPr>
          <p:cNvSpPr txBox="1"/>
          <p:nvPr/>
        </p:nvSpPr>
        <p:spPr>
          <a:xfrm>
            <a:off x="8462725" y="1363959"/>
            <a:ext cx="2926000" cy="5495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2200"/>
              <a:t>Tensor de treinamento</a:t>
            </a:r>
            <a:endParaRPr lang="pt-BR" sz="2200" dirty="0"/>
          </a:p>
        </p:txBody>
      </p:sp>
      <p:sp>
        <p:nvSpPr>
          <p:cNvPr id="10" name="TextBox 43">
            <a:extLst>
              <a:ext uri="{FF2B5EF4-FFF2-40B4-BE49-F238E27FC236}">
                <a16:creationId xmlns:a16="http://schemas.microsoft.com/office/drawing/2014/main" id="{EC363593-525F-4567-A95D-404F56C78873}"/>
              </a:ext>
            </a:extLst>
          </p:cNvPr>
          <p:cNvSpPr txBox="1"/>
          <p:nvPr/>
        </p:nvSpPr>
        <p:spPr>
          <a:xfrm>
            <a:off x="5506788" y="4156858"/>
            <a:ext cx="2282545" cy="8384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 dirty="0"/>
              <a:t>Output: deslocado em um token</a:t>
            </a:r>
          </a:p>
        </p:txBody>
      </p:sp>
    </p:spTree>
    <p:extLst>
      <p:ext uri="{BB962C8B-B14F-4D97-AF65-F5344CB8AC3E}">
        <p14:creationId xmlns:p14="http://schemas.microsoft.com/office/powerpoint/2010/main" val="1803654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D4CFFF5-F338-48D0-B1A5-BAF8F25AD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516" y="2658533"/>
            <a:ext cx="6557058" cy="1409609"/>
          </a:xfrm>
          <a:prstGeom prst="rect">
            <a:avLst/>
          </a:prstGeom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5520261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Embedding Layer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5909E67C-E0A5-4048-812D-1925274D8523}"/>
              </a:ext>
            </a:extLst>
          </p:cNvPr>
          <p:cNvSpPr txBox="1"/>
          <p:nvPr/>
        </p:nvSpPr>
        <p:spPr>
          <a:xfrm>
            <a:off x="824733" y="1701946"/>
            <a:ext cx="10156534" cy="5495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it-IT" sz="2400" dirty="0"/>
              <a:t>Considerando a seguinte frase: “Machine Learning”</a:t>
            </a: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97FADF76-3BA5-4335-A96B-615234F8777A}"/>
              </a:ext>
            </a:extLst>
          </p:cNvPr>
          <p:cNvSpPr txBox="1"/>
          <p:nvPr/>
        </p:nvSpPr>
        <p:spPr>
          <a:xfrm>
            <a:off x="8173078" y="2332018"/>
            <a:ext cx="3285066" cy="22522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Obs.: os números 84 e 52 representam (apenas de forma hipotética para o nosso exemplo) os respectivos índices de cada palavra no vocabulário. </a:t>
            </a:r>
          </a:p>
        </p:txBody>
      </p:sp>
      <p:sp>
        <p:nvSpPr>
          <p:cNvPr id="10" name="TextBox 43">
            <a:extLst>
              <a:ext uri="{FF2B5EF4-FFF2-40B4-BE49-F238E27FC236}">
                <a16:creationId xmlns:a16="http://schemas.microsoft.com/office/drawing/2014/main" id="{EC363593-525F-4567-A95D-404F56C78873}"/>
              </a:ext>
            </a:extLst>
          </p:cNvPr>
          <p:cNvSpPr txBox="1"/>
          <p:nvPr/>
        </p:nvSpPr>
        <p:spPr>
          <a:xfrm>
            <a:off x="5196027" y="3351283"/>
            <a:ext cx="1495145" cy="68170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 dirty="0" err="1"/>
              <a:t>embedding</a:t>
            </a:r>
            <a:r>
              <a:rPr lang="pt-BR" sz="2200" dirty="0"/>
              <a:t> </a:t>
            </a:r>
            <a:r>
              <a:rPr lang="pt-BR" sz="2200" dirty="0" err="1"/>
              <a:t>layer</a:t>
            </a:r>
            <a:r>
              <a:rPr lang="pt-BR" sz="2200" dirty="0"/>
              <a:t> </a:t>
            </a:r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6EB019D8-701A-4598-B680-B26E43C0D2DD}"/>
              </a:ext>
            </a:extLst>
          </p:cNvPr>
          <p:cNvSpPr txBox="1"/>
          <p:nvPr/>
        </p:nvSpPr>
        <p:spPr>
          <a:xfrm>
            <a:off x="5659728" y="4109188"/>
            <a:ext cx="2282545" cy="4151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/>
              <a:t>Learning (52)</a:t>
            </a:r>
            <a:endParaRPr lang="pt-BR" sz="2200" dirty="0"/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20B03491-0AC1-4843-B24F-A875C10ACDA3}"/>
              </a:ext>
            </a:extLst>
          </p:cNvPr>
          <p:cNvSpPr txBox="1"/>
          <p:nvPr/>
        </p:nvSpPr>
        <p:spPr>
          <a:xfrm>
            <a:off x="1373143" y="3351283"/>
            <a:ext cx="1495145" cy="6806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 dirty="0" err="1"/>
              <a:t>embedding</a:t>
            </a:r>
            <a:r>
              <a:rPr lang="pt-BR" sz="2200" dirty="0"/>
              <a:t> </a:t>
            </a:r>
            <a:r>
              <a:rPr lang="pt-BR" sz="2200" dirty="0" err="1"/>
              <a:t>layer</a:t>
            </a:r>
            <a:r>
              <a:rPr lang="pt-BR" sz="2200" dirty="0"/>
              <a:t> </a:t>
            </a:r>
          </a:p>
        </p:txBody>
      </p:sp>
      <p:sp>
        <p:nvSpPr>
          <p:cNvPr id="15" name="TextBox 43">
            <a:extLst>
              <a:ext uri="{FF2B5EF4-FFF2-40B4-BE49-F238E27FC236}">
                <a16:creationId xmlns:a16="http://schemas.microsoft.com/office/drawing/2014/main" id="{3DEB2685-B2FF-4059-A734-F9937ED3F060}"/>
              </a:ext>
            </a:extLst>
          </p:cNvPr>
          <p:cNvSpPr txBox="1"/>
          <p:nvPr/>
        </p:nvSpPr>
        <p:spPr>
          <a:xfrm>
            <a:off x="1643246" y="4109188"/>
            <a:ext cx="2282545" cy="4151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/>
              <a:t>Machine (84) 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597878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268;p43">
            <a:extLst>
              <a:ext uri="{FF2B5EF4-FFF2-40B4-BE49-F238E27FC236}">
                <a16:creationId xmlns:a16="http://schemas.microsoft.com/office/drawing/2014/main" id="{38013A45-B1C6-4B6C-B501-B67EE5E5CA9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2833" y="1511591"/>
            <a:ext cx="4643668" cy="26032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5582740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770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Embedding Layer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97FADF76-3BA5-4335-A96B-615234F8777A}"/>
              </a:ext>
            </a:extLst>
          </p:cNvPr>
          <p:cNvSpPr txBox="1"/>
          <p:nvPr/>
        </p:nvSpPr>
        <p:spPr>
          <a:xfrm>
            <a:off x="6691172" y="1435387"/>
            <a:ext cx="4766972" cy="2671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 dirty="0"/>
              <a:t>A camada de </a:t>
            </a:r>
            <a:r>
              <a:rPr lang="pt-BR" sz="2300" dirty="0" err="1"/>
              <a:t>Embedding</a:t>
            </a:r>
            <a:r>
              <a:rPr lang="pt-BR" sz="2300" dirty="0"/>
              <a:t> é uma </a:t>
            </a:r>
            <a:r>
              <a:rPr lang="pt-BR" sz="2300" dirty="0" err="1"/>
              <a:t>lookup</a:t>
            </a:r>
            <a:r>
              <a:rPr lang="pt-BR" sz="2300" dirty="0"/>
              <a:t> </a:t>
            </a:r>
            <a:r>
              <a:rPr lang="pt-BR" sz="2300" dirty="0" err="1"/>
              <a:t>table</a:t>
            </a:r>
            <a:r>
              <a:rPr lang="pt-BR" sz="2300" dirty="0"/>
              <a:t> que converte cada token inteiro em um vetor. </a:t>
            </a:r>
          </a:p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 dirty="0"/>
              <a:t>Os pesos da </a:t>
            </a:r>
            <a:r>
              <a:rPr lang="pt-BR" sz="2300" dirty="0" err="1"/>
              <a:t>lookup</a:t>
            </a:r>
            <a:r>
              <a:rPr lang="pt-BR" sz="2300" dirty="0"/>
              <a:t> </a:t>
            </a:r>
            <a:r>
              <a:rPr lang="pt-BR" sz="2300" dirty="0" err="1"/>
              <a:t>tables</a:t>
            </a:r>
            <a:r>
              <a:rPr lang="pt-BR" sz="2300" dirty="0"/>
              <a:t> são aprendidos durante o treinamento do modelo. </a:t>
            </a:r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20B03491-0AC1-4843-B24F-A875C10ACDA3}"/>
              </a:ext>
            </a:extLst>
          </p:cNvPr>
          <p:cNvSpPr txBox="1"/>
          <p:nvPr/>
        </p:nvSpPr>
        <p:spPr>
          <a:xfrm>
            <a:off x="803275" y="4183923"/>
            <a:ext cx="5699367" cy="139881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700"/>
              </a:lnSpc>
              <a:spcAft>
                <a:spcPts val="1200"/>
              </a:spcAft>
            </a:pPr>
            <a:r>
              <a:rPr lang="pt-BR" sz="2200" dirty="0"/>
              <a:t>O número de pesos é igual ao tamanho do vocabulário (total de palavras) multiplicado pela dimensão do </a:t>
            </a:r>
            <a:r>
              <a:rPr lang="pt-BR" sz="2200" dirty="0" err="1"/>
              <a:t>embedding</a:t>
            </a:r>
            <a:r>
              <a:rPr lang="pt-BR" sz="2200" dirty="0"/>
              <a:t> vector (neste exemplo, 10.000 × 100 = 1.000.000).</a:t>
            </a:r>
          </a:p>
        </p:txBody>
      </p:sp>
    </p:spTree>
    <p:extLst>
      <p:ext uri="{BB962C8B-B14F-4D97-AF65-F5344CB8AC3E}">
        <p14:creationId xmlns:p14="http://schemas.microsoft.com/office/powerpoint/2010/main" val="3570017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12048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query “Q” pode ser pensada como uma representação da tarefa atual em questão (por exemplo, Que palavra segue “too” ?).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7289800" y="2795329"/>
            <a:ext cx="4295343" cy="2671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 dirty="0"/>
              <a:t>A matriz WQ é responsável por transformar os </a:t>
            </a:r>
            <a:r>
              <a:rPr lang="pt-BR" sz="2300" dirty="0" err="1"/>
              <a:t>embeddings</a:t>
            </a:r>
            <a:r>
              <a:rPr lang="pt-BR" sz="2300" dirty="0"/>
              <a:t> de entrada em vetores de consulta, seus pesos (valores) são aprendidos durante o treinamento do modelo 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4212C79-4090-4186-94C3-78864E477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42" y="2908442"/>
            <a:ext cx="6342254" cy="212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51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12048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O vetor “K” são representações de cada palavra na frase (como cada palavra pode influenciar na previsão do modelo).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7289800" y="2795329"/>
            <a:ext cx="4295343" cy="2671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/>
              <a:t>A matriz WK é responsável por transformar os embeddings de entrada em vetores de consulta; seus pesos (valores) são aprendidos durante o treinamento do modelo. </a:t>
            </a:r>
            <a:endParaRPr lang="pt-BR" sz="2300" dirty="0"/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D97053C-FC67-40F0-8EB3-2E34B7933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26" y="2887134"/>
            <a:ext cx="6347972" cy="214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27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12048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O vetor “V” são representações de cada palavra na frase (determinam o quanto cada posição das palavras contribui para o resultado).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26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7289800" y="2795329"/>
            <a:ext cx="4295343" cy="26713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/>
              <a:t>A matriz WV é responsável por transformar os embeddings de entrada em vetores de consulta; seus pesos (valores) são aprendidos durante o treinamento do modelo.</a:t>
            </a:r>
            <a:endParaRPr lang="pt-BR" sz="2300" dirty="0"/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D1AE82F-4E70-4ECF-AD87-A0F75752B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6" y="2908441"/>
            <a:ext cx="6400620" cy="212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28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25425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 matriz de consulta, WQ, é responsável por transformar os </a:t>
            </a:r>
            <a:r>
              <a:rPr lang="pt-BR" sz="2400" dirty="0" err="1"/>
              <a:t>embeddings</a:t>
            </a:r>
            <a:r>
              <a:rPr lang="pt-BR" sz="2400" dirty="0"/>
              <a:t> de entrada em vetores de consulta.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Os vetores de consulta são usados para calcular as pontuações de </a:t>
            </a:r>
            <a:r>
              <a:rPr lang="pt-BR" sz="2400" b="1" dirty="0"/>
              <a:t>atenção</a:t>
            </a:r>
            <a:r>
              <a:rPr lang="pt-BR" sz="2400" dirty="0"/>
              <a:t>, </a:t>
            </a:r>
            <a:r>
              <a:rPr lang="pt-BR" sz="2400" i="1" dirty="0"/>
              <a:t>indicando quanta atenção cada posição deve prestar às outras</a:t>
            </a:r>
            <a:r>
              <a:rPr lang="pt-BR" sz="2400" dirty="0"/>
              <a:t>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52614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D5E0A55-6E60-4002-AAF7-969E613DB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455" y="443526"/>
            <a:ext cx="5411089" cy="5451520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778620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53136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254254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Calculando a pontuação (mecanismo de self-</a:t>
            </a:r>
            <a:r>
              <a:rPr lang="pt-BR" sz="2400" dirty="0" err="1"/>
              <a:t>attention</a:t>
            </a:r>
            <a:r>
              <a:rPr lang="pt-BR" sz="2400" dirty="0"/>
              <a:t>): vamos considerar a palavra “too”. Precisamos pontuar cada palavra da frase de entrada em relação a esta palavra. A pontuação aqui determina quanta “</a:t>
            </a:r>
            <a:r>
              <a:rPr lang="pt-BR" sz="2400" b="1" dirty="0"/>
              <a:t>atenção</a:t>
            </a:r>
            <a:r>
              <a:rPr lang="pt-BR" sz="2400" dirty="0"/>
              <a:t>” deve ser dada a outras partes da frase de entrada à medida que codificamos uma palavra posicionada em um local específico.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29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46475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658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Calculando a pontuação (mecanismo de self-attention):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6036733" y="2293599"/>
            <a:ext cx="5548411" cy="37522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200" dirty="0"/>
              <a:t>Q é a matriz de queries, e K é a matriz de </a:t>
            </a:r>
            <a:r>
              <a:rPr lang="pt-BR" sz="2200" dirty="0" err="1"/>
              <a:t>keys</a:t>
            </a:r>
            <a:r>
              <a:rPr lang="pt-BR" sz="2200" dirty="0"/>
              <a:t>. Quando calculamos o produto escalar entre Q e Kᵀ (transposta de K), obtemos uma matriz que representa as similaridades entre as palavras da sequência. O valor de cada posição dessa matriz indica a relevância de uma palavra (query) em relação a outra palavra (</a:t>
            </a:r>
            <a:r>
              <a:rPr lang="pt-BR" sz="2200" dirty="0" err="1"/>
              <a:t>key</a:t>
            </a:r>
            <a:r>
              <a:rPr lang="pt-BR" sz="2200" dirty="0"/>
              <a:t>) da sequência. Quanto maior a pontuação, mais relevante uma palavra é para a outra. 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4864867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BA06F8A-4DC2-467B-8447-31176D5A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6" y="2557196"/>
            <a:ext cx="4753824" cy="232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477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658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Calculando a pontuação (mecanismo de self-attention):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31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6036733" y="2293599"/>
            <a:ext cx="5548411" cy="37522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200" dirty="0"/>
              <a:t>A fórmula é dividida por √dₖ, onde dₖ é a dimensão do vetor </a:t>
            </a:r>
            <a:r>
              <a:rPr lang="pt-BR" sz="2200" dirty="0" err="1"/>
              <a:t>key</a:t>
            </a:r>
            <a:r>
              <a:rPr lang="pt-BR" sz="2200" dirty="0"/>
              <a:t>. </a:t>
            </a:r>
          </a:p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200" dirty="0"/>
              <a:t>O motivo de dividir por √dₖ é normalizar o valor das pontuações de similaridade. Sem essa normalização, quando a dimensão dos vetores Q e K aumenta (ou seja, se temos vetores maiores), os valores do produto escalar podem se tornar muito grandes, o que poderia tornar o treinamento instável. 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487964"/>
            <a:ext cx="4864867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BA06F8A-4DC2-467B-8447-31176D5A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6" y="2557196"/>
            <a:ext cx="4753824" cy="232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384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658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Calculando a pontuação (mecanismo de self-attention):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Queries, Keys, and Values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6286983" y="2293599"/>
            <a:ext cx="5298161" cy="37522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200" dirty="0"/>
              <a:t>Após calcular a matriz de pontuações normalizadas (QKᵀ / √dₖ), aplicamos a função </a:t>
            </a:r>
            <a:r>
              <a:rPr lang="pt-BR" sz="2200" dirty="0" err="1"/>
              <a:t>Softmax</a:t>
            </a:r>
            <a:r>
              <a:rPr lang="pt-BR" sz="2200" dirty="0"/>
              <a:t> para transformar essas pontuações em probabilidades. O </a:t>
            </a:r>
            <a:r>
              <a:rPr lang="pt-BR" sz="2200" dirty="0" err="1"/>
              <a:t>Softmax</a:t>
            </a:r>
            <a:r>
              <a:rPr lang="pt-BR" sz="2200" dirty="0"/>
              <a:t> é uma função que normaliza as pontuações de forma que a soma de todas as atenções de uma palavra em relação às outras palavras seja igual a 1. Isso permite que a rede determine de forma “relativa” </a:t>
            </a:r>
            <a:r>
              <a:rPr lang="pt-BR" sz="2200" b="1" dirty="0"/>
              <a:t>a importância de cada palavra em relação à query</a:t>
            </a:r>
            <a:r>
              <a:rPr lang="pt-BR" sz="2200" dirty="0"/>
              <a:t>.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772086" y="5755580"/>
            <a:ext cx="4864867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BA06F8A-4DC2-467B-8447-31176D5A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86" y="2446198"/>
            <a:ext cx="4753824" cy="2328071"/>
          </a:xfrm>
          <a:prstGeom prst="rect">
            <a:avLst/>
          </a:prstGeom>
        </p:spPr>
      </p:pic>
      <p:cxnSp>
        <p:nvCxnSpPr>
          <p:cNvPr id="9" name="Google Shape;402;p52">
            <a:extLst>
              <a:ext uri="{FF2B5EF4-FFF2-40B4-BE49-F238E27FC236}">
                <a16:creationId xmlns:a16="http://schemas.microsoft.com/office/drawing/2014/main" id="{E794E76C-6E56-4195-9BD3-0E9680C56BDF}"/>
              </a:ext>
            </a:extLst>
          </p:cNvPr>
          <p:cNvCxnSpPr>
            <a:cxnSpLocks/>
          </p:cNvCxnSpPr>
          <p:nvPr/>
        </p:nvCxnSpPr>
        <p:spPr>
          <a:xfrm>
            <a:off x="2091267" y="4549888"/>
            <a:ext cx="1524003" cy="715036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" name="TextBox 43">
            <a:extLst>
              <a:ext uri="{FF2B5EF4-FFF2-40B4-BE49-F238E27FC236}">
                <a16:creationId xmlns:a16="http://schemas.microsoft.com/office/drawing/2014/main" id="{C9829EB6-5D8A-4A7A-BB49-86B258FD5932}"/>
              </a:ext>
            </a:extLst>
          </p:cNvPr>
          <p:cNvSpPr txBox="1"/>
          <p:nvPr/>
        </p:nvSpPr>
        <p:spPr>
          <a:xfrm>
            <a:off x="3672633" y="4872670"/>
            <a:ext cx="2408722" cy="8451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000" dirty="0"/>
              <a:t>Contribuição de cada palavra “</a:t>
            </a:r>
            <a:r>
              <a:rPr lang="pt-BR" sz="2000" dirty="0" err="1"/>
              <a:t>dk</a:t>
            </a:r>
            <a:r>
              <a:rPr lang="pt-BR" sz="2000" dirty="0"/>
              <a:t>” para Q </a:t>
            </a:r>
          </a:p>
        </p:txBody>
      </p:sp>
    </p:spTree>
    <p:extLst>
      <p:ext uri="{BB962C8B-B14F-4D97-AF65-F5344CB8AC3E}">
        <p14:creationId xmlns:p14="http://schemas.microsoft.com/office/powerpoint/2010/main" val="2623443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4820C06-96BA-4550-920A-0A618E704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44" y="478639"/>
            <a:ext cx="5999400" cy="5345280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7289800" y="873125"/>
            <a:ext cx="4295343" cy="34194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800"/>
              </a:lnSpc>
              <a:spcAft>
                <a:spcPts val="1200"/>
              </a:spcAft>
            </a:pPr>
            <a:r>
              <a:rPr lang="pt-BR" sz="2300" dirty="0"/>
              <a:t>Observe que </a:t>
            </a:r>
            <a:r>
              <a:rPr lang="pt-BR" sz="2300" dirty="0" err="1"/>
              <a:t>softmax</a:t>
            </a:r>
            <a:r>
              <a:rPr lang="pt-BR" sz="2300" dirty="0"/>
              <a:t> retorna as probabilidades de cada palavra. Ou seja, ela calcula a “</a:t>
            </a:r>
            <a:r>
              <a:rPr lang="pt-BR" sz="2300" b="1" dirty="0"/>
              <a:t>atenção</a:t>
            </a:r>
            <a:r>
              <a:rPr lang="pt-BR" sz="2300" dirty="0"/>
              <a:t>” dada a outras palavras ao processar a palavra da consulta Q (palavra “too”).</a:t>
            </a:r>
          </a:p>
          <a:p>
            <a:pPr>
              <a:lnSpc>
                <a:spcPts val="2800"/>
              </a:lnSpc>
              <a:spcAft>
                <a:spcPts val="1200"/>
              </a:spcAft>
            </a:pPr>
            <a:r>
              <a:rPr lang="pt-BR" sz="2300" dirty="0"/>
              <a:t>Estamos aqui tentando capturar o contexto. 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875067"/>
            <a:ext cx="5999400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58805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12B69D1-10D4-48C6-8C6F-7136C931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22" y="471043"/>
            <a:ext cx="5318516" cy="5378126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6824134" y="436304"/>
            <a:ext cx="4761010" cy="43219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Por fim, multiplica a saída da </a:t>
            </a:r>
            <a:r>
              <a:rPr lang="pt-BR" sz="2200" dirty="0" err="1"/>
              <a:t>softmax</a:t>
            </a:r>
            <a:r>
              <a:rPr lang="pt-BR" sz="2200" dirty="0"/>
              <a:t> pelo vetor V e soma os valores para produzir a saída da “</a:t>
            </a:r>
            <a:r>
              <a:rPr lang="pt-BR" sz="2200" dirty="0" err="1"/>
              <a:t>d</a:t>
            </a:r>
            <a:r>
              <a:rPr lang="pt-BR" sz="1600" dirty="0" err="1"/>
              <a:t>v</a:t>
            </a:r>
            <a:r>
              <a:rPr lang="pt-BR" sz="2200" dirty="0"/>
              <a:t>” da </a:t>
            </a:r>
            <a:r>
              <a:rPr lang="pt-BR" sz="2200" dirty="0" err="1"/>
              <a:t>attention</a:t>
            </a:r>
            <a:r>
              <a:rPr lang="pt-BR" sz="2200" dirty="0"/>
              <a:t> </a:t>
            </a:r>
            <a:r>
              <a:rPr lang="pt-BR" sz="2200" dirty="0" err="1"/>
              <a:t>head</a:t>
            </a:r>
            <a:r>
              <a:rPr lang="pt-BR" sz="2200" dirty="0"/>
              <a:t>.</a:t>
            </a:r>
          </a:p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As pontuações de “atenção” calculadas a partir de V determinam o quanto cada </a:t>
            </a:r>
            <a:r>
              <a:rPr lang="pt-BR" sz="2200" b="1" dirty="0"/>
              <a:t>posição</a:t>
            </a:r>
            <a:r>
              <a:rPr lang="pt-BR" sz="2200" dirty="0"/>
              <a:t> contribui para o resultado.</a:t>
            </a:r>
          </a:p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Esse o </a:t>
            </a:r>
            <a:r>
              <a:rPr lang="pt-BR" sz="2200" b="1" dirty="0"/>
              <a:t>vetor de contexto</a:t>
            </a:r>
            <a:r>
              <a:rPr lang="pt-BR" sz="2200" dirty="0"/>
              <a:t> captura uma opinião mista das palavras da frase sobre a tarefa de prever qual palavra se segue “too”. 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875067"/>
            <a:ext cx="5999400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cxnSp>
        <p:nvCxnSpPr>
          <p:cNvPr id="9" name="Google Shape;428;p54">
            <a:extLst>
              <a:ext uri="{FF2B5EF4-FFF2-40B4-BE49-F238E27FC236}">
                <a16:creationId xmlns:a16="http://schemas.microsoft.com/office/drawing/2014/main" id="{760B3491-B43E-45C1-A126-9A39E5F8CD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44076" y="4571997"/>
            <a:ext cx="2229924" cy="794584"/>
          </a:xfrm>
          <a:prstGeom prst="bentConnector3">
            <a:avLst>
              <a:gd name="adj1" fmla="val -11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799987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12B69D1-10D4-48C6-8C6F-7136C931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22" y="471043"/>
            <a:ext cx="5318516" cy="5378126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6824134" y="436304"/>
            <a:ext cx="4761010" cy="57951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O vetor “</a:t>
            </a:r>
            <a:r>
              <a:rPr lang="pt-BR" sz="2200" dirty="0" err="1"/>
              <a:t>value</a:t>
            </a:r>
            <a:r>
              <a:rPr lang="pt-BR" sz="2200" dirty="0"/>
              <a:t>” carrega as informações que cada palavra transmite para o modelo. Isso pode incluir, por exemplo, a semântica da palavra, a parte do discurso, ou outras representações aprendidas durante o treinamento, dependendo de como os </a:t>
            </a:r>
            <a:r>
              <a:rPr lang="pt-BR" sz="2200" dirty="0" err="1"/>
              <a:t>embeddings</a:t>
            </a:r>
            <a:r>
              <a:rPr lang="pt-BR" sz="2200" dirty="0"/>
              <a:t> de palavras foram calculados.</a:t>
            </a:r>
          </a:p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Portanto, enquanto as queries (Q) e </a:t>
            </a:r>
            <a:r>
              <a:rPr lang="pt-BR" sz="2200" dirty="0" err="1"/>
              <a:t>keys</a:t>
            </a:r>
            <a:r>
              <a:rPr lang="pt-BR" sz="2200" dirty="0"/>
              <a:t> (K) ajudam a determinar as relações entre as palavras (baseadas em semântica ou contexto), os </a:t>
            </a:r>
            <a:r>
              <a:rPr lang="pt-BR" sz="2200" dirty="0" err="1"/>
              <a:t>values</a:t>
            </a:r>
            <a:r>
              <a:rPr lang="pt-BR" sz="2200" dirty="0"/>
              <a:t> (V) carregam as informações que serão agregadas para formar a saída da atenção.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875067"/>
            <a:ext cx="5999400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0608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12B69D1-10D4-48C6-8C6F-7136C931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22" y="471043"/>
            <a:ext cx="5318516" cy="5378126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36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49D29DE7-8D38-4A95-8746-A938A5E2FA79}"/>
              </a:ext>
            </a:extLst>
          </p:cNvPr>
          <p:cNvSpPr txBox="1"/>
          <p:nvPr/>
        </p:nvSpPr>
        <p:spPr>
          <a:xfrm>
            <a:off x="6824134" y="436304"/>
            <a:ext cx="4761010" cy="57951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Esse processo de atenção permite que o Transformer considere todas as palavras da sequência simultaneamente e aprenda quais palavras são mais relevantes em relação àquelas que estão sendo processadas no momento. </a:t>
            </a:r>
          </a:p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Em outras palavras, cada palavra pode “olhar” para o contexto completo da sequência para tomar decisões mais informadas, o que é uma grande vantagem em relação a arquiteturas como </a:t>
            </a:r>
            <a:r>
              <a:rPr lang="pt-BR" sz="2200" dirty="0" err="1"/>
              <a:t>LSTMs</a:t>
            </a:r>
            <a:r>
              <a:rPr lang="pt-BR" sz="2200" dirty="0"/>
              <a:t>, que processam as palavras sequencialmente.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CD7B0563-CEBB-4592-83FD-C029AEF16C75}"/>
              </a:ext>
            </a:extLst>
          </p:cNvPr>
          <p:cNvSpPr txBox="1"/>
          <p:nvPr/>
        </p:nvSpPr>
        <p:spPr>
          <a:xfrm>
            <a:off x="824733" y="5875067"/>
            <a:ext cx="5999400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68502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Multihead Attention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224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Podemos construir uma camada </a:t>
            </a:r>
            <a:r>
              <a:rPr lang="pt-BR" sz="2400" dirty="0" err="1"/>
              <a:t>Multihead</a:t>
            </a:r>
            <a:r>
              <a:rPr lang="pt-BR" sz="2400" dirty="0"/>
              <a:t> </a:t>
            </a:r>
            <a:r>
              <a:rPr lang="pt-BR" sz="2400" dirty="0" err="1"/>
              <a:t>Attention</a:t>
            </a:r>
            <a:r>
              <a:rPr lang="pt-BR" sz="2400" dirty="0"/>
              <a:t> que concatena a saída de vários </a:t>
            </a:r>
            <a:r>
              <a:rPr lang="pt-BR" sz="2400" dirty="0" err="1"/>
              <a:t>Attention</a:t>
            </a:r>
            <a:r>
              <a:rPr lang="pt-BR" sz="2400" dirty="0"/>
              <a:t> Head, permitindo que cada um aprenda um mecanismo de atenção distinto para que a camada como um todo possa aprender relacionamentos mais complexos.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As saídas concatenadas são passadas por uma matriz WO de pesos final para projetar o vetor na dimensão de saída desejada.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Multihead Attention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57183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Uma camada de atenção multihead com 4 Attention head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Multihead Attention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39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35B1495-6075-49F3-844E-94DEDD303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504" y="2468797"/>
            <a:ext cx="7252992" cy="246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97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Criando uma camada </a:t>
            </a:r>
            <a:r>
              <a:rPr lang="pt-BR" sz="2400" dirty="0" err="1"/>
              <a:t>Multihead</a:t>
            </a:r>
            <a:r>
              <a:rPr lang="pt-BR" sz="2400" dirty="0"/>
              <a:t> </a:t>
            </a:r>
            <a:r>
              <a:rPr lang="pt-BR" sz="2400" dirty="0" err="1"/>
              <a:t>Attention</a:t>
            </a:r>
            <a:r>
              <a:rPr lang="pt-BR" sz="2400" dirty="0"/>
              <a:t> no </a:t>
            </a:r>
            <a:r>
              <a:rPr lang="pt-BR" sz="2400" dirty="0" err="1"/>
              <a:t>Keras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Multihead Attention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023AC4-20F3-4B6F-BC0F-5AED0E633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33" y="2438313"/>
            <a:ext cx="3631054" cy="2379219"/>
          </a:xfrm>
          <a:prstGeom prst="rect">
            <a:avLst/>
          </a:prstGeom>
        </p:spPr>
      </p:pic>
      <p:sp>
        <p:nvSpPr>
          <p:cNvPr id="8" name="TextBox 43">
            <a:extLst>
              <a:ext uri="{FF2B5EF4-FFF2-40B4-BE49-F238E27FC236}">
                <a16:creationId xmlns:a16="http://schemas.microsoft.com/office/drawing/2014/main" id="{FAAE95C0-9155-4729-B130-260C43FDD4B3}"/>
              </a:ext>
            </a:extLst>
          </p:cNvPr>
          <p:cNvSpPr txBox="1"/>
          <p:nvPr/>
        </p:nvSpPr>
        <p:spPr>
          <a:xfrm>
            <a:off x="4732867" y="2341463"/>
            <a:ext cx="6900333" cy="322113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2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/>
              <a:t>Esta camada de atenção </a:t>
            </a:r>
            <a:r>
              <a:rPr lang="pt-BR" sz="2200" dirty="0" err="1"/>
              <a:t>multihead</a:t>
            </a:r>
            <a:r>
              <a:rPr lang="pt-BR" sz="2200" dirty="0"/>
              <a:t> possui quatro </a:t>
            </a:r>
            <a:r>
              <a:rPr lang="pt-BR" sz="2200" dirty="0" err="1"/>
              <a:t>attentions</a:t>
            </a:r>
            <a:r>
              <a:rPr lang="pt-BR" sz="2200" dirty="0"/>
              <a:t> </a:t>
            </a:r>
            <a:r>
              <a:rPr lang="pt-BR" sz="2200" dirty="0" err="1"/>
              <a:t>head</a:t>
            </a:r>
            <a:r>
              <a:rPr lang="pt-BR" sz="2200" dirty="0"/>
              <a:t>.</a:t>
            </a:r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/>
              <a:t>As Keys (e consulta Q) são vetores de comprimento 128.</a:t>
            </a:r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/>
              <a:t>Os valores de V (e, portanto, também a saída de cada </a:t>
            </a:r>
            <a:r>
              <a:rPr lang="pt-BR" sz="2200" dirty="0" err="1"/>
              <a:t>attention</a:t>
            </a:r>
            <a:r>
              <a:rPr lang="pt-BR" sz="2200" dirty="0"/>
              <a:t> </a:t>
            </a:r>
            <a:r>
              <a:rPr lang="pt-BR" sz="2200" dirty="0" err="1"/>
              <a:t>head</a:t>
            </a:r>
            <a:r>
              <a:rPr lang="pt-BR" sz="2200" dirty="0"/>
              <a:t>) são vetores de comprimento 64.</a:t>
            </a:r>
          </a:p>
          <a:p>
            <a:pPr marL="342900" indent="-342900">
              <a:lnSpc>
                <a:spcPts val="26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200" dirty="0"/>
              <a:t>O vetor de saída tem comprimento 256.</a:t>
            </a:r>
          </a:p>
        </p:txBody>
      </p:sp>
    </p:spTree>
    <p:extLst>
      <p:ext uri="{BB962C8B-B14F-4D97-AF65-F5344CB8AC3E}">
        <p14:creationId xmlns:p14="http://schemas.microsoft.com/office/powerpoint/2010/main" val="1604498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Causal Masking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841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34484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Até agora, a entrada da consulta para o attention head é um único vetor.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No entanto, para maior eficiência no treinamento, a camada de atenção deve operar em cada palavra da entrada de uma só vez, prevendo para cada uma qual será a palavra subsequente (lidar com um grupo de vetor em paralelo).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Causal Masking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70131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6663267" y="1281983"/>
            <a:ext cx="4725458" cy="44792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 dirty="0"/>
              <a:t>Precisamos aplicar uma máscara para garantir que durante o cálculo dos </a:t>
            </a:r>
            <a:r>
              <a:rPr lang="pt-BR" sz="2300" dirty="0" err="1"/>
              <a:t>attention</a:t>
            </a:r>
            <a:r>
              <a:rPr lang="pt-BR" sz="2300" dirty="0"/>
              <a:t> scores, cada posição possa atender apenas às posições que a precedem na sequência (mascaramos tokens futuros quando analisamos cada palavra de consulta).</a:t>
            </a:r>
          </a:p>
          <a:p>
            <a:pPr>
              <a:lnSpc>
                <a:spcPts val="3000"/>
              </a:lnSpc>
              <a:spcAft>
                <a:spcPts val="1200"/>
              </a:spcAft>
            </a:pPr>
            <a:r>
              <a:rPr lang="pt-BR" sz="2300" dirty="0"/>
              <a:t>Esse mascaramento ajuda que o modelo atenda às informações da esquerda para a direita.</a:t>
            </a: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5186600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77999B3-4FDF-4F6D-A56A-07D8B97D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5" y="622934"/>
            <a:ext cx="4919898" cy="48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889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34484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causal masking só é necessário em Transformers como GPT, em que a tarefa é gerar tokens sequencialmente com base nos tokens anteriores. Mascarar tokens futuros durante o treinamento é, portanto, essencial.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Causal Masking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997724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Causal Masking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73CB0C15-552A-474A-AA6A-1DC133ECB94C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9EFF764-5370-4474-AB2F-9DEF25DCC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33" y="1597817"/>
            <a:ext cx="8734300" cy="3177382"/>
          </a:xfrm>
          <a:prstGeom prst="rect">
            <a:avLst/>
          </a:prstGeom>
        </p:spPr>
      </p:pic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449734" y="1733123"/>
            <a:ext cx="2778124" cy="15688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300" dirty="0"/>
              <a:t>Implementação da função de causal </a:t>
            </a:r>
            <a:r>
              <a:rPr lang="pt-BR" sz="2300" dirty="0" err="1"/>
              <a:t>masking</a:t>
            </a:r>
            <a:endParaRPr lang="pt-BR" sz="2300" dirty="0"/>
          </a:p>
        </p:txBody>
      </p:sp>
    </p:spTree>
    <p:extLst>
      <p:ext uri="{BB962C8B-B14F-4D97-AF65-F5344CB8AC3E}">
        <p14:creationId xmlns:p14="http://schemas.microsoft.com/office/powerpoint/2010/main" val="3065793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Bloco Transformer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449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Assim, os parâmetros que podem ser aprendidos de uma camada são três matrizes de pesos densamente conectadas para cada attention head (WQ, WK e WV) e mais um matriz de pesos WO para o reshape da saída.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Bloco Transformer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1DEC22D5-A6B2-4651-86B2-8E36C6EF27E8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65663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O bloco Transformer é um componente único dentro de um Transformer com camadas feed-forward (densas) e de normalização em torno da camada de atenção multihead. 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Bloco Transformer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1DEC22D5-A6B2-4651-86B2-8E36C6EF27E8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656015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49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1DEC22D5-A6B2-4651-86B2-8E36C6EF27E8}"/>
              </a:ext>
            </a:extLst>
          </p:cNvPr>
          <p:cNvSpPr txBox="1"/>
          <p:nvPr/>
        </p:nvSpPr>
        <p:spPr>
          <a:xfrm>
            <a:off x="824733" y="5778620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6AD8997-FA41-493E-9D0B-FA5CFFF39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31" y="467153"/>
            <a:ext cx="4066871" cy="518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02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1DEC22D5-A6B2-4651-86B2-8E36C6EF27E8}"/>
              </a:ext>
            </a:extLst>
          </p:cNvPr>
          <p:cNvSpPr txBox="1"/>
          <p:nvPr/>
        </p:nvSpPr>
        <p:spPr>
          <a:xfrm>
            <a:off x="824733" y="5778620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ACA9E8-16A4-4530-9DC1-2C881542C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832" y="467152"/>
            <a:ext cx="4066870" cy="5243073"/>
          </a:xfrm>
          <a:prstGeom prst="rect">
            <a:avLst/>
          </a:prstGeom>
        </p:spPr>
      </p:pic>
      <p:sp>
        <p:nvSpPr>
          <p:cNvPr id="8" name="TextBox 43">
            <a:extLst>
              <a:ext uri="{FF2B5EF4-FFF2-40B4-BE49-F238E27FC236}">
                <a16:creationId xmlns:a16="http://schemas.microsoft.com/office/drawing/2014/main" id="{71DEC0FC-F563-4E51-8779-FD85DF42A66D}"/>
              </a:ext>
            </a:extLst>
          </p:cNvPr>
          <p:cNvSpPr txBox="1"/>
          <p:nvPr/>
        </p:nvSpPr>
        <p:spPr>
          <a:xfrm>
            <a:off x="6417734" y="951783"/>
            <a:ext cx="5215466" cy="46932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Observe como a consulta é passada pela camada de atenção multihead para ser adicionada à saída (skip connection ou residual connection).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2624129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51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1DEC22D5-A6B2-4651-86B2-8E36C6EF27E8}"/>
              </a:ext>
            </a:extLst>
          </p:cNvPr>
          <p:cNvSpPr txBox="1"/>
          <p:nvPr/>
        </p:nvSpPr>
        <p:spPr>
          <a:xfrm>
            <a:off x="824733" y="5778620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5DFA9388-51C9-4819-8119-98567D9FF1A8}"/>
              </a:ext>
            </a:extLst>
          </p:cNvPr>
          <p:cNvSpPr txBox="1"/>
          <p:nvPr/>
        </p:nvSpPr>
        <p:spPr>
          <a:xfrm>
            <a:off x="6417734" y="951783"/>
            <a:ext cx="5215466" cy="46932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As camadas de normalização (</a:t>
            </a:r>
            <a:r>
              <a:rPr lang="pt-BR" sz="2200" dirty="0" err="1"/>
              <a:t>layer</a:t>
            </a:r>
            <a:r>
              <a:rPr lang="pt-BR" sz="2200" dirty="0"/>
              <a:t> </a:t>
            </a:r>
            <a:r>
              <a:rPr lang="pt-BR" sz="2200" dirty="0" err="1"/>
              <a:t>normalization</a:t>
            </a:r>
            <a:r>
              <a:rPr lang="pt-BR" sz="2200" dirty="0"/>
              <a:t>) são usadas no bloco Transformer para fornecer estabilidade ao processo de treinamento. </a:t>
            </a:r>
            <a:br>
              <a:rPr lang="pt-BR" sz="2200" dirty="0"/>
            </a:br>
            <a:br>
              <a:rPr lang="pt-BR" sz="2200" dirty="0"/>
            </a:br>
            <a:r>
              <a:rPr lang="pt-BR" sz="2200" dirty="0"/>
              <a:t>Uma </a:t>
            </a:r>
            <a:r>
              <a:rPr lang="pt-BR" sz="2200" dirty="0" err="1"/>
              <a:t>layer</a:t>
            </a:r>
            <a:r>
              <a:rPr lang="pt-BR" sz="2200" dirty="0"/>
              <a:t> </a:t>
            </a:r>
            <a:r>
              <a:rPr lang="pt-BR" sz="2200" dirty="0" err="1"/>
              <a:t>normalization</a:t>
            </a:r>
            <a:r>
              <a:rPr lang="pt-BR" sz="2200" dirty="0"/>
              <a:t> normaliza as ativações ao longo das </a:t>
            </a:r>
            <a:r>
              <a:rPr lang="pt-BR" sz="2200" dirty="0" err="1"/>
              <a:t>features</a:t>
            </a:r>
            <a:r>
              <a:rPr lang="pt-BR" sz="2200" dirty="0"/>
              <a:t> (ou seja, entre os neurônios) para cada sample de dados individual. É aplicado independentemente a cada exemplo do batch (observe que é diferente da batch </a:t>
            </a:r>
            <a:r>
              <a:rPr lang="pt-BR" sz="2200" dirty="0" err="1"/>
              <a:t>normalization</a:t>
            </a:r>
            <a:r>
              <a:rPr lang="pt-BR" sz="2200" dirty="0"/>
              <a:t>, aplicada em todo batch).</a:t>
            </a:r>
          </a:p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Evita a criação de dependências de normalização entre sequências no batch.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D0048C2-F30E-40CC-B223-684C7294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32" y="467152"/>
            <a:ext cx="4062669" cy="517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1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1DEC22D5-A6B2-4651-86B2-8E36C6EF27E8}"/>
              </a:ext>
            </a:extLst>
          </p:cNvPr>
          <p:cNvSpPr txBox="1"/>
          <p:nvPr/>
        </p:nvSpPr>
        <p:spPr>
          <a:xfrm>
            <a:off x="824733" y="5778620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5DFA9388-51C9-4819-8119-98567D9FF1A8}"/>
              </a:ext>
            </a:extLst>
          </p:cNvPr>
          <p:cNvSpPr txBox="1"/>
          <p:nvPr/>
        </p:nvSpPr>
        <p:spPr>
          <a:xfrm>
            <a:off x="6417734" y="951783"/>
            <a:ext cx="5215466" cy="469328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Por último, um conjunto de camadas feed-forward (densamente conectadas) é incluído no bloco Transformer, para permitir que o componente extraia features de nível superior à medida que se aprofunda na rede. </a:t>
            </a:r>
            <a:endParaRPr lang="pt-BR" sz="22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D4F5200-0A62-4CAC-B8BA-9683984DA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32" y="467151"/>
            <a:ext cx="4062669" cy="517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14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4B92F0C-86FD-4C97-B37F-E265C9AE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99" y="873125"/>
            <a:ext cx="9743437" cy="4189942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5DFA9388-51C9-4819-8119-98567D9FF1A8}"/>
              </a:ext>
            </a:extLst>
          </p:cNvPr>
          <p:cNvSpPr txBox="1"/>
          <p:nvPr/>
        </p:nvSpPr>
        <p:spPr>
          <a:xfrm>
            <a:off x="7315200" y="1784556"/>
            <a:ext cx="3979333" cy="39940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As subcamadas que compõem o Transformer </a:t>
            </a:r>
            <a:r>
              <a:rPr lang="pt-BR" sz="2200" dirty="0" err="1"/>
              <a:t>Block</a:t>
            </a:r>
            <a:r>
              <a:rPr lang="pt-BR" sz="2200" dirty="0"/>
              <a:t> são definidas na função de inicialização.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62C01274-DC55-4D58-988F-B4740B22D4C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90979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44C0983-53F8-4A8A-AC74-0BD23C24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20" y="873125"/>
            <a:ext cx="10228509" cy="3648075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5DFA9388-51C9-4819-8119-98567D9FF1A8}"/>
              </a:ext>
            </a:extLst>
          </p:cNvPr>
          <p:cNvSpPr txBox="1"/>
          <p:nvPr/>
        </p:nvSpPr>
        <p:spPr>
          <a:xfrm>
            <a:off x="5410199" y="1639974"/>
            <a:ext cx="6510867" cy="39940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1500"/>
              </a:lnSpc>
              <a:spcAft>
                <a:spcPts val="1200"/>
              </a:spcAft>
            </a:pPr>
            <a:r>
              <a:rPr lang="pt-BR" sz="2200" dirty="0"/>
              <a:t>A causal </a:t>
            </a:r>
            <a:r>
              <a:rPr lang="pt-BR" sz="2200" dirty="0" err="1"/>
              <a:t>masking</a:t>
            </a:r>
            <a:r>
              <a:rPr lang="pt-BR" sz="2200" dirty="0"/>
              <a:t> é criada para ocultar </a:t>
            </a:r>
          </a:p>
          <a:p>
            <a:pPr>
              <a:lnSpc>
                <a:spcPts val="1500"/>
              </a:lnSpc>
              <a:spcAft>
                <a:spcPts val="1200"/>
              </a:spcAft>
            </a:pPr>
            <a:r>
              <a:rPr lang="pt-BR" sz="2200" dirty="0"/>
              <a:t>Keys futuras da consulta.</a:t>
            </a:r>
          </a:p>
          <a:p>
            <a:pPr>
              <a:lnSpc>
                <a:spcPts val="2500"/>
              </a:lnSpc>
              <a:spcAft>
                <a:spcPts val="1200"/>
              </a:spcAft>
            </a:pPr>
            <a:endParaRPr lang="pt-BR" sz="2200" dirty="0"/>
          </a:p>
          <a:p>
            <a:pPr>
              <a:lnSpc>
                <a:spcPts val="2500"/>
              </a:lnSpc>
              <a:spcAft>
                <a:spcPts val="1200"/>
              </a:spcAft>
            </a:pPr>
            <a:endParaRPr lang="pt-BR" sz="2200" dirty="0"/>
          </a:p>
          <a:p>
            <a:pPr lvl="1">
              <a:lnSpc>
                <a:spcPts val="1500"/>
              </a:lnSpc>
              <a:spcAft>
                <a:spcPts val="1200"/>
              </a:spcAft>
            </a:pPr>
            <a:r>
              <a:rPr lang="pt-BR" sz="2200" dirty="0"/>
              <a:t>A camada de atenção </a:t>
            </a:r>
            <a:r>
              <a:rPr lang="pt-BR" sz="2200" dirty="0" err="1"/>
              <a:t>multihead</a:t>
            </a:r>
            <a:r>
              <a:rPr lang="pt-BR" sz="2200" dirty="0"/>
              <a:t> é criada, </a:t>
            </a:r>
          </a:p>
          <a:p>
            <a:pPr lvl="1">
              <a:lnSpc>
                <a:spcPts val="1500"/>
              </a:lnSpc>
              <a:spcAft>
                <a:spcPts val="1200"/>
              </a:spcAft>
            </a:pPr>
            <a:r>
              <a:rPr lang="pt-BR" sz="2200" dirty="0"/>
              <a:t>com as máscaras de atenção especificadas.</a:t>
            </a:r>
          </a:p>
          <a:p>
            <a:pPr lvl="1">
              <a:lnSpc>
                <a:spcPts val="2500"/>
              </a:lnSpc>
              <a:spcAft>
                <a:spcPts val="1200"/>
              </a:spcAft>
            </a:pPr>
            <a:endParaRPr lang="pt-BR" sz="2200" dirty="0"/>
          </a:p>
          <a:p>
            <a:pPr lvl="2"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A primeira camada de adição e normalização. </a:t>
            </a:r>
          </a:p>
          <a:p>
            <a:pPr lvl="1">
              <a:lnSpc>
                <a:spcPts val="2500"/>
              </a:lnSpc>
              <a:spcAft>
                <a:spcPts val="1200"/>
              </a:spcAft>
            </a:pPr>
            <a:endParaRPr lang="pt-BR" sz="2200" dirty="0"/>
          </a:p>
          <a:p>
            <a:pPr>
              <a:lnSpc>
                <a:spcPts val="2500"/>
              </a:lnSpc>
              <a:spcAft>
                <a:spcPts val="1200"/>
              </a:spcAft>
            </a:pPr>
            <a:endParaRPr lang="pt-BR" sz="2200" dirty="0"/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05440CB1-7CAB-45D9-B508-6FDD92077EC1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76486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726F67E-1BFD-46BF-A9BE-B74CB9BB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20" y="881592"/>
            <a:ext cx="10514573" cy="1964339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5DFA9388-51C9-4819-8119-98567D9FF1A8}"/>
              </a:ext>
            </a:extLst>
          </p:cNvPr>
          <p:cNvSpPr txBox="1"/>
          <p:nvPr/>
        </p:nvSpPr>
        <p:spPr>
          <a:xfrm>
            <a:off x="6444191" y="1360573"/>
            <a:ext cx="4944534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en-US" sz="2200" dirty="0"/>
              <a:t>A </a:t>
            </a:r>
            <a:r>
              <a:rPr lang="en-US" sz="2200" dirty="0" err="1"/>
              <a:t>primeira</a:t>
            </a:r>
            <a:r>
              <a:rPr lang="en-US" sz="2200" dirty="0"/>
              <a:t> add and normalization layer 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093C0B53-30EA-4052-BF04-5E67CE239BD9}"/>
              </a:ext>
            </a:extLst>
          </p:cNvPr>
          <p:cNvSpPr txBox="1"/>
          <p:nvPr/>
        </p:nvSpPr>
        <p:spPr>
          <a:xfrm>
            <a:off x="3809732" y="1705320"/>
            <a:ext cx="5087727" cy="4198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en-US" sz="2200" dirty="0"/>
              <a:t>As </a:t>
            </a:r>
            <a:r>
              <a:rPr lang="en-US" sz="2200" dirty="0" err="1"/>
              <a:t>camadas</a:t>
            </a:r>
            <a:r>
              <a:rPr lang="en-US" sz="2200" dirty="0"/>
              <a:t> feedforward.</a:t>
            </a: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4869BCDB-1F85-4882-A341-16C46167AC6E}"/>
              </a:ext>
            </a:extLst>
          </p:cNvPr>
          <p:cNvSpPr txBox="1"/>
          <p:nvPr/>
        </p:nvSpPr>
        <p:spPr>
          <a:xfrm>
            <a:off x="6444191" y="2420051"/>
            <a:ext cx="5087727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en-US" sz="2200" dirty="0"/>
              <a:t>A </a:t>
            </a:r>
            <a:r>
              <a:rPr lang="en-US" sz="2200" dirty="0" err="1"/>
              <a:t>segunda</a:t>
            </a:r>
            <a:r>
              <a:rPr lang="en-US" sz="2200" dirty="0"/>
              <a:t> add and normalization layer</a:t>
            </a:r>
          </a:p>
        </p:txBody>
      </p:sp>
      <p:sp>
        <p:nvSpPr>
          <p:cNvPr id="10" name="TextBox 43">
            <a:extLst>
              <a:ext uri="{FF2B5EF4-FFF2-40B4-BE49-F238E27FC236}">
                <a16:creationId xmlns:a16="http://schemas.microsoft.com/office/drawing/2014/main" id="{F1BAF686-F17E-4AC3-8761-475DA742EF38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462785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Positional Encoding</a:t>
            </a:r>
          </a:p>
        </p:txBody>
      </p:sp>
    </p:spTree>
    <p:extLst>
      <p:ext uri="{BB962C8B-B14F-4D97-AF65-F5344CB8AC3E}">
        <p14:creationId xmlns:p14="http://schemas.microsoft.com/office/powerpoint/2010/main" val="15339161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3"/>
            <a:ext cx="10563992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Observe que na camada de atenção </a:t>
            </a:r>
            <a:r>
              <a:rPr lang="pt-BR" sz="2400" dirty="0" err="1"/>
              <a:t>multihead</a:t>
            </a:r>
            <a:r>
              <a:rPr lang="pt-BR" sz="2400" dirty="0"/>
              <a:t> não há nada que se importe com a ordem das chaves.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 produto escalar entre cada chave e a consulta é calculado em paralelo, não sequencialmente (como nas </a:t>
            </a:r>
            <a:r>
              <a:rPr lang="pt-BR" sz="2400" dirty="0" err="1"/>
              <a:t>RNNs</a:t>
            </a:r>
            <a:r>
              <a:rPr lang="pt-BR" sz="2400" dirty="0"/>
              <a:t>).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Bom devido à paralelização, mas um problema porque precisamos da camada de atenção para poder prever resultados diferentes para as duas sentenças a seguir: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Positional Encoding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260220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3075622"/>
            <a:ext cx="10563992" cy="2068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Para resolver, usamos uma técnica chamada codificação posicional (</a:t>
            </a:r>
            <a:r>
              <a:rPr lang="pt-BR" sz="2400" dirty="0" err="1"/>
              <a:t>Positional</a:t>
            </a:r>
            <a:r>
              <a:rPr lang="pt-BR" sz="2400" dirty="0"/>
              <a:t> </a:t>
            </a:r>
            <a:r>
              <a:rPr lang="pt-BR" sz="2400" dirty="0" err="1"/>
              <a:t>Encoding</a:t>
            </a:r>
            <a:r>
              <a:rPr lang="pt-BR" sz="2400" dirty="0"/>
              <a:t>) ao criar as entradas para o bloco Transformer inicial.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Em vez de apenas codificar cada token usando um token </a:t>
            </a:r>
            <a:r>
              <a:rPr lang="pt-BR" sz="2400" dirty="0" err="1"/>
              <a:t>embedding</a:t>
            </a:r>
            <a:r>
              <a:rPr lang="pt-BR" sz="2400" dirty="0"/>
              <a:t>, também codificamos a posição do token, usando um position </a:t>
            </a:r>
            <a:r>
              <a:rPr lang="pt-BR" sz="2400" dirty="0" err="1"/>
              <a:t>embedding</a:t>
            </a:r>
            <a:r>
              <a:rPr lang="pt-BR" sz="2400" dirty="0"/>
              <a:t>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Positional Encoding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3EC44646-1731-40A5-A3ED-FD9EDD9A9D54}"/>
              </a:ext>
            </a:extLst>
          </p:cNvPr>
          <p:cNvSpPr txBox="1"/>
          <p:nvPr/>
        </p:nvSpPr>
        <p:spPr>
          <a:xfrm>
            <a:off x="2971800" y="1657084"/>
            <a:ext cx="5037666" cy="125680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en-US" sz="2200" dirty="0"/>
              <a:t>The dog looked at the boy and …​ (barked?)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en-US" sz="2200" dirty="0"/>
              <a:t>The boy looked at the dog and …​ (smiled?)</a:t>
            </a:r>
          </a:p>
        </p:txBody>
      </p:sp>
    </p:spTree>
    <p:extLst>
      <p:ext uri="{BB962C8B-B14F-4D97-AF65-F5344CB8AC3E}">
        <p14:creationId xmlns:p14="http://schemas.microsoft.com/office/powerpoint/2010/main" val="25556978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2872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Um token embedding é criado usando a camada padrão de Embedding para converter cada token em um vetor.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Podemos criar o positional embedding da mesma maneira, convertendo cada posição inteira em um vetor.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Ao final, os dois vetores são incorporados.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Positional Encoding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59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939914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0F1E268-BDE0-4E8F-8D59-81D4C88DA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65" y="878139"/>
            <a:ext cx="7549512" cy="4348353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05440CB1-7CAB-45D9-B508-6FDD92077EC1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12" name="TextBox 43">
            <a:extLst>
              <a:ext uri="{FF2B5EF4-FFF2-40B4-BE49-F238E27FC236}">
                <a16:creationId xmlns:a16="http://schemas.microsoft.com/office/drawing/2014/main" id="{698EA7F1-116C-4965-A59C-D335F7F0206E}"/>
              </a:ext>
            </a:extLst>
          </p:cNvPr>
          <p:cNvSpPr txBox="1"/>
          <p:nvPr/>
        </p:nvSpPr>
        <p:spPr>
          <a:xfrm>
            <a:off x="5393265" y="2243992"/>
            <a:ext cx="3480923" cy="7618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Os tokens são incorporados usando a </a:t>
            </a:r>
            <a:r>
              <a:rPr lang="pt-BR" sz="2200" dirty="0" err="1"/>
              <a:t>Embedding</a:t>
            </a:r>
            <a:r>
              <a:rPr lang="pt-BR" sz="2200" dirty="0"/>
              <a:t> </a:t>
            </a:r>
            <a:r>
              <a:rPr lang="pt-BR" sz="2200" dirty="0" err="1"/>
              <a:t>Layer</a:t>
            </a:r>
            <a:r>
              <a:rPr lang="pt-BR" sz="2200" dirty="0"/>
              <a:t>.</a:t>
            </a:r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59A5087C-03EB-47E6-85B4-1847B29DF1B6}"/>
              </a:ext>
            </a:extLst>
          </p:cNvPr>
          <p:cNvSpPr txBox="1"/>
          <p:nvPr/>
        </p:nvSpPr>
        <p:spPr>
          <a:xfrm>
            <a:off x="7450666" y="3052476"/>
            <a:ext cx="3869267" cy="116392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As posições dos tokens também são incorporadas por meio de uma </a:t>
            </a:r>
            <a:r>
              <a:rPr lang="pt-BR" sz="2200" dirty="0" err="1"/>
              <a:t>Embedding</a:t>
            </a:r>
            <a:r>
              <a:rPr lang="pt-BR" sz="2200" dirty="0"/>
              <a:t> </a:t>
            </a:r>
            <a:r>
              <a:rPr lang="pt-BR" sz="2200" dirty="0" err="1"/>
              <a:t>layer</a:t>
            </a:r>
            <a:r>
              <a:rPr lang="pt-BR" sz="2200" dirty="0"/>
              <a:t>.</a:t>
            </a:r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5C6560AF-3E3A-4559-A2A4-E3374885248E}"/>
              </a:ext>
            </a:extLst>
          </p:cNvPr>
          <p:cNvSpPr txBox="1"/>
          <p:nvPr/>
        </p:nvSpPr>
        <p:spPr>
          <a:xfrm>
            <a:off x="3412067" y="4621987"/>
            <a:ext cx="4140200" cy="7618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A saída da camada é a soma dos tokens e dos position embeddings. 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1591407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507103"/>
            <a:ext cx="983197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55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Treinamento do modelo GPT</a:t>
            </a:r>
            <a:endParaRPr lang="en-ID" sz="55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367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2872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Na etapa do treinamento, o resultado final da rede é uma camada densa simples com ativação softmax sobre o número de palavras do vocabulário.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Treinamento do modelo 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164940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5DFA9388-51C9-4819-8119-98567D9FF1A8}"/>
              </a:ext>
            </a:extLst>
          </p:cNvPr>
          <p:cNvSpPr txBox="1"/>
          <p:nvPr/>
        </p:nvSpPr>
        <p:spPr>
          <a:xfrm>
            <a:off x="7315200" y="1431968"/>
            <a:ext cx="3979333" cy="39940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A arquitetura simplificada do modelo GPT </a:t>
            </a:r>
            <a:br>
              <a:rPr lang="pt-BR" sz="2200"/>
            </a:br>
            <a:br>
              <a:rPr lang="pt-BR" sz="2200"/>
            </a:br>
            <a:r>
              <a:rPr lang="pt-BR" sz="2200"/>
              <a:t>(por simplicidade, apenas um único bloco Transformer ao invés de 12 como no artigo original)</a:t>
            </a:r>
            <a:endParaRPr lang="pt-BR" sz="2200" dirty="0"/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62C01274-DC55-4D58-988F-B4740B22D4C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78F7BE-5A74-407B-97C9-7B31BE945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91" y="873125"/>
            <a:ext cx="6049479" cy="446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01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2E4FAEC-D147-4BAF-ABEE-39E51BEF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5" y="832547"/>
            <a:ext cx="10018438" cy="4281322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05440CB1-7CAB-45D9-B508-6FDD92077EC1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12" name="TextBox 43">
            <a:extLst>
              <a:ext uri="{FF2B5EF4-FFF2-40B4-BE49-F238E27FC236}">
                <a16:creationId xmlns:a16="http://schemas.microsoft.com/office/drawing/2014/main" id="{698EA7F1-116C-4965-A59C-D335F7F0206E}"/>
              </a:ext>
            </a:extLst>
          </p:cNvPr>
          <p:cNvSpPr txBox="1"/>
          <p:nvPr/>
        </p:nvSpPr>
        <p:spPr>
          <a:xfrm>
            <a:off x="5304366" y="2589044"/>
            <a:ext cx="4343402" cy="4028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A entrada é preenchida (com zeros)</a:t>
            </a:r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59A5087C-03EB-47E6-85B4-1847B29DF1B6}"/>
              </a:ext>
            </a:extLst>
          </p:cNvPr>
          <p:cNvSpPr txBox="1"/>
          <p:nvPr/>
        </p:nvSpPr>
        <p:spPr>
          <a:xfrm>
            <a:off x="7103536" y="2950872"/>
            <a:ext cx="4250266" cy="7618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O texto é codificado usando uma </a:t>
            </a:r>
            <a:r>
              <a:rPr lang="pt-BR" sz="2200" dirty="0" err="1"/>
              <a:t>TokenAndPositionEmbedding</a:t>
            </a:r>
            <a:r>
              <a:rPr lang="pt-BR" sz="2200" dirty="0"/>
              <a:t> </a:t>
            </a:r>
            <a:r>
              <a:rPr lang="pt-BR" sz="2200" dirty="0" err="1"/>
              <a:t>layer</a:t>
            </a:r>
            <a:r>
              <a:rPr lang="pt-BR" sz="2200" dirty="0"/>
              <a:t>.</a:t>
            </a:r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5C6560AF-3E3A-4559-A2A4-E3374885248E}"/>
              </a:ext>
            </a:extLst>
          </p:cNvPr>
          <p:cNvSpPr txBox="1"/>
          <p:nvPr/>
        </p:nvSpPr>
        <p:spPr>
          <a:xfrm>
            <a:off x="5989254" y="4154539"/>
            <a:ext cx="5587051" cy="125342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A saída transformada é passada através de uma Dense layer com ativação softmax para prever uma distribuição na palavra subsequente.</a:t>
            </a:r>
            <a:endParaRPr lang="pt-BR" sz="2200" dirty="0"/>
          </a:p>
        </p:txBody>
      </p:sp>
      <p:sp>
        <p:nvSpPr>
          <p:cNvPr id="15" name="TextBox 43">
            <a:extLst>
              <a:ext uri="{FF2B5EF4-FFF2-40B4-BE49-F238E27FC236}">
                <a16:creationId xmlns:a16="http://schemas.microsoft.com/office/drawing/2014/main" id="{816EE260-A9C0-4D14-BADB-F128A74C8C5B}"/>
              </a:ext>
            </a:extLst>
          </p:cNvPr>
          <p:cNvSpPr txBox="1"/>
          <p:nvPr/>
        </p:nvSpPr>
        <p:spPr>
          <a:xfrm>
            <a:off x="6553198" y="873126"/>
            <a:ext cx="3480923" cy="413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Um modelo GPT em Keras.</a:t>
            </a:r>
            <a:endParaRPr lang="pt-BR" sz="2200" dirty="0"/>
          </a:p>
        </p:txBody>
      </p:sp>
      <p:sp>
        <p:nvSpPr>
          <p:cNvPr id="16" name="TextBox 43">
            <a:extLst>
              <a:ext uri="{FF2B5EF4-FFF2-40B4-BE49-F238E27FC236}">
                <a16:creationId xmlns:a16="http://schemas.microsoft.com/office/drawing/2014/main" id="{5BD40FCF-42F3-43A5-A3DF-E83AF05009B4}"/>
              </a:ext>
            </a:extLst>
          </p:cNvPr>
          <p:cNvSpPr txBox="1"/>
          <p:nvPr/>
        </p:nvSpPr>
        <p:spPr>
          <a:xfrm>
            <a:off x="1263308" y="3662873"/>
            <a:ext cx="6644561" cy="4241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/>
              <a:t>A codificação é passada através de um TransformerBlock.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9929670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A686CBF8-13D9-4FEC-8255-6A97A3C9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7" y="792328"/>
            <a:ext cx="10600267" cy="4529963"/>
          </a:xfrm>
          <a:prstGeom prst="rect">
            <a:avLst/>
          </a:prstGeom>
        </p:spPr>
      </p:pic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05440CB1-7CAB-45D9-B508-6FDD92077EC1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59A5087C-03EB-47E6-85B4-1847B29DF1B6}"/>
              </a:ext>
            </a:extLst>
          </p:cNvPr>
          <p:cNvSpPr txBox="1"/>
          <p:nvPr/>
        </p:nvSpPr>
        <p:spPr>
          <a:xfrm>
            <a:off x="4123267" y="1839594"/>
            <a:ext cx="7526866" cy="15242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100" dirty="0"/>
              <a:t>O Model pega uma sequência de tokens de palavras como entrada e gera a distribuição de palavras subsequente prevista. A saída do bloco Transformer também é retornada para que possamos inspecionar como o modelo está direcionando sua </a:t>
            </a:r>
            <a:r>
              <a:rPr lang="pt-BR" sz="2100" b="1" dirty="0"/>
              <a:t>atenção</a:t>
            </a:r>
            <a:r>
              <a:rPr lang="pt-BR" sz="2100" dirty="0"/>
              <a:t>.</a:t>
            </a:r>
          </a:p>
        </p:txBody>
      </p:sp>
      <p:sp>
        <p:nvSpPr>
          <p:cNvPr id="14" name="TextBox 43">
            <a:extLst>
              <a:ext uri="{FF2B5EF4-FFF2-40B4-BE49-F238E27FC236}">
                <a16:creationId xmlns:a16="http://schemas.microsoft.com/office/drawing/2014/main" id="{5C6560AF-3E3A-4559-A2A4-E3374885248E}"/>
              </a:ext>
            </a:extLst>
          </p:cNvPr>
          <p:cNvSpPr txBox="1"/>
          <p:nvPr/>
        </p:nvSpPr>
        <p:spPr>
          <a:xfrm>
            <a:off x="4250268" y="3739672"/>
            <a:ext cx="7326038" cy="125342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O modelo é compilado com </a:t>
            </a:r>
            <a:r>
              <a:rPr lang="pt-BR" sz="2200" dirty="0" err="1"/>
              <a:t>SparseCategoricalCrossentropy</a:t>
            </a:r>
            <a:r>
              <a:rPr lang="pt-BR" sz="2200" dirty="0"/>
              <a:t> </a:t>
            </a:r>
            <a:r>
              <a:rPr lang="pt-BR" sz="2200" dirty="0" err="1"/>
              <a:t>loss</a:t>
            </a:r>
            <a:r>
              <a:rPr lang="pt-BR" sz="2200" dirty="0"/>
              <a:t> na distribuição de palavras prevista.</a:t>
            </a:r>
          </a:p>
        </p:txBody>
      </p:sp>
      <p:sp>
        <p:nvSpPr>
          <p:cNvPr id="15" name="TextBox 43">
            <a:extLst>
              <a:ext uri="{FF2B5EF4-FFF2-40B4-BE49-F238E27FC236}">
                <a16:creationId xmlns:a16="http://schemas.microsoft.com/office/drawing/2014/main" id="{816EE260-A9C0-4D14-BADB-F128A74C8C5B}"/>
              </a:ext>
            </a:extLst>
          </p:cNvPr>
          <p:cNvSpPr txBox="1"/>
          <p:nvPr/>
        </p:nvSpPr>
        <p:spPr>
          <a:xfrm>
            <a:off x="7253992" y="881592"/>
            <a:ext cx="3480923" cy="413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  <a:spcAft>
                <a:spcPts val="1200"/>
              </a:spcAft>
            </a:pPr>
            <a:r>
              <a:rPr lang="pt-BR" sz="2200" dirty="0"/>
              <a:t>Um modelo GPT em </a:t>
            </a:r>
            <a:r>
              <a:rPr lang="pt-BR" sz="2200" dirty="0" err="1"/>
              <a:t>Keras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0216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21167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0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Modelos GPT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9037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2872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Este modelo GPT é um </a:t>
            </a:r>
            <a:r>
              <a:rPr lang="pt-BR" sz="2400" i="1" dirty="0" err="1"/>
              <a:t>decoder</a:t>
            </a:r>
            <a:r>
              <a:rPr lang="pt-BR" sz="2400" i="1" dirty="0"/>
              <a:t> Transformer</a:t>
            </a:r>
            <a:r>
              <a:rPr lang="pt-BR" sz="2400" dirty="0"/>
              <a:t> — gera uma </a:t>
            </a:r>
            <a:r>
              <a:rPr lang="pt-BR" sz="2400" dirty="0" err="1"/>
              <a:t>string</a:t>
            </a:r>
            <a:r>
              <a:rPr lang="pt-BR" sz="2400" dirty="0"/>
              <a:t> de texto, um token por vez, e usa causal </a:t>
            </a:r>
            <a:r>
              <a:rPr lang="pt-BR" sz="2400" dirty="0" err="1"/>
              <a:t>masking</a:t>
            </a:r>
            <a:r>
              <a:rPr lang="pt-BR" sz="2400" dirty="0"/>
              <a:t> para atender apenas às palavras anteriores na </a:t>
            </a:r>
            <a:r>
              <a:rPr lang="pt-BR" sz="2400" dirty="0" err="1"/>
              <a:t>string</a:t>
            </a:r>
            <a:r>
              <a:rPr lang="pt-BR" sz="2400" dirty="0"/>
              <a:t> de entrada.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Existem também </a:t>
            </a:r>
            <a:r>
              <a:rPr lang="pt-BR" sz="2400" i="1" dirty="0" err="1"/>
              <a:t>encoder</a:t>
            </a:r>
            <a:r>
              <a:rPr lang="pt-BR" sz="2400" i="1" dirty="0"/>
              <a:t> Transformers</a:t>
            </a:r>
            <a:r>
              <a:rPr lang="pt-BR" sz="2400" dirty="0"/>
              <a:t>, que não usam causal </a:t>
            </a:r>
            <a:r>
              <a:rPr lang="pt-BR" sz="2400" dirty="0" err="1"/>
              <a:t>masking</a:t>
            </a:r>
            <a:r>
              <a:rPr lang="pt-BR" sz="2400" dirty="0"/>
              <a:t> — em vez disso, eles atendem a toda a </a:t>
            </a:r>
            <a:r>
              <a:rPr lang="pt-BR" sz="2400" dirty="0" err="1"/>
              <a:t>string</a:t>
            </a:r>
            <a:r>
              <a:rPr lang="pt-BR" sz="2400" dirty="0"/>
              <a:t> de entrada para extrair uma representação contextual significativa da entrada.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Modelos 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917706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2872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Para outras tarefas, como tradução de idiomas, também existem </a:t>
            </a:r>
            <a:r>
              <a:rPr lang="pt-BR" sz="2400" i="1" dirty="0" err="1"/>
              <a:t>encoder-decoder</a:t>
            </a:r>
            <a:r>
              <a:rPr lang="pt-BR" sz="2400" i="1" dirty="0"/>
              <a:t> Transformers </a:t>
            </a:r>
            <a:r>
              <a:rPr lang="pt-BR" sz="2400" dirty="0"/>
              <a:t>que podem traduzir de uma </a:t>
            </a:r>
            <a:r>
              <a:rPr lang="pt-BR" sz="2400" dirty="0" err="1"/>
              <a:t>string</a:t>
            </a:r>
            <a:r>
              <a:rPr lang="pt-BR" sz="2400" dirty="0"/>
              <a:t> de texto para outra; esse tipo de modelo contém blocos </a:t>
            </a:r>
            <a:r>
              <a:rPr lang="pt-BR" sz="2400" i="1" dirty="0" err="1"/>
              <a:t>encoder</a:t>
            </a:r>
            <a:r>
              <a:rPr lang="pt-BR" sz="2400" i="1" dirty="0"/>
              <a:t> Transformer</a:t>
            </a:r>
            <a:r>
              <a:rPr lang="pt-BR" sz="2400" dirty="0"/>
              <a:t> e blocos </a:t>
            </a:r>
            <a:r>
              <a:rPr lang="pt-BR" sz="2400" i="1" dirty="0" err="1"/>
              <a:t>decoder</a:t>
            </a:r>
            <a:r>
              <a:rPr lang="pt-BR" sz="2400" i="1" dirty="0"/>
              <a:t> Transformer</a:t>
            </a:r>
            <a:r>
              <a:rPr lang="pt-BR" sz="2400" dirty="0"/>
              <a:t>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Modelos 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903591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2872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Exemplos: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Encoder: BERT (Google) → Classificação de frases, named entity recognition,  resposta extrativa a perguntas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Encoder-decoder: T5 (Google) → Resumo, tradução, resposta a perguntas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Decoder: GPT-3 (OpenAI) → Geração de texto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Modelos 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69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67243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2872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i="1" dirty="0" err="1"/>
              <a:t>Encoder</a:t>
            </a:r>
            <a:r>
              <a:rPr lang="pt-BR" sz="2400" i="1" dirty="0"/>
              <a:t> Transformers </a:t>
            </a:r>
            <a:r>
              <a:rPr lang="pt-BR" sz="2400" dirty="0"/>
              <a:t>são normalmente usados ​​para tarefas que exigem uma compreensão da entrada como um todo, como </a:t>
            </a:r>
            <a:r>
              <a:rPr lang="pt-BR" sz="2400" b="1" dirty="0"/>
              <a:t>classificação de frases</a:t>
            </a:r>
            <a:r>
              <a:rPr lang="pt-BR" sz="2400" dirty="0"/>
              <a:t>, </a:t>
            </a:r>
            <a:r>
              <a:rPr lang="pt-BR" sz="2400" dirty="0" err="1"/>
              <a:t>named</a:t>
            </a:r>
            <a:r>
              <a:rPr lang="pt-BR" sz="2400" dirty="0"/>
              <a:t> </a:t>
            </a:r>
            <a:r>
              <a:rPr lang="pt-BR" sz="2400" dirty="0" err="1"/>
              <a:t>entity</a:t>
            </a:r>
            <a:r>
              <a:rPr lang="pt-BR" sz="2400" dirty="0"/>
              <a:t> </a:t>
            </a:r>
            <a:r>
              <a:rPr lang="pt-BR" sz="2400" dirty="0" err="1"/>
              <a:t>recognition</a:t>
            </a:r>
            <a:r>
              <a:rPr lang="pt-BR" sz="2400" dirty="0"/>
              <a:t> e resposta extrativa a perguntas. Eles não são usados ​​para tarefas de </a:t>
            </a:r>
            <a:r>
              <a:rPr lang="pt-BR" sz="2400" b="1" dirty="0"/>
              <a:t>geração de texto</a:t>
            </a:r>
            <a:r>
              <a:rPr lang="pt-BR" sz="2400" dirty="0"/>
              <a:t>, portanto são atividades associadas a Natural </a:t>
            </a:r>
            <a:r>
              <a:rPr lang="pt-BR" sz="2400" dirty="0" err="1"/>
              <a:t>Language</a:t>
            </a:r>
            <a:r>
              <a:rPr lang="pt-BR" sz="2400" dirty="0"/>
              <a:t> </a:t>
            </a:r>
            <a:r>
              <a:rPr lang="pt-BR" sz="2400" dirty="0" err="1"/>
              <a:t>Processing</a:t>
            </a:r>
            <a:r>
              <a:rPr lang="pt-BR" sz="2400" dirty="0"/>
              <a:t>.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Modelos 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211099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Os modelos lançados pela </a:t>
            </a:r>
            <a:r>
              <a:rPr lang="pt-BR" sz="2400" dirty="0" err="1"/>
              <a:t>OpenAI</a:t>
            </a:r>
            <a:r>
              <a:rPr lang="pt-BR" sz="2400" dirty="0"/>
              <a:t>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GPT: Junho de 2018, 12 camadas, 12 </a:t>
            </a:r>
            <a:r>
              <a:rPr lang="pt-BR" sz="2400" dirty="0" err="1"/>
              <a:t>Attention</a:t>
            </a:r>
            <a:r>
              <a:rPr lang="pt-BR" sz="2400" dirty="0"/>
              <a:t> </a:t>
            </a:r>
            <a:r>
              <a:rPr lang="pt-BR" sz="2400" dirty="0" err="1"/>
              <a:t>heads</a:t>
            </a:r>
            <a:r>
              <a:rPr lang="pt-BR" sz="2400" dirty="0"/>
              <a:t>, 120.000.000 parâmetros (</a:t>
            </a:r>
            <a:r>
              <a:rPr lang="pt-BR" sz="2400" dirty="0" err="1"/>
              <a:t>dataset</a:t>
            </a:r>
            <a:r>
              <a:rPr lang="pt-BR" sz="2400" dirty="0"/>
              <a:t>: </a:t>
            </a:r>
            <a:r>
              <a:rPr lang="pt-BR" sz="2400" dirty="0" err="1"/>
              <a:t>BookCorpus</a:t>
            </a:r>
            <a:r>
              <a:rPr lang="pt-BR" sz="2400" dirty="0"/>
              <a:t>: 4,5 GB de texto de livros inéditos).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GPT-2: fevereiro de 2019, 48 camadas, 48 </a:t>
            </a:r>
            <a:r>
              <a:rPr lang="pt-BR" sz="2400" dirty="0" err="1"/>
              <a:t>Attention</a:t>
            </a:r>
            <a:r>
              <a:rPr lang="pt-BR" sz="2400" dirty="0"/>
              <a:t> </a:t>
            </a:r>
            <a:r>
              <a:rPr lang="pt-BR" sz="2400" dirty="0" err="1"/>
              <a:t>heads</a:t>
            </a:r>
            <a:r>
              <a:rPr lang="pt-BR" sz="2400" dirty="0"/>
              <a:t>, 1.500.000.000 parâmetros (</a:t>
            </a:r>
            <a:r>
              <a:rPr lang="pt-BR" sz="2400" dirty="0" err="1"/>
              <a:t>dataset</a:t>
            </a:r>
            <a:r>
              <a:rPr lang="pt-BR" sz="2400" dirty="0"/>
              <a:t>: </a:t>
            </a:r>
            <a:r>
              <a:rPr lang="pt-BR" sz="2400" dirty="0" err="1"/>
              <a:t>WebText</a:t>
            </a:r>
            <a:r>
              <a:rPr lang="pt-BR" sz="2400" dirty="0"/>
              <a:t>: 40 GB de texto de links externos do </a:t>
            </a:r>
            <a:r>
              <a:rPr lang="pt-BR" sz="2400" dirty="0" err="1"/>
              <a:t>Reddit</a:t>
            </a:r>
            <a:r>
              <a:rPr lang="pt-BR" sz="2400" dirty="0"/>
              <a:t>).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GPT-3: Maio de 2020, 96 camadas, 96 </a:t>
            </a:r>
            <a:r>
              <a:rPr lang="pt-BR" sz="2400" dirty="0" err="1"/>
              <a:t>Attention</a:t>
            </a:r>
            <a:r>
              <a:rPr lang="pt-BR" sz="2400" dirty="0"/>
              <a:t> </a:t>
            </a:r>
            <a:r>
              <a:rPr lang="pt-BR" sz="2400" dirty="0" err="1"/>
              <a:t>heads</a:t>
            </a:r>
            <a:r>
              <a:rPr lang="pt-BR" sz="2400" dirty="0"/>
              <a:t>, 175.000.000.000 parâmetros (</a:t>
            </a:r>
            <a:r>
              <a:rPr lang="pt-BR" sz="2400" dirty="0" err="1"/>
              <a:t>dataset</a:t>
            </a:r>
            <a:r>
              <a:rPr lang="pt-BR" sz="2400" dirty="0"/>
              <a:t>: </a:t>
            </a:r>
            <a:r>
              <a:rPr lang="pt-BR" sz="2400" dirty="0" err="1"/>
              <a:t>CommonCrawl</a:t>
            </a:r>
            <a:r>
              <a:rPr lang="pt-BR" sz="2400" dirty="0"/>
              <a:t>, </a:t>
            </a:r>
            <a:r>
              <a:rPr lang="pt-BR" sz="2400" dirty="0" err="1"/>
              <a:t>WebText</a:t>
            </a:r>
            <a:r>
              <a:rPr lang="pt-BR" sz="2400" dirty="0"/>
              <a:t>, Wikipédia em inglês, livros e outros: 570 GB).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GPT-3 e GPT-4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71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122780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Os modelos lançados pela OpenAI: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GPT-4: março de 2023, sem detalhes divulgados sobre a arquitetura do modelo.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Pode aceitar imagens como entrada, então passa a ser um modelo multimodal. Os pesos dos modelos GPT-3 e GPT-4 não são de código aberto, embora os modelos estejam disponíveis por meio de uma ferramenta comercial e API.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GPT-3 e GPT-4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878870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A OpenAI criou o ChatGPT — uma ferramenta que permite aos usuários interagir com seu conjunto de grandes modelos de linguagem por meio de uma interface conversacional.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O lançamento original em novembro de 2022 foi desenvolvido com GPT-3.5, uma versão do modelo mais poderosa que o GPT-3 e ajustada (fine-tuned) para respostas de bate-papo.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ChatGPT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909167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 </a:t>
            </a:r>
            <a:r>
              <a:rPr lang="pt-BR" sz="2400" dirty="0" err="1"/>
              <a:t>ChatGPT</a:t>
            </a:r>
            <a:r>
              <a:rPr lang="pt-BR" sz="2400" dirty="0"/>
              <a:t> usa aprendizagem por reforço a partir de feedback humano (</a:t>
            </a:r>
            <a:r>
              <a:rPr lang="pt-BR" sz="2400" dirty="0" err="1"/>
              <a:t>reinforcement</a:t>
            </a:r>
            <a:r>
              <a:rPr lang="pt-BR" sz="2400" dirty="0"/>
              <a:t> </a:t>
            </a:r>
            <a:r>
              <a:rPr lang="pt-BR" sz="2400" dirty="0" err="1"/>
              <a:t>learning</a:t>
            </a:r>
            <a:r>
              <a:rPr lang="pt-BR" sz="2400" dirty="0"/>
              <a:t> </a:t>
            </a:r>
            <a:r>
              <a:rPr lang="pt-BR" sz="2400" dirty="0" err="1"/>
              <a:t>from</a:t>
            </a:r>
            <a:r>
              <a:rPr lang="pt-BR" sz="2400" dirty="0"/>
              <a:t> </a:t>
            </a:r>
            <a:r>
              <a:rPr lang="pt-BR" sz="2400" dirty="0" err="1"/>
              <a:t>human</a:t>
            </a:r>
            <a:r>
              <a:rPr lang="pt-BR" sz="2400" dirty="0"/>
              <a:t> feedback – RLHF) para ajustar o modelo GPT-3.5. </a:t>
            </a:r>
          </a:p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https://openai.com/blog/chatgpt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ChatGPT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557145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Treinamento do ChatGPT: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1 - Supervised fine-tuning: Coletar um conjunto de dados de amostras de entradas de conversação (prompts) e resultados desejados que foram escritos por humanos. Isso é usado para ajustar (fine-tune) o modelo de linguagem subjacente (GPT-3.5) usando aprendizagem supervisionada.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ChatGPT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341436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Treinamento do ChatGPT: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/>
              <a:t>2 - Reward modeling: apresentar a um rotulador humano exemplos de prompts e várias amostras de saída (output) do modelo. O humano deve classificar os resultados do melhor para o pior. Treine um modelo de recompensa (reward model) que preveja a pontuação dada a cada saída, considerado o histórico da conversa.</a:t>
            </a: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ChatGPT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76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624328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Treinamento do </a:t>
            </a:r>
            <a:r>
              <a:rPr lang="pt-BR" sz="2400" dirty="0" err="1"/>
              <a:t>ChatGPT</a:t>
            </a:r>
            <a:r>
              <a:rPr lang="pt-BR" sz="2400" dirty="0"/>
              <a:t>: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3 - </a:t>
            </a:r>
            <a:r>
              <a:rPr lang="pt-BR" sz="2400" dirty="0" err="1"/>
              <a:t>Reinforcement</a:t>
            </a:r>
            <a:r>
              <a:rPr lang="pt-BR" sz="2400" dirty="0"/>
              <a:t> </a:t>
            </a:r>
            <a:r>
              <a:rPr lang="pt-BR" sz="2400" dirty="0" err="1"/>
              <a:t>learning</a:t>
            </a:r>
            <a:r>
              <a:rPr lang="pt-BR" sz="2400" dirty="0"/>
              <a:t>: tratar a conversa (chat) como um ambiente do aprendizagem por reforço, onde a “</a:t>
            </a:r>
            <a:r>
              <a:rPr lang="pt-BR" sz="2400" dirty="0" err="1"/>
              <a:t>policy</a:t>
            </a:r>
            <a:r>
              <a:rPr lang="pt-BR" sz="2400" dirty="0"/>
              <a:t>” é o modelo de linguagem (modelo treinado da etapa 1). Dado o estado atual (o histórico da conversa), a “</a:t>
            </a:r>
            <a:r>
              <a:rPr lang="pt-BR" sz="2400" dirty="0" err="1"/>
              <a:t>policy</a:t>
            </a:r>
            <a:r>
              <a:rPr lang="pt-BR" sz="2400" dirty="0"/>
              <a:t>” gera uma ação (uma sequência de tokens), que é avaliado pelo modelo de recompensa treinado na etapa 2. 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Um algoritmo de aprendizagem por reforço pode, então, ser treinado para maximizar a recompensa, ajustando os pesos do modelo de linguagem.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ChatGPT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77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689821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O </a:t>
            </a:r>
            <a:r>
              <a:rPr lang="pt-BR" sz="2400" dirty="0" err="1"/>
              <a:t>ChatGPT</a:t>
            </a:r>
            <a:r>
              <a:rPr lang="pt-BR" sz="2400" dirty="0"/>
              <a:t> é um ótimo exemplo de como os Transformers podem ser usados ​​para construir modelos generativos que podem produzir resultados complexos que muitas vezes são indistinguíveis dos humanos.</a:t>
            </a:r>
          </a:p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Potencial de evolução: </a:t>
            </a:r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combinar o poder linguístico do </a:t>
            </a:r>
            <a:r>
              <a:rPr lang="pt-BR" sz="2400" dirty="0" err="1"/>
              <a:t>ChatGPT</a:t>
            </a:r>
            <a:r>
              <a:rPr lang="pt-BR" sz="2400" dirty="0"/>
              <a:t> com modelos de base visual, como </a:t>
            </a:r>
            <a:r>
              <a:rPr lang="pt-BR" sz="2400" dirty="0" err="1"/>
              <a:t>Stable</a:t>
            </a:r>
            <a:r>
              <a:rPr lang="pt-BR" sz="2400" dirty="0"/>
              <a:t> </a:t>
            </a:r>
            <a:r>
              <a:rPr lang="pt-BR" sz="2400" dirty="0" err="1"/>
              <a:t>Diffusion</a:t>
            </a:r>
            <a:r>
              <a:rPr lang="pt-BR" sz="2400" dirty="0"/>
              <a:t>, para geração de imagens; </a:t>
            </a:r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fusão de capacidades linguísticas e visuais como o GPT-4 tem o potencial de anunciar uma nova era na interação humano-computador.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ChatGPT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78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870639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459878"/>
            <a:ext cx="98319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800" b="1" kern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58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264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Captura de Dependências: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300" dirty="0" err="1"/>
              <a:t>LSTMs</a:t>
            </a:r>
            <a:r>
              <a:rPr lang="pt-BR" sz="2300" dirty="0"/>
              <a:t> processam as sequências de forma sequencial, o que significa que o modelo vai processar palavra por palavra, tendo que “lembrar” do estado anterior à medida que avança. O problema de capturar dependências de longo alcance é mitigado pelas </a:t>
            </a:r>
            <a:r>
              <a:rPr lang="pt-BR" sz="2300" dirty="0" err="1"/>
              <a:t>LSTMs</a:t>
            </a:r>
            <a:r>
              <a:rPr lang="pt-BR" sz="2300" dirty="0"/>
              <a:t>, mas elas ainda dependem de um fluxo sequencial de informações.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300" dirty="0"/>
              <a:t>Transformers, por outro lado, podem capturar dependências de longo alcance imediatamente, pois o mecanismo de atenção permite que a rede observe toda a sequência de uma só vez, independentemente da posição das palavras.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00" b="1" kern="0"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39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644214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Paralelismo: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 err="1"/>
              <a:t>LSTMs</a:t>
            </a:r>
            <a:r>
              <a:rPr lang="pt-BR" sz="2400" dirty="0"/>
              <a:t> têm uma estrutura sequencial e, por isso, não podem ser paralelizadas facilmente durante o treinamento. Elas precisam processar cada palavra em uma sequência antes de passar para a próxima, o que pode ser um gargalo computacional, especialmente para sequências longas.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/>
              <a:t>Transformers são altamente paralelizáveis. Como eles não dependem de cálculos sequenciais, o treinamento pode ser feito paralelamente, o que resulta em um treinamento mais rápido e em melhor uso de recursos computacionais, especialmente em sequências longas.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00" b="1" kern="0"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39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81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421655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Mecanismo de Atenção: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 err="1"/>
              <a:t>LSTMs</a:t>
            </a:r>
            <a:r>
              <a:rPr lang="pt-BR" sz="2400" dirty="0"/>
              <a:t> utilizam memória interna (células de memória e estados ocultos) para armazenar informações das palavras anteriores e usar essas informações para processar as palavras subsequentes.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/>
              <a:t>Transformers utilizam o mecanismo de atenção, que calcula dinamicamente as dependências entre palavras em toda a sequência de entrada. Isso permite que a rede “olhe para o contexto todo” e determine as relações relevantes entre palavras em qualquer ponto da sequência.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00" b="1" kern="0"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39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82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591957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Eficiência Computacional: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 err="1"/>
              <a:t>LSTMs</a:t>
            </a:r>
            <a:r>
              <a:rPr lang="pt-BR" sz="2400" dirty="0"/>
              <a:t> tendem a ser mais lentas no treinamento e inferência devido à sua natureza sequencial.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/>
              <a:t>Transformers são mais rápidos e eficientes, pois podem ser paralelizados. A atenção é calculada para todas as palavras ao mesmo tempo, enquanto nas </a:t>
            </a:r>
            <a:r>
              <a:rPr lang="pt-BR" sz="2400" dirty="0" err="1"/>
              <a:t>LSTMs</a:t>
            </a:r>
            <a:r>
              <a:rPr lang="pt-BR" sz="2400" dirty="0"/>
              <a:t> o estado é atualizado palavra por palavra.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00" b="1" kern="0"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39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83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603128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Capacidade de Captura de Contexto Global: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 err="1"/>
              <a:t>LSTMs</a:t>
            </a:r>
            <a:r>
              <a:rPr lang="pt-BR" sz="2400" dirty="0"/>
              <a:t> são boas para capturar dependências temporais, mas seu poder de capturar dependências globais (ou de longo prazo) pode ser limitado, especialmente com sequências muito longas.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/>
              <a:t>Transformers capturam dependências de longo alcance de maneira muito eficiente, porque o mecanismo de atenção permite que todas as palavras “vejam” todas as outras simultaneamente, independentemente da distância.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00" b="1" kern="0"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39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84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1509597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F04C8F45-6B6A-4A90-AE6A-0D2E671E05C3}"/>
              </a:ext>
            </a:extLst>
          </p:cNvPr>
          <p:cNvSpPr txBox="1"/>
          <p:nvPr/>
        </p:nvSpPr>
        <p:spPr>
          <a:xfrm>
            <a:off x="824733" y="1682324"/>
            <a:ext cx="10563992" cy="3956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400" dirty="0"/>
              <a:t>Uso de Memória: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 err="1"/>
              <a:t>LSTMs</a:t>
            </a:r>
            <a:r>
              <a:rPr lang="pt-BR" sz="2400" dirty="0"/>
              <a:t> têm uma estrutura de memória explícita para armazenar e atualizar estados ao longo da sequência.</a:t>
            </a:r>
          </a:p>
          <a:p>
            <a:pPr marL="800100" lvl="1" indent="-342900">
              <a:lnSpc>
                <a:spcPts val="3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pt-BR" sz="2400" dirty="0"/>
              <a:t>Transformers não têm memória explícita; em vez disso, eles calculam as relações de dependência dinamicamente através da atenção.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9DCDA1D-C518-4720-B445-DE1ECF17DAD7}"/>
              </a:ext>
            </a:extLst>
          </p:cNvPr>
          <p:cNvSpPr txBox="1"/>
          <p:nvPr/>
        </p:nvSpPr>
        <p:spPr>
          <a:xfrm>
            <a:off x="862833" y="727501"/>
            <a:ext cx="10619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00" b="1" kern="0">
                <a:latin typeface="Montserrat" panose="00000500000000000000" pitchFamily="50" charset="0"/>
                <a:cs typeface="Poppins" panose="02000000000000000000" pitchFamily="2" charset="0"/>
              </a:rPr>
              <a:t>Diferenças Entre Transformers e LSTMs</a:t>
            </a:r>
            <a:endParaRPr lang="en-ID" sz="39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11" name="SlideNo">
            <a:extLst>
              <a:ext uri="{FF2B5EF4-FFF2-40B4-BE49-F238E27FC236}">
                <a16:creationId xmlns:a16="http://schemas.microsoft.com/office/drawing/2014/main" id="{E703AB39-D9AD-4B6D-A917-83F9AFF6EFCC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85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sp>
        <p:nvSpPr>
          <p:cNvPr id="5" name="TextBox 43">
            <a:extLst>
              <a:ext uri="{FF2B5EF4-FFF2-40B4-BE49-F238E27FC236}">
                <a16:creationId xmlns:a16="http://schemas.microsoft.com/office/drawing/2014/main" id="{84001B97-0FC0-4F42-8158-023CED77B35D}"/>
              </a:ext>
            </a:extLst>
          </p:cNvPr>
          <p:cNvSpPr txBox="1"/>
          <p:nvPr/>
        </p:nvSpPr>
        <p:spPr>
          <a:xfrm>
            <a:off x="824733" y="5487964"/>
            <a:ext cx="10563992" cy="5466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3300"/>
              </a:lnSpc>
              <a:spcAft>
                <a:spcPts val="1200"/>
              </a:spcAft>
            </a:pPr>
            <a:r>
              <a:rPr lang="pt-BR" sz="1300" dirty="0"/>
              <a:t>Fonte: FOSTER, 2023.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630576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36556"/>
            <a:ext cx="983197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7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Enunciado do Problema</a:t>
            </a:r>
            <a:endParaRPr lang="en-ID" sz="57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74601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36556"/>
            <a:ext cx="9831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Prática – </a:t>
            </a:r>
            <a:r>
              <a:rPr lang="pt-BR" sz="6000" b="1" kern="0" dirty="0" err="1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Dataset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083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459878"/>
            <a:ext cx="98319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Prática – Treinando </a:t>
            </a:r>
          </a:p>
          <a:p>
            <a:pPr algn="ctr"/>
            <a:r>
              <a:rPr lang="pt-BR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o modelo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55317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459878"/>
            <a:ext cx="98319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Prática – Analisando </a:t>
            </a:r>
          </a:p>
          <a:p>
            <a:pPr algn="ctr"/>
            <a:r>
              <a:rPr lang="pt-BR" sz="60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o GPT</a:t>
            </a:r>
            <a:endParaRPr lang="en-ID" sz="60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722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3">
            <a:extLst>
              <a:ext uri="{FF2B5EF4-FFF2-40B4-BE49-F238E27FC236}">
                <a16:creationId xmlns:a16="http://schemas.microsoft.com/office/drawing/2014/main" id="{671E4D0F-CD63-4B0F-8588-FEF767FCCF91}"/>
              </a:ext>
            </a:extLst>
          </p:cNvPr>
          <p:cNvSpPr txBox="1"/>
          <p:nvPr/>
        </p:nvSpPr>
        <p:spPr>
          <a:xfrm>
            <a:off x="5600805" y="1956631"/>
            <a:ext cx="5112594" cy="884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ID" sz="2200" b="0" i="0" kern="0" dirty="0">
                <a:effectLst/>
              </a:rPr>
              <a:t>FOSTER, David. </a:t>
            </a:r>
            <a:r>
              <a:rPr lang="en-ID" sz="2200" b="1" i="0" kern="0" dirty="0">
                <a:effectLst/>
              </a:rPr>
              <a:t>Generative Deep Learning</a:t>
            </a:r>
            <a:r>
              <a:rPr lang="en-ID" sz="2200" b="0" i="0" kern="0" dirty="0">
                <a:effectLst/>
              </a:rPr>
              <a:t>. O'Reilly Media; 2nd ed. 2023.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0A04B635-FD95-4318-979E-C384B55407F3}"/>
              </a:ext>
            </a:extLst>
          </p:cNvPr>
          <p:cNvSpPr txBox="1"/>
          <p:nvPr/>
        </p:nvSpPr>
        <p:spPr>
          <a:xfrm>
            <a:off x="0" y="73018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kern="0">
                <a:solidFill>
                  <a:srgbClr val="379FDE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Referências</a:t>
            </a:r>
            <a:endParaRPr lang="en-ID" sz="4000" b="1" kern="0" dirty="0">
              <a:solidFill>
                <a:srgbClr val="379FDE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59BB2A6-F433-4CDF-819E-29777BEDD4A8}"/>
              </a:ext>
            </a:extLst>
          </p:cNvPr>
          <p:cNvSpPr txBox="1"/>
          <p:nvPr/>
        </p:nvSpPr>
        <p:spPr>
          <a:xfrm>
            <a:off x="964949" y="5601777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Imagem: </a:t>
            </a:r>
            <a:r>
              <a:rPr lang="pt-BR" sz="1300" dirty="0" err="1">
                <a:solidFill>
                  <a:schemeClr val="bg1">
                    <a:lumMod val="50000"/>
                  </a:schemeClr>
                </a:solidFill>
              </a:rPr>
              <a:t>Amazon</a:t>
            </a:r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53" name="SlideNo">
            <a:extLst>
              <a:ext uri="{FF2B5EF4-FFF2-40B4-BE49-F238E27FC236}">
                <a16:creationId xmlns:a16="http://schemas.microsoft.com/office/drawing/2014/main" id="{004D44B2-3EDA-48BA-A934-80B9B58CE015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90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pic>
        <p:nvPicPr>
          <p:cNvPr id="54" name="Google Shape;615;g39b90f914c1_0_531">
            <a:extLst>
              <a:ext uri="{FF2B5EF4-FFF2-40B4-BE49-F238E27FC236}">
                <a16:creationId xmlns:a16="http://schemas.microsoft.com/office/drawing/2014/main" id="{6CB26CAC-8064-49D3-8642-7117DAA780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8601" y="1465867"/>
            <a:ext cx="2974866" cy="39787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140286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3">
            <a:extLst>
              <a:ext uri="{FF2B5EF4-FFF2-40B4-BE49-F238E27FC236}">
                <a16:creationId xmlns:a16="http://schemas.microsoft.com/office/drawing/2014/main" id="{671E4D0F-CD63-4B0F-8588-FEF767FCCF91}"/>
              </a:ext>
            </a:extLst>
          </p:cNvPr>
          <p:cNvSpPr txBox="1"/>
          <p:nvPr/>
        </p:nvSpPr>
        <p:spPr>
          <a:xfrm>
            <a:off x="5600805" y="1956631"/>
            <a:ext cx="5112594" cy="2116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ID" sz="2200" b="0" i="0" kern="0" dirty="0">
                <a:effectLst/>
              </a:rPr>
              <a:t>GÉRON, </a:t>
            </a:r>
            <a:r>
              <a:rPr lang="en-ID" sz="2200" b="0" i="0" kern="0" dirty="0" err="1">
                <a:effectLst/>
              </a:rPr>
              <a:t>Aurélien</a:t>
            </a:r>
            <a:r>
              <a:rPr lang="en-ID" sz="2200" b="0" i="0" kern="0" dirty="0">
                <a:effectLst/>
              </a:rPr>
              <a:t>. </a:t>
            </a:r>
            <a:r>
              <a:rPr lang="en-ID" sz="2200" b="1" i="0" kern="0" dirty="0">
                <a:effectLst/>
              </a:rPr>
              <a:t>Hands-On Machine Learning with Scikit-Learn, </a:t>
            </a:r>
            <a:r>
              <a:rPr lang="en-ID" sz="2200" b="1" i="0" kern="0" dirty="0" err="1">
                <a:effectLst/>
              </a:rPr>
              <a:t>Keras</a:t>
            </a:r>
            <a:r>
              <a:rPr lang="en-ID" sz="2200" b="1" i="0" kern="0" dirty="0">
                <a:effectLst/>
              </a:rPr>
              <a:t>, and </a:t>
            </a:r>
            <a:r>
              <a:rPr lang="en-ID" sz="2200" b="1" i="0" kern="0" dirty="0" err="1">
                <a:effectLst/>
              </a:rPr>
              <a:t>Tensorflow</a:t>
            </a:r>
            <a:r>
              <a:rPr lang="en-ID" sz="2200" b="0" i="0" kern="0" dirty="0">
                <a:effectLst/>
              </a:rPr>
              <a:t>: Concepts, Tools, and Techniques to Build Intelligent Systems. Sebastopol: O'Reilly Media; 3nd ed. 2022.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0A04B635-FD95-4318-979E-C384B55407F3}"/>
              </a:ext>
            </a:extLst>
          </p:cNvPr>
          <p:cNvSpPr txBox="1"/>
          <p:nvPr/>
        </p:nvSpPr>
        <p:spPr>
          <a:xfrm>
            <a:off x="0" y="73018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kern="0">
                <a:solidFill>
                  <a:srgbClr val="379FDE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Referências</a:t>
            </a:r>
            <a:endParaRPr lang="en-ID" sz="4000" b="1" kern="0" dirty="0">
              <a:solidFill>
                <a:srgbClr val="379FDE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59BB2A6-F433-4CDF-819E-29777BEDD4A8}"/>
              </a:ext>
            </a:extLst>
          </p:cNvPr>
          <p:cNvSpPr txBox="1"/>
          <p:nvPr/>
        </p:nvSpPr>
        <p:spPr>
          <a:xfrm>
            <a:off x="964949" y="5601777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Imagem: </a:t>
            </a:r>
            <a:r>
              <a:rPr lang="pt-BR" sz="1300" dirty="0" err="1">
                <a:solidFill>
                  <a:schemeClr val="bg1">
                    <a:lumMod val="50000"/>
                  </a:schemeClr>
                </a:solidFill>
              </a:rPr>
              <a:t>Amazon</a:t>
            </a:r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53" name="SlideNo">
            <a:extLst>
              <a:ext uri="{FF2B5EF4-FFF2-40B4-BE49-F238E27FC236}">
                <a16:creationId xmlns:a16="http://schemas.microsoft.com/office/drawing/2014/main" id="{004D44B2-3EDA-48BA-A934-80B9B58CE015}"/>
              </a:ext>
            </a:extLst>
          </p:cNvPr>
          <p:cNvSpPr txBox="1">
            <a:spLocks/>
          </p:cNvSpPr>
          <p:nvPr/>
        </p:nvSpPr>
        <p:spPr bwMode="auto">
          <a:xfrm>
            <a:off x="151149" y="6325249"/>
            <a:ext cx="135609" cy="19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1pPr>
            <a:lvl2pPr marL="742950" indent="-28575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2pPr>
            <a:lvl3pPr marL="11430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3pPr>
            <a:lvl4pPr marL="16002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4pPr>
            <a:lvl5pPr marL="2057400" indent="-228600" defTabSz="457200"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Roboto" panose="02000000000000000000" pitchFamily="2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D" altLang="pt-BR" sz="1000" dirty="0">
                <a:solidFill>
                  <a:schemeClr val="bg1"/>
                </a:solidFill>
              </a:rPr>
              <a:t>0</a:t>
            </a:r>
            <a:fld id="{2AB41DFD-7EC7-4669-8198-B5902F637CC5}" type="slidenum">
              <a:rPr lang="en-ID" altLang="pt-BR" sz="1000">
                <a:solidFill>
                  <a:schemeClr val="bg1"/>
                </a:solidFill>
              </a:rPr>
              <a:pPr algn="ctr" eaLnBrk="1" hangingPunct="1">
                <a:lnSpc>
                  <a:spcPct val="150000"/>
                </a:lnSpc>
              </a:pPr>
              <a:t>91</a:t>
            </a:fld>
            <a:endParaRPr lang="en-ID" altLang="pt-BR" sz="10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3B6B07-BF8B-4F10-8A84-3CE1B204A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601" y="1465867"/>
            <a:ext cx="2984516" cy="392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5768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0c840ce6b72e534b18f8b130aa18f4c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81d42af92cf0d6c6ca1f81162ee3983b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541FA95-3E9D-4E15-802F-2D005D1DC6F3}"/>
</file>

<file path=customXml/itemProps2.xml><?xml version="1.0" encoding="utf-8"?>
<ds:datastoreItem xmlns:ds="http://schemas.openxmlformats.org/officeDocument/2006/customXml" ds:itemID="{943C3F3C-76B5-4855-9F61-D95501F104D6}"/>
</file>

<file path=customXml/itemProps3.xml><?xml version="1.0" encoding="utf-8"?>
<ds:datastoreItem xmlns:ds="http://schemas.openxmlformats.org/officeDocument/2006/customXml" ds:itemID="{70D816AE-D13A-4F12-9E7B-00FA8B3F8840}"/>
</file>

<file path=docProps/app.xml><?xml version="1.0" encoding="utf-8"?>
<Properties xmlns="http://schemas.openxmlformats.org/officeDocument/2006/extended-properties" xmlns:vt="http://schemas.openxmlformats.org/officeDocument/2006/docPropsVTypes">
  <TotalTime>4715</TotalTime>
  <Words>4620</Words>
  <Application>Microsoft Office PowerPoint</Application>
  <PresentationFormat>Widescreen</PresentationFormat>
  <Paragraphs>447</Paragraphs>
  <Slides>92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92</vt:i4>
      </vt:variant>
    </vt:vector>
  </HeadingPairs>
  <TitlesOfParts>
    <vt:vector size="102" baseType="lpstr">
      <vt:lpstr>Calibri</vt:lpstr>
      <vt:lpstr>Roboto</vt:lpstr>
      <vt:lpstr>Cronos Pro</vt:lpstr>
      <vt:lpstr>Montserrat</vt:lpstr>
      <vt:lpstr>Courier New</vt:lpstr>
      <vt:lpstr>Arial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Leonardo de Queiroz Sancho</cp:lastModifiedBy>
  <cp:revision>152</cp:revision>
  <dcterms:created xsi:type="dcterms:W3CDTF">2025-06-11T21:44:24Z</dcterms:created>
  <dcterms:modified xsi:type="dcterms:W3CDTF">2026-01-28T16:58:33Z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